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202020"/>
    <a:srgbClr val="000000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044" autoAdjust="0"/>
    <p:restoredTop sz="94660"/>
  </p:normalViewPr>
  <p:slideViewPr>
    <p:cSldViewPr snapToGrid="0">
      <p:cViewPr varScale="1">
        <p:scale>
          <a:sx n="79" d="100"/>
          <a:sy n="79" d="100"/>
        </p:scale>
        <p:origin x="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77226-A792-E10A-4693-8DC4047CE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2AD52D-B36D-DBB4-D04A-45E6FB5BA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F555C-DB21-80FE-6049-5415B0CFF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B0987-0F14-FDAB-7A5F-53CCB654E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C30BB-CA97-88D6-367F-BFB344392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9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4EC2-41E6-1669-C1D3-82C3EFE5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93249-7BD9-28FC-E6DF-700CFBC8D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DC89C-B997-7DC7-F90B-D79ECCA85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2D5EE-F652-D86A-880B-F1B4D7A3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1A0AB-73AA-B17E-656A-7CA07382A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4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95ACF-8A91-C302-4298-93D0AFAC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FFF94-139A-0246-657A-AB567C583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08AED-663F-D8BB-E33F-EE5B9E00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A0363-76FA-C039-818A-59338AA16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E542C-6B45-8108-D72A-636C3147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48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D3A0-3F1A-FB37-7D69-2CD18711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B0E72-919F-D506-A0AE-4CBD884FD3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9C3E4-F130-2827-F71E-A9A206066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35A4A-D0C4-B1E0-2DF1-B21042E29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42321-D203-D9AF-C380-6DFBFAAC7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B9123-876A-75E2-6412-A49BA5E0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80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3A7A4-2237-BADB-E944-6D77F9086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4C3C5-FAD3-80C2-E21A-B4977C8F7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362AB-B816-8073-DD42-6CB02042C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1E52EB-82E1-C6B5-03C4-12A22B3043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95061-7E0C-9D79-F185-FDFC8714B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2D2771-271E-A3DB-A199-7B6B9D05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9F81A9-1DDF-D518-D5BB-5BB555733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C91F9-4779-8C1A-DF31-B35AAD2AA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22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B1731-EA07-538C-5135-44067F1F1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D60DA4-1B35-0FE8-FEB0-69A0EC379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04A7A-2A96-F71F-ED4F-2A2DE3BEF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9BF6AC-060F-1FB8-4B7E-D3042B2B1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67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E76013-DEA8-9B16-D381-E1371C444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13" y="4431888"/>
            <a:ext cx="1677622" cy="15237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7D34BA-64AF-555A-8F8C-34594B0D0E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81" y="6000390"/>
            <a:ext cx="2229706" cy="75660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15B284-7FC5-EF76-4F14-641D7E93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1C14F-BAAC-4140-7819-9BAC959B1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FB5EB-27B6-47BC-3E95-D6F0E8C22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5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A086C-366C-4E65-9F04-5C61A00C0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FF7B5-3550-DD23-3105-59A434788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644FE-601C-902A-8EBF-DC55FEC56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ED8C2-9E6F-7C15-D8A8-0CB5080C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D705A-5E91-9364-72D7-C3030B5A6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1591B-9B33-595A-2C9F-E9675C64E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15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93285-AF07-53C6-CA5D-0329C5E1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2B0D5B-421E-FFF9-47D4-47492E640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87046-58BD-39C6-D833-8266F701D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D5EF9-C85C-F143-7CA9-3D6A08E07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4F39C-4D8C-9A48-03A5-6DE9C30A6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39F0B-9154-7A0E-C606-273F2A777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01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9A38-F739-6735-D289-078F45C79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77A00-FB79-58DF-0810-C2D6F8574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FB287-7026-68E9-9933-B0B1FB6EF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3B3BB-0FD5-54C1-5E85-2915541F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D0A69-DA3F-7857-231F-1255193A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61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34791A-D7B3-201C-B3DF-F8481277EE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94653F-56C2-EC4B-CE18-822DD3EA1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35AA9-EE75-4D8A-F29D-712EBE3E2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CC03-B68F-4642-A2B8-7A8633A67F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F1E08-F949-2B41-C934-8FB5E0211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8A14C-9B2A-F1A4-19F5-2DDDEDAE0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79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FE247E-0E3D-9314-AD82-711F84839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3A0E1-85C3-7AC2-BB4C-1A2EB727E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9CFFF-E0C6-18DA-0DB1-456B3759B5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6CC03-B68F-4642-A2B8-7A8633A67F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D1B1D-020D-D05B-5AEC-CBA140EF3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AD5E-B353-BFBA-4EB5-120826030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5FF9E-148C-45AB-A724-A27607B0E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01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341587-B12C-C20A-C29B-22CD624BCEB2}"/>
              </a:ext>
            </a:extLst>
          </p:cNvPr>
          <p:cNvSpPr txBox="1"/>
          <p:nvPr/>
        </p:nvSpPr>
        <p:spPr>
          <a:xfrm>
            <a:off x="554258" y="255692"/>
            <a:ext cx="1108348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dirty="0">
                <a:latin typeface="Alice" panose="00000500000000000000" pitchFamily="2" charset="0"/>
              </a:rPr>
              <a:t>Assumptions of Physics</a:t>
            </a:r>
          </a:p>
          <a:p>
            <a:pPr algn="ctr"/>
            <a:r>
              <a:rPr lang="en-US" sz="8000" dirty="0">
                <a:latin typeface="Alice" panose="00000500000000000000" pitchFamily="2" charset="0"/>
              </a:rPr>
              <a:t>2025-26 overview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383BABC-39B1-5A30-2092-41FE566F0B02}"/>
              </a:ext>
            </a:extLst>
          </p:cNvPr>
          <p:cNvGrpSpPr/>
          <p:nvPr/>
        </p:nvGrpSpPr>
        <p:grpSpPr>
          <a:xfrm>
            <a:off x="3127505" y="3054949"/>
            <a:ext cx="8628670" cy="3527478"/>
            <a:chOff x="795348" y="3429000"/>
            <a:chExt cx="6782375" cy="2772696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5CFB8D1-7437-D65F-20CD-8D96F6644258}"/>
                </a:ext>
              </a:extLst>
            </p:cNvPr>
            <p:cNvCxnSpPr>
              <a:stCxn id="6" idx="3"/>
              <a:endCxn id="12" idx="1"/>
            </p:cNvCxnSpPr>
            <p:nvPr/>
          </p:nvCxnSpPr>
          <p:spPr>
            <a:xfrm flipV="1">
              <a:off x="4447402" y="3924220"/>
              <a:ext cx="600055" cy="6500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AAC9EB1-4C71-6D42-E9B5-C2822A9C5AF6}"/>
                </a:ext>
              </a:extLst>
            </p:cNvPr>
            <p:cNvSpPr/>
            <p:nvPr/>
          </p:nvSpPr>
          <p:spPr>
            <a:xfrm>
              <a:off x="2683017" y="3700988"/>
              <a:ext cx="1764385" cy="4594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General physical principles and requirements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508AB07-22E4-7CE1-50ED-2FD62D753391}"/>
                </a:ext>
              </a:extLst>
            </p:cNvPr>
            <p:cNvCxnSpPr>
              <a:stCxn id="10" idx="3"/>
              <a:endCxn id="23" idx="1"/>
            </p:cNvCxnSpPr>
            <p:nvPr/>
          </p:nvCxnSpPr>
          <p:spPr>
            <a:xfrm>
              <a:off x="4149071" y="4685566"/>
              <a:ext cx="607793" cy="888015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63A8D3C-2C69-A8DB-1B2B-2B6AA8A71FD5}"/>
                </a:ext>
              </a:extLst>
            </p:cNvPr>
            <p:cNvCxnSpPr>
              <a:stCxn id="10" idx="3"/>
              <a:endCxn id="22" idx="1"/>
            </p:cNvCxnSpPr>
            <p:nvPr/>
          </p:nvCxnSpPr>
          <p:spPr>
            <a:xfrm>
              <a:off x="4149071" y="4685566"/>
              <a:ext cx="2314337" cy="92471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8B067EA-E56E-ECFB-ECF5-444889381D66}"/>
                </a:ext>
              </a:extLst>
            </p:cNvPr>
            <p:cNvCxnSpPr>
              <a:stCxn id="10" idx="3"/>
              <a:endCxn id="24" idx="1"/>
            </p:cNvCxnSpPr>
            <p:nvPr/>
          </p:nvCxnSpPr>
          <p:spPr>
            <a:xfrm>
              <a:off x="4149071" y="4685566"/>
              <a:ext cx="2380161" cy="828736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481CAEC-7AB0-D811-F50C-00FEC7EDE830}"/>
                </a:ext>
              </a:extLst>
            </p:cNvPr>
            <p:cNvSpPr/>
            <p:nvPr/>
          </p:nvSpPr>
          <p:spPr>
            <a:xfrm>
              <a:off x="2735405" y="4529583"/>
              <a:ext cx="1413666" cy="3119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Specific assumptions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DC4C3A1-8F31-9787-85AA-F51C2667292F}"/>
                </a:ext>
              </a:extLst>
            </p:cNvPr>
            <p:cNvCxnSpPr>
              <a:stCxn id="10" idx="3"/>
              <a:endCxn id="13" idx="1"/>
            </p:cNvCxnSpPr>
            <p:nvPr/>
          </p:nvCxnSpPr>
          <p:spPr>
            <a:xfrm>
              <a:off x="4149071" y="4685566"/>
              <a:ext cx="632606" cy="106772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DEC43A6-A03A-5F3E-9C61-0F0AE038BCAB}"/>
                </a:ext>
              </a:extLst>
            </p:cNvPr>
            <p:cNvSpPr/>
            <p:nvPr/>
          </p:nvSpPr>
          <p:spPr>
            <a:xfrm>
              <a:off x="5047457" y="3768237"/>
              <a:ext cx="2097086" cy="3119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General mathematical framework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0CA2AB4-7757-12D9-AE01-257FE3CEDF7D}"/>
                </a:ext>
              </a:extLst>
            </p:cNvPr>
            <p:cNvSpPr/>
            <p:nvPr/>
          </p:nvSpPr>
          <p:spPr>
            <a:xfrm>
              <a:off x="4781677" y="4557604"/>
              <a:ext cx="912946" cy="46946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Classical mechanics</a:t>
              </a:r>
            </a:p>
          </p:txBody>
        </p: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902DA223-D7C3-935A-F1B7-F1DAA4693FEC}"/>
                </a:ext>
              </a:extLst>
            </p:cNvPr>
            <p:cNvCxnSpPr>
              <a:cxnSpLocks/>
              <a:stCxn id="23" idx="0"/>
              <a:endCxn id="12" idx="2"/>
            </p:cNvCxnSpPr>
            <p:nvPr/>
          </p:nvCxnSpPr>
          <p:spPr>
            <a:xfrm rot="5400000" flipH="1" flipV="1">
              <a:off x="5061856" y="4383455"/>
              <a:ext cx="1337396" cy="730891"/>
            </a:xfrm>
            <a:prstGeom prst="bentConnector3">
              <a:avLst>
                <a:gd name="adj1" fmla="val 15814"/>
              </a:avLst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426285A9-3965-FF59-11DC-11FA32F3430D}"/>
                </a:ext>
              </a:extLst>
            </p:cNvPr>
            <p:cNvCxnSpPr>
              <a:cxnSpLocks/>
              <a:stCxn id="22" idx="0"/>
              <a:endCxn id="12" idx="2"/>
            </p:cNvCxnSpPr>
            <p:nvPr/>
          </p:nvCxnSpPr>
          <p:spPr>
            <a:xfrm rot="16200000" flipV="1">
              <a:off x="6276391" y="3899812"/>
              <a:ext cx="463101" cy="823881"/>
            </a:xfrm>
            <a:prstGeom prst="bentConnector3">
              <a:avLst>
                <a:gd name="adj1" fmla="val 46709"/>
              </a:avLst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A70CEDB8-41AD-3076-4B6E-494486F61209}"/>
                </a:ext>
              </a:extLst>
            </p:cNvPr>
            <p:cNvCxnSpPr>
              <a:cxnSpLocks/>
              <a:stCxn id="24" idx="0"/>
              <a:endCxn id="12" idx="2"/>
            </p:cNvCxnSpPr>
            <p:nvPr/>
          </p:nvCxnSpPr>
          <p:spPr>
            <a:xfrm rot="16200000" flipV="1">
              <a:off x="5776657" y="4399546"/>
              <a:ext cx="1278117" cy="639430"/>
            </a:xfrm>
            <a:prstGeom prst="bentConnector3">
              <a:avLst>
                <a:gd name="adj1" fmla="val 11844"/>
              </a:avLst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1D021B5D-854F-5B3E-6282-129A3C138DF1}"/>
                </a:ext>
              </a:extLst>
            </p:cNvPr>
            <p:cNvCxnSpPr>
              <a:cxnSpLocks/>
              <a:stCxn id="13" idx="0"/>
              <a:endCxn id="12" idx="2"/>
            </p:cNvCxnSpPr>
            <p:nvPr/>
          </p:nvCxnSpPr>
          <p:spPr>
            <a:xfrm rot="5400000" flipH="1" flipV="1">
              <a:off x="5428374" y="3889978"/>
              <a:ext cx="477402" cy="857850"/>
            </a:xfrm>
            <a:prstGeom prst="bentConnector3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D59DB8B-B858-033E-1B07-0B8B5228E773}"/>
                </a:ext>
              </a:extLst>
            </p:cNvPr>
            <p:cNvSpPr txBox="1"/>
            <p:nvPr/>
          </p:nvSpPr>
          <p:spPr>
            <a:xfrm>
              <a:off x="2735405" y="5532591"/>
              <a:ext cx="1025494" cy="2661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specialization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1FDF61A-8F30-0017-30E4-7D1C53A829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2761" y="5526180"/>
              <a:ext cx="0" cy="274432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0DDB686-940E-4208-BD81-AFB129B6EF28}"/>
                </a:ext>
              </a:extLst>
            </p:cNvPr>
            <p:cNvSpPr txBox="1"/>
            <p:nvPr/>
          </p:nvSpPr>
          <p:spPr>
            <a:xfrm>
              <a:off x="844062" y="3573208"/>
              <a:ext cx="1764385" cy="2104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</a:rPr>
                <a:t>Find a minimal set of physical assumptions from which to rigorously rederive the laws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0550A18-2690-E582-1043-8874686C6B83}"/>
                </a:ext>
              </a:extLst>
            </p:cNvPr>
            <p:cNvSpPr/>
            <p:nvPr/>
          </p:nvSpPr>
          <p:spPr>
            <a:xfrm>
              <a:off x="795348" y="3429000"/>
              <a:ext cx="6782375" cy="277269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552F857-1A75-5438-3E9F-2AB44C0FB484}"/>
                </a:ext>
              </a:extLst>
            </p:cNvPr>
            <p:cNvSpPr/>
            <p:nvPr/>
          </p:nvSpPr>
          <p:spPr>
            <a:xfrm>
              <a:off x="6463408" y="4543303"/>
              <a:ext cx="912946" cy="46946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Quantum mechanics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481E2C7-87EC-26CC-BB4A-56F8C9ECA91F}"/>
                </a:ext>
              </a:extLst>
            </p:cNvPr>
            <p:cNvSpPr/>
            <p:nvPr/>
          </p:nvSpPr>
          <p:spPr>
            <a:xfrm>
              <a:off x="4756864" y="5417598"/>
              <a:ext cx="1216490" cy="3119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Thermodynamics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67417DB-2D3A-265D-D859-7D99607CD46E}"/>
                </a:ext>
              </a:extLst>
            </p:cNvPr>
            <p:cNvSpPr/>
            <p:nvPr/>
          </p:nvSpPr>
          <p:spPr>
            <a:xfrm>
              <a:off x="6529232" y="5358319"/>
              <a:ext cx="412395" cy="3119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…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409E235-B7D7-D38D-3F2B-263B727CA025}"/>
                </a:ext>
              </a:extLst>
            </p:cNvPr>
            <p:cNvSpPr txBox="1"/>
            <p:nvPr/>
          </p:nvSpPr>
          <p:spPr>
            <a:xfrm>
              <a:off x="2754339" y="5140856"/>
              <a:ext cx="810334" cy="2661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derivation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BDE4221-E518-B5B5-4476-F3BBC6A8D630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>
              <a:off x="2508772" y="5271660"/>
              <a:ext cx="245568" cy="2253"/>
            </a:xfrm>
            <a:prstGeom prst="straightConnector1">
              <a:avLst/>
            </a:prstGeom>
            <a:ln>
              <a:prstDash val="lgDash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50848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5026</TotalTime>
  <Words>37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Alice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Gabriele Carcassi</dc:creator>
  <cp:lastModifiedBy>Gabriele Carcassi</cp:lastModifiedBy>
  <cp:revision>32</cp:revision>
  <dcterms:created xsi:type="dcterms:W3CDTF">2022-10-24T15:52:53Z</dcterms:created>
  <dcterms:modified xsi:type="dcterms:W3CDTF">2025-12-21T21:18:10Z</dcterms:modified>
</cp:coreProperties>
</file>