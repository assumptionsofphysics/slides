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75" r:id="rId3"/>
    <p:sldId id="941" r:id="rId4"/>
    <p:sldId id="943" r:id="rId5"/>
    <p:sldId id="944" r:id="rId6"/>
    <p:sldId id="945" r:id="rId7"/>
    <p:sldId id="946" r:id="rId8"/>
    <p:sldId id="947" r:id="rId9"/>
    <p:sldId id="94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202020"/>
    <a:srgbClr val="000000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04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2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D262B-3022-DF3E-3F70-1CF8A4F93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B7005-EBE2-8F49-6884-E6B9486BE8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6B3BC-6C5E-7C99-BBDF-0CD7279B9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1590B-767E-2480-55BA-B62850BB4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374B-87B4-07A1-C89C-1D3C0FCB3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88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3A79-8793-1978-AC47-5E4F21D57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F6924-60BA-B909-4B6B-9548C7AC3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E1ED5-89DA-A22C-2C9B-E80BA6C99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73B2A-CB30-A467-56EE-92F2CFFBD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50EBD-D16F-1826-7BB2-67382037F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009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0458A-E043-AEE3-9D7E-068E2E1D4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EEC62-B7BC-22C6-73FF-B409B72EC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BA6CD-674C-AE53-25A3-00903461F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A3869-AC45-93C9-EB7D-0049E9861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B0556-1BA2-58EC-6A7A-EDA734B6E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47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32015-C95C-31A3-4F69-4FC6F1D8E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BD443-EF29-4CA4-9D59-598D7A444D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117603-4805-A4E5-6481-807E5624B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67ABD-4CF3-C211-3D98-93F81897A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62B4B-5E7A-E6D0-ED8F-247A37AAD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87A2D-0899-8BE5-AF33-366393BF9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958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20F1F-1CF6-AD32-B707-68E586338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C0733-94E3-C073-5E88-1CF5B407C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93D07-1FC6-9CCD-BBC5-7F3D13EDA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0C1D59-CD63-E042-B8B3-16AB79159F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D99230-3704-E0EB-43D4-A033BC6137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AC3901-9650-C277-C000-75741472A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AF8E80-8722-2683-FC6A-29D1ECAC1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BFA4A4-CDD0-2181-D50A-504A925B7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0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1A331-878D-8F6C-B4DB-C95EA61B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5CF1D3-0710-6E1C-C9C5-F1D1EB937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937A62-ED16-255F-E3AC-9C4E29CD8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0887AC-A346-C922-91D2-76DDAFA98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780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BADBE-3241-5A38-E7D2-45FBAA5D8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0E2EE0-A393-6694-1738-8DB743EE9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95C79-8D6A-E2D6-5591-C88913AC0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73FE084-5C87-06B2-91CD-C706563739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65" y="5534538"/>
            <a:ext cx="1305869" cy="118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312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E8C48-15FC-2A02-7C17-7A6FF3272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23200-FBA7-651E-E926-E9340070B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F295A3-0633-6CBA-14FB-CDD197617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0F0BC-BAA0-53AF-D9D6-22D716E9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38939-B4DD-AE96-29E3-4F2CF1FD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1A5AA-1F2F-A6A1-CB67-648EE35F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97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B37A5-AD2C-80A5-08AE-0E850DCA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AB5570-A019-49B2-1B72-9C00B163CC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7C581-EADA-02D5-EE85-B525E75D0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51990-2DDD-D33F-E04B-98323CE9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5C390-3A2D-ACD5-5CC5-53DB5C52B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17CA0-9306-47F2-1651-B8DA3C0C0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82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75CBB-5FDB-B4BF-513F-4C0E01EAE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A122A4-372B-8053-9244-AED2F0595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3CC97-EDBA-C07A-1FC2-6593344F1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C155E-FB29-EC6E-F6B4-047A8C1A1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D764B-89B3-CF9C-CCF9-D64AF8E4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6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2C4824-A74D-79F3-0E0D-598064CAB0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FAFECA-97A7-F567-F16C-065E53138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F9F9F-421C-1DFF-2318-CF74443E5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643F6-0BE0-3ECF-6D77-1687E8669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4EE2D-C3D8-9F25-3657-0306C703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450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6C8FE6-52A3-BC2D-072A-E1BCDE91E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54699-3100-4FEB-2F61-8C6255207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4C976-B08F-F287-A0F8-0883F7A5F2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6CC03-B68F-4642-A2B8-7A8633A67F2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40DCB-2E77-E174-93DB-1906EBDA5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C1B6F-712D-8C5B-F89E-63F264A3A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1017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848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2439504-C67A-FA46-4DE4-8A2E69AB3F24}"/>
              </a:ext>
            </a:extLst>
          </p:cNvPr>
          <p:cNvGrpSpPr/>
          <p:nvPr/>
        </p:nvGrpSpPr>
        <p:grpSpPr>
          <a:xfrm>
            <a:off x="2553512" y="316819"/>
            <a:ext cx="7713971" cy="5417863"/>
            <a:chOff x="2553512" y="682008"/>
            <a:chExt cx="7713971" cy="5417863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913AFFF-7AF8-9C8A-344F-602999E65A7D}"/>
                </a:ext>
              </a:extLst>
            </p:cNvPr>
            <p:cNvSpPr txBox="1"/>
            <p:nvPr/>
          </p:nvSpPr>
          <p:spPr>
            <a:xfrm>
              <a:off x="2632059" y="682008"/>
              <a:ext cx="7556877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500" dirty="0">
                  <a:latin typeface="Alice" panose="00000500000000000000" pitchFamily="2" charset="0"/>
                </a:rPr>
                <a:t>Pure states</a:t>
              </a:r>
              <a:endParaRPr lang="en-US" sz="9600" dirty="0">
                <a:latin typeface="Alice" panose="00000500000000000000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71E5EA0-9A02-E2F1-49B5-55E7D0DBB8A7}"/>
                </a:ext>
              </a:extLst>
            </p:cNvPr>
            <p:cNvSpPr txBox="1"/>
            <p:nvPr/>
          </p:nvSpPr>
          <p:spPr>
            <a:xfrm>
              <a:off x="2553512" y="4237823"/>
              <a:ext cx="7713971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500" dirty="0">
                  <a:latin typeface="Alice" panose="00000500000000000000" pitchFamily="2" charset="0"/>
                </a:rPr>
                <a:t>not enough</a:t>
              </a:r>
              <a:endParaRPr lang="en-US" sz="9600" dirty="0">
                <a:latin typeface="Alice" panose="00000500000000000000" pitchFamily="2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568723A-0705-1776-BD4C-FAE9873A7DF7}"/>
                </a:ext>
              </a:extLst>
            </p:cNvPr>
            <p:cNvSpPr txBox="1"/>
            <p:nvPr/>
          </p:nvSpPr>
          <p:spPr>
            <a:xfrm>
              <a:off x="5438917" y="2606109"/>
              <a:ext cx="1943161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dirty="0">
                  <a:latin typeface="Alice" panose="00000500000000000000" pitchFamily="2" charset="0"/>
                </a:rPr>
                <a:t>are</a:t>
              </a:r>
              <a:endParaRPr lang="en-US" sz="8800" dirty="0">
                <a:latin typeface="Alice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3451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AD6B4-44AA-D860-8D57-166F71D24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214044-75D0-B067-EFAA-F71960EA065F}"/>
              </a:ext>
            </a:extLst>
          </p:cNvPr>
          <p:cNvGrpSpPr/>
          <p:nvPr/>
        </p:nvGrpSpPr>
        <p:grpSpPr>
          <a:xfrm>
            <a:off x="5806746" y="3854114"/>
            <a:ext cx="4931158" cy="2229842"/>
            <a:chOff x="5777047" y="3947245"/>
            <a:chExt cx="4931158" cy="22298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147BBAA8-85FA-A3A1-ED9A-F34B1608BBE2}"/>
                    </a:ext>
                  </a:extLst>
                </p:cNvPr>
                <p:cNvSpPr txBox="1"/>
                <p:nvPr/>
              </p:nvSpPr>
              <p:spPr>
                <a:xfrm>
                  <a:off x="5898940" y="4540698"/>
                  <a:ext cx="4687372" cy="10302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5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5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5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5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5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54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540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5400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5400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5400" b="0" i="1" smtClean="0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147BBAA8-85FA-A3A1-ED9A-F34B1608BB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8940" y="4540698"/>
                  <a:ext cx="4687372" cy="103028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FEE0A4A-7957-4357-8415-471E17F4D57D}"/>
                    </a:ext>
                  </a:extLst>
                </p:cNvPr>
                <p:cNvSpPr txBox="1"/>
                <p:nvPr/>
              </p:nvSpPr>
              <p:spPr>
                <a:xfrm>
                  <a:off x="6450757" y="5592312"/>
                  <a:ext cx="358373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FEE0A4A-7957-4357-8415-471E17F4D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0757" y="5592312"/>
                  <a:ext cx="3583738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4C89B5D-9EE1-498B-0D27-A8A3F997EF7D}"/>
                </a:ext>
              </a:extLst>
            </p:cNvPr>
            <p:cNvSpPr txBox="1"/>
            <p:nvPr/>
          </p:nvSpPr>
          <p:spPr>
            <a:xfrm>
              <a:off x="5777047" y="3947245"/>
              <a:ext cx="49311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Quantum state vectors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576D53A-715F-0373-55BA-0E3330EF5DEE}"/>
              </a:ext>
            </a:extLst>
          </p:cNvPr>
          <p:cNvGrpSpPr/>
          <p:nvPr/>
        </p:nvGrpSpPr>
        <p:grpSpPr>
          <a:xfrm>
            <a:off x="6329788" y="1140665"/>
            <a:ext cx="4812536" cy="2238859"/>
            <a:chOff x="5754398" y="1182742"/>
            <a:chExt cx="4812536" cy="223885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8D13ABD-65CC-8B82-CC30-77975A9E48B1}"/>
                </a:ext>
              </a:extLst>
            </p:cNvPr>
            <p:cNvSpPr txBox="1"/>
            <p:nvPr/>
          </p:nvSpPr>
          <p:spPr>
            <a:xfrm>
              <a:off x="5754398" y="1182742"/>
              <a:ext cx="481253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Physical space vectors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F9BD25A-3706-D2BC-DC2A-C9FB047987A2}"/>
                    </a:ext>
                  </a:extLst>
                </p:cNvPr>
                <p:cNvSpPr txBox="1"/>
                <p:nvPr/>
              </p:nvSpPr>
              <p:spPr>
                <a:xfrm>
                  <a:off x="6815843" y="1813712"/>
                  <a:ext cx="2689646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5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5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sz="5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p>
                              <m:sSupPr>
                                <m:ctrlPr>
                                  <a:rPr lang="en-US" sz="54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54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sz="54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F9BD25A-3706-D2BC-DC2A-C9FB047987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5843" y="1813712"/>
                  <a:ext cx="2689646" cy="9233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2D6013A-FED7-0423-29F7-96839BE8B8D1}"/>
                    </a:ext>
                  </a:extLst>
                </p:cNvPr>
                <p:cNvSpPr txBox="1"/>
                <p:nvPr/>
              </p:nvSpPr>
              <p:spPr>
                <a:xfrm>
                  <a:off x="6417304" y="2836826"/>
                  <a:ext cx="348672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2D6013A-FED7-0423-29F7-96839BE8B8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7304" y="2836826"/>
                  <a:ext cx="3486724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0547967-5E79-8382-BD65-45036A2BF091}"/>
              </a:ext>
            </a:extLst>
          </p:cNvPr>
          <p:cNvGrpSpPr/>
          <p:nvPr/>
        </p:nvGrpSpPr>
        <p:grpSpPr>
          <a:xfrm>
            <a:off x="1095410" y="1175786"/>
            <a:ext cx="3577708" cy="4608064"/>
            <a:chOff x="1153584" y="233822"/>
            <a:chExt cx="3577708" cy="4608064"/>
          </a:xfrm>
        </p:grpSpPr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349052E5-368E-641F-CE3A-0D80894950A2}"/>
                </a:ext>
              </a:extLst>
            </p:cNvPr>
            <p:cNvSpPr/>
            <p:nvPr/>
          </p:nvSpPr>
          <p:spPr>
            <a:xfrm>
              <a:off x="2598212" y="2085993"/>
              <a:ext cx="697242" cy="553554"/>
            </a:xfrm>
            <a:prstGeom prst="arc">
              <a:avLst>
                <a:gd name="adj1" fmla="val 16200000"/>
                <a:gd name="adj2" fmla="val 2012949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9371863-4A5A-DBDD-CA22-FC7D9E37FD51}"/>
                </a:ext>
              </a:extLst>
            </p:cNvPr>
            <p:cNvGrpSpPr/>
            <p:nvPr/>
          </p:nvGrpSpPr>
          <p:grpSpPr>
            <a:xfrm>
              <a:off x="1153584" y="740244"/>
              <a:ext cx="3577708" cy="3577703"/>
              <a:chOff x="2012104" y="948792"/>
              <a:chExt cx="3577708" cy="3577703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2EA62BC-3CF0-13A3-0DE1-853FECF4927F}"/>
                  </a:ext>
                </a:extLst>
              </p:cNvPr>
              <p:cNvCxnSpPr>
                <a:cxnSpLocks/>
                <a:stCxn id="47" idx="2"/>
              </p:cNvCxnSpPr>
              <p:nvPr/>
            </p:nvCxnSpPr>
            <p:spPr>
              <a:xfrm>
                <a:off x="2012104" y="2737644"/>
                <a:ext cx="3577706" cy="7622"/>
              </a:xfrm>
              <a:prstGeom prst="line">
                <a:avLst/>
              </a:prstGeom>
              <a:ln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7B5F2E82-07AC-7F88-6C67-76DC99EAC189}"/>
                  </a:ext>
                </a:extLst>
              </p:cNvPr>
              <p:cNvCxnSpPr>
                <a:cxnSpLocks/>
                <a:stCxn id="47" idx="0"/>
                <a:endCxn id="47" idx="4"/>
              </p:cNvCxnSpPr>
              <p:nvPr/>
            </p:nvCxnSpPr>
            <p:spPr>
              <a:xfrm>
                <a:off x="3800958" y="948792"/>
                <a:ext cx="0" cy="3577703"/>
              </a:xfrm>
              <a:prstGeom prst="line">
                <a:avLst/>
              </a:prstGeom>
              <a:ln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E7A46A4D-07FF-3914-BA14-FE928CC1A409}"/>
                  </a:ext>
                </a:extLst>
              </p:cNvPr>
              <p:cNvGrpSpPr/>
              <p:nvPr/>
            </p:nvGrpSpPr>
            <p:grpSpPr>
              <a:xfrm>
                <a:off x="2012104" y="948792"/>
                <a:ext cx="3577708" cy="3577703"/>
                <a:chOff x="934944" y="1636949"/>
                <a:chExt cx="2674273" cy="2674270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F7A60819-6B04-87D1-6FEC-67649CD20E62}"/>
                    </a:ext>
                  </a:extLst>
                </p:cNvPr>
                <p:cNvGrpSpPr/>
                <p:nvPr/>
              </p:nvGrpSpPr>
              <p:grpSpPr>
                <a:xfrm>
                  <a:off x="934944" y="1636949"/>
                  <a:ext cx="2674273" cy="2674270"/>
                  <a:chOff x="2521889" y="2808131"/>
                  <a:chExt cx="1916265" cy="1916264"/>
                </a:xfrm>
              </p:grpSpPr>
              <p:sp>
                <p:nvSpPr>
                  <p:cNvPr id="45" name="Oval 44">
                    <a:extLst>
                      <a:ext uri="{FF2B5EF4-FFF2-40B4-BE49-F238E27FC236}">
                        <a16:creationId xmlns:a16="http://schemas.microsoft.com/office/drawing/2014/main" id="{D5CCBA0F-4357-677D-C5A7-481691904867}"/>
                      </a:ext>
                    </a:extLst>
                  </p:cNvPr>
                  <p:cNvSpPr/>
                  <p:nvPr/>
                </p:nvSpPr>
                <p:spPr>
                  <a:xfrm>
                    <a:off x="2521889" y="2808131"/>
                    <a:ext cx="1916264" cy="1916264"/>
                  </a:xfrm>
                  <a:prstGeom prst="ellips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6" name="Oval 31">
                    <a:extLst>
                      <a:ext uri="{FF2B5EF4-FFF2-40B4-BE49-F238E27FC236}">
                        <a16:creationId xmlns:a16="http://schemas.microsoft.com/office/drawing/2014/main" id="{7F7EB69C-9E17-9762-1CDC-D47B21D794E6}"/>
                      </a:ext>
                    </a:extLst>
                  </p:cNvPr>
                  <p:cNvSpPr/>
                  <p:nvPr/>
                </p:nvSpPr>
                <p:spPr>
                  <a:xfrm>
                    <a:off x="2521889" y="2808132"/>
                    <a:ext cx="1916264" cy="958132"/>
                  </a:xfrm>
                  <a:custGeom>
                    <a:avLst/>
                    <a:gdLst>
                      <a:gd name="connsiteX0" fmla="*/ 0 w 1916264"/>
                      <a:gd name="connsiteY0" fmla="*/ 958132 h 1916264"/>
                      <a:gd name="connsiteX1" fmla="*/ 958132 w 1916264"/>
                      <a:gd name="connsiteY1" fmla="*/ 0 h 1916264"/>
                      <a:gd name="connsiteX2" fmla="*/ 1916264 w 1916264"/>
                      <a:gd name="connsiteY2" fmla="*/ 958132 h 1916264"/>
                      <a:gd name="connsiteX3" fmla="*/ 958132 w 1916264"/>
                      <a:gd name="connsiteY3" fmla="*/ 1916264 h 1916264"/>
                      <a:gd name="connsiteX4" fmla="*/ 0 w 1916264"/>
                      <a:gd name="connsiteY4" fmla="*/ 958132 h 1916264"/>
                      <a:gd name="connsiteX0" fmla="*/ 958132 w 1916264"/>
                      <a:gd name="connsiteY0" fmla="*/ 1916264 h 2007704"/>
                      <a:gd name="connsiteX1" fmla="*/ 0 w 1916264"/>
                      <a:gd name="connsiteY1" fmla="*/ 958132 h 2007704"/>
                      <a:gd name="connsiteX2" fmla="*/ 958132 w 1916264"/>
                      <a:gd name="connsiteY2" fmla="*/ 0 h 2007704"/>
                      <a:gd name="connsiteX3" fmla="*/ 1916264 w 1916264"/>
                      <a:gd name="connsiteY3" fmla="*/ 958132 h 2007704"/>
                      <a:gd name="connsiteX4" fmla="*/ 1049572 w 1916264"/>
                      <a:gd name="connsiteY4" fmla="*/ 2007704 h 2007704"/>
                      <a:gd name="connsiteX0" fmla="*/ 958132 w 1916264"/>
                      <a:gd name="connsiteY0" fmla="*/ 1916264 h 1916264"/>
                      <a:gd name="connsiteX1" fmla="*/ 0 w 1916264"/>
                      <a:gd name="connsiteY1" fmla="*/ 958132 h 1916264"/>
                      <a:gd name="connsiteX2" fmla="*/ 958132 w 1916264"/>
                      <a:gd name="connsiteY2" fmla="*/ 0 h 1916264"/>
                      <a:gd name="connsiteX3" fmla="*/ 1916264 w 1916264"/>
                      <a:gd name="connsiteY3" fmla="*/ 958132 h 1916264"/>
                      <a:gd name="connsiteX0" fmla="*/ 0 w 1916264"/>
                      <a:gd name="connsiteY0" fmla="*/ 958132 h 958132"/>
                      <a:gd name="connsiteX1" fmla="*/ 958132 w 1916264"/>
                      <a:gd name="connsiteY1" fmla="*/ 0 h 958132"/>
                      <a:gd name="connsiteX2" fmla="*/ 1916264 w 1916264"/>
                      <a:gd name="connsiteY2" fmla="*/ 958132 h 9581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916264" h="958132">
                        <a:moveTo>
                          <a:pt x="0" y="958132"/>
                        </a:moveTo>
                        <a:cubicBezTo>
                          <a:pt x="0" y="428970"/>
                          <a:pt x="428970" y="0"/>
                          <a:pt x="958132" y="0"/>
                        </a:cubicBezTo>
                        <a:cubicBezTo>
                          <a:pt x="1487294" y="0"/>
                          <a:pt x="1916264" y="428970"/>
                          <a:pt x="1916264" y="958132"/>
                        </a:cubicBezTo>
                      </a:path>
                    </a:pathLst>
                  </a:custGeom>
                  <a:noFill/>
                  <a:ln w="285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7" name="Oval 46">
                    <a:extLst>
                      <a:ext uri="{FF2B5EF4-FFF2-40B4-BE49-F238E27FC236}">
                        <a16:creationId xmlns:a16="http://schemas.microsoft.com/office/drawing/2014/main" id="{5594BCFB-4010-5BB5-E6C3-7C7D8EE741FF}"/>
                      </a:ext>
                    </a:extLst>
                  </p:cNvPr>
                  <p:cNvSpPr/>
                  <p:nvPr/>
                </p:nvSpPr>
                <p:spPr>
                  <a:xfrm>
                    <a:off x="2521889" y="2808131"/>
                    <a:ext cx="1916265" cy="19162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lt1"/>
                      </a:solidFill>
                    </a:endParaRPr>
                  </a:p>
                </p:txBody>
              </p:sp>
            </p:grp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FCD64F03-B68C-3AE2-9561-FA3D9C985D09}"/>
                    </a:ext>
                  </a:extLst>
                </p:cNvPr>
                <p:cNvCxnSpPr>
                  <a:cxnSpLocks/>
                  <a:endCxn id="47" idx="7"/>
                </p:cNvCxnSpPr>
                <p:nvPr/>
              </p:nvCxnSpPr>
              <p:spPr>
                <a:xfrm flipV="1">
                  <a:off x="2272076" y="2028586"/>
                  <a:ext cx="945503" cy="945496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A8F6DD0-06FC-6E5D-C604-9CB12C3D0B91}"/>
                    </a:ext>
                  </a:extLst>
                </p:cNvPr>
                <p:cNvSpPr txBox="1"/>
                <p:nvPr/>
              </p:nvSpPr>
              <p:spPr>
                <a:xfrm>
                  <a:off x="2920848" y="1799377"/>
                  <a:ext cx="500535" cy="4941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A8F6DD0-06FC-6E5D-C604-9CB12C3D0B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0848" y="1799377"/>
                  <a:ext cx="500535" cy="49410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5B3A1FE5-8BE1-054D-0D83-E84748B4C47B}"/>
                    </a:ext>
                  </a:extLst>
                </p:cNvPr>
                <p:cNvSpPr txBox="1"/>
                <p:nvPr/>
              </p:nvSpPr>
              <p:spPr>
                <a:xfrm>
                  <a:off x="2541264" y="233822"/>
                  <a:ext cx="80233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⟩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5B3A1FE5-8BE1-054D-0D83-E84748B4C4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1264" y="233822"/>
                  <a:ext cx="802336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1515" r="-2273"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F2F84F8-76DD-B1A6-90C3-5F8509088D40}"/>
                    </a:ext>
                  </a:extLst>
                </p:cNvPr>
                <p:cNvSpPr txBox="1"/>
                <p:nvPr/>
              </p:nvSpPr>
              <p:spPr>
                <a:xfrm>
                  <a:off x="2541264" y="4380221"/>
                  <a:ext cx="80233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⟩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F2F84F8-76DD-B1A6-90C3-5F8509088D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1264" y="4380221"/>
                  <a:ext cx="802336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1515" r="-2273"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1AAA80D-597A-9D4A-E9F0-8EB3B5418499}"/>
                </a:ext>
              </a:extLst>
            </p:cNvPr>
            <p:cNvCxnSpPr>
              <a:cxnSpLocks/>
              <a:endCxn id="47" idx="7"/>
            </p:cNvCxnSpPr>
            <p:nvPr/>
          </p:nvCxnSpPr>
          <p:spPr>
            <a:xfrm flipV="1">
              <a:off x="4207349" y="1264186"/>
              <a:ext cx="0" cy="1272532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EC32B97-DCB0-8C25-AD21-B0ED5FF02662}"/>
                </a:ext>
              </a:extLst>
            </p:cNvPr>
            <p:cNvCxnSpPr/>
            <p:nvPr/>
          </p:nvCxnSpPr>
          <p:spPr>
            <a:xfrm>
              <a:off x="2942432" y="2532261"/>
              <a:ext cx="1264917" cy="1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474534C-27E1-B3FB-6584-87E28CFE13FF}"/>
                    </a:ext>
                  </a:extLst>
                </p:cNvPr>
                <p:cNvSpPr txBox="1"/>
                <p:nvPr/>
              </p:nvSpPr>
              <p:spPr>
                <a:xfrm>
                  <a:off x="3515484" y="1748127"/>
                  <a:ext cx="42934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474534C-27E1-B3FB-6584-87E28CFE13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5484" y="1748127"/>
                  <a:ext cx="429348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D7A84CD-8CE4-65E9-D188-9E4D8EF51BEE}"/>
                    </a:ext>
                  </a:extLst>
                </p:cNvPr>
                <p:cNvSpPr txBox="1"/>
                <p:nvPr/>
              </p:nvSpPr>
              <p:spPr>
                <a:xfrm>
                  <a:off x="2001030" y="2577939"/>
                  <a:ext cx="81509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D7A84CD-8CE4-65E9-D188-9E4D8EF51B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1030" y="2577939"/>
                  <a:ext cx="815095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D3D2389-8E5E-0EAB-1677-B3BC0DD8F5B7}"/>
                    </a:ext>
                  </a:extLst>
                </p:cNvPr>
                <p:cNvSpPr txBox="1"/>
                <p:nvPr/>
              </p:nvSpPr>
              <p:spPr>
                <a:xfrm>
                  <a:off x="2001031" y="814752"/>
                  <a:ext cx="81509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D3D2389-8E5E-0EAB-1677-B3BC0DD8F5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1031" y="814752"/>
                  <a:ext cx="815095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Right Brace 59">
              <a:extLst>
                <a:ext uri="{FF2B5EF4-FFF2-40B4-BE49-F238E27FC236}">
                  <a16:creationId xmlns:a16="http://schemas.microsoft.com/office/drawing/2014/main" id="{C90F723D-7403-ABBE-E39D-C2B3A7D6382F}"/>
                </a:ext>
              </a:extLst>
            </p:cNvPr>
            <p:cNvSpPr/>
            <p:nvPr/>
          </p:nvSpPr>
          <p:spPr>
            <a:xfrm flipH="1">
              <a:off x="2751185" y="759208"/>
              <a:ext cx="169816" cy="494101"/>
            </a:xfrm>
            <a:prstGeom prst="rightBrac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ight Brace 60">
              <a:extLst>
                <a:ext uri="{FF2B5EF4-FFF2-40B4-BE49-F238E27FC236}">
                  <a16:creationId xmlns:a16="http://schemas.microsoft.com/office/drawing/2014/main" id="{436BDB9C-EC0F-2D02-1D8C-FEB89251C46B}"/>
                </a:ext>
              </a:extLst>
            </p:cNvPr>
            <p:cNvSpPr/>
            <p:nvPr/>
          </p:nvSpPr>
          <p:spPr>
            <a:xfrm flipH="1">
              <a:off x="2751185" y="1273558"/>
              <a:ext cx="169816" cy="3017470"/>
            </a:xfrm>
            <a:prstGeom prst="righ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07890C9-7DA2-9785-2891-61123704C5B7}"/>
              </a:ext>
            </a:extLst>
          </p:cNvPr>
          <p:cNvSpPr txBox="1"/>
          <p:nvPr/>
        </p:nvSpPr>
        <p:spPr>
          <a:xfrm>
            <a:off x="435316" y="146736"/>
            <a:ext cx="111427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Quantum superpositions explained</a:t>
            </a:r>
          </a:p>
        </p:txBody>
      </p:sp>
    </p:spTree>
    <p:extLst>
      <p:ext uri="{BB962C8B-B14F-4D97-AF65-F5344CB8AC3E}">
        <p14:creationId xmlns:p14="http://schemas.microsoft.com/office/powerpoint/2010/main" val="1252360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E25D9-9CDD-7929-9A33-D12412A3D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3B23DBC-0898-B62C-73B1-A8A73C80F005}"/>
              </a:ext>
            </a:extLst>
          </p:cNvPr>
          <p:cNvGrpSpPr/>
          <p:nvPr/>
        </p:nvGrpSpPr>
        <p:grpSpPr>
          <a:xfrm>
            <a:off x="5806746" y="3854114"/>
            <a:ext cx="4931158" cy="2229842"/>
            <a:chOff x="5777047" y="3947245"/>
            <a:chExt cx="4931158" cy="22298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0FB1572-F825-54D4-267D-A8C8B81605B1}"/>
                    </a:ext>
                  </a:extLst>
                </p:cNvPr>
                <p:cNvSpPr txBox="1"/>
                <p:nvPr/>
              </p:nvSpPr>
              <p:spPr>
                <a:xfrm>
                  <a:off x="5898940" y="4540698"/>
                  <a:ext cx="4687372" cy="10302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5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5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5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5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5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54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540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5400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5400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5400" b="0" i="1" smtClean="0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0FB1572-F825-54D4-267D-A8C8B81605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8940" y="4540698"/>
                  <a:ext cx="4687372" cy="103028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D8F5B79-A91F-83EF-EF70-1827C3446A81}"/>
                    </a:ext>
                  </a:extLst>
                </p:cNvPr>
                <p:cNvSpPr txBox="1"/>
                <p:nvPr/>
              </p:nvSpPr>
              <p:spPr>
                <a:xfrm>
                  <a:off x="6450757" y="5592312"/>
                  <a:ext cx="358373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D8F5B79-A91F-83EF-EF70-1827C3446A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0757" y="5592312"/>
                  <a:ext cx="3583738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BF31161-4E2D-A7B3-AD62-25A15D460D5A}"/>
                </a:ext>
              </a:extLst>
            </p:cNvPr>
            <p:cNvSpPr txBox="1"/>
            <p:nvPr/>
          </p:nvSpPr>
          <p:spPr>
            <a:xfrm>
              <a:off x="5777047" y="3947245"/>
              <a:ext cx="49311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Quantum state vectors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5F14E5C-EC43-64FB-907C-584C78CDCF49}"/>
              </a:ext>
            </a:extLst>
          </p:cNvPr>
          <p:cNvGrpSpPr/>
          <p:nvPr/>
        </p:nvGrpSpPr>
        <p:grpSpPr>
          <a:xfrm>
            <a:off x="6329788" y="1140665"/>
            <a:ext cx="4812536" cy="2238859"/>
            <a:chOff x="5754398" y="1182742"/>
            <a:chExt cx="4812536" cy="223885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202CBC6-880B-F0B8-9499-996EE4CFD17B}"/>
                </a:ext>
              </a:extLst>
            </p:cNvPr>
            <p:cNvSpPr txBox="1"/>
            <p:nvPr/>
          </p:nvSpPr>
          <p:spPr>
            <a:xfrm>
              <a:off x="5754398" y="1182742"/>
              <a:ext cx="481253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Physical space vectors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618F12E-25D3-2323-58C7-C6C3DB5E5973}"/>
                    </a:ext>
                  </a:extLst>
                </p:cNvPr>
                <p:cNvSpPr txBox="1"/>
                <p:nvPr/>
              </p:nvSpPr>
              <p:spPr>
                <a:xfrm>
                  <a:off x="6815843" y="1813712"/>
                  <a:ext cx="2689646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5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5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sz="5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p>
                              <m:sSupPr>
                                <m:ctrlPr>
                                  <a:rPr lang="en-US" sz="54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54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sz="54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618F12E-25D3-2323-58C7-C6C3DB5E5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5843" y="1813712"/>
                  <a:ext cx="2689646" cy="9233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A71D16F-96DC-1CC1-6444-9C803C2F3224}"/>
                    </a:ext>
                  </a:extLst>
                </p:cNvPr>
                <p:cNvSpPr txBox="1"/>
                <p:nvPr/>
              </p:nvSpPr>
              <p:spPr>
                <a:xfrm>
                  <a:off x="6417304" y="2836826"/>
                  <a:ext cx="348672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A71D16F-96DC-1CC1-6444-9C803C2F32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7304" y="2836826"/>
                  <a:ext cx="3486724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06DEF9A-2D62-734F-67DD-8C52E1768B59}"/>
              </a:ext>
            </a:extLst>
          </p:cNvPr>
          <p:cNvGrpSpPr/>
          <p:nvPr/>
        </p:nvGrpSpPr>
        <p:grpSpPr>
          <a:xfrm>
            <a:off x="1095410" y="1175786"/>
            <a:ext cx="3577708" cy="4608064"/>
            <a:chOff x="1153584" y="233822"/>
            <a:chExt cx="3577708" cy="4608064"/>
          </a:xfrm>
        </p:grpSpPr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72F3C812-50BA-ACAF-7B2F-38E044D86AA0}"/>
                </a:ext>
              </a:extLst>
            </p:cNvPr>
            <p:cNvSpPr/>
            <p:nvPr/>
          </p:nvSpPr>
          <p:spPr>
            <a:xfrm>
              <a:off x="2598212" y="2085993"/>
              <a:ext cx="697242" cy="553554"/>
            </a:xfrm>
            <a:prstGeom prst="arc">
              <a:avLst>
                <a:gd name="adj1" fmla="val 16200000"/>
                <a:gd name="adj2" fmla="val 2012949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0E87756-A213-279A-7762-C5C7690D8B9A}"/>
                </a:ext>
              </a:extLst>
            </p:cNvPr>
            <p:cNvGrpSpPr/>
            <p:nvPr/>
          </p:nvGrpSpPr>
          <p:grpSpPr>
            <a:xfrm>
              <a:off x="1153584" y="740244"/>
              <a:ext cx="3577708" cy="3577703"/>
              <a:chOff x="2012104" y="948792"/>
              <a:chExt cx="3577708" cy="3577703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A224C640-64EC-9E34-4926-5A6A36FFFDA8}"/>
                  </a:ext>
                </a:extLst>
              </p:cNvPr>
              <p:cNvCxnSpPr>
                <a:cxnSpLocks/>
                <a:stCxn id="47" idx="2"/>
              </p:cNvCxnSpPr>
              <p:nvPr/>
            </p:nvCxnSpPr>
            <p:spPr>
              <a:xfrm>
                <a:off x="2012104" y="2737644"/>
                <a:ext cx="3577706" cy="7622"/>
              </a:xfrm>
              <a:prstGeom prst="line">
                <a:avLst/>
              </a:prstGeom>
              <a:ln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1BED6B2-6F8D-9B3D-190C-B7AE323E56B3}"/>
                  </a:ext>
                </a:extLst>
              </p:cNvPr>
              <p:cNvCxnSpPr>
                <a:cxnSpLocks/>
                <a:stCxn id="47" idx="0"/>
                <a:endCxn id="47" idx="4"/>
              </p:cNvCxnSpPr>
              <p:nvPr/>
            </p:nvCxnSpPr>
            <p:spPr>
              <a:xfrm>
                <a:off x="3800958" y="948792"/>
                <a:ext cx="0" cy="3577703"/>
              </a:xfrm>
              <a:prstGeom prst="line">
                <a:avLst/>
              </a:prstGeom>
              <a:ln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7545E1EE-E0DE-A905-32DD-DC39D7B73053}"/>
                  </a:ext>
                </a:extLst>
              </p:cNvPr>
              <p:cNvGrpSpPr/>
              <p:nvPr/>
            </p:nvGrpSpPr>
            <p:grpSpPr>
              <a:xfrm>
                <a:off x="2012104" y="948792"/>
                <a:ext cx="3577708" cy="3577703"/>
                <a:chOff x="934944" y="1636949"/>
                <a:chExt cx="2674273" cy="2674270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F71BB623-DCCC-9D8F-CEC5-9C5B0EEBD2D2}"/>
                    </a:ext>
                  </a:extLst>
                </p:cNvPr>
                <p:cNvGrpSpPr/>
                <p:nvPr/>
              </p:nvGrpSpPr>
              <p:grpSpPr>
                <a:xfrm>
                  <a:off x="934944" y="1636949"/>
                  <a:ext cx="2674273" cy="2674270"/>
                  <a:chOff x="2521889" y="2808131"/>
                  <a:chExt cx="1916265" cy="1916264"/>
                </a:xfrm>
              </p:grpSpPr>
              <p:sp>
                <p:nvSpPr>
                  <p:cNvPr id="45" name="Oval 44">
                    <a:extLst>
                      <a:ext uri="{FF2B5EF4-FFF2-40B4-BE49-F238E27FC236}">
                        <a16:creationId xmlns:a16="http://schemas.microsoft.com/office/drawing/2014/main" id="{DD1E980A-366D-7CE0-AE8F-3D91404D4D9E}"/>
                      </a:ext>
                    </a:extLst>
                  </p:cNvPr>
                  <p:cNvSpPr/>
                  <p:nvPr/>
                </p:nvSpPr>
                <p:spPr>
                  <a:xfrm>
                    <a:off x="2521889" y="2808131"/>
                    <a:ext cx="1916264" cy="1916264"/>
                  </a:xfrm>
                  <a:prstGeom prst="ellips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6" name="Oval 31">
                    <a:extLst>
                      <a:ext uri="{FF2B5EF4-FFF2-40B4-BE49-F238E27FC236}">
                        <a16:creationId xmlns:a16="http://schemas.microsoft.com/office/drawing/2014/main" id="{224EFAD5-179A-82C2-4D06-F39BC81C0B0C}"/>
                      </a:ext>
                    </a:extLst>
                  </p:cNvPr>
                  <p:cNvSpPr/>
                  <p:nvPr/>
                </p:nvSpPr>
                <p:spPr>
                  <a:xfrm>
                    <a:off x="2521889" y="2808132"/>
                    <a:ext cx="1916264" cy="958132"/>
                  </a:xfrm>
                  <a:custGeom>
                    <a:avLst/>
                    <a:gdLst>
                      <a:gd name="connsiteX0" fmla="*/ 0 w 1916264"/>
                      <a:gd name="connsiteY0" fmla="*/ 958132 h 1916264"/>
                      <a:gd name="connsiteX1" fmla="*/ 958132 w 1916264"/>
                      <a:gd name="connsiteY1" fmla="*/ 0 h 1916264"/>
                      <a:gd name="connsiteX2" fmla="*/ 1916264 w 1916264"/>
                      <a:gd name="connsiteY2" fmla="*/ 958132 h 1916264"/>
                      <a:gd name="connsiteX3" fmla="*/ 958132 w 1916264"/>
                      <a:gd name="connsiteY3" fmla="*/ 1916264 h 1916264"/>
                      <a:gd name="connsiteX4" fmla="*/ 0 w 1916264"/>
                      <a:gd name="connsiteY4" fmla="*/ 958132 h 1916264"/>
                      <a:gd name="connsiteX0" fmla="*/ 958132 w 1916264"/>
                      <a:gd name="connsiteY0" fmla="*/ 1916264 h 2007704"/>
                      <a:gd name="connsiteX1" fmla="*/ 0 w 1916264"/>
                      <a:gd name="connsiteY1" fmla="*/ 958132 h 2007704"/>
                      <a:gd name="connsiteX2" fmla="*/ 958132 w 1916264"/>
                      <a:gd name="connsiteY2" fmla="*/ 0 h 2007704"/>
                      <a:gd name="connsiteX3" fmla="*/ 1916264 w 1916264"/>
                      <a:gd name="connsiteY3" fmla="*/ 958132 h 2007704"/>
                      <a:gd name="connsiteX4" fmla="*/ 1049572 w 1916264"/>
                      <a:gd name="connsiteY4" fmla="*/ 2007704 h 2007704"/>
                      <a:gd name="connsiteX0" fmla="*/ 958132 w 1916264"/>
                      <a:gd name="connsiteY0" fmla="*/ 1916264 h 1916264"/>
                      <a:gd name="connsiteX1" fmla="*/ 0 w 1916264"/>
                      <a:gd name="connsiteY1" fmla="*/ 958132 h 1916264"/>
                      <a:gd name="connsiteX2" fmla="*/ 958132 w 1916264"/>
                      <a:gd name="connsiteY2" fmla="*/ 0 h 1916264"/>
                      <a:gd name="connsiteX3" fmla="*/ 1916264 w 1916264"/>
                      <a:gd name="connsiteY3" fmla="*/ 958132 h 1916264"/>
                      <a:gd name="connsiteX0" fmla="*/ 0 w 1916264"/>
                      <a:gd name="connsiteY0" fmla="*/ 958132 h 958132"/>
                      <a:gd name="connsiteX1" fmla="*/ 958132 w 1916264"/>
                      <a:gd name="connsiteY1" fmla="*/ 0 h 958132"/>
                      <a:gd name="connsiteX2" fmla="*/ 1916264 w 1916264"/>
                      <a:gd name="connsiteY2" fmla="*/ 958132 h 9581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916264" h="958132">
                        <a:moveTo>
                          <a:pt x="0" y="958132"/>
                        </a:moveTo>
                        <a:cubicBezTo>
                          <a:pt x="0" y="428970"/>
                          <a:pt x="428970" y="0"/>
                          <a:pt x="958132" y="0"/>
                        </a:cubicBezTo>
                        <a:cubicBezTo>
                          <a:pt x="1487294" y="0"/>
                          <a:pt x="1916264" y="428970"/>
                          <a:pt x="1916264" y="958132"/>
                        </a:cubicBezTo>
                      </a:path>
                    </a:pathLst>
                  </a:custGeom>
                  <a:noFill/>
                  <a:ln w="285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7" name="Oval 46">
                    <a:extLst>
                      <a:ext uri="{FF2B5EF4-FFF2-40B4-BE49-F238E27FC236}">
                        <a16:creationId xmlns:a16="http://schemas.microsoft.com/office/drawing/2014/main" id="{78AA8024-7036-0AA6-7507-E18DC1F8545A}"/>
                      </a:ext>
                    </a:extLst>
                  </p:cNvPr>
                  <p:cNvSpPr/>
                  <p:nvPr/>
                </p:nvSpPr>
                <p:spPr>
                  <a:xfrm>
                    <a:off x="2521889" y="2808131"/>
                    <a:ext cx="1916265" cy="19162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lt1"/>
                      </a:solidFill>
                    </a:endParaRPr>
                  </a:p>
                </p:txBody>
              </p:sp>
            </p:grp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8B139303-17A3-A2B8-8345-6D018F62C370}"/>
                    </a:ext>
                  </a:extLst>
                </p:cNvPr>
                <p:cNvCxnSpPr>
                  <a:cxnSpLocks/>
                  <a:endCxn id="47" idx="7"/>
                </p:cNvCxnSpPr>
                <p:nvPr/>
              </p:nvCxnSpPr>
              <p:spPr>
                <a:xfrm flipV="1">
                  <a:off x="2272076" y="2028586"/>
                  <a:ext cx="945503" cy="945496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43BE4D5-0DB2-D8BD-4AB0-75A4A60B97CE}"/>
                    </a:ext>
                  </a:extLst>
                </p:cNvPr>
                <p:cNvSpPr txBox="1"/>
                <p:nvPr/>
              </p:nvSpPr>
              <p:spPr>
                <a:xfrm>
                  <a:off x="2920848" y="1799377"/>
                  <a:ext cx="500535" cy="4941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43BE4D5-0DB2-D8BD-4AB0-75A4A60B97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0848" y="1799377"/>
                  <a:ext cx="500535" cy="49410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C1539CB9-6B3B-811D-DBAE-1BE1D098F5A5}"/>
                    </a:ext>
                  </a:extLst>
                </p:cNvPr>
                <p:cNvSpPr txBox="1"/>
                <p:nvPr/>
              </p:nvSpPr>
              <p:spPr>
                <a:xfrm>
                  <a:off x="2541264" y="233822"/>
                  <a:ext cx="80233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⟩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C1539CB9-6B3B-811D-DBAE-1BE1D098F5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1264" y="233822"/>
                  <a:ext cx="802336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1515" r="-2273"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E9ADAC2-7AC3-AF72-4EAD-CCCCD6824854}"/>
                    </a:ext>
                  </a:extLst>
                </p:cNvPr>
                <p:cNvSpPr txBox="1"/>
                <p:nvPr/>
              </p:nvSpPr>
              <p:spPr>
                <a:xfrm>
                  <a:off x="2541264" y="4380221"/>
                  <a:ext cx="80233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⟩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E9ADAC2-7AC3-AF72-4EAD-CCCCD68248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1264" y="4380221"/>
                  <a:ext cx="802336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1515" r="-2273"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7DF6704-4C12-6AC3-BC17-2BB81EA8BDEE}"/>
                </a:ext>
              </a:extLst>
            </p:cNvPr>
            <p:cNvCxnSpPr>
              <a:cxnSpLocks/>
              <a:endCxn id="47" idx="7"/>
            </p:cNvCxnSpPr>
            <p:nvPr/>
          </p:nvCxnSpPr>
          <p:spPr>
            <a:xfrm flipV="1">
              <a:off x="4207349" y="1264186"/>
              <a:ext cx="0" cy="1272532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2675C6A-4264-C7FD-6E33-6E88F7437228}"/>
                </a:ext>
              </a:extLst>
            </p:cNvPr>
            <p:cNvCxnSpPr/>
            <p:nvPr/>
          </p:nvCxnSpPr>
          <p:spPr>
            <a:xfrm>
              <a:off x="2942432" y="2532261"/>
              <a:ext cx="1264917" cy="1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5FFA814-91DE-058A-D763-98C0CEE14D56}"/>
                    </a:ext>
                  </a:extLst>
                </p:cNvPr>
                <p:cNvSpPr txBox="1"/>
                <p:nvPr/>
              </p:nvSpPr>
              <p:spPr>
                <a:xfrm>
                  <a:off x="3515484" y="1748127"/>
                  <a:ext cx="42934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5FFA814-91DE-058A-D763-98C0CEE14D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5484" y="1748127"/>
                  <a:ext cx="429348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F8661AEE-46D0-A21A-4526-03DF86D26064}"/>
                    </a:ext>
                  </a:extLst>
                </p:cNvPr>
                <p:cNvSpPr txBox="1"/>
                <p:nvPr/>
              </p:nvSpPr>
              <p:spPr>
                <a:xfrm>
                  <a:off x="2001030" y="2577939"/>
                  <a:ext cx="81509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F8661AEE-46D0-A21A-4526-03DF86D260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1030" y="2577939"/>
                  <a:ext cx="815095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51B53FC-D501-9C88-CD97-1B77CF4BD18A}"/>
                    </a:ext>
                  </a:extLst>
                </p:cNvPr>
                <p:cNvSpPr txBox="1"/>
                <p:nvPr/>
              </p:nvSpPr>
              <p:spPr>
                <a:xfrm>
                  <a:off x="2001031" y="814752"/>
                  <a:ext cx="81509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51B53FC-D501-9C88-CD97-1B77CF4BD1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1031" y="814752"/>
                  <a:ext cx="815095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Right Brace 59">
              <a:extLst>
                <a:ext uri="{FF2B5EF4-FFF2-40B4-BE49-F238E27FC236}">
                  <a16:creationId xmlns:a16="http://schemas.microsoft.com/office/drawing/2014/main" id="{E0A93F1C-DF27-70C4-5D18-1EDCA6957B0D}"/>
                </a:ext>
              </a:extLst>
            </p:cNvPr>
            <p:cNvSpPr/>
            <p:nvPr/>
          </p:nvSpPr>
          <p:spPr>
            <a:xfrm flipH="1">
              <a:off x="2751185" y="759208"/>
              <a:ext cx="169816" cy="494101"/>
            </a:xfrm>
            <a:prstGeom prst="rightBrac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ight Brace 60">
              <a:extLst>
                <a:ext uri="{FF2B5EF4-FFF2-40B4-BE49-F238E27FC236}">
                  <a16:creationId xmlns:a16="http://schemas.microsoft.com/office/drawing/2014/main" id="{AD27930D-73B1-6B38-7A21-1066CCDA0BD9}"/>
                </a:ext>
              </a:extLst>
            </p:cNvPr>
            <p:cNvSpPr/>
            <p:nvPr/>
          </p:nvSpPr>
          <p:spPr>
            <a:xfrm flipH="1">
              <a:off x="2751185" y="1273558"/>
              <a:ext cx="169816" cy="3017470"/>
            </a:xfrm>
            <a:prstGeom prst="righ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83AC605-3E46-CB2B-6890-29CA2E9F4231}"/>
              </a:ext>
            </a:extLst>
          </p:cNvPr>
          <p:cNvSpPr txBox="1"/>
          <p:nvPr/>
        </p:nvSpPr>
        <p:spPr>
          <a:xfrm>
            <a:off x="555071" y="146736"/>
            <a:ext cx="110818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dirty="0"/>
              <a:t>There are no “superposition states”</a:t>
            </a:r>
          </a:p>
        </p:txBody>
      </p:sp>
    </p:spTree>
    <p:extLst>
      <p:ext uri="{BB962C8B-B14F-4D97-AF65-F5344CB8AC3E}">
        <p14:creationId xmlns:p14="http://schemas.microsoft.com/office/powerpoint/2010/main" val="3999043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AB609-176A-E2B5-0ECE-5AB9F8EB2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9B1025B8-D0CB-16CA-3623-527875AB85FA}"/>
              </a:ext>
            </a:extLst>
          </p:cNvPr>
          <p:cNvGrpSpPr/>
          <p:nvPr/>
        </p:nvGrpSpPr>
        <p:grpSpPr>
          <a:xfrm>
            <a:off x="5806746" y="3854114"/>
            <a:ext cx="4931158" cy="2229842"/>
            <a:chOff x="5777047" y="3947245"/>
            <a:chExt cx="4931158" cy="22298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D298D98-BAF0-8FAB-13DC-6113B7D5E9AD}"/>
                    </a:ext>
                  </a:extLst>
                </p:cNvPr>
                <p:cNvSpPr txBox="1"/>
                <p:nvPr/>
              </p:nvSpPr>
              <p:spPr>
                <a:xfrm>
                  <a:off x="5898940" y="4540698"/>
                  <a:ext cx="4687372" cy="10302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5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5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5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5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5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54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540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5400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5400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5400" b="0" i="1" smtClean="0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D298D98-BAF0-8FAB-13DC-6113B7D5E9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8940" y="4540698"/>
                  <a:ext cx="4687372" cy="103028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A94EA48-40D7-AE15-FBC0-6EC30E06F4D7}"/>
                    </a:ext>
                  </a:extLst>
                </p:cNvPr>
                <p:cNvSpPr txBox="1"/>
                <p:nvPr/>
              </p:nvSpPr>
              <p:spPr>
                <a:xfrm>
                  <a:off x="6450757" y="5592312"/>
                  <a:ext cx="358373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A94EA48-40D7-AE15-FBC0-6EC30E06F4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0757" y="5592312"/>
                  <a:ext cx="3583738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597EF82-9434-E097-F06B-A7EFCB06B302}"/>
                </a:ext>
              </a:extLst>
            </p:cNvPr>
            <p:cNvSpPr txBox="1"/>
            <p:nvPr/>
          </p:nvSpPr>
          <p:spPr>
            <a:xfrm>
              <a:off x="5777047" y="3947245"/>
              <a:ext cx="49311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Quantum state vectors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8446EF5-13DB-1A3A-6BDB-7E399CAF6B4F}"/>
              </a:ext>
            </a:extLst>
          </p:cNvPr>
          <p:cNvGrpSpPr/>
          <p:nvPr/>
        </p:nvGrpSpPr>
        <p:grpSpPr>
          <a:xfrm>
            <a:off x="6329788" y="1140665"/>
            <a:ext cx="4812536" cy="2238859"/>
            <a:chOff x="5754398" y="1182742"/>
            <a:chExt cx="4812536" cy="223885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6895ADA-BC6F-4598-231D-7717C8AB324A}"/>
                </a:ext>
              </a:extLst>
            </p:cNvPr>
            <p:cNvSpPr txBox="1"/>
            <p:nvPr/>
          </p:nvSpPr>
          <p:spPr>
            <a:xfrm>
              <a:off x="5754398" y="1182742"/>
              <a:ext cx="481253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Physical space vectors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C1948FE-329E-33B9-9DEF-84E0EFA84ECD}"/>
                    </a:ext>
                  </a:extLst>
                </p:cNvPr>
                <p:cNvSpPr txBox="1"/>
                <p:nvPr/>
              </p:nvSpPr>
              <p:spPr>
                <a:xfrm>
                  <a:off x="6815843" y="1813712"/>
                  <a:ext cx="2689646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5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5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sz="5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p>
                              <m:sSupPr>
                                <m:ctrlPr>
                                  <a:rPr lang="en-US" sz="54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54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sz="5400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C1948FE-329E-33B9-9DEF-84E0EFA84E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5843" y="1813712"/>
                  <a:ext cx="2689646" cy="9233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259711A-D914-6A04-47BE-F32667DB4B18}"/>
                    </a:ext>
                  </a:extLst>
                </p:cNvPr>
                <p:cNvSpPr txBox="1"/>
                <p:nvPr/>
              </p:nvSpPr>
              <p:spPr>
                <a:xfrm>
                  <a:off x="6417304" y="2836826"/>
                  <a:ext cx="348672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259711A-D914-6A04-47BE-F32667DB4B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7304" y="2836826"/>
                  <a:ext cx="3486724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ABC83A2-E7E6-761E-0E7D-DAF85974254E}"/>
              </a:ext>
            </a:extLst>
          </p:cNvPr>
          <p:cNvGrpSpPr/>
          <p:nvPr/>
        </p:nvGrpSpPr>
        <p:grpSpPr>
          <a:xfrm>
            <a:off x="1095410" y="1175786"/>
            <a:ext cx="3577708" cy="4608064"/>
            <a:chOff x="1153584" y="233822"/>
            <a:chExt cx="3577708" cy="4608064"/>
          </a:xfrm>
        </p:grpSpPr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E681EDC1-AD7F-4AF4-98BB-0D9BE0712D9D}"/>
                </a:ext>
              </a:extLst>
            </p:cNvPr>
            <p:cNvSpPr/>
            <p:nvPr/>
          </p:nvSpPr>
          <p:spPr>
            <a:xfrm>
              <a:off x="2598212" y="2085993"/>
              <a:ext cx="697242" cy="553554"/>
            </a:xfrm>
            <a:prstGeom prst="arc">
              <a:avLst>
                <a:gd name="adj1" fmla="val 16200000"/>
                <a:gd name="adj2" fmla="val 2012949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B367656-9EC8-0B9B-4285-CC351D65EF0C}"/>
                </a:ext>
              </a:extLst>
            </p:cNvPr>
            <p:cNvGrpSpPr/>
            <p:nvPr/>
          </p:nvGrpSpPr>
          <p:grpSpPr>
            <a:xfrm>
              <a:off x="1153584" y="740244"/>
              <a:ext cx="3577708" cy="3577703"/>
              <a:chOff x="2012104" y="948792"/>
              <a:chExt cx="3577708" cy="3577703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BD99E079-0915-B20D-6776-52885AAEABAE}"/>
                  </a:ext>
                </a:extLst>
              </p:cNvPr>
              <p:cNvCxnSpPr>
                <a:cxnSpLocks/>
                <a:stCxn id="47" idx="2"/>
              </p:cNvCxnSpPr>
              <p:nvPr/>
            </p:nvCxnSpPr>
            <p:spPr>
              <a:xfrm>
                <a:off x="2012104" y="2737644"/>
                <a:ext cx="3577706" cy="7622"/>
              </a:xfrm>
              <a:prstGeom prst="line">
                <a:avLst/>
              </a:prstGeom>
              <a:ln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7534988-F952-1CA1-1249-FB1ECDC1777D}"/>
                  </a:ext>
                </a:extLst>
              </p:cNvPr>
              <p:cNvCxnSpPr>
                <a:cxnSpLocks/>
                <a:stCxn id="47" idx="0"/>
                <a:endCxn id="47" idx="4"/>
              </p:cNvCxnSpPr>
              <p:nvPr/>
            </p:nvCxnSpPr>
            <p:spPr>
              <a:xfrm>
                <a:off x="3800958" y="948792"/>
                <a:ext cx="0" cy="3577703"/>
              </a:xfrm>
              <a:prstGeom prst="line">
                <a:avLst/>
              </a:prstGeom>
              <a:ln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6F1AA92F-77E8-9059-EE7B-674F3374B872}"/>
                  </a:ext>
                </a:extLst>
              </p:cNvPr>
              <p:cNvGrpSpPr/>
              <p:nvPr/>
            </p:nvGrpSpPr>
            <p:grpSpPr>
              <a:xfrm>
                <a:off x="2012104" y="948792"/>
                <a:ext cx="3577708" cy="3577703"/>
                <a:chOff x="934944" y="1636949"/>
                <a:chExt cx="2674273" cy="2674270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6EE54D14-CF6B-98C8-9411-ED8103262F40}"/>
                    </a:ext>
                  </a:extLst>
                </p:cNvPr>
                <p:cNvGrpSpPr/>
                <p:nvPr/>
              </p:nvGrpSpPr>
              <p:grpSpPr>
                <a:xfrm>
                  <a:off x="934944" y="1636949"/>
                  <a:ext cx="2674273" cy="2674270"/>
                  <a:chOff x="2521889" y="2808131"/>
                  <a:chExt cx="1916265" cy="1916264"/>
                </a:xfrm>
              </p:grpSpPr>
              <p:sp>
                <p:nvSpPr>
                  <p:cNvPr id="45" name="Oval 44">
                    <a:extLst>
                      <a:ext uri="{FF2B5EF4-FFF2-40B4-BE49-F238E27FC236}">
                        <a16:creationId xmlns:a16="http://schemas.microsoft.com/office/drawing/2014/main" id="{F4B23E58-5215-EAAE-18C3-6CCB768438BC}"/>
                      </a:ext>
                    </a:extLst>
                  </p:cNvPr>
                  <p:cNvSpPr/>
                  <p:nvPr/>
                </p:nvSpPr>
                <p:spPr>
                  <a:xfrm>
                    <a:off x="2521889" y="2808131"/>
                    <a:ext cx="1916264" cy="1916264"/>
                  </a:xfrm>
                  <a:prstGeom prst="ellips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6" name="Oval 31">
                    <a:extLst>
                      <a:ext uri="{FF2B5EF4-FFF2-40B4-BE49-F238E27FC236}">
                        <a16:creationId xmlns:a16="http://schemas.microsoft.com/office/drawing/2014/main" id="{41CFC122-6BD6-D932-66E9-E572EB97373D}"/>
                      </a:ext>
                    </a:extLst>
                  </p:cNvPr>
                  <p:cNvSpPr/>
                  <p:nvPr/>
                </p:nvSpPr>
                <p:spPr>
                  <a:xfrm>
                    <a:off x="2521889" y="2808132"/>
                    <a:ext cx="1916264" cy="958132"/>
                  </a:xfrm>
                  <a:custGeom>
                    <a:avLst/>
                    <a:gdLst>
                      <a:gd name="connsiteX0" fmla="*/ 0 w 1916264"/>
                      <a:gd name="connsiteY0" fmla="*/ 958132 h 1916264"/>
                      <a:gd name="connsiteX1" fmla="*/ 958132 w 1916264"/>
                      <a:gd name="connsiteY1" fmla="*/ 0 h 1916264"/>
                      <a:gd name="connsiteX2" fmla="*/ 1916264 w 1916264"/>
                      <a:gd name="connsiteY2" fmla="*/ 958132 h 1916264"/>
                      <a:gd name="connsiteX3" fmla="*/ 958132 w 1916264"/>
                      <a:gd name="connsiteY3" fmla="*/ 1916264 h 1916264"/>
                      <a:gd name="connsiteX4" fmla="*/ 0 w 1916264"/>
                      <a:gd name="connsiteY4" fmla="*/ 958132 h 1916264"/>
                      <a:gd name="connsiteX0" fmla="*/ 958132 w 1916264"/>
                      <a:gd name="connsiteY0" fmla="*/ 1916264 h 2007704"/>
                      <a:gd name="connsiteX1" fmla="*/ 0 w 1916264"/>
                      <a:gd name="connsiteY1" fmla="*/ 958132 h 2007704"/>
                      <a:gd name="connsiteX2" fmla="*/ 958132 w 1916264"/>
                      <a:gd name="connsiteY2" fmla="*/ 0 h 2007704"/>
                      <a:gd name="connsiteX3" fmla="*/ 1916264 w 1916264"/>
                      <a:gd name="connsiteY3" fmla="*/ 958132 h 2007704"/>
                      <a:gd name="connsiteX4" fmla="*/ 1049572 w 1916264"/>
                      <a:gd name="connsiteY4" fmla="*/ 2007704 h 2007704"/>
                      <a:gd name="connsiteX0" fmla="*/ 958132 w 1916264"/>
                      <a:gd name="connsiteY0" fmla="*/ 1916264 h 1916264"/>
                      <a:gd name="connsiteX1" fmla="*/ 0 w 1916264"/>
                      <a:gd name="connsiteY1" fmla="*/ 958132 h 1916264"/>
                      <a:gd name="connsiteX2" fmla="*/ 958132 w 1916264"/>
                      <a:gd name="connsiteY2" fmla="*/ 0 h 1916264"/>
                      <a:gd name="connsiteX3" fmla="*/ 1916264 w 1916264"/>
                      <a:gd name="connsiteY3" fmla="*/ 958132 h 1916264"/>
                      <a:gd name="connsiteX0" fmla="*/ 0 w 1916264"/>
                      <a:gd name="connsiteY0" fmla="*/ 958132 h 958132"/>
                      <a:gd name="connsiteX1" fmla="*/ 958132 w 1916264"/>
                      <a:gd name="connsiteY1" fmla="*/ 0 h 958132"/>
                      <a:gd name="connsiteX2" fmla="*/ 1916264 w 1916264"/>
                      <a:gd name="connsiteY2" fmla="*/ 958132 h 9581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916264" h="958132">
                        <a:moveTo>
                          <a:pt x="0" y="958132"/>
                        </a:moveTo>
                        <a:cubicBezTo>
                          <a:pt x="0" y="428970"/>
                          <a:pt x="428970" y="0"/>
                          <a:pt x="958132" y="0"/>
                        </a:cubicBezTo>
                        <a:cubicBezTo>
                          <a:pt x="1487294" y="0"/>
                          <a:pt x="1916264" y="428970"/>
                          <a:pt x="1916264" y="958132"/>
                        </a:cubicBezTo>
                      </a:path>
                    </a:pathLst>
                  </a:custGeom>
                  <a:noFill/>
                  <a:ln w="285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7" name="Oval 46">
                    <a:extLst>
                      <a:ext uri="{FF2B5EF4-FFF2-40B4-BE49-F238E27FC236}">
                        <a16:creationId xmlns:a16="http://schemas.microsoft.com/office/drawing/2014/main" id="{6AE097C2-187A-2B46-8124-DEEC6A810E60}"/>
                      </a:ext>
                    </a:extLst>
                  </p:cNvPr>
                  <p:cNvSpPr/>
                  <p:nvPr/>
                </p:nvSpPr>
                <p:spPr>
                  <a:xfrm>
                    <a:off x="2521889" y="2808131"/>
                    <a:ext cx="1916265" cy="19162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lt1"/>
                      </a:solidFill>
                    </a:endParaRPr>
                  </a:p>
                </p:txBody>
              </p:sp>
            </p:grp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FCB8D567-6374-CB9D-D28B-6A2F62A9BE46}"/>
                    </a:ext>
                  </a:extLst>
                </p:cNvPr>
                <p:cNvCxnSpPr>
                  <a:cxnSpLocks/>
                  <a:endCxn id="47" idx="7"/>
                </p:cNvCxnSpPr>
                <p:nvPr/>
              </p:nvCxnSpPr>
              <p:spPr>
                <a:xfrm flipV="1">
                  <a:off x="2272076" y="2028586"/>
                  <a:ext cx="945503" cy="945496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7AFC1E6-DE3A-B820-91DD-9E9B0020B0DB}"/>
                    </a:ext>
                  </a:extLst>
                </p:cNvPr>
                <p:cNvSpPr txBox="1"/>
                <p:nvPr/>
              </p:nvSpPr>
              <p:spPr>
                <a:xfrm>
                  <a:off x="2920848" y="1799377"/>
                  <a:ext cx="500535" cy="4941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7AFC1E6-DE3A-B820-91DD-9E9B0020B0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0848" y="1799377"/>
                  <a:ext cx="500535" cy="49410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058A8A6-4C25-6D3A-6D6B-CDC3B1C19892}"/>
                    </a:ext>
                  </a:extLst>
                </p:cNvPr>
                <p:cNvSpPr txBox="1"/>
                <p:nvPr/>
              </p:nvSpPr>
              <p:spPr>
                <a:xfrm>
                  <a:off x="2541264" y="233822"/>
                  <a:ext cx="80233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⟩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058A8A6-4C25-6D3A-6D6B-CDC3B1C198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1264" y="233822"/>
                  <a:ext cx="802336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1515" r="-2273"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3BF00F7-823D-D799-18F1-FEBF4A918903}"/>
                    </a:ext>
                  </a:extLst>
                </p:cNvPr>
                <p:cNvSpPr txBox="1"/>
                <p:nvPr/>
              </p:nvSpPr>
              <p:spPr>
                <a:xfrm>
                  <a:off x="2541264" y="4380221"/>
                  <a:ext cx="80233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⟩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3BF00F7-823D-D799-18F1-FEBF4A9189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1264" y="4380221"/>
                  <a:ext cx="802336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1515" r="-2273"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74690D3-F9E6-EE33-59DE-20F4AB17D64E}"/>
                </a:ext>
              </a:extLst>
            </p:cNvPr>
            <p:cNvCxnSpPr>
              <a:cxnSpLocks/>
              <a:endCxn id="47" idx="7"/>
            </p:cNvCxnSpPr>
            <p:nvPr/>
          </p:nvCxnSpPr>
          <p:spPr>
            <a:xfrm flipV="1">
              <a:off x="4207349" y="1264186"/>
              <a:ext cx="0" cy="1272532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DC4F558-05FA-2415-F1D8-02B7FAEA5DA0}"/>
                </a:ext>
              </a:extLst>
            </p:cNvPr>
            <p:cNvCxnSpPr/>
            <p:nvPr/>
          </p:nvCxnSpPr>
          <p:spPr>
            <a:xfrm>
              <a:off x="2942432" y="2532261"/>
              <a:ext cx="1264917" cy="1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46B3B597-4178-970B-8047-31F84922645A}"/>
                    </a:ext>
                  </a:extLst>
                </p:cNvPr>
                <p:cNvSpPr txBox="1"/>
                <p:nvPr/>
              </p:nvSpPr>
              <p:spPr>
                <a:xfrm>
                  <a:off x="3515484" y="1748127"/>
                  <a:ext cx="42934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46B3B597-4178-970B-8047-31F8492264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5484" y="1748127"/>
                  <a:ext cx="429348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A102905C-904C-D5F0-98DE-56F1B14795BE}"/>
                    </a:ext>
                  </a:extLst>
                </p:cNvPr>
                <p:cNvSpPr txBox="1"/>
                <p:nvPr/>
              </p:nvSpPr>
              <p:spPr>
                <a:xfrm>
                  <a:off x="2001030" y="2577939"/>
                  <a:ext cx="81509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A102905C-904C-D5F0-98DE-56F1B14795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1030" y="2577939"/>
                  <a:ext cx="815095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5FBF0BA7-A462-9470-0956-B7B7B287C3E4}"/>
                    </a:ext>
                  </a:extLst>
                </p:cNvPr>
                <p:cNvSpPr txBox="1"/>
                <p:nvPr/>
              </p:nvSpPr>
              <p:spPr>
                <a:xfrm>
                  <a:off x="2001031" y="814752"/>
                  <a:ext cx="81509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5FBF0BA7-A462-9470-0956-B7B7B287C3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1031" y="814752"/>
                  <a:ext cx="815095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Right Brace 59">
              <a:extLst>
                <a:ext uri="{FF2B5EF4-FFF2-40B4-BE49-F238E27FC236}">
                  <a16:creationId xmlns:a16="http://schemas.microsoft.com/office/drawing/2014/main" id="{7D34792C-6777-F72E-02A5-438382235943}"/>
                </a:ext>
              </a:extLst>
            </p:cNvPr>
            <p:cNvSpPr/>
            <p:nvPr/>
          </p:nvSpPr>
          <p:spPr>
            <a:xfrm flipH="1">
              <a:off x="2751185" y="759208"/>
              <a:ext cx="169816" cy="494101"/>
            </a:xfrm>
            <a:prstGeom prst="rightBrac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ight Brace 60">
              <a:extLst>
                <a:ext uri="{FF2B5EF4-FFF2-40B4-BE49-F238E27FC236}">
                  <a16:creationId xmlns:a16="http://schemas.microsoft.com/office/drawing/2014/main" id="{8B7C3A90-73DE-C67F-36A6-2B0A6E6606EC}"/>
                </a:ext>
              </a:extLst>
            </p:cNvPr>
            <p:cNvSpPr/>
            <p:nvPr/>
          </p:nvSpPr>
          <p:spPr>
            <a:xfrm flipH="1">
              <a:off x="2751185" y="1273558"/>
              <a:ext cx="169816" cy="3017470"/>
            </a:xfrm>
            <a:prstGeom prst="righ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27F091E-69FF-7912-C572-D99FFDD847F3}"/>
              </a:ext>
            </a:extLst>
          </p:cNvPr>
          <p:cNvSpPr txBox="1"/>
          <p:nvPr/>
        </p:nvSpPr>
        <p:spPr>
          <a:xfrm>
            <a:off x="266520" y="146736"/>
            <a:ext cx="116589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dirty="0"/>
              <a:t>Directional vs quantum state vectors</a:t>
            </a:r>
          </a:p>
        </p:txBody>
      </p:sp>
    </p:spTree>
    <p:extLst>
      <p:ext uri="{BB962C8B-B14F-4D97-AF65-F5344CB8AC3E}">
        <p14:creationId xmlns:p14="http://schemas.microsoft.com/office/powerpoint/2010/main" val="3059211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CE082-C3FC-14E7-D483-2827B3AAE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E3C0A9-7C83-D2D9-1AAA-ABBB8A5F0F6A}"/>
              </a:ext>
            </a:extLst>
          </p:cNvPr>
          <p:cNvSpPr txBox="1"/>
          <p:nvPr/>
        </p:nvSpPr>
        <p:spPr>
          <a:xfrm>
            <a:off x="95808" y="146736"/>
            <a:ext cx="12000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dirty="0"/>
              <a:t>Superposition is multi-decomposition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85C6D50-5747-AF4E-6A95-18B6B5BF002C}"/>
              </a:ext>
            </a:extLst>
          </p:cNvPr>
          <p:cNvCxnSpPr>
            <a:cxnSpLocks/>
          </p:cNvCxnSpPr>
          <p:nvPr/>
        </p:nvCxnSpPr>
        <p:spPr>
          <a:xfrm>
            <a:off x="3696005" y="1871542"/>
            <a:ext cx="0" cy="31958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FE85B9-236F-F614-BE74-35D2920ECD2E}"/>
                  </a:ext>
                </a:extLst>
              </p:cNvPr>
              <p:cNvSpPr txBox="1"/>
              <p:nvPr/>
            </p:nvSpPr>
            <p:spPr>
              <a:xfrm>
                <a:off x="3407249" y="1378740"/>
                <a:ext cx="8138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FE85B9-236F-F614-BE74-35D2920EC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249" y="1378740"/>
                <a:ext cx="813877" cy="461665"/>
              </a:xfrm>
              <a:prstGeom prst="rect">
                <a:avLst/>
              </a:prstGeom>
              <a:blipFill>
                <a:blip r:embed="rId2"/>
                <a:stretch>
                  <a:fillRect l="-2256" r="-1504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1575E8-A1E0-2101-0E54-C01B58E78B12}"/>
                  </a:ext>
                </a:extLst>
              </p:cNvPr>
              <p:cNvSpPr txBox="1"/>
              <p:nvPr/>
            </p:nvSpPr>
            <p:spPr>
              <a:xfrm>
                <a:off x="3516577" y="5124456"/>
                <a:ext cx="82099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1575E8-A1E0-2101-0E54-C01B58E78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577" y="5124456"/>
                <a:ext cx="820994" cy="461665"/>
              </a:xfrm>
              <a:prstGeom prst="rect">
                <a:avLst/>
              </a:prstGeom>
              <a:blipFill>
                <a:blip r:embed="rId3"/>
                <a:stretch>
                  <a:fillRect l="-2222" r="-741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98C361-0E0D-8AC8-CD8F-2B2C0D073057}"/>
                  </a:ext>
                </a:extLst>
              </p:cNvPr>
              <p:cNvSpPr txBox="1"/>
              <p:nvPr/>
            </p:nvSpPr>
            <p:spPr>
              <a:xfrm>
                <a:off x="3400089" y="2624974"/>
                <a:ext cx="3702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98C361-0E0D-8AC8-CD8F-2B2C0D073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089" y="2624974"/>
                <a:ext cx="370230" cy="369332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89E797-3CA1-1593-2AFF-120AB8ED59AF}"/>
                  </a:ext>
                </a:extLst>
              </p:cNvPr>
              <p:cNvSpPr txBox="1"/>
              <p:nvPr/>
            </p:nvSpPr>
            <p:spPr>
              <a:xfrm>
                <a:off x="4605057" y="2638402"/>
                <a:ext cx="6785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89E797-3CA1-1593-2AFF-120AB8ED5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057" y="2638402"/>
                <a:ext cx="678584" cy="461665"/>
              </a:xfrm>
              <a:prstGeom prst="rect">
                <a:avLst/>
              </a:prstGeom>
              <a:blipFill>
                <a:blip r:embed="rId5"/>
                <a:stretch>
                  <a:fillRect l="-1786" r="-1786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AD93A75-B747-7B8D-714C-7F594526AA91}"/>
                  </a:ext>
                </a:extLst>
              </p:cNvPr>
              <p:cNvSpPr txBox="1"/>
              <p:nvPr/>
            </p:nvSpPr>
            <p:spPr>
              <a:xfrm>
                <a:off x="971824" y="1831258"/>
                <a:ext cx="678583" cy="477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̂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acc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AD93A75-B747-7B8D-714C-7F594526A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824" y="1831258"/>
                <a:ext cx="678583" cy="477118"/>
              </a:xfrm>
              <a:prstGeom prst="rect">
                <a:avLst/>
              </a:prstGeom>
              <a:blipFill>
                <a:blip r:embed="rId6"/>
                <a:stretch>
                  <a:fillRect l="-1786" t="-3797" r="-29464" b="-16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1CEB7310-C916-7143-5575-638C14E52C35}"/>
              </a:ext>
            </a:extLst>
          </p:cNvPr>
          <p:cNvGrpSpPr/>
          <p:nvPr/>
        </p:nvGrpSpPr>
        <p:grpSpPr>
          <a:xfrm>
            <a:off x="1095271" y="1685194"/>
            <a:ext cx="3577708" cy="3577703"/>
            <a:chOff x="1153584" y="740244"/>
            <a:chExt cx="3577708" cy="3577703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F7CB348-F46A-5AFB-4821-3C4B2D2FDBD9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>
              <a:off x="1153584" y="2529096"/>
              <a:ext cx="3577706" cy="762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AF36011-EE32-62F0-6209-ED192A93F079}"/>
                </a:ext>
              </a:extLst>
            </p:cNvPr>
            <p:cNvGrpSpPr/>
            <p:nvPr/>
          </p:nvGrpSpPr>
          <p:grpSpPr>
            <a:xfrm>
              <a:off x="1153584" y="740244"/>
              <a:ext cx="3577708" cy="3577703"/>
              <a:chOff x="2521889" y="2808131"/>
              <a:chExt cx="1916265" cy="1916264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D41A95B-C2AC-A194-791E-BD8E2F1C133D}"/>
                  </a:ext>
                </a:extLst>
              </p:cNvPr>
              <p:cNvSpPr/>
              <p:nvPr/>
            </p:nvSpPr>
            <p:spPr>
              <a:xfrm>
                <a:off x="2521889" y="2808131"/>
                <a:ext cx="1916264" cy="1916264"/>
              </a:xfrm>
              <a:prstGeom prst="ellipse">
                <a:avLst/>
              </a:prstGeom>
              <a:ln w="127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31">
                <a:extLst>
                  <a:ext uri="{FF2B5EF4-FFF2-40B4-BE49-F238E27FC236}">
                    <a16:creationId xmlns:a16="http://schemas.microsoft.com/office/drawing/2014/main" id="{6DF63F73-4700-618C-E4F7-7937A39F559B}"/>
                  </a:ext>
                </a:extLst>
              </p:cNvPr>
              <p:cNvSpPr/>
              <p:nvPr/>
            </p:nvSpPr>
            <p:spPr>
              <a:xfrm>
                <a:off x="2521889" y="2808132"/>
                <a:ext cx="1916264" cy="958132"/>
              </a:xfrm>
              <a:custGeom>
                <a:avLst/>
                <a:gdLst>
                  <a:gd name="connsiteX0" fmla="*/ 0 w 1916264"/>
                  <a:gd name="connsiteY0" fmla="*/ 958132 h 1916264"/>
                  <a:gd name="connsiteX1" fmla="*/ 958132 w 1916264"/>
                  <a:gd name="connsiteY1" fmla="*/ 0 h 1916264"/>
                  <a:gd name="connsiteX2" fmla="*/ 1916264 w 1916264"/>
                  <a:gd name="connsiteY2" fmla="*/ 958132 h 1916264"/>
                  <a:gd name="connsiteX3" fmla="*/ 958132 w 1916264"/>
                  <a:gd name="connsiteY3" fmla="*/ 1916264 h 1916264"/>
                  <a:gd name="connsiteX4" fmla="*/ 0 w 1916264"/>
                  <a:gd name="connsiteY4" fmla="*/ 958132 h 1916264"/>
                  <a:gd name="connsiteX0" fmla="*/ 958132 w 1916264"/>
                  <a:gd name="connsiteY0" fmla="*/ 1916264 h 2007704"/>
                  <a:gd name="connsiteX1" fmla="*/ 0 w 1916264"/>
                  <a:gd name="connsiteY1" fmla="*/ 958132 h 2007704"/>
                  <a:gd name="connsiteX2" fmla="*/ 958132 w 1916264"/>
                  <a:gd name="connsiteY2" fmla="*/ 0 h 2007704"/>
                  <a:gd name="connsiteX3" fmla="*/ 1916264 w 1916264"/>
                  <a:gd name="connsiteY3" fmla="*/ 958132 h 2007704"/>
                  <a:gd name="connsiteX4" fmla="*/ 1049572 w 1916264"/>
                  <a:gd name="connsiteY4" fmla="*/ 2007704 h 2007704"/>
                  <a:gd name="connsiteX0" fmla="*/ 958132 w 1916264"/>
                  <a:gd name="connsiteY0" fmla="*/ 1916264 h 1916264"/>
                  <a:gd name="connsiteX1" fmla="*/ 0 w 1916264"/>
                  <a:gd name="connsiteY1" fmla="*/ 958132 h 1916264"/>
                  <a:gd name="connsiteX2" fmla="*/ 958132 w 1916264"/>
                  <a:gd name="connsiteY2" fmla="*/ 0 h 1916264"/>
                  <a:gd name="connsiteX3" fmla="*/ 1916264 w 1916264"/>
                  <a:gd name="connsiteY3" fmla="*/ 958132 h 1916264"/>
                  <a:gd name="connsiteX0" fmla="*/ 0 w 1916264"/>
                  <a:gd name="connsiteY0" fmla="*/ 958132 h 958132"/>
                  <a:gd name="connsiteX1" fmla="*/ 958132 w 1916264"/>
                  <a:gd name="connsiteY1" fmla="*/ 0 h 958132"/>
                  <a:gd name="connsiteX2" fmla="*/ 1916264 w 1916264"/>
                  <a:gd name="connsiteY2" fmla="*/ 958132 h 958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16264" h="958132">
                    <a:moveTo>
                      <a:pt x="0" y="958132"/>
                    </a:moveTo>
                    <a:cubicBezTo>
                      <a:pt x="0" y="428970"/>
                      <a:pt x="428970" y="0"/>
                      <a:pt x="958132" y="0"/>
                    </a:cubicBezTo>
                    <a:cubicBezTo>
                      <a:pt x="1487294" y="0"/>
                      <a:pt x="1916264" y="428970"/>
                      <a:pt x="1916264" y="958132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6567D6C-BEFB-214E-428D-DDE9E1825481}"/>
                  </a:ext>
                </a:extLst>
              </p:cNvPr>
              <p:cNvSpPr/>
              <p:nvPr/>
            </p:nvSpPr>
            <p:spPr>
              <a:xfrm>
                <a:off x="2521889" y="2808131"/>
                <a:ext cx="1916265" cy="1916264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62536B9-3E9E-3E84-1A32-BF73D4D2956D}"/>
                </a:ext>
              </a:extLst>
            </p:cNvPr>
            <p:cNvCxnSpPr>
              <a:cxnSpLocks/>
              <a:stCxn id="18" idx="0"/>
              <a:endCxn id="18" idx="4"/>
            </p:cNvCxnSpPr>
            <p:nvPr/>
          </p:nvCxnSpPr>
          <p:spPr>
            <a:xfrm>
              <a:off x="2942438" y="740244"/>
              <a:ext cx="0" cy="3577703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FC82B60-E6ED-395D-848E-90B198398AFB}"/>
              </a:ext>
            </a:extLst>
          </p:cNvPr>
          <p:cNvCxnSpPr>
            <a:cxnSpLocks/>
            <a:stCxn id="18" idx="1"/>
          </p:cNvCxnSpPr>
          <p:nvPr/>
        </p:nvCxnSpPr>
        <p:spPr>
          <a:xfrm>
            <a:off x="1619214" y="2209136"/>
            <a:ext cx="2985843" cy="7185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F63BC089-FDB3-41AC-1D1F-6B0C8E85C360}"/>
              </a:ext>
            </a:extLst>
          </p:cNvPr>
          <p:cNvSpPr/>
          <p:nvPr/>
        </p:nvSpPr>
        <p:spPr>
          <a:xfrm>
            <a:off x="3664039" y="2679430"/>
            <a:ext cx="66918" cy="638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2B271AB-8A95-186A-5C58-2C879F7410E2}"/>
                  </a:ext>
                </a:extLst>
              </p:cNvPr>
              <p:cNvSpPr txBox="1"/>
              <p:nvPr/>
            </p:nvSpPr>
            <p:spPr>
              <a:xfrm>
                <a:off x="5367714" y="2358826"/>
                <a:ext cx="6534353" cy="18926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3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3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3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3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⇕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acc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acc>
                        </m:sub>
                      </m:sSub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2B271AB-8A95-186A-5C58-2C879F741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714" y="2358826"/>
                <a:ext cx="6534353" cy="18926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3702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3D94B5-DB0E-456B-7BFE-0204519C6D69}"/>
                  </a:ext>
                </a:extLst>
              </p:cNvPr>
              <p:cNvSpPr txBox="1"/>
              <p:nvPr/>
            </p:nvSpPr>
            <p:spPr>
              <a:xfrm>
                <a:off x="1076781" y="358776"/>
                <a:ext cx="4951997" cy="49244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800" dirty="0"/>
                  <a:t>Born rule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⇕</m:t>
                      </m:r>
                    </m:oMath>
                  </m:oMathPara>
                </a14:m>
                <a:endParaRPr lang="en-US" sz="8800" dirty="0"/>
              </a:p>
              <a:p>
                <a:pPr algn="ctr"/>
                <a:r>
                  <a:rPr lang="en-US" sz="8800" dirty="0"/>
                  <a:t>Entropy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3D94B5-DB0E-456B-7BFE-0204519C6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781" y="358776"/>
                <a:ext cx="4951997" cy="4924425"/>
              </a:xfrm>
              <a:prstGeom prst="rect">
                <a:avLst/>
              </a:prstGeom>
              <a:blipFill>
                <a:blip r:embed="rId2"/>
                <a:stretch>
                  <a:fillRect l="-11330" t="-5941" r="-11207" b="-11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791D97F2-A9EB-6F39-D374-A8F50AB2532E}"/>
              </a:ext>
            </a:extLst>
          </p:cNvPr>
          <p:cNvGrpSpPr/>
          <p:nvPr/>
        </p:nvGrpSpPr>
        <p:grpSpPr>
          <a:xfrm>
            <a:off x="7380781" y="2499811"/>
            <a:ext cx="4057845" cy="3805469"/>
            <a:chOff x="1480313" y="1976614"/>
            <a:chExt cx="3399571" cy="318813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FA7E3FC-DC3D-333A-6E89-E8162CA6BFBF}"/>
                </a:ext>
              </a:extLst>
            </p:cNvPr>
            <p:cNvSpPr/>
            <p:nvPr/>
          </p:nvSpPr>
          <p:spPr>
            <a:xfrm rot="19598101">
              <a:off x="2980286" y="2219742"/>
              <a:ext cx="1224349" cy="1224349"/>
            </a:xfrm>
            <a:prstGeom prst="rect">
              <a:avLst/>
            </a:prstGeom>
            <a:solidFill>
              <a:srgbClr val="548235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3C7928D-E832-8C38-FA02-F758A01A2D72}"/>
                </a:ext>
              </a:extLst>
            </p:cNvPr>
            <p:cNvSpPr/>
            <p:nvPr/>
          </p:nvSpPr>
          <p:spPr>
            <a:xfrm>
              <a:off x="3417570" y="3686712"/>
              <a:ext cx="1015611" cy="1478038"/>
            </a:xfrm>
            <a:prstGeom prst="rect">
              <a:avLst/>
            </a:prstGeom>
            <a:solidFill>
              <a:srgbClr val="548235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52EC95E-CD5B-5ABA-1C7E-C45E8C64BB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3280" y="2874625"/>
              <a:ext cx="2438766" cy="16145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25C42A-8AA0-D989-0768-829B7501364B}"/>
                </a:ext>
              </a:extLst>
            </p:cNvPr>
            <p:cNvSpPr/>
            <p:nvPr/>
          </p:nvSpPr>
          <p:spPr>
            <a:xfrm>
              <a:off x="1955254" y="2208734"/>
              <a:ext cx="2924630" cy="2956016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A2F512D-E2F3-5FFD-E795-B539597A08A0}"/>
                </a:ext>
              </a:extLst>
            </p:cNvPr>
            <p:cNvCxnSpPr>
              <a:stCxn id="7" idx="2"/>
              <a:endCxn id="7" idx="6"/>
            </p:cNvCxnSpPr>
            <p:nvPr/>
          </p:nvCxnSpPr>
          <p:spPr>
            <a:xfrm>
              <a:off x="1955254" y="3686742"/>
              <a:ext cx="292463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41899C0-4991-07E6-E4BC-EFE19BA4035A}"/>
                </a:ext>
              </a:extLst>
            </p:cNvPr>
            <p:cNvCxnSpPr>
              <a:cxnSpLocks/>
              <a:endCxn id="7" idx="6"/>
            </p:cNvCxnSpPr>
            <p:nvPr/>
          </p:nvCxnSpPr>
          <p:spPr>
            <a:xfrm>
              <a:off x="3995099" y="2325185"/>
              <a:ext cx="884785" cy="13615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1450492-5900-DAD1-1178-D1ECC2AFF0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7569" y="3000930"/>
              <a:ext cx="1033690" cy="68432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5D1E511-C9D4-56A3-FE8D-E117346FBE51}"/>
                    </a:ext>
                  </a:extLst>
                </p:cNvPr>
                <p:cNvSpPr txBox="1"/>
                <p:nvPr/>
              </p:nvSpPr>
              <p:spPr>
                <a:xfrm>
                  <a:off x="3862398" y="1976614"/>
                  <a:ext cx="42261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5D1E511-C9D4-56A3-FE8D-E117346FBE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2398" y="1976614"/>
                  <a:ext cx="422615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5D3B79B-7F63-7049-63ED-C68D59A68678}"/>
                    </a:ext>
                  </a:extLst>
                </p:cNvPr>
                <p:cNvSpPr txBox="1"/>
                <p:nvPr/>
              </p:nvSpPr>
              <p:spPr>
                <a:xfrm>
                  <a:off x="4333801" y="2635166"/>
                  <a:ext cx="38978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5D3B79B-7F63-7049-63ED-C68D59A686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3801" y="2635166"/>
                  <a:ext cx="389787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CE9D669-B021-EC90-C2C7-DBB161A17545}"/>
                    </a:ext>
                  </a:extLst>
                </p:cNvPr>
                <p:cNvSpPr txBox="1"/>
                <p:nvPr/>
              </p:nvSpPr>
              <p:spPr>
                <a:xfrm>
                  <a:off x="3888219" y="3611509"/>
                  <a:ext cx="40594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CE9D669-B021-EC90-C2C7-DBB161A175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8219" y="3611509"/>
                  <a:ext cx="405944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7CB3B10-CFE2-EB83-018A-3889131B5C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7569" y="2338847"/>
              <a:ext cx="571552" cy="13430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26F6209-34AA-A7DD-460B-58682B4CB4D7}"/>
                </a:ext>
              </a:extLst>
            </p:cNvPr>
            <p:cNvSpPr/>
            <p:nvPr/>
          </p:nvSpPr>
          <p:spPr>
            <a:xfrm>
              <a:off x="4417925" y="2983737"/>
              <a:ext cx="46249" cy="4674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369E4D-E39E-26D4-7BB2-4F6BC4A0A43E}"/>
                </a:ext>
              </a:extLst>
            </p:cNvPr>
            <p:cNvCxnSpPr>
              <a:cxnSpLocks/>
            </p:cNvCxnSpPr>
            <p:nvPr/>
          </p:nvCxnSpPr>
          <p:spPr>
            <a:xfrm>
              <a:off x="3998657" y="2338847"/>
              <a:ext cx="1235" cy="1355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AFF39A0-F132-DE19-98BD-6F4EA4BF9CEE}"/>
                    </a:ext>
                  </a:extLst>
                </p:cNvPr>
                <p:cNvSpPr txBox="1"/>
                <p:nvPr/>
              </p:nvSpPr>
              <p:spPr>
                <a:xfrm>
                  <a:off x="1480313" y="3468793"/>
                  <a:ext cx="57567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p>
                        </m:s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AFF39A0-F132-DE19-98BD-6F4EA4BF9C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0313" y="3468793"/>
                  <a:ext cx="575670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72DC929-5EF9-0B25-2A51-08F002DD707A}"/>
                    </a:ext>
                  </a:extLst>
                </p:cNvPr>
                <p:cNvSpPr txBox="1"/>
                <p:nvPr/>
              </p:nvSpPr>
              <p:spPr>
                <a:xfrm>
                  <a:off x="3215940" y="3630679"/>
                  <a:ext cx="42178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72DC929-5EF9-0B25-2A51-08F002DD70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5940" y="3630679"/>
                  <a:ext cx="421782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7CA3001-C8EF-AD8A-9A1F-E9237AF377CE}"/>
                </a:ext>
              </a:extLst>
            </p:cNvPr>
            <p:cNvCxnSpPr>
              <a:cxnSpLocks/>
            </p:cNvCxnSpPr>
            <p:nvPr/>
          </p:nvCxnSpPr>
          <p:spPr>
            <a:xfrm>
              <a:off x="1955254" y="3686742"/>
              <a:ext cx="204463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B6CCCEB-E417-D6EA-A8E7-329B3B264E9B}"/>
                    </a:ext>
                  </a:extLst>
                </p:cNvPr>
                <p:cNvSpPr txBox="1"/>
                <p:nvPr/>
              </p:nvSpPr>
              <p:spPr>
                <a:xfrm>
                  <a:off x="3721345" y="2981017"/>
                  <a:ext cx="36984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B6CCCEB-E417-D6EA-A8E7-329B3B264E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1345" y="2981017"/>
                  <a:ext cx="369845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F735D4E-2117-7468-FCC4-D8AE464A2430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 flipV="1">
              <a:off x="1955254" y="2326262"/>
              <a:ext cx="2039845" cy="13604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32E80B2-AABE-C56E-C566-715AD9CFFCF3}"/>
                    </a:ext>
                  </a:extLst>
                </p:cNvPr>
                <p:cNvSpPr txBox="1"/>
                <p:nvPr/>
              </p:nvSpPr>
              <p:spPr>
                <a:xfrm>
                  <a:off x="2399383" y="3292879"/>
                  <a:ext cx="104740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32E80B2-AABE-C56E-C566-715AD9CFFC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9383" y="3292879"/>
                  <a:ext cx="1047402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8E35FDF-B41F-0522-2DB4-AF49172D144C}"/>
              </a:ext>
            </a:extLst>
          </p:cNvPr>
          <p:cNvSpPr txBox="1"/>
          <p:nvPr/>
        </p:nvSpPr>
        <p:spPr>
          <a:xfrm>
            <a:off x="8088958" y="527854"/>
            <a:ext cx="319510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Geometric</a:t>
            </a:r>
            <a:br>
              <a:rPr lang="en-US" sz="4400" dirty="0"/>
            </a:br>
            <a:r>
              <a:rPr lang="en-US" sz="4400" dirty="0"/>
              <a:t>explanation</a:t>
            </a:r>
          </a:p>
        </p:txBody>
      </p:sp>
    </p:spTree>
    <p:extLst>
      <p:ext uri="{BB962C8B-B14F-4D97-AF65-F5344CB8AC3E}">
        <p14:creationId xmlns:p14="http://schemas.microsoft.com/office/powerpoint/2010/main" val="3769557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4BFF1-8208-39BB-4DF1-A1C1BE3C8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389A46-B9A5-7D70-39E7-DF5F5AF51FBC}"/>
                  </a:ext>
                </a:extLst>
              </p:cNvPr>
              <p:cNvSpPr txBox="1"/>
              <p:nvPr/>
            </p:nvSpPr>
            <p:spPr>
              <a:xfrm>
                <a:off x="483219" y="0"/>
                <a:ext cx="11470256" cy="55969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800" dirty="0"/>
                  <a:t>Born rule - </a:t>
                </a:r>
                <a14:m>
                  <m:oMath xmlns:m="http://schemas.openxmlformats.org/officeDocument/2006/math">
                    <m:r>
                      <a:rPr lang="en-US" sz="88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8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88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e>
                        <m:r>
                          <a:rPr lang="en-US" sz="88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endParaRPr lang="en-US" sz="88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⇕</m:t>
                      </m:r>
                    </m:oMath>
                  </m:oMathPara>
                </a14:m>
                <a:endParaRPr lang="en-US" sz="8800" dirty="0"/>
              </a:p>
              <a:p>
                <a:pPr algn="ctr"/>
                <a:r>
                  <a:rPr lang="en-US" sz="8800" dirty="0"/>
                  <a:t>Entropy - </a:t>
                </a:r>
                <a14:m>
                  <m:oMath xmlns:m="http://schemas.openxmlformats.org/officeDocument/2006/math">
                    <m:r>
                      <a:rPr lang="en-US" sz="88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8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8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8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8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88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sz="8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8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8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8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88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endParaRPr lang="en-US" sz="8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389A46-B9A5-7D70-39E7-DF5F5AF51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219" y="0"/>
                <a:ext cx="11470256" cy="5596917"/>
              </a:xfrm>
              <a:prstGeom prst="rect">
                <a:avLst/>
              </a:prstGeom>
              <a:blipFill>
                <a:blip r:embed="rId2"/>
                <a:stretch>
                  <a:fillRect l="-4570" t="-5229" b="-4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7279BAB4-61D6-7B28-127E-B7579B56BAAD}"/>
              </a:ext>
            </a:extLst>
          </p:cNvPr>
          <p:cNvSpPr txBox="1"/>
          <p:nvPr/>
        </p:nvSpPr>
        <p:spPr>
          <a:xfrm>
            <a:off x="5824680" y="5800786"/>
            <a:ext cx="59811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Geometric explanation</a:t>
            </a:r>
          </a:p>
        </p:txBody>
      </p:sp>
    </p:spTree>
    <p:extLst>
      <p:ext uri="{BB962C8B-B14F-4D97-AF65-F5344CB8AC3E}">
        <p14:creationId xmlns:p14="http://schemas.microsoft.com/office/powerpoint/2010/main" val="3293150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2A337-C91B-CCCE-D92B-E28F8A85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3274AC-87DC-050B-E906-4D430667A09A}"/>
              </a:ext>
            </a:extLst>
          </p:cNvPr>
          <p:cNvSpPr txBox="1"/>
          <p:nvPr/>
        </p:nvSpPr>
        <p:spPr>
          <a:xfrm>
            <a:off x="429906" y="3881337"/>
            <a:ext cx="613501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Their geometric</a:t>
            </a:r>
            <a:br>
              <a:rPr lang="en-US" sz="4400" dirty="0"/>
            </a:br>
            <a:r>
              <a:rPr lang="en-US" sz="4400" dirty="0"/>
              <a:t>                      relationship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C3AA6FC-F8AE-988F-380F-C9FD8CFA5938}"/>
              </a:ext>
            </a:extLst>
          </p:cNvPr>
          <p:cNvGrpSpPr/>
          <p:nvPr/>
        </p:nvGrpSpPr>
        <p:grpSpPr>
          <a:xfrm>
            <a:off x="7501349" y="2682447"/>
            <a:ext cx="4057845" cy="3805469"/>
            <a:chOff x="1480313" y="1976614"/>
            <a:chExt cx="3399571" cy="318813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EF8ADB9-C753-EA7F-EB34-830B00DA7141}"/>
                </a:ext>
              </a:extLst>
            </p:cNvPr>
            <p:cNvSpPr/>
            <p:nvPr/>
          </p:nvSpPr>
          <p:spPr>
            <a:xfrm rot="19598101">
              <a:off x="2980286" y="2219742"/>
              <a:ext cx="1224349" cy="1224349"/>
            </a:xfrm>
            <a:prstGeom prst="rect">
              <a:avLst/>
            </a:prstGeom>
            <a:solidFill>
              <a:srgbClr val="548235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6694EA6-193D-C0BA-4282-DA26787E5E01}"/>
                </a:ext>
              </a:extLst>
            </p:cNvPr>
            <p:cNvSpPr/>
            <p:nvPr/>
          </p:nvSpPr>
          <p:spPr>
            <a:xfrm>
              <a:off x="3417570" y="3686712"/>
              <a:ext cx="1015611" cy="1478038"/>
            </a:xfrm>
            <a:prstGeom prst="rect">
              <a:avLst/>
            </a:prstGeom>
            <a:solidFill>
              <a:srgbClr val="548235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3E1EC2A-A3F0-F7B8-DC0E-3B7C7EE61B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3280" y="2874625"/>
              <a:ext cx="2438766" cy="16145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FEF4E6C-49EA-DFFE-AD5A-53219F714D35}"/>
                </a:ext>
              </a:extLst>
            </p:cNvPr>
            <p:cNvSpPr/>
            <p:nvPr/>
          </p:nvSpPr>
          <p:spPr>
            <a:xfrm>
              <a:off x="1955254" y="2208734"/>
              <a:ext cx="2924630" cy="2956016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CB24CA4-335F-FAE3-60D3-48241B4AD938}"/>
                </a:ext>
              </a:extLst>
            </p:cNvPr>
            <p:cNvCxnSpPr>
              <a:stCxn id="7" idx="2"/>
              <a:endCxn id="7" idx="6"/>
            </p:cNvCxnSpPr>
            <p:nvPr/>
          </p:nvCxnSpPr>
          <p:spPr>
            <a:xfrm>
              <a:off x="1955254" y="3686742"/>
              <a:ext cx="292463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3DD35CD-C304-29A9-8C40-1780866EE470}"/>
                </a:ext>
              </a:extLst>
            </p:cNvPr>
            <p:cNvCxnSpPr>
              <a:cxnSpLocks/>
              <a:endCxn id="7" idx="6"/>
            </p:cNvCxnSpPr>
            <p:nvPr/>
          </p:nvCxnSpPr>
          <p:spPr>
            <a:xfrm>
              <a:off x="3995099" y="2325185"/>
              <a:ext cx="884785" cy="13615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91DDCDD-68BA-E91E-EFBD-9C56A228A5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7569" y="3000930"/>
              <a:ext cx="1033690" cy="68432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B7E3E67-7EE9-0E5F-AE21-64E157501E34}"/>
                    </a:ext>
                  </a:extLst>
                </p:cNvPr>
                <p:cNvSpPr txBox="1"/>
                <p:nvPr/>
              </p:nvSpPr>
              <p:spPr>
                <a:xfrm>
                  <a:off x="3862398" y="1976614"/>
                  <a:ext cx="42261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B7E3E67-7EE9-0E5F-AE21-64E157501E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2398" y="1976614"/>
                  <a:ext cx="422615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F9B8614-EAD0-28C7-CA3E-F2F410D15029}"/>
                    </a:ext>
                  </a:extLst>
                </p:cNvPr>
                <p:cNvSpPr txBox="1"/>
                <p:nvPr/>
              </p:nvSpPr>
              <p:spPr>
                <a:xfrm>
                  <a:off x="4333801" y="2635166"/>
                  <a:ext cx="38978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F9B8614-EAD0-28C7-CA3E-F2F410D150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3801" y="2635166"/>
                  <a:ext cx="389787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67919DF-392E-6D3A-C85B-E2E9C2FF3035}"/>
                    </a:ext>
                  </a:extLst>
                </p:cNvPr>
                <p:cNvSpPr txBox="1"/>
                <p:nvPr/>
              </p:nvSpPr>
              <p:spPr>
                <a:xfrm>
                  <a:off x="3888219" y="3611509"/>
                  <a:ext cx="40594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67919DF-392E-6D3A-C85B-E2E9C2FF30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8219" y="3611509"/>
                  <a:ext cx="405944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9EFB215-DFCE-B5A6-B85C-DCDEACCD5F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7569" y="2338847"/>
              <a:ext cx="571552" cy="13430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2E6E9D2-581C-BFBA-F8BC-DAF56866E6F5}"/>
                </a:ext>
              </a:extLst>
            </p:cNvPr>
            <p:cNvSpPr/>
            <p:nvPr/>
          </p:nvSpPr>
          <p:spPr>
            <a:xfrm>
              <a:off x="4417925" y="2983737"/>
              <a:ext cx="46249" cy="4674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C2DAD7C-6A68-64F2-BB00-35284884D0AB}"/>
                </a:ext>
              </a:extLst>
            </p:cNvPr>
            <p:cNvCxnSpPr>
              <a:cxnSpLocks/>
            </p:cNvCxnSpPr>
            <p:nvPr/>
          </p:nvCxnSpPr>
          <p:spPr>
            <a:xfrm>
              <a:off x="3998657" y="2338847"/>
              <a:ext cx="1235" cy="1355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97BF142-FB9D-7AC9-1E12-AD62C52B97C3}"/>
                    </a:ext>
                  </a:extLst>
                </p:cNvPr>
                <p:cNvSpPr txBox="1"/>
                <p:nvPr/>
              </p:nvSpPr>
              <p:spPr>
                <a:xfrm>
                  <a:off x="1480313" y="3468793"/>
                  <a:ext cx="57567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p>
                        </m:s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97BF142-FB9D-7AC9-1E12-AD62C52B97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0313" y="3468793"/>
                  <a:ext cx="575670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3D796A4-9248-55E2-498F-FE89BFA80E68}"/>
                    </a:ext>
                  </a:extLst>
                </p:cNvPr>
                <p:cNvSpPr txBox="1"/>
                <p:nvPr/>
              </p:nvSpPr>
              <p:spPr>
                <a:xfrm>
                  <a:off x="3215940" y="3630679"/>
                  <a:ext cx="42178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3D796A4-9248-55E2-498F-FE89BFA80E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5940" y="3630679"/>
                  <a:ext cx="421782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D60C392-8B0F-69BE-32B9-BFEA60FEA29D}"/>
                </a:ext>
              </a:extLst>
            </p:cNvPr>
            <p:cNvCxnSpPr>
              <a:cxnSpLocks/>
            </p:cNvCxnSpPr>
            <p:nvPr/>
          </p:nvCxnSpPr>
          <p:spPr>
            <a:xfrm>
              <a:off x="1955254" y="3686742"/>
              <a:ext cx="204463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4E1EAA4-DC92-DC29-8D97-6E5E9736A032}"/>
                    </a:ext>
                  </a:extLst>
                </p:cNvPr>
                <p:cNvSpPr txBox="1"/>
                <p:nvPr/>
              </p:nvSpPr>
              <p:spPr>
                <a:xfrm>
                  <a:off x="3721345" y="2981017"/>
                  <a:ext cx="36984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4E1EAA4-DC92-DC29-8D97-6E5E9736A0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1345" y="2981017"/>
                  <a:ext cx="369845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6061541-1293-8BEE-B46C-EBF7605F2BD3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 flipV="1">
              <a:off x="1955254" y="2326262"/>
              <a:ext cx="2039845" cy="13604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782DA7E-7E75-C4B7-503A-94C80421C60F}"/>
                    </a:ext>
                  </a:extLst>
                </p:cNvPr>
                <p:cNvSpPr txBox="1"/>
                <p:nvPr/>
              </p:nvSpPr>
              <p:spPr>
                <a:xfrm>
                  <a:off x="2399383" y="3292879"/>
                  <a:ext cx="104740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782DA7E-7E75-C4B7-503A-94C80421C6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9383" y="3292879"/>
                  <a:ext cx="1047402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63DBC76-CAE1-14D2-EA71-34449390D250}"/>
              </a:ext>
            </a:extLst>
          </p:cNvPr>
          <p:cNvSpPr txBox="1"/>
          <p:nvPr/>
        </p:nvSpPr>
        <p:spPr>
          <a:xfrm>
            <a:off x="632805" y="235535"/>
            <a:ext cx="10926389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800" dirty="0"/>
              <a:t>Quantum probability</a:t>
            </a:r>
            <a:br>
              <a:rPr lang="en-US" sz="8800" dirty="0"/>
            </a:br>
            <a:r>
              <a:rPr lang="en-US" sz="8800" dirty="0"/>
              <a:t>and entropy</a:t>
            </a:r>
          </a:p>
        </p:txBody>
      </p:sp>
    </p:spTree>
    <p:extLst>
      <p:ext uri="{BB962C8B-B14F-4D97-AF65-F5344CB8AC3E}">
        <p14:creationId xmlns:p14="http://schemas.microsoft.com/office/powerpoint/2010/main" val="4242425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ice">
      <a:majorFont>
        <a:latin typeface="Alice"/>
        <a:ea typeface=""/>
        <a:cs typeface=""/>
      </a:majorFont>
      <a:minorFont>
        <a:latin typeface="Al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1601</TotalTime>
  <Words>198</Words>
  <Application>Microsoft Office PowerPoint</Application>
  <PresentationFormat>Widescreen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Alice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Gabriele Carcassi</dc:creator>
  <cp:lastModifiedBy>Gabriele Carcassi</cp:lastModifiedBy>
  <cp:revision>51</cp:revision>
  <dcterms:created xsi:type="dcterms:W3CDTF">2022-10-24T15:52:53Z</dcterms:created>
  <dcterms:modified xsi:type="dcterms:W3CDTF">2026-06-29T20:39:12Z</dcterms:modified>
</cp:coreProperties>
</file>