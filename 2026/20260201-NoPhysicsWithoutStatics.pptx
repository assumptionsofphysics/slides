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1201" r:id="rId3"/>
    <p:sldId id="1202" r:id="rId4"/>
    <p:sldId id="1203" r:id="rId5"/>
    <p:sldId id="1204" r:id="rId6"/>
    <p:sldId id="1222" r:id="rId7"/>
    <p:sldId id="1206" r:id="rId8"/>
    <p:sldId id="1207" r:id="rId9"/>
    <p:sldId id="1208" r:id="rId10"/>
    <p:sldId id="1216" r:id="rId11"/>
    <p:sldId id="1212" r:id="rId12"/>
    <p:sldId id="1217" r:id="rId13"/>
    <p:sldId id="1218" r:id="rId14"/>
    <p:sldId id="1210" r:id="rId15"/>
    <p:sldId id="1219" r:id="rId16"/>
    <p:sldId id="1205" r:id="rId17"/>
    <p:sldId id="1221" r:id="rId18"/>
    <p:sldId id="122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3" autoAdjust="0"/>
    <p:restoredTop sz="84728" autoAdjust="0"/>
  </p:normalViewPr>
  <p:slideViewPr>
    <p:cSldViewPr snapToGrid="0">
      <p:cViewPr varScale="1">
        <p:scale>
          <a:sx n="70" d="100"/>
          <a:sy n="70" d="100"/>
        </p:scale>
        <p:origin x="1075" y="43"/>
      </p:cViewPr>
      <p:guideLst/>
    </p:cSldViewPr>
  </p:slideViewPr>
  <p:outlineViewPr>
    <p:cViewPr>
      <p:scale>
        <a:sx n="33" d="100"/>
        <a:sy n="33" d="100"/>
      </p:scale>
      <p:origin x="0" y="-9029"/>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fundamental misconception in physics which I think is why a lot of people struggle understanding quantum mechanics. BTW, when I say people… I don’t just mean students. I also mean people that have been working on foundations for decades… The misconception goes like this. Mechanics gives us the full description of the universe. Statistical mechanics is built on top, and you don’t really need it to understand mechanics. The difference between classical mechanics and quantum mechanics, then, lies solely in this full description. In what states you can have. Statistical ensembles just add some uncertainty, but they don’t really matter. This is why, for example, most interpretations focus on pure states… </a:t>
            </a:r>
          </a:p>
          <a:p>
            <a:endParaRPr lang="en-US" dirty="0"/>
          </a:p>
          <a:p>
            <a:r>
              <a:rPr lang="en-US" dirty="0"/>
              <a:t>Unfortunately, this does not work at all. Classical ensembles and quantum ensembles work very differently. Ultimately, that is why it is rather hard to make hidden variable models or stochastic models that can replicate quantum mechanics. Unfortunately, most people I have met that work in foundations do not seem to understand this… gigantic detail. Though some younger folks seem to be picking up on that.</a:t>
            </a:r>
          </a:p>
          <a:p>
            <a:endParaRPr lang="en-US" dirty="0"/>
          </a:p>
          <a:p>
            <a:r>
              <a:rPr lang="en-US" dirty="0"/>
              <a:t>Anyway, last week I found a cute example where the pure states are the same in both classical and quantum mechanics… but the statistical ensembles are not. This part of our effort on Reverse Physics for quantum mechanics, which is starting to pick up. In this example, the pure states are represented by the surface of a sphere in both classical and quantum mechanics… but the statistical ensembles are different. Also, if I characterize time evolution simply by requiring that the evolution of the ensemble is the ensemble of the evolution… I get the right time evolution in both cases. So, the pure states can’t tell you if you have classical or quantum mechanics… but the statistical ensemble do. Statistical mechanics is king!</a:t>
            </a:r>
          </a:p>
          <a:p>
            <a:endParaRPr lang="en-US" dirty="0"/>
          </a:p>
          <a:p>
            <a:r>
              <a:rPr lang="en-US" dirty="0"/>
              <a:t>This is one of those counter-example that, to me, makes the problem completely clear. It should be a paper… maybe it will become a paper. But, I have to tell you, I really dislike writing papers at this point. It’s not enough to have a clear and useful insight. No. You have to dress it, set it into a current debate, or you get rejected without review, because “this is not what people discuss in the foundations of physics.” Sometimes, years of work to publish something, that I don’t think anyone reads or cites anyway. But here? Two weeks from idea inception, working the detail, recording editing and publishing. Done. Then I can work on a new insight. This is </a:t>
            </a:r>
            <a:r>
              <a:rPr lang="en-US" dirty="0" err="1"/>
              <a:t>sooo</a:t>
            </a:r>
            <a:r>
              <a:rPr lang="en-US" dirty="0"/>
              <a:t> much nicer. I am just a guy that wants to figure things out. And if you want to support this model, if you think more researcher should be done this openly, like, subscribe and consider making a donation to our research program, Assumptions of Physics. Link in the description.</a:t>
            </a:r>
          </a:p>
          <a:p>
            <a:endParaRPr lang="en-US" dirty="0"/>
          </a:p>
          <a:p>
            <a:r>
              <a:rPr lang="en-US" dirty="0"/>
              <a:t>But you know what’s more ridiculous? I am finding at conference that people know more about my research from these videos. I don’t mean people at large that I wouldn’t expect to read any of my papers… I mean people that work in my field! I don’t know how to feel about that. Is it empowering? Is it sad? Anyway, the point is that it’s a fresh result, not even published, not even in the draft of our book. Maybe someone will help me turn it into a philosophy of science paper. In which case I will put a link in the description.</a:t>
            </a:r>
          </a:p>
          <a:p>
            <a:endParaRPr lang="en-US" dirty="0"/>
          </a:p>
          <a:p>
            <a:r>
              <a:rPr lang="en-US" dirty="0"/>
              <a:t>Ok, enough ranting, let’s get started!</a:t>
            </a:r>
          </a:p>
          <a:p>
            <a:endParaRPr lang="en-US" dirty="0"/>
          </a:p>
          <a:p>
            <a:r>
              <a:rPr lang="en-US" dirty="0"/>
              <a:t>in classical mechanics are the probability distributions over the sphere, while in quantum mechanics are the points inside of the sphere. That is, to know if you have classical or quantum mechanics you need to tell me what are the possible statistical ensembles, not just the pure states. Moreover, the space of statistical ensembles tell you directly why the equation of motion have to be different. We’ll go through the math, so that you can double check for yourself, and then make sense of all of this and its consequences for physics and philosophy of physics. Let’s get to it!</a:t>
            </a:r>
          </a:p>
          <a:p>
            <a:endParaRPr lang="en-US" dirty="0"/>
          </a:p>
          <a:p>
            <a:r>
              <a:rPr lang="en-US" dirty="0"/>
              <a:t>we have started working more seriously on Reverse Physics for quantum mechanics, so we are methodically going through the whole theory. Last week, two weeks ago when the video will be posted, I found a In both cases, the pure states are represented by the surface of a sphere… but the statistical ensembles in classical mechanics are the probability distributions over the sphere, while in quantum mechanics are the points inside of the sphere. That is, to know if you have classical or quantum mechanics you need to tell me what are the possible statistical ensembles, not just the pure states. Moreover, the space of statistical ensembles tell you directly why the equation of motion have to be different. We’ll go through the math, so that you can double check for yourself, and then make sense of all of this and its consequences for physics and philosophy of physics. Let’s get to it!</a:t>
            </a:r>
          </a:p>
          <a:p>
            <a:endParaRPr lang="en-US" dirty="0"/>
          </a:p>
        </p:txBody>
      </p:sp>
      <p:sp>
        <p:nvSpPr>
          <p:cNvPr id="4" name="Slide Number Placeholder 3"/>
          <p:cNvSpPr>
            <a:spLocks noGrp="1"/>
          </p:cNvSpPr>
          <p:nvPr>
            <p:ph type="sldNum" sz="quarter" idx="5"/>
          </p:nvPr>
        </p:nvSpPr>
        <p:spPr/>
        <p:txBody>
          <a:bodyPr/>
          <a:lstStyle/>
          <a:p>
            <a:fld id="{A154F452-85BD-4268-B680-C313DBFDCEB3}" type="slidenum">
              <a:rPr lang="en-US" smtClean="0"/>
              <a:t>1</a:t>
            </a:fld>
            <a:endParaRPr lang="en-US"/>
          </a:p>
        </p:txBody>
      </p:sp>
    </p:spTree>
    <p:extLst>
      <p:ext uri="{BB962C8B-B14F-4D97-AF65-F5344CB8AC3E}">
        <p14:creationId xmlns:p14="http://schemas.microsoft.com/office/powerpoint/2010/main" val="37220412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9E5A3E48-4000-4BE8-AF49-A6112A7546B2}" type="datetime1">
              <a:rPr lang="en-US" smtClean="0"/>
              <a:t>1/23/2026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03588DA-AF3D-0538-FED6-B91B80D9B0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5482"/>
            <a:ext cx="1676403" cy="1523725"/>
          </a:xfrm>
          <a:prstGeom prst="rect">
            <a:avLst/>
          </a:prstGeom>
        </p:spPr>
      </p:pic>
      <p:pic>
        <p:nvPicPr>
          <p:cNvPr id="15" name="Picture 14">
            <a:extLst>
              <a:ext uri="{FF2B5EF4-FFF2-40B4-BE49-F238E27FC236}">
                <a16:creationId xmlns:a16="http://schemas.microsoft.com/office/drawing/2014/main" id="{4EEE5F5B-B632-2F49-E623-5C0F89CE0E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3727"/>
            <a:ext cx="2229706" cy="756859"/>
          </a:xfrm>
          <a:prstGeom prst="rect">
            <a:avLst/>
          </a:prstGeom>
        </p:spPr>
      </p:pic>
      <p:pic>
        <p:nvPicPr>
          <p:cNvPr id="16" name="Picture 15">
            <a:extLst>
              <a:ext uri="{FF2B5EF4-FFF2-40B4-BE49-F238E27FC236}">
                <a16:creationId xmlns:a16="http://schemas.microsoft.com/office/drawing/2014/main" id="{9AE0316C-62B2-770F-A578-C8D4BEA5E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032" y="4433212"/>
            <a:ext cx="1676403" cy="1523725"/>
          </a:xfrm>
          <a:prstGeom prst="rect">
            <a:avLst/>
          </a:prstGeom>
        </p:spPr>
      </p:pic>
      <p:pic>
        <p:nvPicPr>
          <p:cNvPr id="17" name="Picture 16">
            <a:extLst>
              <a:ext uri="{FF2B5EF4-FFF2-40B4-BE49-F238E27FC236}">
                <a16:creationId xmlns:a16="http://schemas.microsoft.com/office/drawing/2014/main" id="{730B28FF-2283-988B-15E2-3907B103BE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381" y="6001457"/>
            <a:ext cx="2229706" cy="756859"/>
          </a:xfrm>
          <a:prstGeom prst="rect">
            <a:avLst/>
          </a:prstGeom>
        </p:spPr>
      </p:pic>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Gabriele Carcassi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D94907A7-274B-46C7-ACBB-98427FFA90F6}" type="datetime1">
              <a:rPr lang="en-US" smtClean="0"/>
              <a:t>1/23/2026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E0A0D542-6BA8-4A95-9EF2-3E912B4C2D8D}" type="datetime1">
              <a:rPr lang="en-US" smtClean="0"/>
              <a:t>1/23/2026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7F689E5D-57C3-47FC-9D93-3B263F03E631}" type="datetime1">
              <a:rPr lang="en-US" smtClean="0"/>
              <a:t>1/23/2026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CFF3B49B-4FF2-41DE-9AC4-33C59E8CAF6D}" type="datetime1">
              <a:rPr lang="en-US" smtClean="0"/>
              <a:t>1/23/2026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Gabriele Carcassi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179CF7F1-22B2-4345-97A9-9E44AD1EB502}" type="datetime1">
              <a:rPr lang="en-US" smtClean="0"/>
              <a:t>1/23/2026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Gabriele Carcassi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06F128FC-3737-4FFB-AE4A-FB5984F2943C}" type="datetime1">
              <a:rPr lang="en-US" smtClean="0"/>
              <a:t>1/23/2026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Gabriele Carcassi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85BC373F-1C5D-4856-863E-55B4619AF862}" type="datetime1">
              <a:rPr lang="en-US" smtClean="0"/>
              <a:t>1/23/2026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25DBF6ED-7AC7-494C-88C7-A4505C8782D5}" type="datetime1">
              <a:rPr lang="en-US" smtClean="0"/>
              <a:t>1/23/2026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1097F9C4-009A-4DB4-A317-7BB1B9415B8A}" type="datetime1">
              <a:rPr lang="en-US" smtClean="0"/>
              <a:t>1/23/2026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AB448F2E-A0AF-4465-A0F8-0F03CDDC70F9}" type="datetime1">
              <a:rPr lang="en-US" smtClean="0"/>
              <a:t>1/23/2026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8143FB41-6DBB-4DF5-895F-D5282C1D742B}" type="datetime1">
              <a:rPr lang="en-US" smtClean="0"/>
              <a:t>1/23/2026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Gabriele Carcassi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pic>
        <p:nvPicPr>
          <p:cNvPr id="14" name="Picture 13">
            <a:extLst>
              <a:ext uri="{FF2B5EF4-FFF2-40B4-BE49-F238E27FC236}">
                <a16:creationId xmlns:a16="http://schemas.microsoft.com/office/drawing/2014/main" id="{12EABDBC-29F5-54A5-0B74-DE652EDCED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72"/>
            <a:ext cx="755811" cy="686976"/>
          </a:xfrm>
          <a:prstGeom prst="rect">
            <a:avLst/>
          </a:prstGeom>
        </p:spPr>
      </p:pic>
      <p:pic>
        <p:nvPicPr>
          <p:cNvPr id="17" name="Picture 16">
            <a:extLst>
              <a:ext uri="{FF2B5EF4-FFF2-40B4-BE49-F238E27FC236}">
                <a16:creationId xmlns:a16="http://schemas.microsoft.com/office/drawing/2014/main" id="{90CDCAE5-166F-5A8D-47B6-2316E82EF1E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4150" y="6274104"/>
            <a:ext cx="1313865" cy="445983"/>
          </a:xfrm>
          <a:prstGeom prst="rect">
            <a:avLst/>
          </a:prstGeom>
        </p:spPr>
      </p:pic>
    </p:spTree>
    <p:extLst>
      <p:ext uri="{BB962C8B-B14F-4D97-AF65-F5344CB8AC3E}">
        <p14:creationId xmlns:p14="http://schemas.microsoft.com/office/powerpoint/2010/main" val="360347769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hf sldNum="0"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50.png"/><Relationship Id="rId7" Type="http://schemas.openxmlformats.org/officeDocument/2006/relationships/image" Target="../media/image24.png"/><Relationship Id="rId2" Type="http://schemas.openxmlformats.org/officeDocument/2006/relationships/image" Target="../media/image14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ECAB-F8A1-4D91-9779-D29F8617F853}"/>
              </a:ext>
            </a:extLst>
          </p:cNvPr>
          <p:cNvSpPr>
            <a:spLocks noGrp="1"/>
          </p:cNvSpPr>
          <p:nvPr>
            <p:ph type="ctrTitle"/>
          </p:nvPr>
        </p:nvSpPr>
        <p:spPr/>
        <p:txBody>
          <a:bodyPr>
            <a:normAutofit/>
          </a:bodyPr>
          <a:lstStyle/>
          <a:p>
            <a:r>
              <a:rPr lang="en-US" dirty="0"/>
              <a:t>No Physics without statistics</a:t>
            </a:r>
            <a:br>
              <a:rPr lang="en-US" dirty="0"/>
            </a:br>
            <a:r>
              <a:rPr lang="en-US" dirty="0"/>
              <a:t>Pure states are not enough</a:t>
            </a:r>
          </a:p>
        </p:txBody>
      </p:sp>
      <p:sp>
        <p:nvSpPr>
          <p:cNvPr id="3" name="Subtitle 2">
            <a:extLst>
              <a:ext uri="{FF2B5EF4-FFF2-40B4-BE49-F238E27FC236}">
                <a16:creationId xmlns:a16="http://schemas.microsoft.com/office/drawing/2014/main" id="{9D59FC8D-3EB4-47A4-BE3E-3183805AE809}"/>
              </a:ext>
            </a:extLst>
          </p:cNvPr>
          <p:cNvSpPr>
            <a:spLocks noGrp="1"/>
          </p:cNvSpPr>
          <p:nvPr>
            <p:ph type="subTitle" idx="1"/>
          </p:nvPr>
        </p:nvSpPr>
        <p:spPr/>
        <p:txBody>
          <a:bodyPr/>
          <a:lstStyle/>
          <a:p>
            <a:r>
              <a:rPr lang="en-US" dirty="0"/>
              <a:t>Gabriele Carcassi</a:t>
            </a:r>
          </a:p>
        </p:txBody>
      </p:sp>
    </p:spTree>
    <p:extLst>
      <p:ext uri="{BB962C8B-B14F-4D97-AF65-F5344CB8AC3E}">
        <p14:creationId xmlns:p14="http://schemas.microsoft.com/office/powerpoint/2010/main" val="163962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37B760-CD8A-C2B1-2FF1-AC3107E74081}"/>
              </a:ext>
            </a:extLst>
          </p:cNvPr>
          <p:cNvSpPr txBox="1"/>
          <p:nvPr/>
        </p:nvSpPr>
        <p:spPr>
          <a:xfrm>
            <a:off x="5127001" y="124414"/>
            <a:ext cx="6158032" cy="1569660"/>
          </a:xfrm>
          <a:prstGeom prst="rect">
            <a:avLst/>
          </a:prstGeom>
          <a:noFill/>
        </p:spPr>
        <p:txBody>
          <a:bodyPr wrap="none" rtlCol="0">
            <a:spAutoFit/>
          </a:bodyPr>
          <a:lstStyle/>
          <a:p>
            <a:pPr algn="ctr"/>
            <a:r>
              <a:rPr lang="en-US" sz="4800"/>
              <a:t>Classical phase space</a:t>
            </a:r>
            <a:br>
              <a:rPr lang="en-US" sz="4800"/>
            </a:br>
            <a:r>
              <a:rPr lang="en-US" sz="4800"/>
              <a:t> for angular momentum</a:t>
            </a:r>
            <a:endParaRPr lang="en-US" sz="48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E831A12-691E-9BED-B668-1DB044FB1417}"/>
                  </a:ext>
                </a:extLst>
              </p:cNvPr>
              <p:cNvSpPr txBox="1"/>
              <p:nvPr/>
            </p:nvSpPr>
            <p:spPr>
              <a:xfrm>
                <a:off x="6258464" y="2055669"/>
                <a:ext cx="3895105" cy="9206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4400" b="0" i="1" smtClean="0">
                              <a:latin typeface="Cambria Math" panose="02040503050406030204" pitchFamily="18" charset="0"/>
                            </a:rPr>
                          </m:ctrlPr>
                        </m:accPr>
                        <m:e>
                          <m:r>
                            <a:rPr lang="en-US" sz="4400" b="0" i="1" smtClean="0">
                              <a:latin typeface="Cambria Math" panose="02040503050406030204" pitchFamily="18" charset="0"/>
                            </a:rPr>
                            <m:t>𝐿</m:t>
                          </m:r>
                        </m:e>
                      </m:acc>
                      <m:r>
                        <a:rPr lang="en-US" sz="4400" b="0" i="1" smtClean="0">
                          <a:latin typeface="Cambria Math" panose="02040503050406030204" pitchFamily="18" charset="0"/>
                        </a:rPr>
                        <m:t>=</m:t>
                      </m:r>
                      <m:d>
                        <m:dPr>
                          <m:begChr m:val="["/>
                          <m:endChr m:val="]"/>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𝐿</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 </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𝐿</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 </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𝐿</m:t>
                              </m:r>
                            </m:e>
                            <m:sub>
                              <m:r>
                                <a:rPr lang="en-US" sz="4400" b="0" i="1" smtClean="0">
                                  <a:latin typeface="Cambria Math" panose="02040503050406030204" pitchFamily="18" charset="0"/>
                                </a:rPr>
                                <m:t>𝑧</m:t>
                              </m:r>
                            </m:sub>
                          </m:sSub>
                        </m:e>
                      </m:d>
                    </m:oMath>
                  </m:oMathPara>
                </a14:m>
                <a:endParaRPr lang="en-US" sz="4400" dirty="0"/>
              </a:p>
            </p:txBody>
          </p:sp>
        </mc:Choice>
        <mc:Fallback xmlns="">
          <p:sp>
            <p:nvSpPr>
              <p:cNvPr id="19" name="TextBox 18">
                <a:extLst>
                  <a:ext uri="{FF2B5EF4-FFF2-40B4-BE49-F238E27FC236}">
                    <a16:creationId xmlns:a16="http://schemas.microsoft.com/office/drawing/2014/main" id="{5E831A12-691E-9BED-B668-1DB044FB1417}"/>
                  </a:ext>
                </a:extLst>
              </p:cNvPr>
              <p:cNvSpPr txBox="1">
                <a:spLocks noRot="1" noChangeAspect="1" noMove="1" noResize="1" noEditPoints="1" noAdjustHandles="1" noChangeArrowheads="1" noChangeShapeType="1" noTextEdit="1"/>
              </p:cNvSpPr>
              <p:nvPr/>
            </p:nvSpPr>
            <p:spPr>
              <a:xfrm>
                <a:off x="6258464" y="2055669"/>
                <a:ext cx="3895105" cy="92063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9A8AF5-7A76-A7FE-9CDA-E9CC669B9846}"/>
                  </a:ext>
                </a:extLst>
              </p:cNvPr>
              <p:cNvSpPr txBox="1"/>
              <p:nvPr/>
            </p:nvSpPr>
            <p:spPr>
              <a:xfrm>
                <a:off x="4760008" y="3136612"/>
                <a:ext cx="689201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𝐿</m:t>
                          </m:r>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sin</m:t>
                              </m:r>
                            </m:fName>
                            <m:e>
                              <m:r>
                                <a:rPr lang="en-US" sz="3200" i="1">
                                  <a:latin typeface="Cambria Math" panose="02040503050406030204" pitchFamily="18" charset="0"/>
                                </a:rPr>
                                <m:t>𝜃</m:t>
                              </m:r>
                            </m:e>
                          </m:func>
                          <m:func>
                            <m:funcPr>
                              <m:ctrlPr>
                                <a:rPr lang="en-US" sz="3200" i="1">
                                  <a:latin typeface="Cambria Math" panose="02040503050406030204" pitchFamily="18" charset="0"/>
                                </a:rPr>
                              </m:ctrlPr>
                            </m:funcPr>
                            <m:fName>
                              <m:r>
                                <m:rPr>
                                  <m:sty m:val="p"/>
                                </m:rPr>
                                <a:rPr lang="en-US" sz="3200" b="0" i="0" smtClean="0">
                                  <a:latin typeface="Cambria Math" panose="02040503050406030204" pitchFamily="18" charset="0"/>
                                </a:rPr>
                                <m:t>cos</m:t>
                              </m:r>
                            </m:fName>
                            <m:e>
                              <m:r>
                                <a:rPr lang="en-US" sz="3200" i="1">
                                  <a:latin typeface="Cambria Math" panose="02040503050406030204" pitchFamily="18" charset="0"/>
                                </a:rPr>
                                <m:t>𝜑</m:t>
                              </m:r>
                            </m:e>
                          </m:func>
                          <m:r>
                            <a:rPr lang="en-US" sz="3200" b="0" i="1" smtClean="0">
                              <a:latin typeface="Cambria Math" panose="02040503050406030204" pitchFamily="18" charset="0"/>
                            </a:rPr>
                            <m:t>,</m:t>
                          </m:r>
                          <m:r>
                            <a:rPr lang="en-US" sz="3200" i="1" smtClean="0">
                              <a:latin typeface="Cambria Math" panose="02040503050406030204" pitchFamily="18" charset="0"/>
                            </a:rPr>
                            <m:t> </m:t>
                          </m:r>
                          <m:r>
                            <a:rPr lang="en-US" sz="3200" b="0" i="1" smtClean="0">
                              <a:latin typeface="Cambria Math" panose="02040503050406030204" pitchFamily="18" charset="0"/>
                            </a:rPr>
                            <m:t>𝐿</m:t>
                          </m:r>
                          <m:func>
                            <m:funcPr>
                              <m:ctrlPr>
                                <a:rPr lang="en-US" sz="3200" i="1">
                                  <a:latin typeface="Cambria Math" panose="02040503050406030204" pitchFamily="18" charset="0"/>
                                </a:rPr>
                              </m:ctrlPr>
                            </m:funcPr>
                            <m:fName>
                              <m:r>
                                <m:rPr>
                                  <m:sty m:val="p"/>
                                </m:rPr>
                                <a:rPr lang="en-US" sz="3200" b="0" i="0" smtClean="0">
                                  <a:latin typeface="Cambria Math" panose="02040503050406030204" pitchFamily="18" charset="0"/>
                                </a:rPr>
                                <m:t>sin</m:t>
                              </m:r>
                            </m:fName>
                            <m:e>
                              <m:r>
                                <a:rPr lang="en-US" sz="3200" i="1">
                                  <a:latin typeface="Cambria Math" panose="02040503050406030204" pitchFamily="18" charset="0"/>
                                </a:rPr>
                                <m:t>𝜃</m:t>
                              </m:r>
                            </m:e>
                          </m:func>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sin</m:t>
                              </m:r>
                            </m:fName>
                            <m:e>
                              <m:r>
                                <a:rPr lang="en-US" sz="3200" b="0" i="1" smtClean="0">
                                  <a:latin typeface="Cambria Math" panose="02040503050406030204" pitchFamily="18" charset="0"/>
                                </a:rPr>
                                <m:t>𝜑</m:t>
                              </m:r>
                            </m:e>
                          </m:func>
                          <m:r>
                            <a:rPr lang="en-US" sz="3200" b="0" i="1" smtClean="0">
                              <a:latin typeface="Cambria Math" panose="02040503050406030204" pitchFamily="18" charset="0"/>
                            </a:rPr>
                            <m:t>, </m:t>
                          </m:r>
                          <m:r>
                            <a:rPr lang="en-US" sz="3200" b="0" i="1" smtClean="0">
                              <a:latin typeface="Cambria Math" panose="02040503050406030204" pitchFamily="18" charset="0"/>
                            </a:rPr>
                            <m:t>𝐿</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r>
                                <a:rPr lang="en-US" sz="3200" b="0" i="1" smtClean="0">
                                  <a:latin typeface="Cambria Math" panose="02040503050406030204" pitchFamily="18" charset="0"/>
                                </a:rPr>
                                <m:t>𝜃</m:t>
                              </m:r>
                            </m:e>
                          </m:func>
                          <m:r>
                            <a:rPr lang="en-US" sz="3200" b="0" i="1" smtClean="0">
                              <a:latin typeface="Cambria Math" panose="02040503050406030204" pitchFamily="18" charset="0"/>
                            </a:rPr>
                            <m:t> </m:t>
                          </m:r>
                        </m:e>
                      </m:d>
                    </m:oMath>
                  </m:oMathPara>
                </a14:m>
                <a:endParaRPr lang="en-US" sz="3200" dirty="0"/>
              </a:p>
            </p:txBody>
          </p:sp>
        </mc:Choice>
        <mc:Fallback xmlns="">
          <p:sp>
            <p:nvSpPr>
              <p:cNvPr id="23" name="TextBox 22">
                <a:extLst>
                  <a:ext uri="{FF2B5EF4-FFF2-40B4-BE49-F238E27FC236}">
                    <a16:creationId xmlns:a16="http://schemas.microsoft.com/office/drawing/2014/main" id="{979A8AF5-7A76-A7FE-9CDA-E9CC669B9846}"/>
                  </a:ext>
                </a:extLst>
              </p:cNvPr>
              <p:cNvSpPr txBox="1">
                <a:spLocks noRot="1" noChangeAspect="1" noMove="1" noResize="1" noEditPoints="1" noAdjustHandles="1" noChangeArrowheads="1" noChangeShapeType="1" noTextEdit="1"/>
              </p:cNvSpPr>
              <p:nvPr/>
            </p:nvSpPr>
            <p:spPr>
              <a:xfrm>
                <a:off x="4760008" y="3136612"/>
                <a:ext cx="6892015" cy="584775"/>
              </a:xfrm>
              <a:prstGeom prst="rect">
                <a:avLst/>
              </a:prstGeom>
              <a:blipFill>
                <a:blip r:embed="rId3"/>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D226926-2A5F-838B-829D-4D22A5A4E895}"/>
              </a:ext>
            </a:extLst>
          </p:cNvPr>
          <p:cNvGrpSpPr/>
          <p:nvPr/>
        </p:nvGrpSpPr>
        <p:grpSpPr>
          <a:xfrm>
            <a:off x="711873" y="440215"/>
            <a:ext cx="3578015" cy="3577707"/>
            <a:chOff x="934943" y="1636949"/>
            <a:chExt cx="2674503" cy="2674273"/>
          </a:xfrm>
        </p:grpSpPr>
        <p:grpSp>
          <p:nvGrpSpPr>
            <p:cNvPr id="4" name="Group 3">
              <a:extLst>
                <a:ext uri="{FF2B5EF4-FFF2-40B4-BE49-F238E27FC236}">
                  <a16:creationId xmlns:a16="http://schemas.microsoft.com/office/drawing/2014/main" id="{ED21C2A3-0251-519D-53C2-BE9243F5B4DE}"/>
                </a:ext>
              </a:extLst>
            </p:cNvPr>
            <p:cNvGrpSpPr/>
            <p:nvPr/>
          </p:nvGrpSpPr>
          <p:grpSpPr>
            <a:xfrm>
              <a:off x="934943" y="1636949"/>
              <a:ext cx="2674503" cy="2674273"/>
              <a:chOff x="2521889" y="2808131"/>
              <a:chExt cx="1916430" cy="1916266"/>
            </a:xfrm>
          </p:grpSpPr>
          <p:sp>
            <p:nvSpPr>
              <p:cNvPr id="10" name="Oval 9">
                <a:extLst>
                  <a:ext uri="{FF2B5EF4-FFF2-40B4-BE49-F238E27FC236}">
                    <a16:creationId xmlns:a16="http://schemas.microsoft.com/office/drawing/2014/main" id="{FA65C8EF-07AA-57FA-1174-D4A51B091855}"/>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3F265DA2-FDB1-F927-47CB-13175541C01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D209E46-96A6-EC86-E1C6-C3D52F1304BF}"/>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E9CF811F-542C-A2F1-0DA5-D3214563E1A0}"/>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7C78E0B8-F53B-9FDF-6934-003FE5DC9228}"/>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0DA5CA9C-0F74-474C-38E5-36F988676430}"/>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7EAB7B9E-418A-0EB9-2775-CBDF22F0C6AF}"/>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54A4337B-20C8-6C60-DC1D-A2086AEC0C78}"/>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373202F6-6E5B-5887-84FE-451F0260FA3F}"/>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27" name="Straight Connector 26">
              <a:extLst>
                <a:ext uri="{FF2B5EF4-FFF2-40B4-BE49-F238E27FC236}">
                  <a16:creationId xmlns:a16="http://schemas.microsoft.com/office/drawing/2014/main" id="{81375848-6257-E3AC-4F41-E71DD3451AF9}"/>
                </a:ext>
              </a:extLst>
            </p:cNvPr>
            <p:cNvCxnSpPr>
              <a:cxnSpLocks/>
              <a:stCxn id="18" idx="0"/>
              <a:endCxn id="17" idx="4"/>
            </p:cNvCxnSpPr>
            <p:nvPr/>
          </p:nvCxnSpPr>
          <p:spPr>
            <a:xfrm>
              <a:off x="2272076" y="1636949"/>
              <a:ext cx="0" cy="2674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08176CA-EEA9-DC41-04CA-317EA5A7E760}"/>
                </a:ext>
              </a:extLst>
            </p:cNvPr>
            <p:cNvCxnSpPr>
              <a:stCxn id="16" idx="0"/>
              <a:endCxn id="15" idx="4"/>
            </p:cNvCxnSpPr>
            <p:nvPr/>
          </p:nvCxnSpPr>
          <p:spPr>
            <a:xfrm flipV="1">
              <a:off x="935173" y="2976811"/>
              <a:ext cx="267427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AC0BD68-474B-A91C-6A58-D5D7D61C4EBA}"/>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7B8E777-AADC-8DF3-46BD-8DFF42127433}"/>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36" name="Arc 35">
              <a:extLst>
                <a:ext uri="{FF2B5EF4-FFF2-40B4-BE49-F238E27FC236}">
                  <a16:creationId xmlns:a16="http://schemas.microsoft.com/office/drawing/2014/main" id="{2B537078-41C2-B595-6966-3ED7E6B944EC}"/>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E5D9D94-71C2-03F3-0461-6CB3B583B53E}"/>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D512F25-92BB-AD1A-CC59-05EA8E3CA5CA}"/>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BD512F25-92BB-AD1A-CC59-05EA8E3CA5CA}"/>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4"/>
                  <a:stretch>
                    <a:fillRect/>
                  </a:stretch>
                </a:blipFill>
              </p:spPr>
              <p:txBody>
                <a:bodyPr/>
                <a:lstStyle/>
                <a:p>
                  <a:r>
                    <a:rPr lang="en-US">
                      <a:noFill/>
                    </a:rPr>
                    <a:t> </a:t>
                  </a:r>
                </a:p>
              </p:txBody>
            </p:sp>
          </mc:Fallback>
        </mc:AlternateContent>
        <p:sp>
          <p:nvSpPr>
            <p:cNvPr id="38" name="Arc 37">
              <a:extLst>
                <a:ext uri="{FF2B5EF4-FFF2-40B4-BE49-F238E27FC236}">
                  <a16:creationId xmlns:a16="http://schemas.microsoft.com/office/drawing/2014/main" id="{A2333777-E3ED-FA9A-3510-79F44F9B7997}"/>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26039AC-0B35-FFDA-FC41-E508278AFC19}"/>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026039AC-0B35-FFDA-FC41-E508278AFC19}"/>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5"/>
                  <a:stretch>
                    <a:fillRect/>
                  </a:stretch>
                </a:blipFill>
              </p:spPr>
              <p:txBody>
                <a:bodyPr/>
                <a:lstStyle/>
                <a:p>
                  <a:r>
                    <a:rPr lang="en-US">
                      <a:noFill/>
                    </a:rPr>
                    <a:t> </a:t>
                  </a:r>
                </a:p>
              </p:txBody>
            </p:sp>
          </mc:Fallback>
        </mc:AlternateContent>
      </p:grpSp>
      <p:sp>
        <p:nvSpPr>
          <p:cNvPr id="5" name="TextBox 4">
            <a:extLst>
              <a:ext uri="{FF2B5EF4-FFF2-40B4-BE49-F238E27FC236}">
                <a16:creationId xmlns:a16="http://schemas.microsoft.com/office/drawing/2014/main" id="{07AC81CB-0A61-C0DD-2EB0-C17A3C67D734}"/>
              </a:ext>
            </a:extLst>
          </p:cNvPr>
          <p:cNvSpPr txBox="1"/>
          <p:nvPr/>
        </p:nvSpPr>
        <p:spPr>
          <a:xfrm>
            <a:off x="881991" y="4979421"/>
            <a:ext cx="7756034" cy="830997"/>
          </a:xfrm>
          <a:prstGeom prst="rect">
            <a:avLst/>
          </a:prstGeom>
          <a:noFill/>
        </p:spPr>
        <p:txBody>
          <a:bodyPr wrap="none" rtlCol="0">
            <a:spAutoFit/>
          </a:bodyPr>
          <a:lstStyle/>
          <a:p>
            <a:r>
              <a:rPr lang="en-US" sz="4800" dirty="0">
                <a:solidFill>
                  <a:schemeClr val="accent6">
                    <a:lumMod val="75000"/>
                  </a:schemeClr>
                </a:solidFill>
              </a:rPr>
              <a:t>It’s a two-dimensional sphere!</a:t>
            </a:r>
          </a:p>
        </p:txBody>
      </p:sp>
      <p:sp>
        <p:nvSpPr>
          <p:cNvPr id="6" name="TextBox 5">
            <a:extLst>
              <a:ext uri="{FF2B5EF4-FFF2-40B4-BE49-F238E27FC236}">
                <a16:creationId xmlns:a16="http://schemas.microsoft.com/office/drawing/2014/main" id="{B26E3672-B2E6-6553-5061-24E6FDE669A2}"/>
              </a:ext>
            </a:extLst>
          </p:cNvPr>
          <p:cNvSpPr txBox="1"/>
          <p:nvPr/>
        </p:nvSpPr>
        <p:spPr>
          <a:xfrm>
            <a:off x="9180165" y="1614162"/>
            <a:ext cx="2175917" cy="369332"/>
          </a:xfrm>
          <a:prstGeom prst="rect">
            <a:avLst/>
          </a:prstGeom>
          <a:noFill/>
        </p:spPr>
        <p:txBody>
          <a:bodyPr wrap="none" rtlCol="0">
            <a:spAutoFit/>
          </a:bodyPr>
          <a:lstStyle/>
          <a:p>
            <a:r>
              <a:rPr lang="en-US" dirty="0"/>
              <a:t>with fixed magnitude</a:t>
            </a:r>
          </a:p>
        </p:txBody>
      </p:sp>
    </p:spTree>
    <p:extLst>
      <p:ext uri="{BB962C8B-B14F-4D97-AF65-F5344CB8AC3E}">
        <p14:creationId xmlns:p14="http://schemas.microsoft.com/office/powerpoint/2010/main" val="53569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3D903-7185-130B-34DF-E1AF2F2A89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2C5E03-B63A-A0CA-D89F-56EA155FA61A}"/>
              </a:ext>
            </a:extLst>
          </p:cNvPr>
          <p:cNvSpPr txBox="1"/>
          <p:nvPr/>
        </p:nvSpPr>
        <p:spPr>
          <a:xfrm>
            <a:off x="5460906" y="124414"/>
            <a:ext cx="5490221" cy="1569660"/>
          </a:xfrm>
          <a:prstGeom prst="rect">
            <a:avLst/>
          </a:prstGeom>
          <a:noFill/>
        </p:spPr>
        <p:txBody>
          <a:bodyPr wrap="none" rtlCol="0">
            <a:spAutoFit/>
          </a:bodyPr>
          <a:lstStyle/>
          <a:p>
            <a:pPr algn="ctr"/>
            <a:r>
              <a:rPr lang="en-US" sz="4800" dirty="0"/>
              <a:t>Quantum state space</a:t>
            </a:r>
            <a:br>
              <a:rPr lang="en-US" sz="4800" dirty="0"/>
            </a:br>
            <a:r>
              <a:rPr lang="en-US" sz="4800" dirty="0"/>
              <a:t> for spin ½ (qubit)</a:t>
            </a:r>
          </a:p>
        </p:txBody>
      </p:sp>
      <p:grpSp>
        <p:nvGrpSpPr>
          <p:cNvPr id="3" name="Group 2">
            <a:extLst>
              <a:ext uri="{FF2B5EF4-FFF2-40B4-BE49-F238E27FC236}">
                <a16:creationId xmlns:a16="http://schemas.microsoft.com/office/drawing/2014/main" id="{D9402A6A-9D82-5A8B-D79F-0AC7FD49778B}"/>
              </a:ext>
            </a:extLst>
          </p:cNvPr>
          <p:cNvGrpSpPr/>
          <p:nvPr/>
        </p:nvGrpSpPr>
        <p:grpSpPr>
          <a:xfrm>
            <a:off x="711873" y="440215"/>
            <a:ext cx="3578015" cy="3577707"/>
            <a:chOff x="934943" y="1636949"/>
            <a:chExt cx="2674503" cy="2674273"/>
          </a:xfrm>
        </p:grpSpPr>
        <p:grpSp>
          <p:nvGrpSpPr>
            <p:cNvPr id="4" name="Group 3">
              <a:extLst>
                <a:ext uri="{FF2B5EF4-FFF2-40B4-BE49-F238E27FC236}">
                  <a16:creationId xmlns:a16="http://schemas.microsoft.com/office/drawing/2014/main" id="{4C955A06-D62C-4DFF-5959-634B8D5B33E5}"/>
                </a:ext>
              </a:extLst>
            </p:cNvPr>
            <p:cNvGrpSpPr/>
            <p:nvPr/>
          </p:nvGrpSpPr>
          <p:grpSpPr>
            <a:xfrm>
              <a:off x="934943" y="1636949"/>
              <a:ext cx="2674503" cy="2674273"/>
              <a:chOff x="2521889" y="2808131"/>
              <a:chExt cx="1916430" cy="1916266"/>
            </a:xfrm>
          </p:grpSpPr>
          <p:sp>
            <p:nvSpPr>
              <p:cNvPr id="10" name="Oval 9">
                <a:extLst>
                  <a:ext uri="{FF2B5EF4-FFF2-40B4-BE49-F238E27FC236}">
                    <a16:creationId xmlns:a16="http://schemas.microsoft.com/office/drawing/2014/main" id="{719F0430-6B6D-A51D-AA8A-F0FD19A03EA9}"/>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1A524FB6-8D22-E6A8-2DBC-1C2929D25F9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02EE763-D38D-5CD1-7B89-B8CDC84EEE2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C6B4C69F-65EB-F364-3293-C9747DCCE554}"/>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8B741917-0EA0-7699-710E-6FBB748A7D04}"/>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DB2DCF5E-637C-EA13-0A1E-5392BEEC8A3E}"/>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F824BA46-CEE7-B7E0-B208-386D8B17EAE9}"/>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644652CC-3F25-F093-4AE7-08D1EC552118}"/>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0C068922-B5F3-4415-E920-4899EF617157}"/>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27" name="Straight Connector 26">
              <a:extLst>
                <a:ext uri="{FF2B5EF4-FFF2-40B4-BE49-F238E27FC236}">
                  <a16:creationId xmlns:a16="http://schemas.microsoft.com/office/drawing/2014/main" id="{6F5C95B1-5842-CA25-C9DE-A6DF18713D13}"/>
                </a:ext>
              </a:extLst>
            </p:cNvPr>
            <p:cNvCxnSpPr>
              <a:cxnSpLocks/>
              <a:stCxn id="18" idx="0"/>
              <a:endCxn id="17" idx="4"/>
            </p:cNvCxnSpPr>
            <p:nvPr/>
          </p:nvCxnSpPr>
          <p:spPr>
            <a:xfrm>
              <a:off x="2272076" y="1636949"/>
              <a:ext cx="0" cy="2674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7CC7C2-70E0-859D-0286-3BE96B71689D}"/>
                </a:ext>
              </a:extLst>
            </p:cNvPr>
            <p:cNvCxnSpPr>
              <a:stCxn id="16" idx="0"/>
              <a:endCxn id="15" idx="4"/>
            </p:cNvCxnSpPr>
            <p:nvPr/>
          </p:nvCxnSpPr>
          <p:spPr>
            <a:xfrm flipV="1">
              <a:off x="935173" y="2976811"/>
              <a:ext cx="267427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2BC33E4-C377-7EE2-AFFB-740A864A6318}"/>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87CE9FC-1D12-A490-47DC-C89AD044C353}"/>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36" name="Arc 35">
              <a:extLst>
                <a:ext uri="{FF2B5EF4-FFF2-40B4-BE49-F238E27FC236}">
                  <a16:creationId xmlns:a16="http://schemas.microsoft.com/office/drawing/2014/main" id="{1E7319C2-976A-F180-1234-FCE71E303F85}"/>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FDAFF279-3026-9029-5282-79D344FA336F}"/>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23AE05-E995-F3EB-37BA-056D5E0F6A35}"/>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4923AE05-E995-F3EB-37BA-056D5E0F6A35}"/>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2"/>
                  <a:stretch>
                    <a:fillRect/>
                  </a:stretch>
                </a:blipFill>
              </p:spPr>
              <p:txBody>
                <a:bodyPr/>
                <a:lstStyle/>
                <a:p>
                  <a:r>
                    <a:rPr lang="en-US">
                      <a:noFill/>
                    </a:rPr>
                    <a:t> </a:t>
                  </a:r>
                </a:p>
              </p:txBody>
            </p:sp>
          </mc:Fallback>
        </mc:AlternateContent>
        <p:sp>
          <p:nvSpPr>
            <p:cNvPr id="38" name="Arc 37">
              <a:extLst>
                <a:ext uri="{FF2B5EF4-FFF2-40B4-BE49-F238E27FC236}">
                  <a16:creationId xmlns:a16="http://schemas.microsoft.com/office/drawing/2014/main" id="{E346D436-3B10-CAD3-AF8F-868DCDA5B411}"/>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0AFA723-236E-926F-51C8-FFE12408AB16}"/>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90AFA723-236E-926F-51C8-FFE12408AB16}"/>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3"/>
                  <a:stretch>
                    <a:fillRect/>
                  </a:stretch>
                </a:blipFill>
              </p:spPr>
              <p:txBody>
                <a:bodyPr/>
                <a:lstStyle/>
                <a:p>
                  <a:r>
                    <a:rPr lang="en-US">
                      <a:noFill/>
                    </a:rPr>
                    <a:t> </a:t>
                  </a:r>
                </a:p>
              </p:txBody>
            </p:sp>
          </mc:Fallback>
        </mc:AlternateContent>
      </p:grpSp>
      <p:sp>
        <p:nvSpPr>
          <p:cNvPr id="5" name="TextBox 4">
            <a:extLst>
              <a:ext uri="{FF2B5EF4-FFF2-40B4-BE49-F238E27FC236}">
                <a16:creationId xmlns:a16="http://schemas.microsoft.com/office/drawing/2014/main" id="{2C1FDAC8-E737-A556-2577-0196FA4CBB4D}"/>
              </a:ext>
            </a:extLst>
          </p:cNvPr>
          <p:cNvSpPr txBox="1"/>
          <p:nvPr/>
        </p:nvSpPr>
        <p:spPr>
          <a:xfrm>
            <a:off x="881991" y="4979421"/>
            <a:ext cx="7756034" cy="830997"/>
          </a:xfrm>
          <a:prstGeom prst="rect">
            <a:avLst/>
          </a:prstGeom>
          <a:noFill/>
        </p:spPr>
        <p:txBody>
          <a:bodyPr wrap="none" rtlCol="0">
            <a:spAutoFit/>
          </a:bodyPr>
          <a:lstStyle/>
          <a:p>
            <a:r>
              <a:rPr lang="en-US" sz="4800" dirty="0">
                <a:solidFill>
                  <a:schemeClr val="accent6">
                    <a:lumMod val="75000"/>
                  </a:schemeClr>
                </a:solidFill>
              </a:rPr>
              <a:t>It’s a two-dimensional sphere!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A896CBC-8A78-E4AE-548D-2655FEB8E117}"/>
                  </a:ext>
                </a:extLst>
              </p:cNvPr>
              <p:cNvSpPr txBox="1"/>
              <p:nvPr/>
            </p:nvSpPr>
            <p:spPr>
              <a:xfrm>
                <a:off x="5264720" y="1996472"/>
                <a:ext cx="6545446" cy="1134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𝜓</m:t>
                          </m:r>
                        </m:e>
                      </m:d>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f>
                            <m:fPr>
                              <m:ctrlPr>
                                <a:rPr lang="en-US" sz="3600" i="1">
                                  <a:latin typeface="Cambria Math" panose="02040503050406030204" pitchFamily="18" charset="0"/>
                                </a:rPr>
                              </m:ctrlPr>
                            </m:fPr>
                            <m:num>
                              <m:r>
                                <a:rPr lang="en-US" sz="3600" i="1">
                                  <a:latin typeface="Cambria Math" panose="02040503050406030204" pitchFamily="18" charset="0"/>
                                </a:rPr>
                                <m:t>𝜃</m:t>
                              </m:r>
                            </m:num>
                            <m:den>
                              <m:r>
                                <a:rPr lang="en-US" sz="3600" i="1">
                                  <a:latin typeface="Cambria Math" panose="02040503050406030204" pitchFamily="18" charset="0"/>
                                </a:rPr>
                                <m:t>2</m:t>
                              </m:r>
                            </m:den>
                          </m:f>
                        </m:e>
                      </m:func>
                      <m:d>
                        <m:dPr>
                          <m:begChr m:val="|"/>
                          <m:endChr m:val="⟩"/>
                          <m:ctrlPr>
                            <a:rPr lang="en-US" sz="3600" i="1">
                              <a:latin typeface="Cambria Math" panose="02040503050406030204" pitchFamily="18" charset="0"/>
                            </a:rPr>
                          </m:ctrlPr>
                        </m:dPr>
                        <m:e>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𝑧</m:t>
                              </m:r>
                            </m:e>
                            <m:sup>
                              <m:r>
                                <a:rPr lang="en-US" sz="3600" b="0" i="1" smtClean="0">
                                  <a:latin typeface="Cambria Math" panose="02040503050406030204" pitchFamily="18" charset="0"/>
                                </a:rPr>
                                <m:t>+</m:t>
                              </m:r>
                            </m:sup>
                          </m:sSup>
                        </m:e>
                      </m:d>
                      <m:r>
                        <a:rPr lang="en-US" sz="3600" i="1">
                          <a:latin typeface="Cambria Math" panose="02040503050406030204" pitchFamily="18" charset="0"/>
                        </a:rPr>
                        <m:t>+</m:t>
                      </m:r>
                      <m:sSup>
                        <m:sSupPr>
                          <m:ctrlPr>
                            <a:rPr lang="en-US" sz="3600" i="1">
                              <a:latin typeface="Cambria Math" panose="02040503050406030204" pitchFamily="18" charset="0"/>
                            </a:rPr>
                          </m:ctrlPr>
                        </m:sSupPr>
                        <m:e>
                          <m:r>
                            <a:rPr lang="en-US" sz="3600" i="1">
                              <a:latin typeface="Cambria Math" panose="02040503050406030204" pitchFamily="18" charset="0"/>
                            </a:rPr>
                            <m:t>𝑒</m:t>
                          </m:r>
                        </m:e>
                        <m:sup>
                          <m:r>
                            <a:rPr lang="en-US" sz="3600" i="1">
                              <a:latin typeface="Cambria Math" panose="02040503050406030204" pitchFamily="18" charset="0"/>
                            </a:rPr>
                            <m:t>𝚤</m:t>
                          </m:r>
                          <m:r>
                            <a:rPr lang="en-US" sz="3600" i="1">
                              <a:latin typeface="Cambria Math" panose="02040503050406030204" pitchFamily="18" charset="0"/>
                            </a:rPr>
                            <m:t>𝜑</m:t>
                          </m:r>
                        </m:sup>
                      </m:sSup>
                      <m:func>
                        <m:funcPr>
                          <m:ctrlPr>
                            <a:rPr lang="en-US" sz="3600" i="1">
                              <a:latin typeface="Cambria Math" panose="02040503050406030204" pitchFamily="18" charset="0"/>
                            </a:rPr>
                          </m:ctrlPr>
                        </m:funcPr>
                        <m:fName>
                          <m:r>
                            <m:rPr>
                              <m:sty m:val="p"/>
                            </m:rPr>
                            <a:rPr lang="en-US" sz="3600">
                              <a:latin typeface="Cambria Math" panose="02040503050406030204" pitchFamily="18" charset="0"/>
                            </a:rPr>
                            <m:t>sin</m:t>
                          </m:r>
                        </m:fName>
                        <m:e>
                          <m:f>
                            <m:fPr>
                              <m:ctrlPr>
                                <a:rPr lang="en-US" sz="3600" i="1">
                                  <a:latin typeface="Cambria Math" panose="02040503050406030204" pitchFamily="18" charset="0"/>
                                </a:rPr>
                              </m:ctrlPr>
                            </m:fPr>
                            <m:num>
                              <m:r>
                                <a:rPr lang="en-US" sz="3600" i="1">
                                  <a:latin typeface="Cambria Math" panose="02040503050406030204" pitchFamily="18" charset="0"/>
                                </a:rPr>
                                <m:t>𝜃</m:t>
                              </m:r>
                            </m:num>
                            <m:den>
                              <m:r>
                                <a:rPr lang="en-US" sz="3600" i="1">
                                  <a:latin typeface="Cambria Math" panose="02040503050406030204" pitchFamily="18" charset="0"/>
                                </a:rPr>
                                <m:t>2</m:t>
                              </m:r>
                            </m:den>
                          </m:f>
                        </m:e>
                      </m:func>
                      <m:d>
                        <m:dPr>
                          <m:begChr m:val="|"/>
                          <m:endChr m:val="⟩"/>
                          <m:ctrlPr>
                            <a:rPr lang="en-US" sz="3600" b="0" i="1" smtClean="0">
                              <a:latin typeface="Cambria Math" panose="02040503050406030204" pitchFamily="18" charset="0"/>
                            </a:rPr>
                          </m:ctrlPr>
                        </m:dPr>
                        <m:e>
                          <m:sSup>
                            <m:sSupPr>
                              <m:ctrlPr>
                                <a:rPr lang="en-US" sz="3600" i="1">
                                  <a:latin typeface="Cambria Math" panose="02040503050406030204" pitchFamily="18" charset="0"/>
                                </a:rPr>
                              </m:ctrlPr>
                            </m:sSupPr>
                            <m:e>
                              <m:r>
                                <a:rPr lang="en-US" sz="3600" i="1">
                                  <a:latin typeface="Cambria Math" panose="02040503050406030204" pitchFamily="18" charset="0"/>
                                </a:rPr>
                                <m:t>𝑧</m:t>
                              </m:r>
                            </m:e>
                            <m:sup>
                              <m:r>
                                <a:rPr lang="en-US" sz="3600" b="0" i="1" smtClean="0">
                                  <a:latin typeface="Cambria Math" panose="02040503050406030204" pitchFamily="18" charset="0"/>
                                </a:rPr>
                                <m:t>−</m:t>
                              </m:r>
                            </m:sup>
                          </m:sSup>
                        </m:e>
                      </m:d>
                    </m:oMath>
                  </m:oMathPara>
                </a14:m>
                <a:endParaRPr lang="en-US" sz="3600" dirty="0"/>
              </a:p>
            </p:txBody>
          </p:sp>
        </mc:Choice>
        <mc:Fallback xmlns="">
          <p:sp>
            <p:nvSpPr>
              <p:cNvPr id="6" name="TextBox 5">
                <a:extLst>
                  <a:ext uri="{FF2B5EF4-FFF2-40B4-BE49-F238E27FC236}">
                    <a16:creationId xmlns:a16="http://schemas.microsoft.com/office/drawing/2014/main" id="{BA896CBC-8A78-E4AE-548D-2655FEB8E117}"/>
                  </a:ext>
                </a:extLst>
              </p:cNvPr>
              <p:cNvSpPr txBox="1">
                <a:spLocks noRot="1" noChangeAspect="1" noMove="1" noResize="1" noEditPoints="1" noAdjustHandles="1" noChangeArrowheads="1" noChangeShapeType="1" noTextEdit="1"/>
              </p:cNvSpPr>
              <p:nvPr/>
            </p:nvSpPr>
            <p:spPr>
              <a:xfrm>
                <a:off x="5264720" y="1996472"/>
                <a:ext cx="6545446" cy="113422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4473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8BD5-8B90-815C-B37E-139868D666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903427-7D55-30AB-8020-17CAA758EFD5}"/>
              </a:ext>
            </a:extLst>
          </p:cNvPr>
          <p:cNvSpPr txBox="1"/>
          <p:nvPr/>
        </p:nvSpPr>
        <p:spPr>
          <a:xfrm>
            <a:off x="5127001" y="124414"/>
            <a:ext cx="6158032" cy="1569660"/>
          </a:xfrm>
          <a:prstGeom prst="rect">
            <a:avLst/>
          </a:prstGeom>
          <a:noFill/>
        </p:spPr>
        <p:txBody>
          <a:bodyPr wrap="none" rtlCol="0">
            <a:spAutoFit/>
          </a:bodyPr>
          <a:lstStyle/>
          <a:p>
            <a:pPr algn="ctr"/>
            <a:r>
              <a:rPr lang="en-US" sz="4800"/>
              <a:t>Classical phase space</a:t>
            </a:r>
            <a:br>
              <a:rPr lang="en-US" sz="4800"/>
            </a:br>
            <a:r>
              <a:rPr lang="en-US" sz="4800"/>
              <a:t> for angular momentum</a:t>
            </a:r>
            <a:endParaRPr lang="en-US" sz="4800" dirty="0"/>
          </a:p>
        </p:txBody>
      </p:sp>
      <p:grpSp>
        <p:nvGrpSpPr>
          <p:cNvPr id="3" name="Group 2">
            <a:extLst>
              <a:ext uri="{FF2B5EF4-FFF2-40B4-BE49-F238E27FC236}">
                <a16:creationId xmlns:a16="http://schemas.microsoft.com/office/drawing/2014/main" id="{9746AFD7-D60B-7805-5FE4-6D92315E84CE}"/>
              </a:ext>
            </a:extLst>
          </p:cNvPr>
          <p:cNvGrpSpPr/>
          <p:nvPr/>
        </p:nvGrpSpPr>
        <p:grpSpPr>
          <a:xfrm>
            <a:off x="711873" y="440215"/>
            <a:ext cx="3578015" cy="3577707"/>
            <a:chOff x="934943" y="1636949"/>
            <a:chExt cx="2674503" cy="2674273"/>
          </a:xfrm>
        </p:grpSpPr>
        <p:grpSp>
          <p:nvGrpSpPr>
            <p:cNvPr id="4" name="Group 3">
              <a:extLst>
                <a:ext uri="{FF2B5EF4-FFF2-40B4-BE49-F238E27FC236}">
                  <a16:creationId xmlns:a16="http://schemas.microsoft.com/office/drawing/2014/main" id="{E18FBB83-D42E-1554-0534-F9051D27B5BC}"/>
                </a:ext>
              </a:extLst>
            </p:cNvPr>
            <p:cNvGrpSpPr/>
            <p:nvPr/>
          </p:nvGrpSpPr>
          <p:grpSpPr>
            <a:xfrm>
              <a:off x="934943" y="1636949"/>
              <a:ext cx="2674503" cy="2674273"/>
              <a:chOff x="2521889" y="2808131"/>
              <a:chExt cx="1916430" cy="1916266"/>
            </a:xfrm>
          </p:grpSpPr>
          <p:sp>
            <p:nvSpPr>
              <p:cNvPr id="10" name="Oval 9">
                <a:extLst>
                  <a:ext uri="{FF2B5EF4-FFF2-40B4-BE49-F238E27FC236}">
                    <a16:creationId xmlns:a16="http://schemas.microsoft.com/office/drawing/2014/main" id="{3E80DB0C-4943-3B3E-7D2D-7442F0DE876D}"/>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DEAC103F-9E62-3EC4-4E8C-DA15A3B6574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DEF7820-C793-DD3B-E3DF-70F2BD17EF98}"/>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2918C273-F4DF-07B5-B903-A3205EF4E8C8}"/>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3BE8947B-8078-80A9-A4F2-0CEA59FE6BBD}"/>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AAA3A9A9-92C1-62CA-DEA5-1347DF76C262}"/>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22D07CA8-8553-EDB6-6BAB-48112433EF62}"/>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1A1C3D2B-AC2E-B0F0-7003-A755485D21F6}"/>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4BD51743-CD6B-A20A-F0B3-31843C3EC01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27" name="Straight Connector 26">
              <a:extLst>
                <a:ext uri="{FF2B5EF4-FFF2-40B4-BE49-F238E27FC236}">
                  <a16:creationId xmlns:a16="http://schemas.microsoft.com/office/drawing/2014/main" id="{D5C8C996-421F-8A33-62F0-CB4D2AEB00E3}"/>
                </a:ext>
              </a:extLst>
            </p:cNvPr>
            <p:cNvCxnSpPr>
              <a:cxnSpLocks/>
              <a:stCxn id="18" idx="0"/>
              <a:endCxn id="17" idx="4"/>
            </p:cNvCxnSpPr>
            <p:nvPr/>
          </p:nvCxnSpPr>
          <p:spPr>
            <a:xfrm>
              <a:off x="2272076" y="1636949"/>
              <a:ext cx="0" cy="2674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C59C55E-1BC0-37DF-FED3-2640CA935D4E}"/>
                </a:ext>
              </a:extLst>
            </p:cNvPr>
            <p:cNvCxnSpPr>
              <a:stCxn id="16" idx="0"/>
              <a:endCxn id="15" idx="4"/>
            </p:cNvCxnSpPr>
            <p:nvPr/>
          </p:nvCxnSpPr>
          <p:spPr>
            <a:xfrm flipV="1">
              <a:off x="935173" y="2976811"/>
              <a:ext cx="267427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487BC8B-BEF7-8B9A-B3EC-4324C8AD6621}"/>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F96E2C3-BA33-A18B-81D2-96A8D317688D}"/>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36" name="Arc 35">
              <a:extLst>
                <a:ext uri="{FF2B5EF4-FFF2-40B4-BE49-F238E27FC236}">
                  <a16:creationId xmlns:a16="http://schemas.microsoft.com/office/drawing/2014/main" id="{6D8C1DFC-9CBE-59AF-09CA-4625BCDB2310}"/>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9876076F-C4D6-FB5F-441B-979BE9FF1DAF}"/>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121255A-A000-AB11-1DC4-8D1F92B21183}"/>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3121255A-A000-AB11-1DC4-8D1F92B21183}"/>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2"/>
                  <a:stretch>
                    <a:fillRect/>
                  </a:stretch>
                </a:blipFill>
              </p:spPr>
              <p:txBody>
                <a:bodyPr/>
                <a:lstStyle/>
                <a:p>
                  <a:r>
                    <a:rPr lang="en-US">
                      <a:noFill/>
                    </a:rPr>
                    <a:t> </a:t>
                  </a:r>
                </a:p>
              </p:txBody>
            </p:sp>
          </mc:Fallback>
        </mc:AlternateContent>
        <p:sp>
          <p:nvSpPr>
            <p:cNvPr id="38" name="Arc 37">
              <a:extLst>
                <a:ext uri="{FF2B5EF4-FFF2-40B4-BE49-F238E27FC236}">
                  <a16:creationId xmlns:a16="http://schemas.microsoft.com/office/drawing/2014/main" id="{BC33AA8A-6F7B-D2F0-2EF0-35E0A62D1494}"/>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A45EE3B-27D3-3E44-4603-B69324D097A8}"/>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EA45EE3B-27D3-3E44-4603-B69324D097A8}"/>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3"/>
                  <a:stretch>
                    <a:fillRect/>
                  </a:stretch>
                </a:blipFill>
              </p:spPr>
              <p:txBody>
                <a:bodyPr/>
                <a:lstStyle/>
                <a:p>
                  <a:r>
                    <a:rPr lang="en-US">
                      <a:noFill/>
                    </a:rPr>
                    <a:t> </a:t>
                  </a:r>
                </a:p>
              </p:txBody>
            </p:sp>
          </mc:Fallback>
        </mc:AlternateContent>
      </p:grpSp>
      <p:sp>
        <p:nvSpPr>
          <p:cNvPr id="5" name="TextBox 4">
            <a:extLst>
              <a:ext uri="{FF2B5EF4-FFF2-40B4-BE49-F238E27FC236}">
                <a16:creationId xmlns:a16="http://schemas.microsoft.com/office/drawing/2014/main" id="{0B6BCCF3-2645-2663-2F83-FD087DA6DFEB}"/>
              </a:ext>
            </a:extLst>
          </p:cNvPr>
          <p:cNvSpPr txBox="1"/>
          <p:nvPr/>
        </p:nvSpPr>
        <p:spPr>
          <a:xfrm>
            <a:off x="498387" y="4979421"/>
            <a:ext cx="5986447" cy="830997"/>
          </a:xfrm>
          <a:prstGeom prst="rect">
            <a:avLst/>
          </a:prstGeom>
          <a:noFill/>
        </p:spPr>
        <p:txBody>
          <a:bodyPr wrap="none" rtlCol="0">
            <a:spAutoFit/>
          </a:bodyPr>
          <a:lstStyle/>
          <a:p>
            <a:r>
              <a:rPr lang="en-US" sz="4800" dirty="0">
                <a:solidFill>
                  <a:schemeClr val="accent6">
                    <a:lumMod val="75000"/>
                  </a:schemeClr>
                </a:solidFill>
              </a:rPr>
              <a:t>Same space of states!!!</a:t>
            </a:r>
          </a:p>
        </p:txBody>
      </p:sp>
      <p:sp>
        <p:nvSpPr>
          <p:cNvPr id="6" name="TextBox 5">
            <a:extLst>
              <a:ext uri="{FF2B5EF4-FFF2-40B4-BE49-F238E27FC236}">
                <a16:creationId xmlns:a16="http://schemas.microsoft.com/office/drawing/2014/main" id="{08DCA8EA-24E4-A836-056B-09BE6F7B29AB}"/>
              </a:ext>
            </a:extLst>
          </p:cNvPr>
          <p:cNvSpPr txBox="1"/>
          <p:nvPr/>
        </p:nvSpPr>
        <p:spPr>
          <a:xfrm>
            <a:off x="5460906" y="1974989"/>
            <a:ext cx="5490221" cy="1569660"/>
          </a:xfrm>
          <a:prstGeom prst="rect">
            <a:avLst/>
          </a:prstGeom>
          <a:noFill/>
        </p:spPr>
        <p:txBody>
          <a:bodyPr wrap="none" rtlCol="0">
            <a:spAutoFit/>
          </a:bodyPr>
          <a:lstStyle/>
          <a:p>
            <a:pPr algn="ctr"/>
            <a:r>
              <a:rPr lang="en-US" sz="4800" dirty="0"/>
              <a:t>Quantum state space</a:t>
            </a:r>
            <a:br>
              <a:rPr lang="en-US" sz="4800" dirty="0"/>
            </a:br>
            <a:r>
              <a:rPr lang="en-US" sz="4800" dirty="0"/>
              <a:t> for spin ½ (qubit)</a:t>
            </a:r>
          </a:p>
        </p:txBody>
      </p:sp>
      <p:sp>
        <p:nvSpPr>
          <p:cNvPr id="7" name="TextBox 6">
            <a:extLst>
              <a:ext uri="{FF2B5EF4-FFF2-40B4-BE49-F238E27FC236}">
                <a16:creationId xmlns:a16="http://schemas.microsoft.com/office/drawing/2014/main" id="{A96C76BC-FF6C-07A3-FC19-7F0D695E0FA1}"/>
              </a:ext>
            </a:extLst>
          </p:cNvPr>
          <p:cNvSpPr txBox="1"/>
          <p:nvPr/>
        </p:nvSpPr>
        <p:spPr>
          <a:xfrm>
            <a:off x="2348382" y="5843152"/>
            <a:ext cx="4136452" cy="523220"/>
          </a:xfrm>
          <a:prstGeom prst="rect">
            <a:avLst/>
          </a:prstGeom>
          <a:noFill/>
        </p:spPr>
        <p:txBody>
          <a:bodyPr wrap="none" rtlCol="0">
            <a:spAutoFit/>
          </a:bodyPr>
          <a:lstStyle/>
          <a:p>
            <a:pPr algn="ctr"/>
            <a:r>
              <a:rPr lang="en-US" sz="2800" dirty="0"/>
              <a:t>manifold/topological space</a:t>
            </a:r>
          </a:p>
        </p:txBody>
      </p:sp>
    </p:spTree>
    <p:extLst>
      <p:ext uri="{BB962C8B-B14F-4D97-AF65-F5344CB8AC3E}">
        <p14:creationId xmlns:p14="http://schemas.microsoft.com/office/powerpoint/2010/main" val="2045735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D53506-E3C5-CEDD-777B-56F5914BE02E}"/>
              </a:ext>
            </a:extLst>
          </p:cNvPr>
          <p:cNvSpPr txBox="1"/>
          <p:nvPr/>
        </p:nvSpPr>
        <p:spPr>
          <a:xfrm>
            <a:off x="532827" y="288964"/>
            <a:ext cx="10853630" cy="1323439"/>
          </a:xfrm>
          <a:prstGeom prst="rect">
            <a:avLst/>
          </a:prstGeom>
          <a:noFill/>
        </p:spPr>
        <p:txBody>
          <a:bodyPr wrap="square" rtlCol="0">
            <a:spAutoFit/>
          </a:bodyPr>
          <a:lstStyle/>
          <a:p>
            <a:pPr algn="ctr"/>
            <a:r>
              <a:rPr lang="en-US" sz="4000" dirty="0">
                <a:solidFill>
                  <a:srgbClr val="C00000"/>
                </a:solidFill>
              </a:rPr>
              <a:t>The state space, by itself, is not enough to tell whether you have a classical or a quantum system!</a:t>
            </a:r>
          </a:p>
        </p:txBody>
      </p:sp>
      <p:sp>
        <p:nvSpPr>
          <p:cNvPr id="3" name="Rectangle 2">
            <a:extLst>
              <a:ext uri="{FF2B5EF4-FFF2-40B4-BE49-F238E27FC236}">
                <a16:creationId xmlns:a16="http://schemas.microsoft.com/office/drawing/2014/main" id="{EF445750-B203-8E96-D50F-EDBAA04D52B0}"/>
              </a:ext>
            </a:extLst>
          </p:cNvPr>
          <p:cNvSpPr/>
          <p:nvPr/>
        </p:nvSpPr>
        <p:spPr>
          <a:xfrm>
            <a:off x="336884" y="4572000"/>
            <a:ext cx="8656721" cy="190098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0CCF9A-2FE9-544E-F0FF-C813236A8D53}"/>
                  </a:ext>
                </a:extLst>
              </p:cNvPr>
              <p:cNvSpPr txBox="1"/>
              <p:nvPr/>
            </p:nvSpPr>
            <p:spPr>
              <a:xfrm>
                <a:off x="2309429" y="5375738"/>
                <a:ext cx="4367029" cy="646331"/>
              </a:xfrm>
              <a:prstGeom prst="rect">
                <a:avLst/>
              </a:prstGeom>
              <a:noFill/>
            </p:spPr>
            <p:txBody>
              <a:bodyPr wrap="none" rtlCol="0">
                <a:spAutoFit/>
              </a:bodyPr>
              <a:lstStyle/>
              <a:p>
                <a:r>
                  <a:rPr lang="en-US" sz="3600" dirty="0"/>
                  <a:t>State: </a:t>
                </a:r>
                <a14:m>
                  <m:oMath xmlns:m="http://schemas.openxmlformats.org/officeDocument/2006/math">
                    <m:r>
                      <a:rPr lang="en-US" sz="3600" b="0" i="1" smtClean="0">
                        <a:latin typeface="Cambria Math" panose="02040503050406030204" pitchFamily="18" charset="0"/>
                      </a:rPr>
                      <m:t>𝑠</m:t>
                    </m:r>
                    <m:r>
                      <a:rPr lang="en-US" sz="3600" b="0" i="1" smtClean="0">
                        <a:latin typeface="Cambria Math" panose="02040503050406030204" pitchFamily="18" charset="0"/>
                      </a:rPr>
                      <m:t>=</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𝜃</m:t>
                        </m:r>
                        <m:r>
                          <a:rPr lang="en-US" sz="3600" b="0" i="1" smtClean="0">
                            <a:latin typeface="Cambria Math" panose="02040503050406030204" pitchFamily="18" charset="0"/>
                          </a:rPr>
                          <m:t>,</m:t>
                        </m:r>
                        <m:r>
                          <a:rPr lang="en-US" sz="3600" b="0" i="1" smtClean="0">
                            <a:latin typeface="Cambria Math" panose="02040503050406030204" pitchFamily="18" charset="0"/>
                          </a:rPr>
                          <m:t>𝜑</m:t>
                        </m:r>
                      </m:e>
                    </m:d>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𝑆</m:t>
                        </m:r>
                      </m:e>
                      <m:sup>
                        <m:r>
                          <a:rPr lang="en-US" sz="3600" b="0" i="1" smtClean="0">
                            <a:latin typeface="Cambria Math" panose="02040503050406030204" pitchFamily="18" charset="0"/>
                          </a:rPr>
                          <m:t>2</m:t>
                        </m:r>
                      </m:sup>
                    </m:sSup>
                  </m:oMath>
                </a14:m>
                <a:endParaRPr lang="en-US" sz="3600" dirty="0"/>
              </a:p>
            </p:txBody>
          </p:sp>
        </mc:Choice>
        <mc:Fallback xmlns="">
          <p:sp>
            <p:nvSpPr>
              <p:cNvPr id="5" name="TextBox 4">
                <a:extLst>
                  <a:ext uri="{FF2B5EF4-FFF2-40B4-BE49-F238E27FC236}">
                    <a16:creationId xmlns:a16="http://schemas.microsoft.com/office/drawing/2014/main" id="{080CCF9A-2FE9-544E-F0FF-C813236A8D53}"/>
                  </a:ext>
                </a:extLst>
              </p:cNvPr>
              <p:cNvSpPr txBox="1">
                <a:spLocks noRot="1" noChangeAspect="1" noMove="1" noResize="1" noEditPoints="1" noAdjustHandles="1" noChangeArrowheads="1" noChangeShapeType="1" noTextEdit="1"/>
              </p:cNvSpPr>
              <p:nvPr/>
            </p:nvSpPr>
            <p:spPr>
              <a:xfrm>
                <a:off x="2309429" y="5375738"/>
                <a:ext cx="4367029" cy="646331"/>
              </a:xfrm>
              <a:prstGeom prst="rect">
                <a:avLst/>
              </a:prstGeom>
              <a:blipFill>
                <a:blip r:embed="rId2"/>
                <a:stretch>
                  <a:fillRect l="-4330" t="-14151" b="-3584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779AB7F-1AF5-5793-A3BF-8F6026EEC86C}"/>
              </a:ext>
            </a:extLst>
          </p:cNvPr>
          <p:cNvSpPr txBox="1"/>
          <p:nvPr/>
        </p:nvSpPr>
        <p:spPr>
          <a:xfrm>
            <a:off x="433136" y="1891162"/>
            <a:ext cx="4330096" cy="1323439"/>
          </a:xfrm>
          <a:prstGeom prst="rect">
            <a:avLst/>
          </a:prstGeom>
          <a:noFill/>
        </p:spPr>
        <p:txBody>
          <a:bodyPr wrap="none" rtlCol="0">
            <a:spAutoFit/>
          </a:bodyPr>
          <a:lstStyle/>
          <a:p>
            <a:pPr algn="ctr"/>
            <a:r>
              <a:rPr lang="en-US" sz="4000" dirty="0"/>
              <a:t>Classical</a:t>
            </a:r>
            <a:br>
              <a:rPr lang="en-US" sz="4000" dirty="0"/>
            </a:br>
            <a:r>
              <a:rPr lang="en-US" sz="4000" dirty="0"/>
              <a:t>angular momentum</a:t>
            </a:r>
          </a:p>
        </p:txBody>
      </p:sp>
      <p:sp>
        <p:nvSpPr>
          <p:cNvPr id="8" name="TextBox 7">
            <a:extLst>
              <a:ext uri="{FF2B5EF4-FFF2-40B4-BE49-F238E27FC236}">
                <a16:creationId xmlns:a16="http://schemas.microsoft.com/office/drawing/2014/main" id="{9F67DC78-4E06-B0AB-B25E-5A6CE334E415}"/>
              </a:ext>
            </a:extLst>
          </p:cNvPr>
          <p:cNvSpPr txBox="1"/>
          <p:nvPr/>
        </p:nvSpPr>
        <p:spPr>
          <a:xfrm>
            <a:off x="5568998" y="1891162"/>
            <a:ext cx="2159630" cy="1323439"/>
          </a:xfrm>
          <a:prstGeom prst="rect">
            <a:avLst/>
          </a:prstGeom>
          <a:noFill/>
        </p:spPr>
        <p:txBody>
          <a:bodyPr wrap="none" rtlCol="0">
            <a:spAutoFit/>
          </a:bodyPr>
          <a:lstStyle/>
          <a:p>
            <a:pPr algn="ctr"/>
            <a:r>
              <a:rPr lang="en-US" sz="4000" dirty="0"/>
              <a:t>Quantum</a:t>
            </a:r>
            <a:br>
              <a:rPr lang="en-US" sz="4000" dirty="0"/>
            </a:br>
            <a:r>
              <a:rPr lang="en-US" sz="4000" dirty="0"/>
              <a:t>spin ½</a:t>
            </a:r>
          </a:p>
        </p:txBody>
      </p:sp>
      <p:sp>
        <p:nvSpPr>
          <p:cNvPr id="9" name="Arrow: Down 8">
            <a:extLst>
              <a:ext uri="{FF2B5EF4-FFF2-40B4-BE49-F238E27FC236}">
                <a16:creationId xmlns:a16="http://schemas.microsoft.com/office/drawing/2014/main" id="{E5F346B5-F80B-AFFC-9AA8-20659628C320}"/>
              </a:ext>
            </a:extLst>
          </p:cNvPr>
          <p:cNvSpPr/>
          <p:nvPr/>
        </p:nvSpPr>
        <p:spPr>
          <a:xfrm rot="12417517" flipH="1">
            <a:off x="5537264" y="3420638"/>
            <a:ext cx="598311" cy="8265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B2296AE4-CB49-C708-8B23-150C65C8FCF1}"/>
              </a:ext>
            </a:extLst>
          </p:cNvPr>
          <p:cNvSpPr/>
          <p:nvPr/>
        </p:nvSpPr>
        <p:spPr>
          <a:xfrm rot="9182483">
            <a:off x="3121443" y="3420638"/>
            <a:ext cx="598311" cy="8265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2C2425-9078-69CB-894B-D85B07979709}"/>
              </a:ext>
            </a:extLst>
          </p:cNvPr>
          <p:cNvSpPr txBox="1"/>
          <p:nvPr/>
        </p:nvSpPr>
        <p:spPr>
          <a:xfrm>
            <a:off x="433136" y="4671627"/>
            <a:ext cx="1917641" cy="523220"/>
          </a:xfrm>
          <a:prstGeom prst="rect">
            <a:avLst/>
          </a:prstGeom>
          <a:noFill/>
        </p:spPr>
        <p:txBody>
          <a:bodyPr wrap="none" rtlCol="0">
            <a:spAutoFit/>
          </a:bodyPr>
          <a:lstStyle/>
          <a:p>
            <a:r>
              <a:rPr lang="en-US" sz="2800" dirty="0"/>
              <a:t>Base theory</a:t>
            </a:r>
          </a:p>
        </p:txBody>
      </p:sp>
      <p:sp>
        <p:nvSpPr>
          <p:cNvPr id="10" name="TextBox 9">
            <a:extLst>
              <a:ext uri="{FF2B5EF4-FFF2-40B4-BE49-F238E27FC236}">
                <a16:creationId xmlns:a16="http://schemas.microsoft.com/office/drawing/2014/main" id="{DB375BEC-CB08-02FF-E680-4B394D940BAD}"/>
              </a:ext>
            </a:extLst>
          </p:cNvPr>
          <p:cNvSpPr txBox="1"/>
          <p:nvPr/>
        </p:nvSpPr>
        <p:spPr>
          <a:xfrm>
            <a:off x="2733101" y="4792882"/>
            <a:ext cx="5067477" cy="523220"/>
          </a:xfrm>
          <a:prstGeom prst="rect">
            <a:avLst/>
          </a:prstGeom>
          <a:noFill/>
        </p:spPr>
        <p:txBody>
          <a:bodyPr wrap="none" rtlCol="0">
            <a:spAutoFit/>
          </a:bodyPr>
          <a:lstStyle/>
          <a:p>
            <a:r>
              <a:rPr lang="en-US" sz="2800" dirty="0"/>
              <a:t>Space of states, given by a sphere</a:t>
            </a:r>
          </a:p>
        </p:txBody>
      </p:sp>
    </p:spTree>
    <p:extLst>
      <p:ext uri="{BB962C8B-B14F-4D97-AF65-F5344CB8AC3E}">
        <p14:creationId xmlns:p14="http://schemas.microsoft.com/office/powerpoint/2010/main" val="113993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AF0FAB-CD2D-24C0-11DA-B09118DC9D3D}"/>
              </a:ext>
            </a:extLst>
          </p:cNvPr>
          <p:cNvSpPr txBox="1"/>
          <p:nvPr/>
        </p:nvSpPr>
        <p:spPr>
          <a:xfrm>
            <a:off x="558346" y="1538854"/>
            <a:ext cx="11075307" cy="1446550"/>
          </a:xfrm>
          <a:prstGeom prst="rect">
            <a:avLst/>
          </a:prstGeom>
          <a:noFill/>
        </p:spPr>
        <p:txBody>
          <a:bodyPr wrap="square" rtlCol="0">
            <a:spAutoFit/>
          </a:bodyPr>
          <a:lstStyle/>
          <a:p>
            <a:pPr algn="ctr"/>
            <a:r>
              <a:rPr lang="en-US" sz="4400" dirty="0"/>
              <a:t>What if we add</a:t>
            </a:r>
            <a:br>
              <a:rPr lang="en-US" sz="4400" dirty="0"/>
            </a:br>
            <a:r>
              <a:rPr lang="en-US" sz="4400" dirty="0"/>
              <a:t>the space of statistical ensembles?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0C43463-4B7A-A4EE-5C6A-FD2643537269}"/>
                  </a:ext>
                </a:extLst>
              </p:cNvPr>
              <p:cNvSpPr txBox="1"/>
              <p:nvPr/>
            </p:nvSpPr>
            <p:spPr>
              <a:xfrm>
                <a:off x="914401" y="4093699"/>
                <a:ext cx="7690119" cy="830997"/>
              </a:xfrm>
              <a:prstGeom prst="rect">
                <a:avLst/>
              </a:prstGeom>
              <a:noFill/>
            </p:spPr>
            <p:txBody>
              <a:bodyPr wrap="none" rtlCol="0">
                <a:spAutoFit/>
              </a:bodyPr>
              <a:lstStyle/>
              <a:p>
                <a:r>
                  <a:rPr lang="en-US" sz="2400" dirty="0"/>
                  <a:t>Note: the space of ensembles must allow mixing</a:t>
                </a:r>
                <a:br>
                  <a:rPr lang="en-US" sz="2400" dirty="0"/>
                </a:br>
                <a:r>
                  <a:rPr lang="en-US" sz="2400" dirty="0"/>
                  <a:t>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2</m:t>
                        </m:r>
                      </m:sub>
                    </m:sSub>
                  </m:oMath>
                </a14:m>
                <a:r>
                  <a:rPr lang="en-US" sz="2400" dirty="0"/>
                  <a:t> are valid ensembles, then so is </a:t>
                </a:r>
                <a14:m>
                  <m:oMath xmlns:m="http://schemas.openxmlformats.org/officeDocument/2006/math">
                    <m:r>
                      <a:rPr lang="en-US" sz="2400" b="0" i="1" smtClean="0">
                        <a:latin typeface="Cambria Math" panose="02040503050406030204" pitchFamily="18" charset="0"/>
                      </a:rPr>
                      <m:t>𝑝</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2</m:t>
                        </m:r>
                      </m:sub>
                    </m:sSub>
                  </m:oMath>
                </a14:m>
                <a:endParaRPr lang="en-US" sz="2400" dirty="0"/>
              </a:p>
            </p:txBody>
          </p:sp>
        </mc:Choice>
        <mc:Fallback xmlns="">
          <p:sp>
            <p:nvSpPr>
              <p:cNvPr id="3" name="TextBox 2">
                <a:extLst>
                  <a:ext uri="{FF2B5EF4-FFF2-40B4-BE49-F238E27FC236}">
                    <a16:creationId xmlns:a16="http://schemas.microsoft.com/office/drawing/2014/main" id="{10C43463-4B7A-A4EE-5C6A-FD2643537269}"/>
                  </a:ext>
                </a:extLst>
              </p:cNvPr>
              <p:cNvSpPr txBox="1">
                <a:spLocks noRot="1" noChangeAspect="1" noMove="1" noResize="1" noEditPoints="1" noAdjustHandles="1" noChangeArrowheads="1" noChangeShapeType="1" noTextEdit="1"/>
              </p:cNvSpPr>
              <p:nvPr/>
            </p:nvSpPr>
            <p:spPr>
              <a:xfrm>
                <a:off x="914401" y="4093699"/>
                <a:ext cx="7690119" cy="830997"/>
              </a:xfrm>
              <a:prstGeom prst="rect">
                <a:avLst/>
              </a:prstGeom>
              <a:blipFill>
                <a:blip r:embed="rId2"/>
                <a:stretch>
                  <a:fillRect l="-1189" t="-5882" b="-16176"/>
                </a:stretch>
              </a:blipFill>
            </p:spPr>
            <p:txBody>
              <a:bodyPr/>
              <a:lstStyle/>
              <a:p>
                <a:r>
                  <a:rPr lang="en-US">
                    <a:noFill/>
                  </a:rPr>
                  <a:t> </a:t>
                </a:r>
              </a:p>
            </p:txBody>
          </p:sp>
        </mc:Fallback>
      </mc:AlternateContent>
    </p:spTree>
    <p:extLst>
      <p:ext uri="{BB962C8B-B14F-4D97-AF65-F5344CB8AC3E}">
        <p14:creationId xmlns:p14="http://schemas.microsoft.com/office/powerpoint/2010/main" val="330572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C44BB-BAEA-6E6A-DC25-C0A3CB3137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1E0A95-58A8-DA96-DA93-1200198C4044}"/>
              </a:ext>
            </a:extLst>
          </p:cNvPr>
          <p:cNvSpPr txBox="1"/>
          <p:nvPr/>
        </p:nvSpPr>
        <p:spPr>
          <a:xfrm>
            <a:off x="5127001" y="124414"/>
            <a:ext cx="6158032" cy="1569660"/>
          </a:xfrm>
          <a:prstGeom prst="rect">
            <a:avLst/>
          </a:prstGeom>
          <a:noFill/>
        </p:spPr>
        <p:txBody>
          <a:bodyPr wrap="none" rtlCol="0">
            <a:spAutoFit/>
          </a:bodyPr>
          <a:lstStyle/>
          <a:p>
            <a:pPr algn="ctr"/>
            <a:r>
              <a:rPr lang="en-US" sz="4800" dirty="0"/>
              <a:t>Classical ensembles</a:t>
            </a:r>
            <a:br>
              <a:rPr lang="en-US" sz="4800" dirty="0"/>
            </a:br>
            <a:r>
              <a:rPr lang="en-US" sz="4800" dirty="0"/>
              <a:t> for angular momentum</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DEF911-AB92-2871-5BB9-45230C50698B}"/>
                  </a:ext>
                </a:extLst>
              </p:cNvPr>
              <p:cNvSpPr txBox="1"/>
              <p:nvPr/>
            </p:nvSpPr>
            <p:spPr>
              <a:xfrm>
                <a:off x="6744424" y="2161995"/>
                <a:ext cx="3093347" cy="7694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𝜌</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𝜃</m:t>
                          </m:r>
                          <m:r>
                            <a:rPr lang="en-US" sz="4400" b="0" i="1" smtClean="0">
                              <a:latin typeface="Cambria Math" panose="02040503050406030204" pitchFamily="18" charset="0"/>
                            </a:rPr>
                            <m:t>,</m:t>
                          </m:r>
                          <m:r>
                            <a:rPr lang="en-US" sz="4400" b="0" i="1" smtClean="0">
                              <a:latin typeface="Cambria Math" panose="02040503050406030204" pitchFamily="18" charset="0"/>
                            </a:rPr>
                            <m:t>𝜑</m:t>
                          </m:r>
                        </m:e>
                      </m:d>
                      <m:r>
                        <a:rPr lang="en-US" sz="4400" b="0" i="1" smtClean="0">
                          <a:latin typeface="Cambria Math" panose="02040503050406030204" pitchFamily="18" charset="0"/>
                        </a:rPr>
                        <m:t>≥0</m:t>
                      </m:r>
                    </m:oMath>
                  </m:oMathPara>
                </a14:m>
                <a:endParaRPr lang="en-US" sz="4400" dirty="0"/>
              </a:p>
            </p:txBody>
          </p:sp>
        </mc:Choice>
        <mc:Fallback xmlns="">
          <p:sp>
            <p:nvSpPr>
              <p:cNvPr id="19" name="TextBox 18">
                <a:extLst>
                  <a:ext uri="{FF2B5EF4-FFF2-40B4-BE49-F238E27FC236}">
                    <a16:creationId xmlns:a16="http://schemas.microsoft.com/office/drawing/2014/main" id="{BDDEF911-AB92-2871-5BB9-45230C50698B}"/>
                  </a:ext>
                </a:extLst>
              </p:cNvPr>
              <p:cNvSpPr txBox="1">
                <a:spLocks noRot="1" noChangeAspect="1" noMove="1" noResize="1" noEditPoints="1" noAdjustHandles="1" noChangeArrowheads="1" noChangeShapeType="1" noTextEdit="1"/>
              </p:cNvSpPr>
              <p:nvPr/>
            </p:nvSpPr>
            <p:spPr>
              <a:xfrm>
                <a:off x="6744424" y="2161995"/>
                <a:ext cx="3093347" cy="76944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BA738EB-B1C9-0ACB-B7DB-D89FE55A4F5E}"/>
                  </a:ext>
                </a:extLst>
              </p:cNvPr>
              <p:cNvSpPr txBox="1"/>
              <p:nvPr/>
            </p:nvSpPr>
            <p:spPr>
              <a:xfrm>
                <a:off x="6481199" y="3044360"/>
                <a:ext cx="3615028"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r>
                        <a:rPr lang="en-US" sz="3200" b="0" i="1" smtClean="0">
                          <a:latin typeface="Cambria Math" panose="02040503050406030204" pitchFamily="18" charset="0"/>
                        </a:rPr>
                        <m:t>𝜌</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𝜃</m:t>
                          </m:r>
                          <m:r>
                            <a:rPr lang="en-US" sz="3200" b="0" i="1" smtClean="0">
                              <a:latin typeface="Cambria Math" panose="02040503050406030204" pitchFamily="18" charset="0"/>
                            </a:rPr>
                            <m:t>,</m:t>
                          </m:r>
                          <m:r>
                            <a:rPr lang="en-US" sz="3200" b="0" i="1" smtClean="0">
                              <a:latin typeface="Cambria Math" panose="02040503050406030204" pitchFamily="18" charset="0"/>
                            </a:rPr>
                            <m:t>𝜑</m:t>
                          </m:r>
                        </m:e>
                      </m:d>
                      <m:r>
                        <a:rPr lang="en-US" sz="3200" b="0" i="1" smtClean="0">
                          <a:latin typeface="Cambria Math" panose="02040503050406030204" pitchFamily="18" charset="0"/>
                        </a:rPr>
                        <m:t>𝑑</m:t>
                      </m:r>
                      <m:r>
                        <a:rPr lang="en-US" sz="3200" b="0" i="1" smtClean="0">
                          <a:latin typeface="Cambria Math" panose="02040503050406030204" pitchFamily="18" charset="0"/>
                        </a:rPr>
                        <m:t>𝜃</m:t>
                      </m:r>
                      <m:r>
                        <a:rPr lang="en-US" sz="3200" b="0" i="1" smtClean="0">
                          <a:latin typeface="Cambria Math" panose="02040503050406030204" pitchFamily="18" charset="0"/>
                        </a:rPr>
                        <m:t>𝑑</m:t>
                      </m:r>
                      <m:r>
                        <a:rPr lang="en-US" sz="3200" b="0" i="1" smtClean="0">
                          <a:latin typeface="Cambria Math" panose="02040503050406030204" pitchFamily="18" charset="0"/>
                        </a:rPr>
                        <m:t>𝜑</m:t>
                      </m:r>
                      <m:r>
                        <a:rPr lang="en-US" sz="3200" b="0" i="1" smtClean="0">
                          <a:latin typeface="Cambria Math" panose="02040503050406030204" pitchFamily="18" charset="0"/>
                        </a:rPr>
                        <m:t>=1</m:t>
                      </m:r>
                    </m:oMath>
                  </m:oMathPara>
                </a14:m>
                <a:endParaRPr lang="en-US" sz="3200" dirty="0"/>
              </a:p>
            </p:txBody>
          </p:sp>
        </mc:Choice>
        <mc:Fallback xmlns="">
          <p:sp>
            <p:nvSpPr>
              <p:cNvPr id="23" name="TextBox 22">
                <a:extLst>
                  <a:ext uri="{FF2B5EF4-FFF2-40B4-BE49-F238E27FC236}">
                    <a16:creationId xmlns:a16="http://schemas.microsoft.com/office/drawing/2014/main" id="{DBA738EB-B1C9-0ACB-B7DB-D89FE55A4F5E}"/>
                  </a:ext>
                </a:extLst>
              </p:cNvPr>
              <p:cNvSpPr txBox="1">
                <a:spLocks noRot="1" noChangeAspect="1" noMove="1" noResize="1" noEditPoints="1" noAdjustHandles="1" noChangeArrowheads="1" noChangeShapeType="1" noTextEdit="1"/>
              </p:cNvSpPr>
              <p:nvPr/>
            </p:nvSpPr>
            <p:spPr>
              <a:xfrm>
                <a:off x="6481199" y="3044360"/>
                <a:ext cx="3615028" cy="603563"/>
              </a:xfrm>
              <a:prstGeom prst="rect">
                <a:avLst/>
              </a:prstGeom>
              <a:blipFill>
                <a:blip r:embed="rId3"/>
                <a:stretch>
                  <a:fillRect/>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63F04141-059F-10B2-8F87-BFA472E9C648}"/>
              </a:ext>
            </a:extLst>
          </p:cNvPr>
          <p:cNvGrpSpPr/>
          <p:nvPr/>
        </p:nvGrpSpPr>
        <p:grpSpPr>
          <a:xfrm>
            <a:off x="711873" y="440215"/>
            <a:ext cx="3578015" cy="3577707"/>
            <a:chOff x="2521889" y="2808131"/>
            <a:chExt cx="1916430" cy="1916266"/>
          </a:xfrm>
        </p:grpSpPr>
        <p:sp>
          <p:nvSpPr>
            <p:cNvPr id="10" name="Oval 9">
              <a:extLst>
                <a:ext uri="{FF2B5EF4-FFF2-40B4-BE49-F238E27FC236}">
                  <a16:creationId xmlns:a16="http://schemas.microsoft.com/office/drawing/2014/main" id="{E5EED871-E3A7-0CE8-7902-8ABC0D554328}"/>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AFB92536-E57A-5FBB-3367-EABC369AD8E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20D1E1E-2EC1-3CD1-50CE-86BEF1F59F9F}"/>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30BEC6DB-1EAD-BAE4-B7BC-22B0B608FBBB}"/>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0D9AD88D-8C22-C021-C027-31019F428946}"/>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D613E314-E97E-7976-1CFB-4FFD05DD05DA}"/>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0152C7A4-5531-9421-7684-821DBA943183}"/>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15FB9147-D5B2-98FB-8C71-3E3BE7FB392D}"/>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94C09B59-71A5-0A4F-D72A-95C06AD634B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5" name="TextBox 4">
            <a:extLst>
              <a:ext uri="{FF2B5EF4-FFF2-40B4-BE49-F238E27FC236}">
                <a16:creationId xmlns:a16="http://schemas.microsoft.com/office/drawing/2014/main" id="{CA151039-3B01-330D-844D-84E766004808}"/>
              </a:ext>
            </a:extLst>
          </p:cNvPr>
          <p:cNvSpPr txBox="1"/>
          <p:nvPr/>
        </p:nvSpPr>
        <p:spPr>
          <a:xfrm>
            <a:off x="1550207" y="4723937"/>
            <a:ext cx="6826741" cy="1569660"/>
          </a:xfrm>
          <a:prstGeom prst="rect">
            <a:avLst/>
          </a:prstGeom>
          <a:noFill/>
        </p:spPr>
        <p:txBody>
          <a:bodyPr wrap="none" rtlCol="0">
            <a:spAutoFit/>
          </a:bodyPr>
          <a:lstStyle/>
          <a:p>
            <a:pPr algn="ctr"/>
            <a:r>
              <a:rPr lang="en-US" sz="4800" dirty="0">
                <a:solidFill>
                  <a:schemeClr val="accent6">
                    <a:lumMod val="75000"/>
                  </a:schemeClr>
                </a:solidFill>
              </a:rPr>
              <a:t>It’s an infinite-dimensional</a:t>
            </a:r>
            <a:br>
              <a:rPr lang="en-US" sz="4800" dirty="0">
                <a:solidFill>
                  <a:schemeClr val="accent6">
                    <a:lumMod val="75000"/>
                  </a:schemeClr>
                </a:solidFill>
              </a:rPr>
            </a:br>
            <a:r>
              <a:rPr lang="en-US" sz="4800" dirty="0">
                <a:solidFill>
                  <a:schemeClr val="accent6">
                    <a:lumMod val="75000"/>
                  </a:schemeClr>
                </a:solidFill>
              </a:rPr>
              <a:t>convex set!</a:t>
            </a:r>
          </a:p>
        </p:txBody>
      </p:sp>
      <p:sp>
        <p:nvSpPr>
          <p:cNvPr id="6" name="TextBox 5">
            <a:extLst>
              <a:ext uri="{FF2B5EF4-FFF2-40B4-BE49-F238E27FC236}">
                <a16:creationId xmlns:a16="http://schemas.microsoft.com/office/drawing/2014/main" id="{806F461D-B291-F5AA-A015-218F48CF2A1A}"/>
              </a:ext>
            </a:extLst>
          </p:cNvPr>
          <p:cNvSpPr txBox="1"/>
          <p:nvPr/>
        </p:nvSpPr>
        <p:spPr>
          <a:xfrm>
            <a:off x="6317614" y="1822119"/>
            <a:ext cx="3959995" cy="369332"/>
          </a:xfrm>
          <a:prstGeom prst="rect">
            <a:avLst/>
          </a:prstGeom>
          <a:noFill/>
        </p:spPr>
        <p:txBody>
          <a:bodyPr wrap="none" rtlCol="0">
            <a:spAutoFit/>
          </a:bodyPr>
          <a:lstStyle/>
          <a:p>
            <a:r>
              <a:rPr lang="en-US" dirty="0"/>
              <a:t>Probability distributions over the sphere</a:t>
            </a:r>
          </a:p>
        </p:txBody>
      </p:sp>
      <p:sp>
        <p:nvSpPr>
          <p:cNvPr id="9" name="Freeform: Shape 8">
            <a:extLst>
              <a:ext uri="{FF2B5EF4-FFF2-40B4-BE49-F238E27FC236}">
                <a16:creationId xmlns:a16="http://schemas.microsoft.com/office/drawing/2014/main" id="{F3EA1B1C-06DC-CDFC-24D2-A0DCF14B3718}"/>
              </a:ext>
            </a:extLst>
          </p:cNvPr>
          <p:cNvSpPr/>
          <p:nvPr/>
        </p:nvSpPr>
        <p:spPr>
          <a:xfrm>
            <a:off x="3051002" y="616019"/>
            <a:ext cx="1146733" cy="1638886"/>
          </a:xfrm>
          <a:custGeom>
            <a:avLst/>
            <a:gdLst>
              <a:gd name="csX0" fmla="*/ 0 w 1146733"/>
              <a:gd name="csY0" fmla="*/ 0 h 1638886"/>
              <a:gd name="csX1" fmla="*/ 323557 w 1146733"/>
              <a:gd name="csY1" fmla="*/ 211016 h 1638886"/>
              <a:gd name="csX2" fmla="*/ 942535 w 1146733"/>
              <a:gd name="csY2" fmla="*/ 239151 h 1638886"/>
              <a:gd name="csX3" fmla="*/ 1146517 w 1146733"/>
              <a:gd name="csY3" fmla="*/ 682283 h 1638886"/>
              <a:gd name="csX4" fmla="*/ 914400 w 1146733"/>
              <a:gd name="csY4" fmla="*/ 1062111 h 1638886"/>
              <a:gd name="csX5" fmla="*/ 844061 w 1146733"/>
              <a:gd name="csY5" fmla="*/ 1638886 h 1638886"/>
            </a:gdLst>
            <a:ahLst/>
            <a:cxnLst>
              <a:cxn ang="0">
                <a:pos x="csX0" y="csY0"/>
              </a:cxn>
              <a:cxn ang="0">
                <a:pos x="csX1" y="csY1"/>
              </a:cxn>
              <a:cxn ang="0">
                <a:pos x="csX2" y="csY2"/>
              </a:cxn>
              <a:cxn ang="0">
                <a:pos x="csX3" y="csY3"/>
              </a:cxn>
              <a:cxn ang="0">
                <a:pos x="csX4" y="csY4"/>
              </a:cxn>
              <a:cxn ang="0">
                <a:pos x="csX5" y="csY5"/>
              </a:cxn>
            </a:cxnLst>
            <a:rect l="l" t="t" r="r" b="b"/>
            <a:pathLst>
              <a:path w="1146733" h="1638886">
                <a:moveTo>
                  <a:pt x="0" y="0"/>
                </a:moveTo>
                <a:cubicBezTo>
                  <a:pt x="83234" y="85579"/>
                  <a:pt x="166468" y="171158"/>
                  <a:pt x="323557" y="211016"/>
                </a:cubicBezTo>
                <a:cubicBezTo>
                  <a:pt x="480646" y="250875"/>
                  <a:pt x="805375" y="160607"/>
                  <a:pt x="942535" y="239151"/>
                </a:cubicBezTo>
                <a:cubicBezTo>
                  <a:pt x="1079695" y="317695"/>
                  <a:pt x="1151206" y="545123"/>
                  <a:pt x="1146517" y="682283"/>
                </a:cubicBezTo>
                <a:cubicBezTo>
                  <a:pt x="1141828" y="819443"/>
                  <a:pt x="964809" y="902677"/>
                  <a:pt x="914400" y="1062111"/>
                </a:cubicBezTo>
                <a:cubicBezTo>
                  <a:pt x="863991" y="1221545"/>
                  <a:pt x="854026" y="1430215"/>
                  <a:pt x="844061" y="1638886"/>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EA04735-04B7-F173-4599-D3ACFDDEC5C7}"/>
              </a:ext>
            </a:extLst>
          </p:cNvPr>
          <p:cNvSpPr/>
          <p:nvPr/>
        </p:nvSpPr>
        <p:spPr>
          <a:xfrm>
            <a:off x="3073791" y="1052191"/>
            <a:ext cx="1083212" cy="165236"/>
          </a:xfrm>
          <a:custGeom>
            <a:avLst/>
            <a:gdLst>
              <a:gd name="csX0" fmla="*/ 0 w 1055077"/>
              <a:gd name="csY0" fmla="*/ 0 h 133941"/>
              <a:gd name="csX1" fmla="*/ 393896 w 1055077"/>
              <a:gd name="csY1" fmla="*/ 133643 h 133941"/>
              <a:gd name="csX2" fmla="*/ 780757 w 1055077"/>
              <a:gd name="csY2" fmla="*/ 35170 h 133941"/>
              <a:gd name="csX3" fmla="*/ 1055077 w 1055077"/>
              <a:gd name="csY3" fmla="*/ 0 h 133941"/>
              <a:gd name="csX0" fmla="*/ 0 w 1055077"/>
              <a:gd name="csY0" fmla="*/ 31021 h 164962"/>
              <a:gd name="csX1" fmla="*/ 393896 w 1055077"/>
              <a:gd name="csY1" fmla="*/ 164664 h 164962"/>
              <a:gd name="csX2" fmla="*/ 780757 w 1055077"/>
              <a:gd name="csY2" fmla="*/ 66191 h 164962"/>
              <a:gd name="csX3" fmla="*/ 1055077 w 1055077"/>
              <a:gd name="csY3" fmla="*/ 31021 h 164962"/>
              <a:gd name="csX0" fmla="*/ 0 w 1083212"/>
              <a:gd name="csY0" fmla="*/ 101359 h 166473"/>
              <a:gd name="csX1" fmla="*/ 422031 w 1083212"/>
              <a:gd name="csY1" fmla="*/ 164664 h 166473"/>
              <a:gd name="csX2" fmla="*/ 808892 w 1083212"/>
              <a:gd name="csY2" fmla="*/ 66191 h 166473"/>
              <a:gd name="csX3" fmla="*/ 1083212 w 1083212"/>
              <a:gd name="csY3" fmla="*/ 31021 h 166473"/>
              <a:gd name="csX0" fmla="*/ 0 w 1083212"/>
              <a:gd name="csY0" fmla="*/ 101359 h 165236"/>
              <a:gd name="csX1" fmla="*/ 422031 w 1083212"/>
              <a:gd name="csY1" fmla="*/ 164664 h 165236"/>
              <a:gd name="csX2" fmla="*/ 808892 w 1083212"/>
              <a:gd name="csY2" fmla="*/ 66191 h 165236"/>
              <a:gd name="csX3" fmla="*/ 1083212 w 1083212"/>
              <a:gd name="csY3" fmla="*/ 31021 h 165236"/>
            </a:gdLst>
            <a:ahLst/>
            <a:cxnLst>
              <a:cxn ang="0">
                <a:pos x="csX0" y="csY0"/>
              </a:cxn>
              <a:cxn ang="0">
                <a:pos x="csX1" y="csY1"/>
              </a:cxn>
              <a:cxn ang="0">
                <a:pos x="csX2" y="csY2"/>
              </a:cxn>
              <a:cxn ang="0">
                <a:pos x="csX3" y="csY3"/>
              </a:cxn>
            </a:cxnLst>
            <a:rect l="l" t="t" r="r" b="b"/>
            <a:pathLst>
              <a:path w="1083212" h="165236">
                <a:moveTo>
                  <a:pt x="0" y="101359"/>
                </a:moveTo>
                <a:cubicBezTo>
                  <a:pt x="152986" y="130080"/>
                  <a:pt x="287216" y="170525"/>
                  <a:pt x="422031" y="164664"/>
                </a:cubicBezTo>
                <a:cubicBezTo>
                  <a:pt x="556846" y="158803"/>
                  <a:pt x="698695" y="88465"/>
                  <a:pt x="808892" y="66191"/>
                </a:cubicBezTo>
                <a:cubicBezTo>
                  <a:pt x="919089" y="43917"/>
                  <a:pt x="973014" y="-46937"/>
                  <a:pt x="1083212" y="31021"/>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EDA3277-AD60-5C09-A96B-39CB82562048}"/>
              </a:ext>
            </a:extLst>
          </p:cNvPr>
          <p:cNvSpPr/>
          <p:nvPr/>
        </p:nvSpPr>
        <p:spPr>
          <a:xfrm>
            <a:off x="3974570" y="1090246"/>
            <a:ext cx="191759" cy="464234"/>
          </a:xfrm>
          <a:custGeom>
            <a:avLst/>
            <a:gdLst>
              <a:gd name="csX0" fmla="*/ 140677 w 140677"/>
              <a:gd name="csY0" fmla="*/ 0 h 443132"/>
              <a:gd name="csX1" fmla="*/ 63305 w 140677"/>
              <a:gd name="csY1" fmla="*/ 225083 h 443132"/>
              <a:gd name="csX2" fmla="*/ 0 w 140677"/>
              <a:gd name="csY2" fmla="*/ 443132 h 443132"/>
              <a:gd name="csX0" fmla="*/ 140677 w 140677"/>
              <a:gd name="csY0" fmla="*/ 0 h 443132"/>
              <a:gd name="csX1" fmla="*/ 91440 w 140677"/>
              <a:gd name="csY1" fmla="*/ 274320 h 443132"/>
              <a:gd name="csX2" fmla="*/ 0 w 140677"/>
              <a:gd name="csY2" fmla="*/ 443132 h 443132"/>
              <a:gd name="csX0" fmla="*/ 140677 w 157572"/>
              <a:gd name="csY0" fmla="*/ 0 h 443132"/>
              <a:gd name="csX1" fmla="*/ 91440 w 157572"/>
              <a:gd name="csY1" fmla="*/ 274320 h 443132"/>
              <a:gd name="csX2" fmla="*/ 0 w 157572"/>
              <a:gd name="csY2" fmla="*/ 443132 h 443132"/>
              <a:gd name="csX0" fmla="*/ 133644 w 150539"/>
              <a:gd name="csY0" fmla="*/ 0 h 464234"/>
              <a:gd name="csX1" fmla="*/ 84407 w 150539"/>
              <a:gd name="csY1" fmla="*/ 274320 h 464234"/>
              <a:gd name="csX2" fmla="*/ 0 w 150539"/>
              <a:gd name="csY2" fmla="*/ 464234 h 464234"/>
              <a:gd name="csX0" fmla="*/ 160206 w 177101"/>
              <a:gd name="csY0" fmla="*/ 0 h 464234"/>
              <a:gd name="csX1" fmla="*/ 110969 w 177101"/>
              <a:gd name="csY1" fmla="*/ 274320 h 464234"/>
              <a:gd name="csX2" fmla="*/ 26562 w 177101"/>
              <a:gd name="csY2" fmla="*/ 464234 h 464234"/>
              <a:gd name="csX0" fmla="*/ 166807 w 179177"/>
              <a:gd name="csY0" fmla="*/ 0 h 464234"/>
              <a:gd name="csX1" fmla="*/ 75367 w 179177"/>
              <a:gd name="csY1" fmla="*/ 218049 h 464234"/>
              <a:gd name="csX2" fmla="*/ 33163 w 179177"/>
              <a:gd name="csY2" fmla="*/ 464234 h 464234"/>
              <a:gd name="csX0" fmla="*/ 166807 w 182361"/>
              <a:gd name="csY0" fmla="*/ 0 h 464234"/>
              <a:gd name="csX1" fmla="*/ 75367 w 182361"/>
              <a:gd name="csY1" fmla="*/ 218049 h 464234"/>
              <a:gd name="csX2" fmla="*/ 33163 w 182361"/>
              <a:gd name="csY2" fmla="*/ 464234 h 464234"/>
              <a:gd name="csX0" fmla="*/ 166807 w 179177"/>
              <a:gd name="csY0" fmla="*/ 0 h 464234"/>
              <a:gd name="csX1" fmla="*/ 75367 w 179177"/>
              <a:gd name="csY1" fmla="*/ 218049 h 464234"/>
              <a:gd name="csX2" fmla="*/ 33163 w 179177"/>
              <a:gd name="csY2" fmla="*/ 464234 h 464234"/>
              <a:gd name="csX0" fmla="*/ 175399 w 191759"/>
              <a:gd name="csY0" fmla="*/ 0 h 464234"/>
              <a:gd name="csX1" fmla="*/ 83959 w 191759"/>
              <a:gd name="csY1" fmla="*/ 218049 h 464234"/>
              <a:gd name="csX2" fmla="*/ 41755 w 191759"/>
              <a:gd name="csY2" fmla="*/ 464234 h 464234"/>
            </a:gdLst>
            <a:ahLst/>
            <a:cxnLst>
              <a:cxn ang="0">
                <a:pos x="csX0" y="csY0"/>
              </a:cxn>
              <a:cxn ang="0">
                <a:pos x="csX1" y="csY1"/>
              </a:cxn>
              <a:cxn ang="0">
                <a:pos x="csX2" y="csY2"/>
              </a:cxn>
            </a:cxnLst>
            <a:rect l="l" t="t" r="r" b="b"/>
            <a:pathLst>
              <a:path w="191759" h="464234">
                <a:moveTo>
                  <a:pt x="175399" y="0"/>
                </a:moveTo>
                <a:cubicBezTo>
                  <a:pt x="225808" y="82648"/>
                  <a:pt x="149608" y="158262"/>
                  <a:pt x="83959" y="218049"/>
                </a:cubicBezTo>
                <a:cubicBezTo>
                  <a:pt x="18310" y="277836"/>
                  <a:pt x="-43823" y="307731"/>
                  <a:pt x="41755" y="464234"/>
                </a:cubicBezTo>
              </a:path>
            </a:pathLst>
          </a:custGeom>
          <a:noFill/>
          <a:ln w="285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8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48945-66D7-09AF-151A-7C53F0F8CE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D83722-8D4D-8B0C-F157-464E9A456388}"/>
              </a:ext>
            </a:extLst>
          </p:cNvPr>
          <p:cNvSpPr txBox="1"/>
          <p:nvPr/>
        </p:nvSpPr>
        <p:spPr>
          <a:xfrm>
            <a:off x="5517267" y="124414"/>
            <a:ext cx="5377498" cy="1569660"/>
          </a:xfrm>
          <a:prstGeom prst="rect">
            <a:avLst/>
          </a:prstGeom>
          <a:noFill/>
        </p:spPr>
        <p:txBody>
          <a:bodyPr wrap="none" rtlCol="0">
            <a:spAutoFit/>
          </a:bodyPr>
          <a:lstStyle/>
          <a:p>
            <a:pPr algn="ctr"/>
            <a:r>
              <a:rPr lang="en-US" sz="4800" dirty="0"/>
              <a:t>Quantum ensembles</a:t>
            </a:r>
            <a:br>
              <a:rPr lang="en-US" sz="4800" dirty="0"/>
            </a:br>
            <a:r>
              <a:rPr lang="en-US" sz="4800" dirty="0"/>
              <a:t> for spin ½ (qubit)</a:t>
            </a:r>
          </a:p>
        </p:txBody>
      </p:sp>
      <p:sp>
        <p:nvSpPr>
          <p:cNvPr id="5" name="TextBox 4">
            <a:extLst>
              <a:ext uri="{FF2B5EF4-FFF2-40B4-BE49-F238E27FC236}">
                <a16:creationId xmlns:a16="http://schemas.microsoft.com/office/drawing/2014/main" id="{F4A64138-28AF-B49E-3A65-67FC5C5F3052}"/>
              </a:ext>
            </a:extLst>
          </p:cNvPr>
          <p:cNvSpPr txBox="1"/>
          <p:nvPr/>
        </p:nvSpPr>
        <p:spPr>
          <a:xfrm>
            <a:off x="1917872" y="4723937"/>
            <a:ext cx="6091411" cy="1569660"/>
          </a:xfrm>
          <a:prstGeom prst="rect">
            <a:avLst/>
          </a:prstGeom>
          <a:noFill/>
        </p:spPr>
        <p:txBody>
          <a:bodyPr wrap="none" rtlCol="0">
            <a:spAutoFit/>
          </a:bodyPr>
          <a:lstStyle/>
          <a:p>
            <a:pPr algn="ctr"/>
            <a:r>
              <a:rPr lang="en-US" sz="4800" dirty="0">
                <a:solidFill>
                  <a:schemeClr val="accent6">
                    <a:lumMod val="75000"/>
                  </a:schemeClr>
                </a:solidFill>
              </a:rPr>
              <a:t>It’s a three-dimensional</a:t>
            </a:r>
            <a:br>
              <a:rPr lang="en-US" sz="4800" dirty="0">
                <a:solidFill>
                  <a:schemeClr val="accent6">
                    <a:lumMod val="75000"/>
                  </a:schemeClr>
                </a:solidFill>
              </a:rPr>
            </a:br>
            <a:r>
              <a:rPr lang="en-US" sz="4800" dirty="0">
                <a:solidFill>
                  <a:schemeClr val="accent6">
                    <a:lumMod val="75000"/>
                  </a:schemeClr>
                </a:solidFill>
              </a:rPr>
              <a:t>convex set (ball)!</a:t>
            </a:r>
          </a:p>
        </p:txBody>
      </p:sp>
      <p:sp>
        <p:nvSpPr>
          <p:cNvPr id="6" name="TextBox 5">
            <a:extLst>
              <a:ext uri="{FF2B5EF4-FFF2-40B4-BE49-F238E27FC236}">
                <a16:creationId xmlns:a16="http://schemas.microsoft.com/office/drawing/2014/main" id="{0F4D0DAF-B677-0249-1EFA-C6A0506F8899}"/>
              </a:ext>
            </a:extLst>
          </p:cNvPr>
          <p:cNvSpPr txBox="1"/>
          <p:nvPr/>
        </p:nvSpPr>
        <p:spPr>
          <a:xfrm>
            <a:off x="7319635" y="1759710"/>
            <a:ext cx="1747081" cy="369332"/>
          </a:xfrm>
          <a:prstGeom prst="rect">
            <a:avLst/>
          </a:prstGeom>
          <a:noFill/>
        </p:spPr>
        <p:txBody>
          <a:bodyPr wrap="none" rtlCol="0">
            <a:spAutoFit/>
          </a:bodyPr>
          <a:lstStyle/>
          <a:p>
            <a:r>
              <a:rPr lang="en-US" dirty="0"/>
              <a:t>Density matrices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27D8240-9B55-E849-ADB3-68B3E9905028}"/>
                  </a:ext>
                </a:extLst>
              </p:cNvPr>
              <p:cNvSpPr txBox="1"/>
              <p:nvPr/>
            </p:nvSpPr>
            <p:spPr>
              <a:xfrm>
                <a:off x="5426778" y="2191451"/>
                <a:ext cx="5532797" cy="1754326"/>
              </a:xfrm>
              <a:prstGeom prst="rect">
                <a:avLst/>
              </a:prstGeom>
              <a:noFill/>
            </p:spPr>
            <p:txBody>
              <a:bodyPr wrap="none" rtlCol="0">
                <a:spAutoFit/>
              </a:bodyPr>
              <a:lstStyle/>
              <a:p>
                <a14:m>
                  <m:oMath xmlns:m="http://schemas.openxmlformats.org/officeDocument/2006/math">
                    <m:r>
                      <a:rPr lang="en-US" sz="3600" b="0" i="1" smtClean="0">
                        <a:latin typeface="Cambria Math" panose="02040503050406030204" pitchFamily="18" charset="0"/>
                      </a:rPr>
                      <m:t>𝜌</m:t>
                    </m:r>
                    <m:r>
                      <a:rPr lang="en-US" sz="3600" b="0" i="1" smtClean="0">
                        <a:latin typeface="Cambria Math" panose="02040503050406030204" pitchFamily="18" charset="0"/>
                      </a:rPr>
                      <m:t>=</m:t>
                    </m:r>
                    <m:r>
                      <a:rPr lang="en-US" sz="3600" b="0" i="1" smtClean="0">
                        <a:latin typeface="Cambria Math" panose="02040503050406030204" pitchFamily="18" charset="0"/>
                      </a:rPr>
                      <m:t>𝑟</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sin</m:t>
                        </m:r>
                      </m:fName>
                      <m:e>
                        <m:r>
                          <a:rPr lang="en-US" sz="3600" b="0" i="1" smtClean="0">
                            <a:latin typeface="Cambria Math" panose="02040503050406030204" pitchFamily="18" charset="0"/>
                          </a:rPr>
                          <m:t>𝜃</m:t>
                        </m:r>
                      </m:e>
                    </m:func>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r>
                          <a:rPr lang="en-US" sz="3600" b="0" i="1" smtClean="0">
                            <a:latin typeface="Cambria Math" panose="02040503050406030204" pitchFamily="18" charset="0"/>
                          </a:rPr>
                          <m:t>𝜑</m:t>
                        </m:r>
                      </m:e>
                    </m:func>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b="0" i="1" smtClean="0">
                                <a:latin typeface="Cambria Math" panose="02040503050406030204" pitchFamily="18" charset="0"/>
                              </a:rPr>
                              <m:t>𝑥</m:t>
                            </m:r>
                          </m:e>
                          <m:sup>
                            <m:r>
                              <a:rPr lang="en-US" sz="3600" i="1">
                                <a:latin typeface="Cambria Math" panose="02040503050406030204" pitchFamily="18" charset="0"/>
                              </a:rPr>
                              <m:t>+</m:t>
                            </m:r>
                          </m:sup>
                        </m:sSup>
                      </m:e>
                    </m:d>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b="0" i="1" smtClean="0">
                                <a:latin typeface="Cambria Math" panose="02040503050406030204" pitchFamily="18" charset="0"/>
                              </a:rPr>
                              <m:t>𝑥</m:t>
                            </m:r>
                          </m:e>
                          <m:sup>
                            <m:r>
                              <a:rPr lang="en-US" sz="3600" i="1">
                                <a:latin typeface="Cambria Math" panose="02040503050406030204" pitchFamily="18" charset="0"/>
                              </a:rPr>
                              <m:t>+</m:t>
                            </m:r>
                          </m:sup>
                        </m:sSup>
                      </m:e>
                    </m:d>
                  </m:oMath>
                </a14:m>
                <a:r>
                  <a:rPr lang="en-US" sz="3600" i="1" dirty="0">
                    <a:latin typeface="Cambria Math" panose="02040503050406030204" pitchFamily="18" charset="0"/>
                  </a:rPr>
                  <a:t> </a:t>
                </a:r>
                <a:br>
                  <a:rPr lang="en-US" sz="3600" i="1" dirty="0">
                    <a:latin typeface="Cambria Math" panose="02040503050406030204" pitchFamily="18" charset="0"/>
                  </a:rPr>
                </a:br>
                <a:r>
                  <a:rPr lang="en-US" sz="3600" i="1" dirty="0">
                    <a:latin typeface="Cambria Math" panose="02040503050406030204" pitchFamily="18" charset="0"/>
                  </a:rPr>
                  <a:t>         </a:t>
                </a:r>
                <a14:m>
                  <m:oMath xmlns:m="http://schemas.openxmlformats.org/officeDocument/2006/math">
                    <m:r>
                      <a:rPr lang="en-US" sz="3600" b="0" i="1" smtClean="0">
                        <a:latin typeface="Cambria Math" panose="02040503050406030204" pitchFamily="18" charset="0"/>
                      </a:rPr>
                      <m:t>+</m:t>
                    </m:r>
                    <m:r>
                      <a:rPr lang="en-US" sz="3600" b="0" i="1" smtClean="0">
                        <a:latin typeface="Cambria Math" panose="02040503050406030204" pitchFamily="18" charset="0"/>
                      </a:rPr>
                      <m:t>𝑟</m:t>
                    </m:r>
                    <m:func>
                      <m:funcPr>
                        <m:ctrlPr>
                          <a:rPr lang="en-US" sz="3600" i="1">
                            <a:latin typeface="Cambria Math" panose="02040503050406030204" pitchFamily="18" charset="0"/>
                          </a:rPr>
                        </m:ctrlPr>
                      </m:funcPr>
                      <m:fName>
                        <m:r>
                          <m:rPr>
                            <m:sty m:val="p"/>
                          </m:rPr>
                          <a:rPr lang="en-US" sz="3600">
                            <a:latin typeface="Cambria Math" panose="02040503050406030204" pitchFamily="18" charset="0"/>
                          </a:rPr>
                          <m:t>sin</m:t>
                        </m:r>
                      </m:fName>
                      <m:e>
                        <m:r>
                          <a:rPr lang="en-US" sz="3600" i="1">
                            <a:latin typeface="Cambria Math" panose="02040503050406030204" pitchFamily="18" charset="0"/>
                          </a:rPr>
                          <m:t>𝜃</m:t>
                        </m:r>
                      </m:e>
                    </m:func>
                    <m:func>
                      <m:funcPr>
                        <m:ctrlPr>
                          <a:rPr lang="en-US" sz="3600" i="1">
                            <a:latin typeface="Cambria Math" panose="02040503050406030204" pitchFamily="18" charset="0"/>
                          </a:rPr>
                        </m:ctrlPr>
                      </m:funcPr>
                      <m:fName>
                        <m:r>
                          <m:rPr>
                            <m:sty m:val="p"/>
                          </m:rPr>
                          <a:rPr lang="en-US" sz="3600" b="0" i="0" smtClean="0">
                            <a:latin typeface="Cambria Math" panose="02040503050406030204" pitchFamily="18" charset="0"/>
                          </a:rPr>
                          <m:t>sin</m:t>
                        </m:r>
                      </m:fName>
                      <m:e>
                        <m:r>
                          <a:rPr lang="en-US" sz="3600" i="1">
                            <a:latin typeface="Cambria Math" panose="02040503050406030204" pitchFamily="18" charset="0"/>
                          </a:rPr>
                          <m:t>𝜑</m:t>
                        </m:r>
                      </m:e>
                    </m:func>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b="0" i="1" smtClean="0">
                                <a:latin typeface="Cambria Math" panose="02040503050406030204" pitchFamily="18" charset="0"/>
                              </a:rPr>
                              <m:t>𝑦</m:t>
                            </m:r>
                          </m:e>
                          <m:sup>
                            <m:r>
                              <a:rPr lang="en-US" sz="3600" i="1">
                                <a:latin typeface="Cambria Math" panose="02040503050406030204" pitchFamily="18" charset="0"/>
                              </a:rPr>
                              <m:t>+</m:t>
                            </m:r>
                          </m:sup>
                        </m:sSup>
                      </m:e>
                    </m:d>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b="0" i="1" smtClean="0">
                                <a:latin typeface="Cambria Math" panose="02040503050406030204" pitchFamily="18" charset="0"/>
                              </a:rPr>
                              <m:t>𝑦</m:t>
                            </m:r>
                          </m:e>
                          <m:sup>
                            <m:r>
                              <a:rPr lang="en-US" sz="3600" i="1">
                                <a:latin typeface="Cambria Math" panose="02040503050406030204" pitchFamily="18" charset="0"/>
                              </a:rPr>
                              <m:t>+</m:t>
                            </m:r>
                          </m:sup>
                        </m:sSup>
                      </m:e>
                    </m:d>
                  </m:oMath>
                </a14:m>
                <a:br>
                  <a:rPr lang="en-US" sz="3600" i="1" dirty="0">
                    <a:latin typeface="Cambria Math" panose="02040503050406030204" pitchFamily="18" charset="0"/>
                  </a:rPr>
                </a:br>
                <a:r>
                  <a:rPr lang="en-US" sz="3600" i="1" dirty="0">
                    <a:latin typeface="Cambria Math" panose="02040503050406030204" pitchFamily="18" charset="0"/>
                  </a:rPr>
                  <a:t>         </a:t>
                </a:r>
                <a14:m>
                  <m:oMath xmlns:m="http://schemas.openxmlformats.org/officeDocument/2006/math">
                    <m:r>
                      <a:rPr lang="en-US" sz="3600" b="0" i="1" smtClean="0">
                        <a:latin typeface="Cambria Math" panose="02040503050406030204" pitchFamily="18" charset="0"/>
                      </a:rPr>
                      <m:t>+</m:t>
                    </m:r>
                    <m:r>
                      <a:rPr lang="en-US" sz="3600" b="0" i="1" smtClean="0">
                        <a:latin typeface="Cambria Math" panose="02040503050406030204" pitchFamily="18" charset="0"/>
                      </a:rPr>
                      <m:t>𝑟</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r>
                          <a:rPr lang="en-US" sz="3600" b="0" i="1" smtClean="0">
                            <a:latin typeface="Cambria Math" panose="02040503050406030204" pitchFamily="18" charset="0"/>
                          </a:rPr>
                          <m:t>𝜃</m:t>
                        </m:r>
                      </m:e>
                    </m:func>
                    <m:r>
                      <a:rPr lang="en-US" sz="3600" b="0" i="1" smtClean="0">
                        <a:latin typeface="Cambria Math" panose="02040503050406030204" pitchFamily="18" charset="0"/>
                      </a:rPr>
                      <m:t> </m:t>
                    </m:r>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i="1">
                                <a:latin typeface="Cambria Math" panose="02040503050406030204" pitchFamily="18" charset="0"/>
                              </a:rPr>
                              <m:t>𝑧</m:t>
                            </m:r>
                          </m:e>
                          <m:sup>
                            <m:r>
                              <a:rPr lang="en-US" sz="3600" i="1">
                                <a:latin typeface="Cambria Math" panose="02040503050406030204" pitchFamily="18" charset="0"/>
                              </a:rPr>
                              <m:t>+</m:t>
                            </m:r>
                          </m:sup>
                        </m:sSup>
                      </m:e>
                    </m:d>
                    <m:d>
                      <m:dPr>
                        <m:begChr m:val="⟨"/>
                        <m:endChr m:val="|"/>
                        <m:ctrlPr>
                          <a:rPr lang="en-US" sz="3600" i="1">
                            <a:latin typeface="Cambria Math" panose="02040503050406030204" pitchFamily="18" charset="0"/>
                          </a:rPr>
                        </m:ctrlPr>
                      </m:dPr>
                      <m:e>
                        <m:sSup>
                          <m:sSupPr>
                            <m:ctrlPr>
                              <a:rPr lang="en-US" sz="3600" i="1">
                                <a:latin typeface="Cambria Math" panose="02040503050406030204" pitchFamily="18" charset="0"/>
                              </a:rPr>
                            </m:ctrlPr>
                          </m:sSupPr>
                          <m:e>
                            <m:r>
                              <a:rPr lang="en-US" sz="3600" i="1">
                                <a:latin typeface="Cambria Math" panose="02040503050406030204" pitchFamily="18" charset="0"/>
                              </a:rPr>
                              <m:t>𝑧</m:t>
                            </m:r>
                          </m:e>
                          <m:sup>
                            <m:r>
                              <a:rPr lang="en-US" sz="3600" i="1">
                                <a:latin typeface="Cambria Math" panose="02040503050406030204" pitchFamily="18" charset="0"/>
                              </a:rPr>
                              <m:t>+</m:t>
                            </m:r>
                          </m:sup>
                        </m:sSup>
                      </m:e>
                    </m:d>
                  </m:oMath>
                </a14:m>
                <a:endParaRPr lang="en-US" sz="3600" dirty="0"/>
              </a:p>
            </p:txBody>
          </p:sp>
        </mc:Choice>
        <mc:Fallback xmlns="">
          <p:sp>
            <p:nvSpPr>
              <p:cNvPr id="3" name="TextBox 2">
                <a:extLst>
                  <a:ext uri="{FF2B5EF4-FFF2-40B4-BE49-F238E27FC236}">
                    <a16:creationId xmlns:a16="http://schemas.microsoft.com/office/drawing/2014/main" id="{727D8240-9B55-E849-ADB3-68B3E9905028}"/>
                  </a:ext>
                </a:extLst>
              </p:cNvPr>
              <p:cNvSpPr txBox="1">
                <a:spLocks noRot="1" noChangeAspect="1" noMove="1" noResize="1" noEditPoints="1" noAdjustHandles="1" noChangeArrowheads="1" noChangeShapeType="1" noTextEdit="1"/>
              </p:cNvSpPr>
              <p:nvPr/>
            </p:nvSpPr>
            <p:spPr>
              <a:xfrm>
                <a:off x="5426778" y="2191451"/>
                <a:ext cx="5532797" cy="1754326"/>
              </a:xfrm>
              <a:prstGeom prst="rect">
                <a:avLst/>
              </a:prstGeom>
              <a:blipFill>
                <a:blip r:embed="rId2"/>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B72D403B-C543-0A76-A86A-CE99373939FB}"/>
              </a:ext>
            </a:extLst>
          </p:cNvPr>
          <p:cNvGrpSpPr/>
          <p:nvPr/>
        </p:nvGrpSpPr>
        <p:grpSpPr>
          <a:xfrm>
            <a:off x="711873" y="440215"/>
            <a:ext cx="3578015" cy="3577707"/>
            <a:chOff x="934943" y="1636949"/>
            <a:chExt cx="2674503" cy="2674273"/>
          </a:xfrm>
        </p:grpSpPr>
        <p:grpSp>
          <p:nvGrpSpPr>
            <p:cNvPr id="8" name="Group 7">
              <a:extLst>
                <a:ext uri="{FF2B5EF4-FFF2-40B4-BE49-F238E27FC236}">
                  <a16:creationId xmlns:a16="http://schemas.microsoft.com/office/drawing/2014/main" id="{8B285D0B-D860-BCE4-BA28-82850446939D}"/>
                </a:ext>
              </a:extLst>
            </p:cNvPr>
            <p:cNvGrpSpPr/>
            <p:nvPr/>
          </p:nvGrpSpPr>
          <p:grpSpPr>
            <a:xfrm>
              <a:off x="934943" y="1636949"/>
              <a:ext cx="2674503" cy="2674273"/>
              <a:chOff x="2521889" y="2808131"/>
              <a:chExt cx="1916430" cy="1916266"/>
            </a:xfrm>
          </p:grpSpPr>
          <p:sp>
            <p:nvSpPr>
              <p:cNvPr id="32" name="Oval 31">
                <a:extLst>
                  <a:ext uri="{FF2B5EF4-FFF2-40B4-BE49-F238E27FC236}">
                    <a16:creationId xmlns:a16="http://schemas.microsoft.com/office/drawing/2014/main" id="{9264F3C3-4519-DA69-4EC3-BCE411A40926}"/>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Oval 31">
                <a:extLst>
                  <a:ext uri="{FF2B5EF4-FFF2-40B4-BE49-F238E27FC236}">
                    <a16:creationId xmlns:a16="http://schemas.microsoft.com/office/drawing/2014/main" id="{C10C7D13-ADA8-4F62-133E-336A59AF27BC}"/>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97AA0E9-2062-F9AF-0D4F-29616DF8222D}"/>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5" name="Group 34">
                <a:extLst>
                  <a:ext uri="{FF2B5EF4-FFF2-40B4-BE49-F238E27FC236}">
                    <a16:creationId xmlns:a16="http://schemas.microsoft.com/office/drawing/2014/main" id="{F275096C-674C-25CF-B7CE-6584414F7C45}"/>
                  </a:ext>
                </a:extLst>
              </p:cNvPr>
              <p:cNvGrpSpPr/>
              <p:nvPr/>
            </p:nvGrpSpPr>
            <p:grpSpPr>
              <a:xfrm>
                <a:off x="2923755" y="2808131"/>
                <a:ext cx="1112528" cy="1916266"/>
                <a:chOff x="2734489" y="2655731"/>
                <a:chExt cx="1186260" cy="1916266"/>
              </a:xfrm>
            </p:grpSpPr>
            <p:sp>
              <p:nvSpPr>
                <p:cNvPr id="39" name="Oval 38">
                  <a:extLst>
                    <a:ext uri="{FF2B5EF4-FFF2-40B4-BE49-F238E27FC236}">
                      <a16:creationId xmlns:a16="http://schemas.microsoft.com/office/drawing/2014/main" id="{5E53D75B-79DA-7D5D-FA3F-95C4F9A4F996}"/>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0" name="Oval 9">
                  <a:extLst>
                    <a:ext uri="{FF2B5EF4-FFF2-40B4-BE49-F238E27FC236}">
                      <a16:creationId xmlns:a16="http://schemas.microsoft.com/office/drawing/2014/main" id="{EA95DF44-590E-E8D7-5D0B-9CD8BF9A4F4F}"/>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6" name="Group 35">
                <a:extLst>
                  <a:ext uri="{FF2B5EF4-FFF2-40B4-BE49-F238E27FC236}">
                    <a16:creationId xmlns:a16="http://schemas.microsoft.com/office/drawing/2014/main" id="{4F1DF9D9-1FBF-FE65-D8AD-94F8FF12E631}"/>
                  </a:ext>
                </a:extLst>
              </p:cNvPr>
              <p:cNvGrpSpPr/>
              <p:nvPr/>
            </p:nvGrpSpPr>
            <p:grpSpPr>
              <a:xfrm rot="16200000">
                <a:off x="2923922" y="2810085"/>
                <a:ext cx="1112528" cy="1916266"/>
                <a:chOff x="2734489" y="2655731"/>
                <a:chExt cx="1186260" cy="1916266"/>
              </a:xfrm>
            </p:grpSpPr>
            <p:sp>
              <p:nvSpPr>
                <p:cNvPr id="37" name="Oval 36">
                  <a:extLst>
                    <a:ext uri="{FF2B5EF4-FFF2-40B4-BE49-F238E27FC236}">
                      <a16:creationId xmlns:a16="http://schemas.microsoft.com/office/drawing/2014/main" id="{83607A33-DB1C-4CFF-DF51-01AF1DCF3483}"/>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8" name="Oval 9">
                  <a:extLst>
                    <a:ext uri="{FF2B5EF4-FFF2-40B4-BE49-F238E27FC236}">
                      <a16:creationId xmlns:a16="http://schemas.microsoft.com/office/drawing/2014/main" id="{FE8C92EE-A0F1-F8F9-4D52-29A484A12093}"/>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22" name="Straight Connector 21">
              <a:extLst>
                <a:ext uri="{FF2B5EF4-FFF2-40B4-BE49-F238E27FC236}">
                  <a16:creationId xmlns:a16="http://schemas.microsoft.com/office/drawing/2014/main" id="{0EA84749-E738-8227-B5CE-B3AB769EEF1F}"/>
                </a:ext>
              </a:extLst>
            </p:cNvPr>
            <p:cNvCxnSpPr>
              <a:cxnSpLocks/>
              <a:stCxn id="40" idx="0"/>
              <a:endCxn id="39" idx="4"/>
            </p:cNvCxnSpPr>
            <p:nvPr/>
          </p:nvCxnSpPr>
          <p:spPr>
            <a:xfrm>
              <a:off x="2272076" y="1636949"/>
              <a:ext cx="0" cy="2674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834F9FE-CFDD-D752-8955-5F8E4EC4D789}"/>
                </a:ext>
              </a:extLst>
            </p:cNvPr>
            <p:cNvCxnSpPr>
              <a:stCxn id="38" idx="0"/>
              <a:endCxn id="37" idx="4"/>
            </p:cNvCxnSpPr>
            <p:nvPr/>
          </p:nvCxnSpPr>
          <p:spPr>
            <a:xfrm flipV="1">
              <a:off x="935173" y="2976811"/>
              <a:ext cx="267427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464CE-C4BA-29A7-DA13-94CA7DF3ED8D}"/>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708C9B1-4766-49A7-B6C8-367E5F97F194}"/>
                </a:ext>
              </a:extLst>
            </p:cNvPr>
            <p:cNvCxnSpPr>
              <a:cxnSpLocks/>
            </p:cNvCxnSpPr>
            <p:nvPr/>
          </p:nvCxnSpPr>
          <p:spPr>
            <a:xfrm>
              <a:off x="2791010" y="2496131"/>
              <a:ext cx="0" cy="752461"/>
            </a:xfrm>
            <a:prstGeom prst="line">
              <a:avLst/>
            </a:prstGeom>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0C8E9253-172F-D427-01AE-CE7C8C45CBD2}"/>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6A044893-171D-DD4B-F70B-86DD86F62961}"/>
                </a:ext>
              </a:extLst>
            </p:cNvPr>
            <p:cNvCxnSpPr>
              <a:cxnSpLocks/>
            </p:cNvCxnSpPr>
            <p:nvPr/>
          </p:nvCxnSpPr>
          <p:spPr>
            <a:xfrm flipV="1">
              <a:off x="2272076" y="2496131"/>
              <a:ext cx="518934" cy="477953"/>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CD71B2D-F6BF-ED41-9716-40BAA3CCD490}"/>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3121255A-A000-AB11-1DC4-8D1F92B21183}"/>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3"/>
                  <a:stretch>
                    <a:fillRect/>
                  </a:stretch>
                </a:blipFill>
              </p:spPr>
              <p:txBody>
                <a:bodyPr/>
                <a:lstStyle/>
                <a:p>
                  <a:r>
                    <a:rPr lang="en-US">
                      <a:noFill/>
                    </a:rPr>
                    <a:t> </a:t>
                  </a:r>
                </a:p>
              </p:txBody>
            </p:sp>
          </mc:Fallback>
        </mc:AlternateContent>
        <p:sp>
          <p:nvSpPr>
            <p:cNvPr id="30" name="Arc 29">
              <a:extLst>
                <a:ext uri="{FF2B5EF4-FFF2-40B4-BE49-F238E27FC236}">
                  <a16:creationId xmlns:a16="http://schemas.microsoft.com/office/drawing/2014/main" id="{37B41BAD-23A0-7E41-7A67-0C413DBE6F1F}"/>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A3FD14D-87EA-93E5-FD7F-F918D0D0DB8A}"/>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EA45EE3B-27D3-3E44-4603-B69324D097A8}"/>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A29F4F8-A688-7F59-5766-5298BC2B4ADD}"/>
                  </a:ext>
                </a:extLst>
              </p:cNvPr>
              <p:cNvSpPr txBox="1"/>
              <p:nvPr/>
            </p:nvSpPr>
            <p:spPr>
              <a:xfrm>
                <a:off x="7118750" y="4017918"/>
                <a:ext cx="178106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0≤</m:t>
                      </m:r>
                      <m:r>
                        <a:rPr lang="en-US" sz="2800" b="0" i="1" smtClean="0">
                          <a:latin typeface="Cambria Math" panose="02040503050406030204" pitchFamily="18" charset="0"/>
                        </a:rPr>
                        <m:t>𝑟</m:t>
                      </m:r>
                      <m:r>
                        <a:rPr lang="en-US" sz="2800" b="0" i="1" smtClean="0">
                          <a:latin typeface="Cambria Math" panose="02040503050406030204" pitchFamily="18" charset="0"/>
                        </a:rPr>
                        <m:t>≤1</m:t>
                      </m:r>
                    </m:oMath>
                  </m:oMathPara>
                </a14:m>
                <a:endParaRPr lang="en-US" sz="2800" dirty="0"/>
              </a:p>
            </p:txBody>
          </p:sp>
        </mc:Choice>
        <mc:Fallback xmlns="">
          <p:sp>
            <p:nvSpPr>
              <p:cNvPr id="44" name="TextBox 43">
                <a:extLst>
                  <a:ext uri="{FF2B5EF4-FFF2-40B4-BE49-F238E27FC236}">
                    <a16:creationId xmlns:a16="http://schemas.microsoft.com/office/drawing/2014/main" id="{8A29F4F8-A688-7F59-5766-5298BC2B4ADD}"/>
                  </a:ext>
                </a:extLst>
              </p:cNvPr>
              <p:cNvSpPr txBox="1">
                <a:spLocks noRot="1" noChangeAspect="1" noMove="1" noResize="1" noEditPoints="1" noAdjustHandles="1" noChangeArrowheads="1" noChangeShapeType="1" noTextEdit="1"/>
              </p:cNvSpPr>
              <p:nvPr/>
            </p:nvSpPr>
            <p:spPr>
              <a:xfrm>
                <a:off x="7118750" y="4017918"/>
                <a:ext cx="1781065" cy="52322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6150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2231-8CBF-297D-A98C-457660E149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E73534-0C44-CD9B-CDFA-9344B9E44E4D}"/>
              </a:ext>
            </a:extLst>
          </p:cNvPr>
          <p:cNvSpPr txBox="1"/>
          <p:nvPr/>
        </p:nvSpPr>
        <p:spPr>
          <a:xfrm>
            <a:off x="532827" y="288964"/>
            <a:ext cx="10853630" cy="1323439"/>
          </a:xfrm>
          <a:prstGeom prst="rect">
            <a:avLst/>
          </a:prstGeom>
          <a:noFill/>
        </p:spPr>
        <p:txBody>
          <a:bodyPr wrap="square" rtlCol="0">
            <a:spAutoFit/>
          </a:bodyPr>
          <a:lstStyle/>
          <a:p>
            <a:pPr algn="ctr"/>
            <a:r>
              <a:rPr lang="en-US" sz="4000" dirty="0">
                <a:solidFill>
                  <a:schemeClr val="accent6">
                    <a:lumMod val="75000"/>
                  </a:schemeClr>
                </a:solidFill>
              </a:rPr>
              <a:t>The ensemble space is enough to tell whether you have a classical or a quantum system!</a:t>
            </a:r>
          </a:p>
        </p:txBody>
      </p:sp>
      <p:sp>
        <p:nvSpPr>
          <p:cNvPr id="3" name="Rectangle 2">
            <a:extLst>
              <a:ext uri="{FF2B5EF4-FFF2-40B4-BE49-F238E27FC236}">
                <a16:creationId xmlns:a16="http://schemas.microsoft.com/office/drawing/2014/main" id="{FC46DC42-0FAF-1DBF-C8C2-1726E3943DDA}"/>
              </a:ext>
            </a:extLst>
          </p:cNvPr>
          <p:cNvSpPr/>
          <p:nvPr/>
        </p:nvSpPr>
        <p:spPr>
          <a:xfrm>
            <a:off x="336884" y="4572000"/>
            <a:ext cx="8656721" cy="190098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7" name="TextBox 6">
            <a:extLst>
              <a:ext uri="{FF2B5EF4-FFF2-40B4-BE49-F238E27FC236}">
                <a16:creationId xmlns:a16="http://schemas.microsoft.com/office/drawing/2014/main" id="{B4D75611-ECD6-BA28-519D-F5BEF511D2CF}"/>
              </a:ext>
            </a:extLst>
          </p:cNvPr>
          <p:cNvSpPr txBox="1"/>
          <p:nvPr/>
        </p:nvSpPr>
        <p:spPr>
          <a:xfrm>
            <a:off x="336885" y="1887820"/>
            <a:ext cx="4330096" cy="1323439"/>
          </a:xfrm>
          <a:prstGeom prst="rect">
            <a:avLst/>
          </a:prstGeom>
          <a:noFill/>
        </p:spPr>
        <p:txBody>
          <a:bodyPr wrap="none" rtlCol="0">
            <a:spAutoFit/>
          </a:bodyPr>
          <a:lstStyle/>
          <a:p>
            <a:pPr algn="ctr"/>
            <a:r>
              <a:rPr lang="en-US" sz="4000" dirty="0"/>
              <a:t>Classical</a:t>
            </a:r>
            <a:br>
              <a:rPr lang="en-US" sz="4000" dirty="0"/>
            </a:br>
            <a:r>
              <a:rPr lang="en-US" sz="4000" dirty="0"/>
              <a:t>angular momentum</a:t>
            </a:r>
          </a:p>
        </p:txBody>
      </p:sp>
      <p:sp>
        <p:nvSpPr>
          <p:cNvPr id="8" name="TextBox 7">
            <a:extLst>
              <a:ext uri="{FF2B5EF4-FFF2-40B4-BE49-F238E27FC236}">
                <a16:creationId xmlns:a16="http://schemas.microsoft.com/office/drawing/2014/main" id="{AB844D99-F343-8A32-5E1B-EE1205F48803}"/>
              </a:ext>
            </a:extLst>
          </p:cNvPr>
          <p:cNvSpPr txBox="1"/>
          <p:nvPr/>
        </p:nvSpPr>
        <p:spPr>
          <a:xfrm>
            <a:off x="5748741" y="1882941"/>
            <a:ext cx="2159630" cy="1323439"/>
          </a:xfrm>
          <a:prstGeom prst="rect">
            <a:avLst/>
          </a:prstGeom>
          <a:noFill/>
        </p:spPr>
        <p:txBody>
          <a:bodyPr wrap="none" rtlCol="0">
            <a:spAutoFit/>
          </a:bodyPr>
          <a:lstStyle/>
          <a:p>
            <a:pPr algn="ctr"/>
            <a:r>
              <a:rPr lang="en-US" sz="4000" dirty="0"/>
              <a:t>Quantum</a:t>
            </a:r>
            <a:br>
              <a:rPr lang="en-US" sz="4000" dirty="0"/>
            </a:br>
            <a:r>
              <a:rPr lang="en-US" sz="4000" dirty="0"/>
              <a:t>spin ½</a:t>
            </a:r>
          </a:p>
        </p:txBody>
      </p:sp>
      <p:sp>
        <p:nvSpPr>
          <p:cNvPr id="6" name="Rectangle 5">
            <a:extLst>
              <a:ext uri="{FF2B5EF4-FFF2-40B4-BE49-F238E27FC236}">
                <a16:creationId xmlns:a16="http://schemas.microsoft.com/office/drawing/2014/main" id="{E381A8E3-73FD-9E97-1DA8-206AEDF0EFB5}"/>
              </a:ext>
            </a:extLst>
          </p:cNvPr>
          <p:cNvSpPr/>
          <p:nvPr/>
        </p:nvSpPr>
        <p:spPr>
          <a:xfrm>
            <a:off x="4663508" y="3393485"/>
            <a:ext cx="4330096" cy="11777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0" name="TextBox 9">
            <a:extLst>
              <a:ext uri="{FF2B5EF4-FFF2-40B4-BE49-F238E27FC236}">
                <a16:creationId xmlns:a16="http://schemas.microsoft.com/office/drawing/2014/main" id="{CEC92F06-C941-9CD1-5834-8DC4D30AB1C7}"/>
              </a:ext>
            </a:extLst>
          </p:cNvPr>
          <p:cNvSpPr txBox="1"/>
          <p:nvPr/>
        </p:nvSpPr>
        <p:spPr>
          <a:xfrm>
            <a:off x="5386672" y="3560112"/>
            <a:ext cx="3160289" cy="830997"/>
          </a:xfrm>
          <a:prstGeom prst="rect">
            <a:avLst/>
          </a:prstGeom>
          <a:noFill/>
        </p:spPr>
        <p:txBody>
          <a:bodyPr wrap="none" rtlCol="0">
            <a:spAutoFit/>
          </a:bodyPr>
          <a:lstStyle/>
          <a:p>
            <a:pPr algn="ctr"/>
            <a:r>
              <a:rPr lang="en-US" sz="2400" dirty="0"/>
              <a:t>Ensembles identified by</a:t>
            </a:r>
            <a:br>
              <a:rPr lang="en-US" sz="2400" dirty="0"/>
            </a:br>
            <a:r>
              <a:rPr lang="en-US" sz="2400" dirty="0"/>
              <a:t>points of a ball</a:t>
            </a:r>
          </a:p>
        </p:txBody>
      </p:sp>
      <p:sp>
        <p:nvSpPr>
          <p:cNvPr id="12" name="Rectangle 11">
            <a:extLst>
              <a:ext uri="{FF2B5EF4-FFF2-40B4-BE49-F238E27FC236}">
                <a16:creationId xmlns:a16="http://schemas.microsoft.com/office/drawing/2014/main" id="{F6741797-14EE-FB7D-B0A1-59F6098EDD0A}"/>
              </a:ext>
            </a:extLst>
          </p:cNvPr>
          <p:cNvSpPr/>
          <p:nvPr/>
        </p:nvSpPr>
        <p:spPr>
          <a:xfrm>
            <a:off x="336885" y="3392150"/>
            <a:ext cx="4330096" cy="11777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4" name="TextBox 13">
            <a:extLst>
              <a:ext uri="{FF2B5EF4-FFF2-40B4-BE49-F238E27FC236}">
                <a16:creationId xmlns:a16="http://schemas.microsoft.com/office/drawing/2014/main" id="{FB6B93F9-A911-AD98-4F19-0B9041F4CF59}"/>
              </a:ext>
            </a:extLst>
          </p:cNvPr>
          <p:cNvSpPr txBox="1"/>
          <p:nvPr/>
        </p:nvSpPr>
        <p:spPr>
          <a:xfrm>
            <a:off x="433136" y="4671627"/>
            <a:ext cx="1917641" cy="523220"/>
          </a:xfrm>
          <a:prstGeom prst="rect">
            <a:avLst/>
          </a:prstGeom>
          <a:noFill/>
        </p:spPr>
        <p:txBody>
          <a:bodyPr wrap="none" rtlCol="0">
            <a:spAutoFit/>
          </a:bodyPr>
          <a:lstStyle/>
          <a:p>
            <a:r>
              <a:rPr lang="en-US" sz="2800" dirty="0"/>
              <a:t>Base theory</a:t>
            </a:r>
          </a:p>
        </p:txBody>
      </p:sp>
      <p:sp>
        <p:nvSpPr>
          <p:cNvPr id="15" name="TextBox 14">
            <a:extLst>
              <a:ext uri="{FF2B5EF4-FFF2-40B4-BE49-F238E27FC236}">
                <a16:creationId xmlns:a16="http://schemas.microsoft.com/office/drawing/2014/main" id="{BD060F2B-7261-19BE-89FA-9BA30A82A8B1}"/>
              </a:ext>
            </a:extLst>
          </p:cNvPr>
          <p:cNvSpPr txBox="1"/>
          <p:nvPr/>
        </p:nvSpPr>
        <p:spPr>
          <a:xfrm>
            <a:off x="2733101" y="4792882"/>
            <a:ext cx="5067477" cy="523220"/>
          </a:xfrm>
          <a:prstGeom prst="rect">
            <a:avLst/>
          </a:prstGeom>
          <a:noFill/>
        </p:spPr>
        <p:txBody>
          <a:bodyPr wrap="none" rtlCol="0">
            <a:spAutoFit/>
          </a:bodyPr>
          <a:lstStyle/>
          <a:p>
            <a:r>
              <a:rPr lang="en-US" sz="2800" dirty="0"/>
              <a:t>Space of states, given by a sphere</a:t>
            </a:r>
          </a:p>
        </p:txBody>
      </p:sp>
      <p:sp>
        <p:nvSpPr>
          <p:cNvPr id="16" name="TextBox 15">
            <a:extLst>
              <a:ext uri="{FF2B5EF4-FFF2-40B4-BE49-F238E27FC236}">
                <a16:creationId xmlns:a16="http://schemas.microsoft.com/office/drawing/2014/main" id="{FB6B0C57-3EA5-26F1-F8CA-7CC64DD83A88}"/>
              </a:ext>
            </a:extLst>
          </p:cNvPr>
          <p:cNvSpPr txBox="1"/>
          <p:nvPr/>
        </p:nvSpPr>
        <p:spPr>
          <a:xfrm>
            <a:off x="2512047" y="5310300"/>
            <a:ext cx="5509585" cy="523220"/>
          </a:xfrm>
          <a:prstGeom prst="rect">
            <a:avLst/>
          </a:prstGeom>
          <a:noFill/>
        </p:spPr>
        <p:txBody>
          <a:bodyPr wrap="none" rtlCol="0">
            <a:spAutoFit/>
          </a:bodyPr>
          <a:lstStyle/>
          <a:p>
            <a:r>
              <a:rPr lang="en-US" sz="2800" dirty="0"/>
              <a:t>Space of ensembles, allows mixtures</a:t>
            </a:r>
          </a:p>
        </p:txBody>
      </p:sp>
      <p:sp>
        <p:nvSpPr>
          <p:cNvPr id="17" name="TextBox 16">
            <a:extLst>
              <a:ext uri="{FF2B5EF4-FFF2-40B4-BE49-F238E27FC236}">
                <a16:creationId xmlns:a16="http://schemas.microsoft.com/office/drawing/2014/main" id="{96BC4472-A270-009D-FB90-1313F563FECC}"/>
              </a:ext>
            </a:extLst>
          </p:cNvPr>
          <p:cNvSpPr txBox="1"/>
          <p:nvPr/>
        </p:nvSpPr>
        <p:spPr>
          <a:xfrm>
            <a:off x="914190" y="3565504"/>
            <a:ext cx="3175486" cy="830997"/>
          </a:xfrm>
          <a:prstGeom prst="rect">
            <a:avLst/>
          </a:prstGeom>
          <a:noFill/>
        </p:spPr>
        <p:txBody>
          <a:bodyPr wrap="none" rtlCol="0">
            <a:spAutoFit/>
          </a:bodyPr>
          <a:lstStyle/>
          <a:p>
            <a:pPr algn="ctr"/>
            <a:r>
              <a:rPr lang="en-US" sz="2400" dirty="0"/>
              <a:t>Ensembles identified by</a:t>
            </a:r>
            <a:br>
              <a:rPr lang="en-US" sz="2400" dirty="0"/>
            </a:br>
            <a:r>
              <a:rPr lang="en-US" sz="2400" dirty="0"/>
              <a:t>probability densities</a:t>
            </a:r>
          </a:p>
        </p:txBody>
      </p:sp>
    </p:spTree>
    <p:extLst>
      <p:ext uri="{BB962C8B-B14F-4D97-AF65-F5344CB8AC3E}">
        <p14:creationId xmlns:p14="http://schemas.microsoft.com/office/powerpoint/2010/main" val="279078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6" grpId="0" animBg="1"/>
      <p:bldP spid="10" grpId="0"/>
      <p:bldP spid="12" grpId="0" animBg="1"/>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F6889-2DBE-D9D7-9AD3-8EA5792BAB4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7D36424-E11B-1AEE-7E71-E27153958E62}"/>
                  </a:ext>
                </a:extLst>
              </p:cNvPr>
              <p:cNvSpPr txBox="1"/>
              <p:nvPr/>
            </p:nvSpPr>
            <p:spPr>
              <a:xfrm>
                <a:off x="391886" y="369668"/>
                <a:ext cx="11419113" cy="1261884"/>
              </a:xfrm>
              <a:prstGeom prst="rect">
                <a:avLst/>
              </a:prstGeom>
              <a:noFill/>
            </p:spPr>
            <p:txBody>
              <a:bodyPr wrap="square" rtlCol="0">
                <a:spAutoFit/>
              </a:bodyPr>
              <a:lstStyle/>
              <a:p>
                <a:pPr algn="ctr"/>
                <a:r>
                  <a:rPr lang="en-US" sz="4000" dirty="0"/>
                  <a:t>Note: processes must preserve statistical mixtures</a:t>
                </a:r>
                <a:br>
                  <a:rPr lang="en-US" sz="4000" dirty="0"/>
                </a:br>
                <a:r>
                  <a:rPr lang="en-US" sz="3600" dirty="0"/>
                  <a:t>(i.e.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m:rPr>
                            <m:sty m:val="p"/>
                          </m:rPr>
                          <a:rPr lang="en-US" sz="3600" b="0" i="0" smtClean="0">
                            <a:latin typeface="Cambria Math" panose="02040503050406030204" pitchFamily="18" charset="0"/>
                          </a:rPr>
                          <m:t>Δ</m:t>
                        </m:r>
                        <m:r>
                          <a:rPr lang="en-US" sz="3600" b="0" i="1" smtClean="0">
                            <a:latin typeface="Cambria Math" panose="02040503050406030204" pitchFamily="18" charset="0"/>
                          </a:rPr>
                          <m:t>𝑡</m:t>
                        </m:r>
                      </m:sub>
                    </m:sSub>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𝑝</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𝜌</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r>
                              <a:rPr lang="en-US" sz="3600" b="0" i="1" smtClean="0">
                                <a:latin typeface="Cambria Math" panose="02040503050406030204" pitchFamily="18" charset="0"/>
                              </a:rPr>
                              <m:t>𝑝</m:t>
                            </m:r>
                          </m:e>
                        </m:d>
                        <m:sSub>
                          <m:sSubPr>
                            <m:ctrlPr>
                              <a:rPr lang="en-US" sz="3600" i="1">
                                <a:latin typeface="Cambria Math" panose="02040503050406030204" pitchFamily="18" charset="0"/>
                              </a:rPr>
                            </m:ctrlPr>
                          </m:sSubPr>
                          <m:e>
                            <m:r>
                              <a:rPr lang="en-US" sz="3600" i="1">
                                <a:latin typeface="Cambria Math" panose="02040503050406030204" pitchFamily="18" charset="0"/>
                              </a:rPr>
                              <m:t>𝜌</m:t>
                            </m:r>
                          </m:e>
                          <m:sub>
                            <m:r>
                              <a:rPr lang="en-US" sz="3600" b="0" i="1" smtClean="0">
                                <a:latin typeface="Cambria Math" panose="02040503050406030204" pitchFamily="18" charset="0"/>
                              </a:rPr>
                              <m:t>2</m:t>
                            </m:r>
                          </m:sub>
                        </m:sSub>
                      </m:e>
                    </m:d>
                    <m:r>
                      <a:rPr lang="en-US" sz="3600" b="0" i="1" smtClean="0">
                        <a:latin typeface="Cambria Math" panose="02040503050406030204" pitchFamily="18" charset="0"/>
                      </a:rPr>
                      <m:t>=</m:t>
                    </m:r>
                    <m:r>
                      <a:rPr lang="en-US" sz="3600" b="0" i="1" smtClean="0">
                        <a:latin typeface="Cambria Math" panose="02040503050406030204" pitchFamily="18" charset="0"/>
                      </a:rPr>
                      <m:t>𝑝</m:t>
                    </m:r>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m:rPr>
                            <m:sty m:val="p"/>
                          </m:rPr>
                          <a:rPr lang="en-US" sz="3600">
                            <a:latin typeface="Cambria Math" panose="02040503050406030204" pitchFamily="18" charset="0"/>
                          </a:rPr>
                          <m:t>Δ</m:t>
                        </m:r>
                        <m:r>
                          <a:rPr lang="en-US" sz="3600" i="1">
                            <a:latin typeface="Cambria Math" panose="02040503050406030204" pitchFamily="18" charset="0"/>
                          </a:rPr>
                          <m:t>𝑡</m:t>
                        </m:r>
                      </m:sub>
                    </m:sSub>
                    <m:d>
                      <m:dPr>
                        <m:ctrlPr>
                          <a:rPr lang="en-US" sz="3600" i="1">
                            <a:latin typeface="Cambria Math" panose="02040503050406030204" pitchFamily="18" charset="0"/>
                          </a:rPr>
                        </m:ctrlPr>
                      </m:dPr>
                      <m:e>
                        <m:sSub>
                          <m:sSubPr>
                            <m:ctrlPr>
                              <a:rPr lang="en-US" sz="3600" i="1">
                                <a:latin typeface="Cambria Math" panose="02040503050406030204" pitchFamily="18" charset="0"/>
                              </a:rPr>
                            </m:ctrlPr>
                          </m:sSubPr>
                          <m:e>
                            <m:r>
                              <a:rPr lang="en-US" sz="3600" i="1">
                                <a:latin typeface="Cambria Math" panose="02040503050406030204" pitchFamily="18" charset="0"/>
                              </a:rPr>
                              <m:t>𝜌</m:t>
                            </m:r>
                          </m:e>
                          <m:sub>
                            <m:r>
                              <a:rPr lang="en-US" sz="3600" i="1">
                                <a:latin typeface="Cambria Math" panose="02040503050406030204" pitchFamily="18" charset="0"/>
                              </a:rPr>
                              <m:t>1</m:t>
                            </m:r>
                          </m:sub>
                        </m:sSub>
                      </m:e>
                    </m:d>
                    <m:r>
                      <a:rPr lang="en-US" sz="3600" b="0" i="1" smtClean="0">
                        <a:latin typeface="Cambria Math" panose="02040503050406030204" pitchFamily="18" charset="0"/>
                      </a:rPr>
                      <m:t>+</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r>
                          <a:rPr lang="en-US" sz="3600" b="0" i="1" smtClean="0">
                            <a:latin typeface="Cambria Math" panose="02040503050406030204" pitchFamily="18" charset="0"/>
                          </a:rPr>
                          <m:t>𝑝</m:t>
                        </m:r>
                      </m:e>
                    </m:d>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m:rPr>
                            <m:sty m:val="p"/>
                          </m:rPr>
                          <a:rPr lang="en-US" sz="3600">
                            <a:latin typeface="Cambria Math" panose="02040503050406030204" pitchFamily="18" charset="0"/>
                          </a:rPr>
                          <m:t>Δ</m:t>
                        </m:r>
                        <m:r>
                          <a:rPr lang="en-US" sz="3600" i="1">
                            <a:latin typeface="Cambria Math" panose="02040503050406030204" pitchFamily="18" charset="0"/>
                          </a:rPr>
                          <m:t>𝑡</m:t>
                        </m:r>
                      </m:sub>
                    </m:sSub>
                    <m:d>
                      <m:dPr>
                        <m:ctrlPr>
                          <a:rPr lang="en-US" sz="3600" i="1">
                            <a:latin typeface="Cambria Math" panose="02040503050406030204" pitchFamily="18" charset="0"/>
                          </a:rPr>
                        </m:ctrlPr>
                      </m:dPr>
                      <m:e>
                        <m:sSub>
                          <m:sSubPr>
                            <m:ctrlPr>
                              <a:rPr lang="en-US" sz="3600" i="1">
                                <a:latin typeface="Cambria Math" panose="02040503050406030204" pitchFamily="18" charset="0"/>
                              </a:rPr>
                            </m:ctrlPr>
                          </m:sSubPr>
                          <m:e>
                            <m:r>
                              <a:rPr lang="en-US" sz="3600" i="1">
                                <a:latin typeface="Cambria Math" panose="02040503050406030204" pitchFamily="18" charset="0"/>
                              </a:rPr>
                              <m:t>𝜌</m:t>
                            </m:r>
                          </m:e>
                          <m:sub>
                            <m:r>
                              <a:rPr lang="en-US" sz="3600" i="1">
                                <a:latin typeface="Cambria Math" panose="02040503050406030204" pitchFamily="18" charset="0"/>
                              </a:rPr>
                              <m:t>2</m:t>
                            </m:r>
                          </m:sub>
                        </m:sSub>
                      </m:e>
                    </m:d>
                  </m:oMath>
                </a14:m>
                <a:r>
                  <a:rPr lang="en-US" sz="3600" dirty="0"/>
                  <a:t>)</a:t>
                </a:r>
                <a:endParaRPr lang="en-US" sz="4000" dirty="0"/>
              </a:p>
            </p:txBody>
          </p:sp>
        </mc:Choice>
        <mc:Fallback xmlns="">
          <p:sp>
            <p:nvSpPr>
              <p:cNvPr id="2" name="TextBox 1">
                <a:extLst>
                  <a:ext uri="{FF2B5EF4-FFF2-40B4-BE49-F238E27FC236}">
                    <a16:creationId xmlns:a16="http://schemas.microsoft.com/office/drawing/2014/main" id="{87D36424-E11B-1AEE-7E71-E27153958E62}"/>
                  </a:ext>
                </a:extLst>
              </p:cNvPr>
              <p:cNvSpPr txBox="1">
                <a:spLocks noRot="1" noChangeAspect="1" noMove="1" noResize="1" noEditPoints="1" noAdjustHandles="1" noChangeArrowheads="1" noChangeShapeType="1" noTextEdit="1"/>
              </p:cNvSpPr>
              <p:nvPr/>
            </p:nvSpPr>
            <p:spPr>
              <a:xfrm>
                <a:off x="391886" y="369668"/>
                <a:ext cx="11419113" cy="1261884"/>
              </a:xfrm>
              <a:prstGeom prst="rect">
                <a:avLst/>
              </a:prstGeom>
              <a:blipFill>
                <a:blip r:embed="rId2"/>
                <a:stretch>
                  <a:fillRect l="-53" t="-8696" r="-53" b="-1739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95B60FE-B921-55C3-4C00-2CF24120D0CC}"/>
              </a:ext>
            </a:extLst>
          </p:cNvPr>
          <p:cNvSpPr txBox="1"/>
          <p:nvPr/>
        </p:nvSpPr>
        <p:spPr>
          <a:xfrm>
            <a:off x="558346" y="2333681"/>
            <a:ext cx="11075307" cy="1446550"/>
          </a:xfrm>
          <a:prstGeom prst="rect">
            <a:avLst/>
          </a:prstGeom>
          <a:noFill/>
        </p:spPr>
        <p:txBody>
          <a:bodyPr wrap="square" rtlCol="0">
            <a:spAutoFit/>
          </a:bodyPr>
          <a:lstStyle/>
          <a:p>
            <a:pPr algn="ctr"/>
            <a:r>
              <a:rPr lang="en-US" sz="4400" dirty="0"/>
              <a:t>What is the space of all possible valid</a:t>
            </a:r>
            <a:br>
              <a:rPr lang="en-US" sz="4400" dirty="0"/>
            </a:br>
            <a:r>
              <a:rPr lang="en-US" sz="4400" dirty="0"/>
              <a:t>maps for statistical ensembles?</a:t>
            </a:r>
          </a:p>
        </p:txBody>
      </p:sp>
    </p:spTree>
    <p:extLst>
      <p:ext uri="{BB962C8B-B14F-4D97-AF65-F5344CB8AC3E}">
        <p14:creationId xmlns:p14="http://schemas.microsoft.com/office/powerpoint/2010/main" val="1998633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6E799-174A-5F0D-AB28-42FB3B8CBDF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0FE6BB5-7692-FC19-DD48-1D120FD3E945}"/>
              </a:ext>
            </a:extLst>
          </p:cNvPr>
          <p:cNvGrpSpPr/>
          <p:nvPr/>
        </p:nvGrpSpPr>
        <p:grpSpPr>
          <a:xfrm>
            <a:off x="711873" y="440215"/>
            <a:ext cx="3578015" cy="3577707"/>
            <a:chOff x="2521889" y="2808131"/>
            <a:chExt cx="1916430" cy="1916266"/>
          </a:xfrm>
        </p:grpSpPr>
        <p:sp>
          <p:nvSpPr>
            <p:cNvPr id="10" name="Oval 9">
              <a:extLst>
                <a:ext uri="{FF2B5EF4-FFF2-40B4-BE49-F238E27FC236}">
                  <a16:creationId xmlns:a16="http://schemas.microsoft.com/office/drawing/2014/main" id="{1F82D615-D455-B0A8-E087-897466D2D7C5}"/>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F6A865F9-AA93-0132-B8C9-83FF073866D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D5E666-CAD7-C3D9-3B5D-2B958853B533}"/>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C0110B32-0F31-7FEF-A5E4-5BB390597DF8}"/>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E53C97A6-2EFD-8766-CDBC-918EB53E94E5}"/>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575D1757-85C9-DE8E-1AB8-66FC9568F80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53FEF5B6-7339-583D-4672-82B62BF01333}"/>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CBFD9C99-7633-CA38-19CB-8712AAC498FD}"/>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3C2C1BC5-7E76-E57B-61AD-7FF40E2BA8AF}"/>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2" name="Oval 1">
            <a:extLst>
              <a:ext uri="{FF2B5EF4-FFF2-40B4-BE49-F238E27FC236}">
                <a16:creationId xmlns:a16="http://schemas.microsoft.com/office/drawing/2014/main" id="{74551C0C-348E-CEBB-6D53-1AB9674AAB1D}"/>
              </a:ext>
            </a:extLst>
          </p:cNvPr>
          <p:cNvSpPr/>
          <p:nvPr/>
        </p:nvSpPr>
        <p:spPr>
          <a:xfrm>
            <a:off x="3658743" y="2292514"/>
            <a:ext cx="45719" cy="79211"/>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E431FD1-7B33-9972-1032-4BAEE23EFAB2}"/>
              </a:ext>
            </a:extLst>
          </p:cNvPr>
          <p:cNvSpPr/>
          <p:nvPr/>
        </p:nvSpPr>
        <p:spPr>
          <a:xfrm rot="18470527">
            <a:off x="3183164" y="1447246"/>
            <a:ext cx="45719" cy="776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8E3440B-A697-1435-F050-636E23482DAB}"/>
              </a:ext>
            </a:extLst>
          </p:cNvPr>
          <p:cNvCxnSpPr/>
          <p:nvPr/>
        </p:nvCxnSpPr>
        <p:spPr>
          <a:xfrm>
            <a:off x="3257550" y="1552575"/>
            <a:ext cx="368300" cy="676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F03E75-EEDA-7D34-093A-926F6F96C979}"/>
                  </a:ext>
                </a:extLst>
              </p:cNvPr>
              <p:cNvSpPr txBox="1"/>
              <p:nvPr/>
            </p:nvSpPr>
            <p:spPr>
              <a:xfrm>
                <a:off x="6725545" y="1597554"/>
                <a:ext cx="3333926"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𝜌</m:t>
                          </m:r>
                        </m:e>
                      </m:acc>
                      <m:d>
                        <m:dPr>
                          <m:ctrlPr>
                            <a:rPr lang="en-US" sz="2800" b="0" i="1" smtClean="0">
                              <a:latin typeface="Cambria Math" panose="02040503050406030204" pitchFamily="18" charset="0"/>
                            </a:rPr>
                          </m:ctrlPr>
                        </m:d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𝜃</m:t>
                              </m:r>
                            </m:e>
                          </m:acc>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𝜑</m:t>
                              </m:r>
                            </m:e>
                          </m:acc>
                        </m:e>
                      </m:d>
                      <m:r>
                        <a:rPr lang="en-US" sz="2800" b="0" i="1" smtClean="0">
                          <a:latin typeface="Cambria Math" panose="02040503050406030204" pitchFamily="18" charset="0"/>
                        </a:rPr>
                        <m:t>=</m:t>
                      </m:r>
                      <m:r>
                        <a:rPr lang="en-US" sz="2800" i="1">
                          <a:latin typeface="Cambria Math" panose="02040503050406030204" pitchFamily="18" charset="0"/>
                        </a:rPr>
                        <m:t>𝜌</m:t>
                      </m:r>
                      <m:d>
                        <m:dPr>
                          <m:ctrlPr>
                            <a:rPr lang="en-US" sz="2800" i="1">
                              <a:latin typeface="Cambria Math" panose="02040503050406030204" pitchFamily="18" charset="0"/>
                            </a:rPr>
                          </m:ctrlPr>
                        </m:dPr>
                        <m:e>
                          <m:r>
                            <a:rPr lang="en-US" sz="2800" i="1">
                              <a:latin typeface="Cambria Math" panose="02040503050406030204" pitchFamily="18" charset="0"/>
                            </a:rPr>
                            <m:t>𝜃</m:t>
                          </m:r>
                          <m:r>
                            <a:rPr lang="en-US" sz="2800" i="1">
                              <a:latin typeface="Cambria Math" panose="02040503050406030204" pitchFamily="18" charset="0"/>
                            </a:rPr>
                            <m:t>,</m:t>
                          </m:r>
                          <m:r>
                            <a:rPr lang="en-US" sz="2800" i="1">
                              <a:latin typeface="Cambria Math" panose="02040503050406030204" pitchFamily="18" charset="0"/>
                            </a:rPr>
                            <m:t>𝜑</m:t>
                          </m:r>
                        </m:e>
                      </m:d>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𝐽</m:t>
                          </m:r>
                        </m:e>
                      </m:d>
                    </m:oMath>
                  </m:oMathPara>
                </a14:m>
                <a:endParaRPr lang="en-US" sz="2800" dirty="0"/>
              </a:p>
            </p:txBody>
          </p:sp>
        </mc:Choice>
        <mc:Fallback xmlns="">
          <p:sp>
            <p:nvSpPr>
              <p:cNvPr id="9" name="TextBox 8">
                <a:extLst>
                  <a:ext uri="{FF2B5EF4-FFF2-40B4-BE49-F238E27FC236}">
                    <a16:creationId xmlns:a16="http://schemas.microsoft.com/office/drawing/2014/main" id="{D1F03E75-EEDA-7D34-093A-926F6F96C979}"/>
                  </a:ext>
                </a:extLst>
              </p:cNvPr>
              <p:cNvSpPr txBox="1">
                <a:spLocks noRot="1" noChangeAspect="1" noMove="1" noResize="1" noEditPoints="1" noAdjustHandles="1" noChangeArrowheads="1" noChangeShapeType="1" noTextEdit="1"/>
              </p:cNvSpPr>
              <p:nvPr/>
            </p:nvSpPr>
            <p:spPr>
              <a:xfrm>
                <a:off x="6725545" y="1597554"/>
                <a:ext cx="3333926" cy="57868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D75F5FA-A199-A402-DC18-7CA5C6B016AB}"/>
                  </a:ext>
                </a:extLst>
              </p:cNvPr>
              <p:cNvSpPr txBox="1"/>
              <p:nvPr/>
            </p:nvSpPr>
            <p:spPr>
              <a:xfrm>
                <a:off x="7101097" y="805595"/>
                <a:ext cx="2582823"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𝜃</m:t>
                          </m:r>
                          <m:r>
                            <a:rPr lang="en-US" sz="2800" b="0" i="1" smtClean="0">
                              <a:latin typeface="Cambria Math" panose="02040503050406030204" pitchFamily="18" charset="0"/>
                            </a:rPr>
                            <m:t>,</m:t>
                          </m:r>
                          <m:r>
                            <a:rPr lang="en-US" sz="2800" b="0" i="1" smtClean="0">
                              <a:latin typeface="Cambria Math" panose="02040503050406030204" pitchFamily="18" charset="0"/>
                            </a:rPr>
                            <m:t>𝜑</m:t>
                          </m:r>
                        </m:e>
                      </m:d>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𝜃</m:t>
                              </m:r>
                            </m:e>
                          </m:acc>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𝜑</m:t>
                              </m:r>
                            </m:e>
                          </m:acc>
                        </m:e>
                      </m:d>
                    </m:oMath>
                  </m:oMathPara>
                </a14:m>
                <a:endParaRPr lang="en-US" sz="2800" dirty="0"/>
              </a:p>
            </p:txBody>
          </p:sp>
        </mc:Choice>
        <mc:Fallback xmlns="">
          <p:sp>
            <p:nvSpPr>
              <p:cNvPr id="19" name="TextBox 18">
                <a:extLst>
                  <a:ext uri="{FF2B5EF4-FFF2-40B4-BE49-F238E27FC236}">
                    <a16:creationId xmlns:a16="http://schemas.microsoft.com/office/drawing/2014/main" id="{9D75F5FA-A199-A402-DC18-7CA5C6B016AB}"/>
                  </a:ext>
                </a:extLst>
              </p:cNvPr>
              <p:cNvSpPr txBox="1">
                <a:spLocks noRot="1" noChangeAspect="1" noMove="1" noResize="1" noEditPoints="1" noAdjustHandles="1" noChangeArrowheads="1" noChangeShapeType="1" noTextEdit="1"/>
              </p:cNvSpPr>
              <p:nvPr/>
            </p:nvSpPr>
            <p:spPr>
              <a:xfrm>
                <a:off x="7101097" y="805595"/>
                <a:ext cx="2582823" cy="57868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929AAD3-B683-D445-C94A-F6DE396D10DF}"/>
                  </a:ext>
                </a:extLst>
              </p:cNvPr>
              <p:cNvSpPr txBox="1"/>
              <p:nvPr/>
            </p:nvSpPr>
            <p:spPr>
              <a:xfrm>
                <a:off x="4725618" y="3515118"/>
                <a:ext cx="5966954"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i="1" smtClean="0">
                              <a:latin typeface="Cambria Math" panose="02040503050406030204" pitchFamily="18" charset="0"/>
                            </a:rPr>
                            <m:t>𝜌</m:t>
                          </m:r>
                        </m:e>
                      </m:acc>
                      <m:d>
                        <m:dPr>
                          <m:ctrlPr>
                            <a:rPr lang="en-US" sz="2800" i="1">
                              <a:latin typeface="Cambria Math" panose="02040503050406030204" pitchFamily="18" charset="0"/>
                            </a:rPr>
                          </m:ctrlPr>
                        </m:dPr>
                        <m:e>
                          <m:acc>
                            <m:accPr>
                              <m:chr m:val="̂"/>
                              <m:ctrlPr>
                                <a:rPr lang="en-US" sz="2800" b="0" i="1" smtClean="0">
                                  <a:latin typeface="Cambria Math" panose="02040503050406030204" pitchFamily="18" charset="0"/>
                                </a:rPr>
                              </m:ctrlPr>
                            </m:accPr>
                            <m:e>
                              <m:r>
                                <a:rPr lang="en-US" sz="2800" i="1">
                                  <a:latin typeface="Cambria Math" panose="02040503050406030204" pitchFamily="18" charset="0"/>
                                </a:rPr>
                                <m:t>𝜃</m:t>
                              </m:r>
                            </m:e>
                          </m:acc>
                          <m:r>
                            <a:rPr lang="en-US" sz="2800" i="1">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i="1">
                                  <a:latin typeface="Cambria Math" panose="02040503050406030204" pitchFamily="18" charset="0"/>
                                </a:rPr>
                                <m:t>𝜑</m:t>
                              </m:r>
                            </m:e>
                          </m:acc>
                        </m:e>
                      </m:d>
                      <m:r>
                        <a:rPr lang="en-US" sz="2800" i="1">
                          <a:latin typeface="Cambria Math" panose="02040503050406030204" pitchFamily="18" charset="0"/>
                        </a:rPr>
                        <m:t>𝑑</m:t>
                      </m:r>
                      <m:acc>
                        <m:accPr>
                          <m:chr m:val="̂"/>
                          <m:ctrlPr>
                            <a:rPr lang="en-US" sz="2800" b="0" i="1" smtClean="0">
                              <a:latin typeface="Cambria Math" panose="02040503050406030204" pitchFamily="18" charset="0"/>
                            </a:rPr>
                          </m:ctrlPr>
                        </m:accPr>
                        <m:e>
                          <m:r>
                            <a:rPr lang="en-US" sz="2800" i="1">
                              <a:latin typeface="Cambria Math" panose="02040503050406030204" pitchFamily="18" charset="0"/>
                            </a:rPr>
                            <m:t>𝜃</m:t>
                          </m:r>
                        </m:e>
                      </m:acc>
                      <m:r>
                        <a:rPr lang="en-US" sz="2800" i="1">
                          <a:latin typeface="Cambria Math" panose="02040503050406030204" pitchFamily="18" charset="0"/>
                        </a:rPr>
                        <m:t>𝑑</m:t>
                      </m:r>
                      <m:acc>
                        <m:accPr>
                          <m:chr m:val="̂"/>
                          <m:ctrlPr>
                            <a:rPr lang="en-US" sz="2800" b="0" i="1" smtClean="0">
                              <a:latin typeface="Cambria Math" panose="02040503050406030204" pitchFamily="18" charset="0"/>
                            </a:rPr>
                          </m:ctrlPr>
                        </m:accPr>
                        <m:e>
                          <m:r>
                            <a:rPr lang="en-US" sz="2800" i="1">
                              <a:latin typeface="Cambria Math" panose="02040503050406030204" pitchFamily="18" charset="0"/>
                            </a:rPr>
                            <m:t>𝜑</m:t>
                          </m:r>
                        </m:e>
                      </m:acc>
                      <m:r>
                        <a:rPr lang="en-US" sz="2800" b="0" i="1" smtClean="0">
                          <a:latin typeface="Cambria Math" panose="02040503050406030204" pitchFamily="18" charset="0"/>
                        </a:rPr>
                        <m:t>=</m:t>
                      </m:r>
                      <m:r>
                        <a:rPr lang="en-US" sz="2800" i="1">
                          <a:latin typeface="Cambria Math" panose="02040503050406030204" pitchFamily="18" charset="0"/>
                        </a:rPr>
                        <m:t>∫</m:t>
                      </m:r>
                      <m:r>
                        <a:rPr lang="en-US" sz="2800" i="1">
                          <a:latin typeface="Cambria Math" panose="02040503050406030204" pitchFamily="18" charset="0"/>
                        </a:rPr>
                        <m:t>𝜌</m:t>
                      </m:r>
                      <m:d>
                        <m:dPr>
                          <m:ctrlPr>
                            <a:rPr lang="en-US" sz="2800" i="1">
                              <a:latin typeface="Cambria Math" panose="02040503050406030204" pitchFamily="18" charset="0"/>
                            </a:rPr>
                          </m:ctrlPr>
                        </m:dPr>
                        <m:e>
                          <m:r>
                            <a:rPr lang="en-US" sz="2800" i="1">
                              <a:latin typeface="Cambria Math" panose="02040503050406030204" pitchFamily="18" charset="0"/>
                            </a:rPr>
                            <m:t>𝜃</m:t>
                          </m:r>
                          <m:r>
                            <a:rPr lang="en-US" sz="2800" i="1">
                              <a:latin typeface="Cambria Math" panose="02040503050406030204" pitchFamily="18" charset="0"/>
                            </a:rPr>
                            <m:t>,</m:t>
                          </m:r>
                          <m:r>
                            <a:rPr lang="en-US" sz="2800" i="1">
                              <a:latin typeface="Cambria Math" panose="02040503050406030204" pitchFamily="18" charset="0"/>
                            </a:rPr>
                            <m:t>𝜑</m:t>
                          </m:r>
                        </m:e>
                      </m:d>
                      <m:r>
                        <a:rPr lang="en-US" sz="2800" i="1">
                          <a:latin typeface="Cambria Math" panose="02040503050406030204" pitchFamily="18" charset="0"/>
                        </a:rPr>
                        <m:t>𝑑</m:t>
                      </m:r>
                      <m:r>
                        <a:rPr lang="en-US" sz="2800" i="1">
                          <a:latin typeface="Cambria Math" panose="02040503050406030204" pitchFamily="18" charset="0"/>
                        </a:rPr>
                        <m:t>𝜃</m:t>
                      </m:r>
                      <m:r>
                        <a:rPr lang="en-US" sz="2800" i="1">
                          <a:latin typeface="Cambria Math" panose="02040503050406030204" pitchFamily="18" charset="0"/>
                        </a:rPr>
                        <m:t>𝑑</m:t>
                      </m:r>
                      <m:r>
                        <a:rPr lang="en-US" sz="2800" i="1">
                          <a:latin typeface="Cambria Math" panose="02040503050406030204" pitchFamily="18" charset="0"/>
                        </a:rPr>
                        <m:t>𝜑</m:t>
                      </m:r>
                      <m:r>
                        <a:rPr lang="en-US" sz="2800" b="0" i="1" smtClean="0">
                          <a:latin typeface="Cambria Math" panose="02040503050406030204" pitchFamily="18" charset="0"/>
                        </a:rPr>
                        <m:t>=1</m:t>
                      </m:r>
                    </m:oMath>
                  </m:oMathPara>
                </a14:m>
                <a:endParaRPr lang="en-US" sz="2800" dirty="0"/>
              </a:p>
            </p:txBody>
          </p:sp>
        </mc:Choice>
        <mc:Fallback xmlns="">
          <p:sp>
            <p:nvSpPr>
              <p:cNvPr id="20" name="TextBox 19">
                <a:extLst>
                  <a:ext uri="{FF2B5EF4-FFF2-40B4-BE49-F238E27FC236}">
                    <a16:creationId xmlns:a16="http://schemas.microsoft.com/office/drawing/2014/main" id="{6929AAD3-B683-D445-C94A-F6DE396D10DF}"/>
                  </a:ext>
                </a:extLst>
              </p:cNvPr>
              <p:cNvSpPr txBox="1">
                <a:spLocks noRot="1" noChangeAspect="1" noMove="1" noResize="1" noEditPoints="1" noAdjustHandles="1" noChangeArrowheads="1" noChangeShapeType="1" noTextEdit="1"/>
              </p:cNvSpPr>
              <p:nvPr/>
            </p:nvSpPr>
            <p:spPr>
              <a:xfrm>
                <a:off x="4725618" y="3515118"/>
                <a:ext cx="5966954" cy="578685"/>
              </a:xfrm>
              <a:prstGeom prst="rect">
                <a:avLst/>
              </a:prstGeom>
              <a:blipFill>
                <a:blip r:embed="rId4"/>
                <a:stretch>
                  <a:fillRect/>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38EAB923-AAB5-7589-4612-A5791CC98D49}"/>
              </a:ext>
            </a:extLst>
          </p:cNvPr>
          <p:cNvCxnSpPr>
            <a:cxnSpLocks/>
          </p:cNvCxnSpPr>
          <p:nvPr/>
        </p:nvCxnSpPr>
        <p:spPr>
          <a:xfrm flipH="1">
            <a:off x="9922669" y="1206086"/>
            <a:ext cx="314325"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0D135AF-3202-CE51-114E-4E86CC861D87}"/>
              </a:ext>
            </a:extLst>
          </p:cNvPr>
          <p:cNvSpPr txBox="1"/>
          <p:nvPr/>
        </p:nvSpPr>
        <p:spPr>
          <a:xfrm>
            <a:off x="10059471" y="436263"/>
            <a:ext cx="1606530" cy="738664"/>
          </a:xfrm>
          <a:prstGeom prst="rect">
            <a:avLst/>
          </a:prstGeom>
          <a:noFill/>
        </p:spPr>
        <p:txBody>
          <a:bodyPr wrap="none" rtlCol="0">
            <a:spAutoFit/>
          </a:bodyPr>
          <a:lstStyle/>
          <a:p>
            <a:pPr algn="r"/>
            <a:r>
              <a:rPr lang="en-US" sz="1400" dirty="0"/>
              <a:t>Jacobian must exist</a:t>
            </a:r>
            <a:br>
              <a:rPr lang="en-US" sz="1400" dirty="0"/>
            </a:br>
            <a:r>
              <a:rPr lang="en-US" sz="1400" dirty="0"/>
              <a:t>to define new</a:t>
            </a:r>
            <a:br>
              <a:rPr lang="en-US" sz="1400" dirty="0"/>
            </a:br>
            <a:r>
              <a:rPr lang="en-US" sz="1400" dirty="0"/>
              <a:t>probability density</a:t>
            </a:r>
          </a:p>
        </p:txBody>
      </p:sp>
      <p:sp>
        <p:nvSpPr>
          <p:cNvPr id="38" name="TextBox 37">
            <a:extLst>
              <a:ext uri="{FF2B5EF4-FFF2-40B4-BE49-F238E27FC236}">
                <a16:creationId xmlns:a16="http://schemas.microsoft.com/office/drawing/2014/main" id="{04AA5902-82BB-53E6-DE1D-F2D3D06A2624}"/>
              </a:ext>
            </a:extLst>
          </p:cNvPr>
          <p:cNvSpPr txBox="1"/>
          <p:nvPr/>
        </p:nvSpPr>
        <p:spPr>
          <a:xfrm>
            <a:off x="4867306" y="2191327"/>
            <a:ext cx="2042034" cy="523220"/>
          </a:xfrm>
          <a:prstGeom prst="rect">
            <a:avLst/>
          </a:prstGeom>
          <a:noFill/>
        </p:spPr>
        <p:txBody>
          <a:bodyPr wrap="none" rtlCol="0">
            <a:spAutoFit/>
          </a:bodyPr>
          <a:lstStyle/>
          <a:p>
            <a:r>
              <a:rPr lang="en-US" sz="1400" dirty="0"/>
              <a:t>Transformation is linear</a:t>
            </a:r>
            <a:br>
              <a:rPr lang="en-US" sz="1400" dirty="0"/>
            </a:br>
            <a:r>
              <a:rPr lang="en-US" sz="1400" dirty="0"/>
              <a:t>and preserves probability</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3FDD242-BC58-7984-EF41-B8C67FF694F9}"/>
                  </a:ext>
                </a:extLst>
              </p:cNvPr>
              <p:cNvSpPr txBox="1"/>
              <p:nvPr/>
            </p:nvSpPr>
            <p:spPr>
              <a:xfrm>
                <a:off x="6569612" y="2957593"/>
                <a:ext cx="545296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𝜌</m:t>
                              </m:r>
                            </m:e>
                          </m:acc>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𝜌</m:t>
                              </m:r>
                            </m:e>
                          </m:acc>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2</m:t>
                              </m:r>
                            </m:sub>
                          </m:sSub>
                        </m:e>
                      </m:d>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𝐽</m:t>
                          </m:r>
                        </m:e>
                      </m:d>
                    </m:oMath>
                  </m:oMathPara>
                </a14:m>
                <a:endParaRPr lang="en-US" sz="2400" dirty="0"/>
              </a:p>
            </p:txBody>
          </p:sp>
        </mc:Choice>
        <mc:Fallback xmlns="">
          <p:sp>
            <p:nvSpPr>
              <p:cNvPr id="39" name="TextBox 38">
                <a:extLst>
                  <a:ext uri="{FF2B5EF4-FFF2-40B4-BE49-F238E27FC236}">
                    <a16:creationId xmlns:a16="http://schemas.microsoft.com/office/drawing/2014/main" id="{23FDD242-BC58-7984-EF41-B8C67FF694F9}"/>
                  </a:ext>
                </a:extLst>
              </p:cNvPr>
              <p:cNvSpPr txBox="1">
                <a:spLocks noRot="1" noChangeAspect="1" noMove="1" noResize="1" noEditPoints="1" noAdjustHandles="1" noChangeArrowheads="1" noChangeShapeType="1" noTextEdit="1"/>
              </p:cNvSpPr>
              <p:nvPr/>
            </p:nvSpPr>
            <p:spPr>
              <a:xfrm>
                <a:off x="6569612" y="2957593"/>
                <a:ext cx="5452968" cy="461665"/>
              </a:xfrm>
              <a:prstGeom prst="rect">
                <a:avLst/>
              </a:prstGeom>
              <a:blipFill>
                <a:blip r:embed="rId5"/>
                <a:stretch>
                  <a:fillRect t="-3947" b="-13158"/>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BB4D100-A0CA-E058-69EB-36D6FD1D60E7}"/>
              </a:ext>
            </a:extLst>
          </p:cNvPr>
          <p:cNvCxnSpPr/>
          <p:nvPr/>
        </p:nvCxnSpPr>
        <p:spPr>
          <a:xfrm flipV="1">
            <a:off x="6246055" y="2039818"/>
            <a:ext cx="548640" cy="136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375BADE-48EC-515A-D0ED-7607D16E58E9}"/>
              </a:ext>
            </a:extLst>
          </p:cNvPr>
          <p:cNvCxnSpPr/>
          <p:nvPr/>
        </p:nvCxnSpPr>
        <p:spPr>
          <a:xfrm>
            <a:off x="6661052" y="2452937"/>
            <a:ext cx="751829" cy="504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503FC99-80BC-A21C-F719-F6AA5F9CB9DA}"/>
              </a:ext>
            </a:extLst>
          </p:cNvPr>
          <p:cNvCxnSpPr/>
          <p:nvPr/>
        </p:nvCxnSpPr>
        <p:spPr>
          <a:xfrm>
            <a:off x="6175717" y="2714547"/>
            <a:ext cx="147711" cy="800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1E51030-16B8-3B82-BD85-A71CF707295E}"/>
              </a:ext>
            </a:extLst>
          </p:cNvPr>
          <p:cNvSpPr txBox="1"/>
          <p:nvPr/>
        </p:nvSpPr>
        <p:spPr>
          <a:xfrm>
            <a:off x="554700" y="4813635"/>
            <a:ext cx="8724953" cy="1200329"/>
          </a:xfrm>
          <a:prstGeom prst="rect">
            <a:avLst/>
          </a:prstGeom>
          <a:noFill/>
        </p:spPr>
        <p:txBody>
          <a:bodyPr wrap="none" rtlCol="0">
            <a:spAutoFit/>
          </a:bodyPr>
          <a:lstStyle/>
          <a:p>
            <a:r>
              <a:rPr lang="en-US" sz="3600" dirty="0">
                <a:solidFill>
                  <a:schemeClr val="accent6">
                    <a:lumMod val="75000"/>
                  </a:schemeClr>
                </a:solidFill>
              </a:rPr>
              <a:t>As long as the Jacobian exists and is non-zero,</a:t>
            </a:r>
            <a:br>
              <a:rPr lang="en-US" sz="3600" dirty="0">
                <a:solidFill>
                  <a:schemeClr val="accent6">
                    <a:lumMod val="75000"/>
                  </a:schemeClr>
                </a:solidFill>
              </a:rPr>
            </a:br>
            <a:r>
              <a:rPr lang="en-US" sz="3600" dirty="0">
                <a:solidFill>
                  <a:schemeClr val="accent6">
                    <a:lumMod val="75000"/>
                  </a:schemeClr>
                </a:solidFill>
              </a:rPr>
              <a:t>any transformation will do!</a:t>
            </a:r>
          </a:p>
        </p:txBody>
      </p:sp>
      <p:sp>
        <p:nvSpPr>
          <p:cNvPr id="47" name="TextBox 46">
            <a:extLst>
              <a:ext uri="{FF2B5EF4-FFF2-40B4-BE49-F238E27FC236}">
                <a16:creationId xmlns:a16="http://schemas.microsoft.com/office/drawing/2014/main" id="{0C6713AF-170B-4592-0ACC-E5C0E9BC1698}"/>
              </a:ext>
            </a:extLst>
          </p:cNvPr>
          <p:cNvSpPr txBox="1"/>
          <p:nvPr/>
        </p:nvSpPr>
        <p:spPr>
          <a:xfrm>
            <a:off x="4272520" y="94379"/>
            <a:ext cx="3646960" cy="646331"/>
          </a:xfrm>
          <a:prstGeom prst="rect">
            <a:avLst/>
          </a:prstGeom>
          <a:noFill/>
        </p:spPr>
        <p:txBody>
          <a:bodyPr wrap="none" rtlCol="0">
            <a:spAutoFit/>
          </a:bodyPr>
          <a:lstStyle/>
          <a:p>
            <a:r>
              <a:rPr lang="en-US" sz="3200" dirty="0"/>
              <a:t>Classical </a:t>
            </a:r>
            <a:r>
              <a:rPr lang="en-US" sz="3600" dirty="0"/>
              <a:t>mechanics</a:t>
            </a:r>
            <a:endParaRPr lang="en-US" sz="3200" dirty="0"/>
          </a:p>
        </p:txBody>
      </p:sp>
    </p:spTree>
    <p:extLst>
      <p:ext uri="{BB962C8B-B14F-4D97-AF65-F5344CB8AC3E}">
        <p14:creationId xmlns:p14="http://schemas.microsoft.com/office/powerpoint/2010/main" val="360330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P spid="33" grpId="0"/>
      <p:bldP spid="38" grpId="0"/>
      <p:bldP spid="39" grpId="0"/>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FA7D-CD59-7906-AC4B-4CE59B1030F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924899B-10EF-7796-B11D-06B156AAD5C3}"/>
              </a:ext>
            </a:extLst>
          </p:cNvPr>
          <p:cNvGrpSpPr/>
          <p:nvPr/>
        </p:nvGrpSpPr>
        <p:grpSpPr>
          <a:xfrm>
            <a:off x="711873" y="440215"/>
            <a:ext cx="3578015" cy="3577707"/>
            <a:chOff x="2521889" y="2808131"/>
            <a:chExt cx="1916430" cy="1916266"/>
          </a:xfrm>
        </p:grpSpPr>
        <p:sp>
          <p:nvSpPr>
            <p:cNvPr id="10" name="Oval 9">
              <a:extLst>
                <a:ext uri="{FF2B5EF4-FFF2-40B4-BE49-F238E27FC236}">
                  <a16:creationId xmlns:a16="http://schemas.microsoft.com/office/drawing/2014/main" id="{CF0DAA4E-A0BC-69D1-2EE2-D52191AE0BD1}"/>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6C00DFC3-C645-72F5-14B3-ACB0F084CEC1}"/>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ED17FF6-1FC9-CC06-7318-B2FEA49F1CF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F1F7B4FA-ECD2-A497-6A7D-607EF893FE8B}"/>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19649BFF-26A6-B559-0B79-AB593DD3B45C}"/>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5764713F-08C2-B540-F2F7-CB8AE73C297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68D39915-5836-355D-6D0C-026C41748BA9}"/>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AD0BED89-AB65-6F4A-E3C8-44B676004466}"/>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E2B514D6-94FD-0533-68E9-13D2F2BF1539}"/>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2" name="Oval 1">
            <a:extLst>
              <a:ext uri="{FF2B5EF4-FFF2-40B4-BE49-F238E27FC236}">
                <a16:creationId xmlns:a16="http://schemas.microsoft.com/office/drawing/2014/main" id="{24F338B1-4F23-7496-ADE2-FBE6E0E2F169}"/>
              </a:ext>
            </a:extLst>
          </p:cNvPr>
          <p:cNvSpPr/>
          <p:nvPr/>
        </p:nvSpPr>
        <p:spPr>
          <a:xfrm>
            <a:off x="3658743" y="2292514"/>
            <a:ext cx="45719" cy="79211"/>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A57819E-87F9-B168-161B-08FEB5FA5993}"/>
              </a:ext>
            </a:extLst>
          </p:cNvPr>
          <p:cNvSpPr/>
          <p:nvPr/>
        </p:nvSpPr>
        <p:spPr>
          <a:xfrm rot="18470527">
            <a:off x="3183164" y="1447246"/>
            <a:ext cx="45719" cy="776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32A1E4D8-65A8-4F92-DB41-BFDEF7FE94D2}"/>
              </a:ext>
            </a:extLst>
          </p:cNvPr>
          <p:cNvCxnSpPr/>
          <p:nvPr/>
        </p:nvCxnSpPr>
        <p:spPr>
          <a:xfrm>
            <a:off x="3257550" y="1552575"/>
            <a:ext cx="368300" cy="676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661EDB1-5E68-EC67-45EA-D91448B01EEB}"/>
              </a:ext>
            </a:extLst>
          </p:cNvPr>
          <p:cNvSpPr txBox="1"/>
          <p:nvPr/>
        </p:nvSpPr>
        <p:spPr>
          <a:xfrm>
            <a:off x="4800600" y="266042"/>
            <a:ext cx="6766404" cy="1077218"/>
          </a:xfrm>
          <a:prstGeom prst="rect">
            <a:avLst/>
          </a:prstGeom>
          <a:noFill/>
        </p:spPr>
        <p:txBody>
          <a:bodyPr wrap="none" rtlCol="0">
            <a:spAutoFit/>
          </a:bodyPr>
          <a:lstStyle/>
          <a:p>
            <a:r>
              <a:rPr lang="en-US" sz="3200" dirty="0">
                <a:solidFill>
                  <a:schemeClr val="accent6">
                    <a:lumMod val="75000"/>
                  </a:schemeClr>
                </a:solidFill>
              </a:rPr>
              <a:t>In classical mechanics, ensembles allow</a:t>
            </a:r>
            <a:br>
              <a:rPr lang="en-US" sz="3200" dirty="0">
                <a:solidFill>
                  <a:schemeClr val="accent6">
                    <a:lumMod val="75000"/>
                  </a:schemeClr>
                </a:solidFill>
              </a:rPr>
            </a:br>
            <a:r>
              <a:rPr lang="en-US" sz="3200" dirty="0">
                <a:solidFill>
                  <a:schemeClr val="accent6">
                    <a:lumMod val="75000"/>
                  </a:schemeClr>
                </a:solidFill>
              </a:rPr>
              <a:t>any smooth function among states</a:t>
            </a:r>
          </a:p>
        </p:txBody>
      </p:sp>
      <p:sp>
        <p:nvSpPr>
          <p:cNvPr id="21" name="TextBox 20">
            <a:extLst>
              <a:ext uri="{FF2B5EF4-FFF2-40B4-BE49-F238E27FC236}">
                <a16:creationId xmlns:a16="http://schemas.microsoft.com/office/drawing/2014/main" id="{2C6B4908-C6B0-4462-FBAF-EA47896CA335}"/>
              </a:ext>
            </a:extLst>
          </p:cNvPr>
          <p:cNvSpPr txBox="1"/>
          <p:nvPr/>
        </p:nvSpPr>
        <p:spPr>
          <a:xfrm>
            <a:off x="1570005" y="4412124"/>
            <a:ext cx="7059561" cy="461665"/>
          </a:xfrm>
          <a:prstGeom prst="rect">
            <a:avLst/>
          </a:prstGeom>
          <a:noFill/>
        </p:spPr>
        <p:txBody>
          <a:bodyPr wrap="none" rtlCol="0">
            <a:spAutoFit/>
          </a:bodyPr>
          <a:lstStyle/>
          <a:p>
            <a:r>
              <a:rPr lang="en-US" sz="2400" dirty="0"/>
              <a:t>In particular, Hamiltonian evolution will preserve area</a:t>
            </a:r>
          </a:p>
        </p:txBody>
      </p:sp>
      <p:sp>
        <p:nvSpPr>
          <p:cNvPr id="22" name="TextBox 21">
            <a:extLst>
              <a:ext uri="{FF2B5EF4-FFF2-40B4-BE49-F238E27FC236}">
                <a16:creationId xmlns:a16="http://schemas.microsoft.com/office/drawing/2014/main" id="{3B62605C-A605-C9FA-76E2-FA2FDFC518DD}"/>
              </a:ext>
            </a:extLst>
          </p:cNvPr>
          <p:cNvSpPr txBox="1"/>
          <p:nvPr/>
        </p:nvSpPr>
        <p:spPr>
          <a:xfrm>
            <a:off x="1570005" y="4979226"/>
            <a:ext cx="6617517" cy="461665"/>
          </a:xfrm>
          <a:prstGeom prst="rect">
            <a:avLst/>
          </a:prstGeom>
          <a:noFill/>
        </p:spPr>
        <p:txBody>
          <a:bodyPr wrap="none" rtlCol="0">
            <a:spAutoFit/>
          </a:bodyPr>
          <a:lstStyle/>
          <a:p>
            <a:r>
              <a:rPr lang="en-US" sz="2400" dirty="0"/>
              <a:t>In particular, linear evolution will perform rotations</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6A61428-C681-B11C-D137-5A2DD06F38C7}"/>
                  </a:ext>
                </a:extLst>
              </p:cNvPr>
              <p:cNvSpPr txBox="1"/>
              <p:nvPr/>
            </p:nvSpPr>
            <p:spPr>
              <a:xfrm>
                <a:off x="7296631" y="1654056"/>
                <a:ext cx="2064155" cy="7935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r>
                            <a:rPr lang="en-US" sz="2400" b="0" i="1" smtClean="0">
                              <a:latin typeface="Cambria Math" panose="02040503050406030204" pitchFamily="18" charset="0"/>
                            </a:rPr>
                            <m:t>𝜃</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𝜃</m:t>
                          </m:r>
                          <m:r>
                            <a:rPr lang="en-US" sz="2400" b="0" i="1" smtClean="0">
                              <a:latin typeface="Cambria Math" panose="02040503050406030204" pitchFamily="18" charset="0"/>
                            </a:rPr>
                            <m:t>,</m:t>
                          </m:r>
                          <m:r>
                            <a:rPr lang="en-US" sz="2400" b="0" i="1" smtClean="0">
                              <a:latin typeface="Cambria Math" panose="02040503050406030204" pitchFamily="18" charset="0"/>
                            </a:rPr>
                            <m:t>𝜑</m:t>
                          </m:r>
                        </m:e>
                      </m:d>
                    </m:oMath>
                  </m:oMathPara>
                </a14:m>
                <a:endParaRPr lang="en-US" sz="2400" dirty="0"/>
              </a:p>
            </p:txBody>
          </p:sp>
        </mc:Choice>
        <mc:Fallback xmlns="">
          <p:sp>
            <p:nvSpPr>
              <p:cNvPr id="35" name="TextBox 34">
                <a:extLst>
                  <a:ext uri="{FF2B5EF4-FFF2-40B4-BE49-F238E27FC236}">
                    <a16:creationId xmlns:a16="http://schemas.microsoft.com/office/drawing/2014/main" id="{36A61428-C681-B11C-D137-5A2DD06F38C7}"/>
                  </a:ext>
                </a:extLst>
              </p:cNvPr>
              <p:cNvSpPr txBox="1">
                <a:spLocks noRot="1" noChangeAspect="1" noMove="1" noResize="1" noEditPoints="1" noAdjustHandles="1" noChangeArrowheads="1" noChangeShapeType="1" noTextEdit="1"/>
              </p:cNvSpPr>
              <p:nvPr/>
            </p:nvSpPr>
            <p:spPr>
              <a:xfrm>
                <a:off x="7296631" y="1654056"/>
                <a:ext cx="2064155" cy="7935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5D24557-D125-0049-45C5-E0A599BDD023}"/>
                  </a:ext>
                </a:extLst>
              </p:cNvPr>
              <p:cNvSpPr txBox="1"/>
              <p:nvPr/>
            </p:nvSpPr>
            <p:spPr>
              <a:xfrm>
                <a:off x="7250336" y="2635449"/>
                <a:ext cx="2110450" cy="7935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r>
                            <a:rPr lang="en-US" sz="2400" b="0" i="1" smtClean="0">
                              <a:latin typeface="Cambria Math" panose="02040503050406030204" pitchFamily="18" charset="0"/>
                            </a:rPr>
                            <m:t>𝜑</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𝜑</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𝜃</m:t>
                          </m:r>
                          <m:r>
                            <a:rPr lang="en-US" sz="2400" b="0" i="1" smtClean="0">
                              <a:latin typeface="Cambria Math" panose="02040503050406030204" pitchFamily="18" charset="0"/>
                            </a:rPr>
                            <m:t>,</m:t>
                          </m:r>
                          <m:r>
                            <a:rPr lang="en-US" sz="2400" b="0" i="1" smtClean="0">
                              <a:latin typeface="Cambria Math" panose="02040503050406030204" pitchFamily="18" charset="0"/>
                            </a:rPr>
                            <m:t>𝜑</m:t>
                          </m:r>
                        </m:e>
                      </m:d>
                    </m:oMath>
                  </m:oMathPara>
                </a14:m>
                <a:endParaRPr lang="en-US" sz="2400" dirty="0"/>
              </a:p>
            </p:txBody>
          </p:sp>
        </mc:Choice>
        <mc:Fallback xmlns="">
          <p:sp>
            <p:nvSpPr>
              <p:cNvPr id="36" name="TextBox 35">
                <a:extLst>
                  <a:ext uri="{FF2B5EF4-FFF2-40B4-BE49-F238E27FC236}">
                    <a16:creationId xmlns:a16="http://schemas.microsoft.com/office/drawing/2014/main" id="{65D24557-D125-0049-45C5-E0A599BDD023}"/>
                  </a:ext>
                </a:extLst>
              </p:cNvPr>
              <p:cNvSpPr txBox="1">
                <a:spLocks noRot="1" noChangeAspect="1" noMove="1" noResize="1" noEditPoints="1" noAdjustHandles="1" noChangeArrowheads="1" noChangeShapeType="1" noTextEdit="1"/>
              </p:cNvSpPr>
              <p:nvPr/>
            </p:nvSpPr>
            <p:spPr>
              <a:xfrm>
                <a:off x="7250336" y="2635449"/>
                <a:ext cx="2110450" cy="79355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50418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81EF-8ECB-E566-95FF-B6033CFFD34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FA2D7DF-7FC8-EE1B-3361-4B0020BDBCA4}"/>
              </a:ext>
            </a:extLst>
          </p:cNvPr>
          <p:cNvGrpSpPr/>
          <p:nvPr/>
        </p:nvGrpSpPr>
        <p:grpSpPr>
          <a:xfrm>
            <a:off x="711873" y="440215"/>
            <a:ext cx="3578015" cy="3577707"/>
            <a:chOff x="2521889" y="2808131"/>
            <a:chExt cx="1916430" cy="1916266"/>
          </a:xfrm>
        </p:grpSpPr>
        <p:sp>
          <p:nvSpPr>
            <p:cNvPr id="10" name="Oval 9">
              <a:extLst>
                <a:ext uri="{FF2B5EF4-FFF2-40B4-BE49-F238E27FC236}">
                  <a16:creationId xmlns:a16="http://schemas.microsoft.com/office/drawing/2014/main" id="{BAC94F5E-8784-0D30-9DBC-CCA4EA3180AC}"/>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31">
              <a:extLst>
                <a:ext uri="{FF2B5EF4-FFF2-40B4-BE49-F238E27FC236}">
                  <a16:creationId xmlns:a16="http://schemas.microsoft.com/office/drawing/2014/main" id="{53B4C033-52F5-9716-9F96-4F210026DD90}"/>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B610EC9-9341-1F28-7FDE-9BB5953B3B49}"/>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3" name="Group 12">
              <a:extLst>
                <a:ext uri="{FF2B5EF4-FFF2-40B4-BE49-F238E27FC236}">
                  <a16:creationId xmlns:a16="http://schemas.microsoft.com/office/drawing/2014/main" id="{4F918FEE-99C8-AC8D-D80D-8B40895E22A4}"/>
                </a:ext>
              </a:extLst>
            </p:cNvPr>
            <p:cNvGrpSpPr/>
            <p:nvPr/>
          </p:nvGrpSpPr>
          <p:grpSpPr>
            <a:xfrm>
              <a:off x="2923755" y="2808131"/>
              <a:ext cx="1112528" cy="1916266"/>
              <a:chOff x="2734489" y="2655731"/>
              <a:chExt cx="1186260" cy="1916266"/>
            </a:xfrm>
          </p:grpSpPr>
          <p:sp>
            <p:nvSpPr>
              <p:cNvPr id="17" name="Oval 16">
                <a:extLst>
                  <a:ext uri="{FF2B5EF4-FFF2-40B4-BE49-F238E27FC236}">
                    <a16:creationId xmlns:a16="http://schemas.microsoft.com/office/drawing/2014/main" id="{45705A43-FD00-5A86-0A4F-56EBF99CC9BA}"/>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Oval 9">
                <a:extLst>
                  <a:ext uri="{FF2B5EF4-FFF2-40B4-BE49-F238E27FC236}">
                    <a16:creationId xmlns:a16="http://schemas.microsoft.com/office/drawing/2014/main" id="{8ADF7226-7159-D9E9-A3E8-C50B4FA5BCE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4" name="Group 13">
              <a:extLst>
                <a:ext uri="{FF2B5EF4-FFF2-40B4-BE49-F238E27FC236}">
                  <a16:creationId xmlns:a16="http://schemas.microsoft.com/office/drawing/2014/main" id="{2CC6FA4A-D64A-AA9E-F6FD-355765B26715}"/>
                </a:ext>
              </a:extLst>
            </p:cNvPr>
            <p:cNvGrpSpPr/>
            <p:nvPr/>
          </p:nvGrpSpPr>
          <p:grpSpPr>
            <a:xfrm rot="16200000">
              <a:off x="2923922" y="2810085"/>
              <a:ext cx="1112528" cy="1916266"/>
              <a:chOff x="2734489" y="2655731"/>
              <a:chExt cx="1186260" cy="1916266"/>
            </a:xfrm>
          </p:grpSpPr>
          <p:sp>
            <p:nvSpPr>
              <p:cNvPr id="15" name="Oval 14">
                <a:extLst>
                  <a:ext uri="{FF2B5EF4-FFF2-40B4-BE49-F238E27FC236}">
                    <a16:creationId xmlns:a16="http://schemas.microsoft.com/office/drawing/2014/main" id="{CE90C2C5-4A0B-F30B-AA71-3185F4421789}"/>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6" name="Oval 9">
                <a:extLst>
                  <a:ext uri="{FF2B5EF4-FFF2-40B4-BE49-F238E27FC236}">
                    <a16:creationId xmlns:a16="http://schemas.microsoft.com/office/drawing/2014/main" id="{D64C2EBA-BCA3-303D-D432-4E941D821ECD}"/>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BFC3A5E-8B59-8130-59FF-C378A424687E}"/>
                  </a:ext>
                </a:extLst>
              </p:cNvPr>
              <p:cNvSpPr txBox="1"/>
              <p:nvPr/>
            </p:nvSpPr>
            <p:spPr>
              <a:xfrm>
                <a:off x="6477288" y="2238671"/>
                <a:ext cx="5655074" cy="646331"/>
              </a:xfrm>
              <a:prstGeom prst="rect">
                <a:avLst/>
              </a:prstGeom>
              <a:noFill/>
            </p:spPr>
            <p:txBody>
              <a:bodyPr wrap="none" rtlCol="0">
                <a:spAutoFit/>
              </a:bodyPr>
              <a:lstStyle/>
              <a:p>
                <a:pPr/>
                <a:r>
                  <a:rPr lang="en-US" dirty="0"/>
                  <a:t>Evolutions must be affine transformations of the ball</a:t>
                </a:r>
                <a:br>
                  <a:rPr lang="en-US" dirty="0"/>
                </a:b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m:rPr>
                              <m:sty m:val="p"/>
                            </m:rPr>
                            <a:rPr lang="en-US">
                              <a:latin typeface="Cambria Math" panose="02040503050406030204" pitchFamily="18" charset="0"/>
                            </a:rPr>
                            <m:t>Δ</m:t>
                          </m:r>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𝑝</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𝑝</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2</m:t>
                              </m:r>
                            </m:sub>
                          </m:sSub>
                        </m:e>
                      </m:d>
                      <m:r>
                        <a:rPr lang="en-US" i="1">
                          <a:latin typeface="Cambria Math" panose="02040503050406030204" pitchFamily="18" charset="0"/>
                        </a:rPr>
                        <m:t>=</m:t>
                      </m:r>
                      <m:r>
                        <a:rPr lang="en-US" i="1">
                          <a:latin typeface="Cambria Math" panose="02040503050406030204" pitchFamily="18" charset="0"/>
                        </a:rPr>
                        <m:t>𝑝</m:t>
                      </m:r>
                      <m:sSub>
                        <m:sSubPr>
                          <m:ctrlPr>
                            <a:rPr lang="en-US" i="1">
                              <a:latin typeface="Cambria Math" panose="02040503050406030204" pitchFamily="18" charset="0"/>
                            </a:rPr>
                          </m:ctrlPr>
                        </m:sSubPr>
                        <m:e>
                          <m:r>
                            <a:rPr lang="en-US" i="1">
                              <a:latin typeface="Cambria Math" panose="02040503050406030204" pitchFamily="18" charset="0"/>
                            </a:rPr>
                            <m:t>𝑃</m:t>
                          </m:r>
                        </m:e>
                        <m:sub>
                          <m:r>
                            <m:rPr>
                              <m:sty m:val="p"/>
                            </m:rPr>
                            <a:rPr lang="en-US">
                              <a:latin typeface="Cambria Math" panose="02040503050406030204" pitchFamily="18" charset="0"/>
                            </a:rPr>
                            <m:t>Δ</m:t>
                          </m:r>
                          <m:r>
                            <a:rPr lang="en-US" i="1">
                              <a:latin typeface="Cambria Math" panose="02040503050406030204" pitchFamily="18" charset="0"/>
                            </a:rPr>
                            <m:t>𝑡</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1</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𝑝</m:t>
                          </m:r>
                        </m:e>
                      </m:d>
                      <m:sSub>
                        <m:sSubPr>
                          <m:ctrlPr>
                            <a:rPr lang="en-US" i="1">
                              <a:latin typeface="Cambria Math" panose="02040503050406030204" pitchFamily="18" charset="0"/>
                            </a:rPr>
                          </m:ctrlPr>
                        </m:sSubPr>
                        <m:e>
                          <m:r>
                            <a:rPr lang="en-US" i="1">
                              <a:latin typeface="Cambria Math" panose="02040503050406030204" pitchFamily="18" charset="0"/>
                            </a:rPr>
                            <m:t>𝑃</m:t>
                          </m:r>
                        </m:e>
                        <m:sub>
                          <m:r>
                            <m:rPr>
                              <m:sty m:val="p"/>
                            </m:rPr>
                            <a:rPr lang="en-US">
                              <a:latin typeface="Cambria Math" panose="02040503050406030204" pitchFamily="18" charset="0"/>
                            </a:rPr>
                            <m:t>Δ</m:t>
                          </m:r>
                          <m:r>
                            <a:rPr lang="en-US" i="1">
                              <a:latin typeface="Cambria Math" panose="02040503050406030204" pitchFamily="18" charset="0"/>
                            </a:rPr>
                            <m:t>𝑡</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2</m:t>
                              </m:r>
                            </m:sub>
                          </m:sSub>
                        </m:e>
                      </m:d>
                      <m:r>
                        <a:rPr lang="en-US" i="1">
                          <a:latin typeface="Cambria Math" panose="02040503050406030204" pitchFamily="18" charset="0"/>
                        </a:rPr>
                        <m:t> </m:t>
                      </m:r>
                    </m:oMath>
                  </m:oMathPara>
                </a14:m>
                <a:endParaRPr lang="en-US" dirty="0"/>
              </a:p>
            </p:txBody>
          </p:sp>
        </mc:Choice>
        <mc:Fallback xmlns="">
          <p:sp>
            <p:nvSpPr>
              <p:cNvPr id="33" name="TextBox 32">
                <a:extLst>
                  <a:ext uri="{FF2B5EF4-FFF2-40B4-BE49-F238E27FC236}">
                    <a16:creationId xmlns:a16="http://schemas.microsoft.com/office/drawing/2014/main" id="{7BFC3A5E-8B59-8130-59FF-C378A424687E}"/>
                  </a:ext>
                </a:extLst>
              </p:cNvPr>
              <p:cNvSpPr txBox="1">
                <a:spLocks noRot="1" noChangeAspect="1" noMove="1" noResize="1" noEditPoints="1" noAdjustHandles="1" noChangeArrowheads="1" noChangeShapeType="1" noTextEdit="1"/>
              </p:cNvSpPr>
              <p:nvPr/>
            </p:nvSpPr>
            <p:spPr>
              <a:xfrm>
                <a:off x="6477288" y="2238671"/>
                <a:ext cx="5655074" cy="646331"/>
              </a:xfrm>
              <a:prstGeom prst="rect">
                <a:avLst/>
              </a:prstGeom>
              <a:blipFill>
                <a:blip r:embed="rId2"/>
                <a:stretch>
                  <a:fillRect l="-971" t="-4717" b="-3774"/>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682BF9CA-2B08-7E69-9544-BA4B1DCB9E14}"/>
              </a:ext>
            </a:extLst>
          </p:cNvPr>
          <p:cNvSpPr txBox="1"/>
          <p:nvPr/>
        </p:nvSpPr>
        <p:spPr>
          <a:xfrm>
            <a:off x="6477288" y="797869"/>
            <a:ext cx="4350871" cy="646331"/>
          </a:xfrm>
          <a:prstGeom prst="rect">
            <a:avLst/>
          </a:prstGeom>
          <a:noFill/>
        </p:spPr>
        <p:txBody>
          <a:bodyPr wrap="none" rtlCol="0">
            <a:spAutoFit/>
          </a:bodyPr>
          <a:lstStyle/>
          <a:p>
            <a:r>
              <a:rPr lang="en-US" dirty="0"/>
              <a:t>States must be mapped to states</a:t>
            </a:r>
          </a:p>
          <a:p>
            <a:r>
              <a:rPr lang="en-US" dirty="0"/>
              <a:t>(i.e. surface must be mapped to the surface)</a:t>
            </a:r>
          </a:p>
        </p:txBody>
      </p:sp>
      <p:sp>
        <p:nvSpPr>
          <p:cNvPr id="2" name="TextBox 1">
            <a:extLst>
              <a:ext uri="{FF2B5EF4-FFF2-40B4-BE49-F238E27FC236}">
                <a16:creationId xmlns:a16="http://schemas.microsoft.com/office/drawing/2014/main" id="{9D35930C-8A13-F9F5-4EEA-5A4E31E52A61}"/>
              </a:ext>
            </a:extLst>
          </p:cNvPr>
          <p:cNvSpPr txBox="1"/>
          <p:nvPr/>
        </p:nvSpPr>
        <p:spPr>
          <a:xfrm>
            <a:off x="6477288" y="1518270"/>
            <a:ext cx="4421531" cy="646331"/>
          </a:xfrm>
          <a:prstGeom prst="rect">
            <a:avLst/>
          </a:prstGeom>
          <a:noFill/>
        </p:spPr>
        <p:txBody>
          <a:bodyPr wrap="none" rtlCol="0">
            <a:spAutoFit/>
          </a:bodyPr>
          <a:lstStyle/>
          <a:p>
            <a:r>
              <a:rPr lang="en-US" dirty="0"/>
              <a:t>Ensembles must be mapped to ensembles</a:t>
            </a:r>
          </a:p>
          <a:p>
            <a:r>
              <a:rPr lang="en-US" dirty="0"/>
              <a:t>(i.e. all points in the ball must end in the ball)</a:t>
            </a:r>
          </a:p>
        </p:txBody>
      </p:sp>
      <p:cxnSp>
        <p:nvCxnSpPr>
          <p:cNvPr id="5" name="Straight Arrow Connector 4">
            <a:extLst>
              <a:ext uri="{FF2B5EF4-FFF2-40B4-BE49-F238E27FC236}">
                <a16:creationId xmlns:a16="http://schemas.microsoft.com/office/drawing/2014/main" id="{16A9A461-E733-CAB4-5A09-E78AEA02D62B}"/>
              </a:ext>
            </a:extLst>
          </p:cNvPr>
          <p:cNvCxnSpPr>
            <a:cxnSpLocks/>
          </p:cNvCxnSpPr>
          <p:nvPr/>
        </p:nvCxnSpPr>
        <p:spPr>
          <a:xfrm flipV="1">
            <a:off x="9516211" y="2885002"/>
            <a:ext cx="305744" cy="545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C06FE86-DFB5-B2BE-948E-192E700D2C06}"/>
              </a:ext>
            </a:extLst>
          </p:cNvPr>
          <p:cNvSpPr txBox="1"/>
          <p:nvPr/>
        </p:nvSpPr>
        <p:spPr>
          <a:xfrm>
            <a:off x="7047892" y="3430787"/>
            <a:ext cx="3996735" cy="1200329"/>
          </a:xfrm>
          <a:prstGeom prst="rect">
            <a:avLst/>
          </a:prstGeom>
          <a:noFill/>
        </p:spPr>
        <p:txBody>
          <a:bodyPr wrap="none" rtlCol="0">
            <a:spAutoFit/>
          </a:bodyPr>
          <a:lstStyle/>
          <a:p>
            <a:r>
              <a:rPr lang="en-US" dirty="0"/>
              <a:t>Affine transformations are:</a:t>
            </a:r>
          </a:p>
          <a:p>
            <a:pPr marL="285750" indent="-285750">
              <a:buFont typeface="Arial" panose="020B0604020202020204" pitchFamily="34" charset="0"/>
              <a:buChar char="•"/>
            </a:pPr>
            <a:r>
              <a:rPr lang="en-US" dirty="0"/>
              <a:t>Stretching/shrinking along a direction</a:t>
            </a:r>
          </a:p>
          <a:p>
            <a:pPr marL="285750" indent="-285750">
              <a:buFont typeface="Arial" panose="020B0604020202020204" pitchFamily="34" charset="0"/>
              <a:buChar char="•"/>
            </a:pPr>
            <a:r>
              <a:rPr lang="en-US" dirty="0"/>
              <a:t>Rotations</a:t>
            </a:r>
          </a:p>
          <a:p>
            <a:pPr marL="285750" indent="-285750">
              <a:buFont typeface="Arial" panose="020B0604020202020204" pitchFamily="34" charset="0"/>
              <a:buChar char="•"/>
            </a:pPr>
            <a:r>
              <a:rPr lang="en-US" dirty="0"/>
              <a:t>Translations</a:t>
            </a:r>
          </a:p>
        </p:txBody>
      </p:sp>
      <p:sp>
        <p:nvSpPr>
          <p:cNvPr id="20" name="TextBox 19">
            <a:extLst>
              <a:ext uri="{FF2B5EF4-FFF2-40B4-BE49-F238E27FC236}">
                <a16:creationId xmlns:a16="http://schemas.microsoft.com/office/drawing/2014/main" id="{93ABB11B-3BAB-1A9C-E38A-FD053A992B25}"/>
              </a:ext>
            </a:extLst>
          </p:cNvPr>
          <p:cNvSpPr txBox="1"/>
          <p:nvPr/>
        </p:nvSpPr>
        <p:spPr>
          <a:xfrm>
            <a:off x="2104825" y="4912001"/>
            <a:ext cx="5275355" cy="646331"/>
          </a:xfrm>
          <a:prstGeom prst="rect">
            <a:avLst/>
          </a:prstGeom>
          <a:noFill/>
        </p:spPr>
        <p:txBody>
          <a:bodyPr wrap="none" rtlCol="0">
            <a:spAutoFit/>
          </a:bodyPr>
          <a:lstStyle/>
          <a:p>
            <a:r>
              <a:rPr lang="en-US" sz="3600" dirty="0">
                <a:solidFill>
                  <a:schemeClr val="accent6">
                    <a:lumMod val="75000"/>
                  </a:schemeClr>
                </a:solidFill>
              </a:rPr>
              <a:t>Only rotations are allowed!</a:t>
            </a:r>
          </a:p>
        </p:txBody>
      </p:sp>
      <p:sp>
        <p:nvSpPr>
          <p:cNvPr id="21" name="TextBox 20">
            <a:extLst>
              <a:ext uri="{FF2B5EF4-FFF2-40B4-BE49-F238E27FC236}">
                <a16:creationId xmlns:a16="http://schemas.microsoft.com/office/drawing/2014/main" id="{000CA6E3-EB46-0274-3A9F-9C480361BB11}"/>
              </a:ext>
            </a:extLst>
          </p:cNvPr>
          <p:cNvSpPr txBox="1"/>
          <p:nvPr/>
        </p:nvSpPr>
        <p:spPr>
          <a:xfrm>
            <a:off x="1816060" y="5670661"/>
            <a:ext cx="5852884" cy="369332"/>
          </a:xfrm>
          <a:prstGeom prst="rect">
            <a:avLst/>
          </a:prstGeom>
          <a:noFill/>
        </p:spPr>
        <p:txBody>
          <a:bodyPr wrap="none" rtlCol="0">
            <a:spAutoFit/>
          </a:bodyPr>
          <a:lstStyle/>
          <a:p>
            <a:r>
              <a:rPr lang="en-US" dirty="0"/>
              <a:t>All unitary transformations are rotations over the Bloch ball!</a:t>
            </a:r>
          </a:p>
        </p:txBody>
      </p:sp>
      <p:sp>
        <p:nvSpPr>
          <p:cNvPr id="22" name="Oval 21">
            <a:extLst>
              <a:ext uri="{FF2B5EF4-FFF2-40B4-BE49-F238E27FC236}">
                <a16:creationId xmlns:a16="http://schemas.microsoft.com/office/drawing/2014/main" id="{D643CED8-B317-5C58-FD38-DA4B8E61817C}"/>
              </a:ext>
            </a:extLst>
          </p:cNvPr>
          <p:cNvSpPr/>
          <p:nvPr/>
        </p:nvSpPr>
        <p:spPr>
          <a:xfrm>
            <a:off x="3658743" y="2292514"/>
            <a:ext cx="45719" cy="79211"/>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BBE633F-AEC2-A82A-6856-F5775A32EBB2}"/>
              </a:ext>
            </a:extLst>
          </p:cNvPr>
          <p:cNvSpPr/>
          <p:nvPr/>
        </p:nvSpPr>
        <p:spPr>
          <a:xfrm rot="18470527">
            <a:off x="3183164" y="1447246"/>
            <a:ext cx="45719" cy="776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62C84CC-34F7-28A8-47B2-2E7A5C05DFD0}"/>
              </a:ext>
            </a:extLst>
          </p:cNvPr>
          <p:cNvCxnSpPr/>
          <p:nvPr/>
        </p:nvCxnSpPr>
        <p:spPr>
          <a:xfrm>
            <a:off x="3257550" y="1552575"/>
            <a:ext cx="368300" cy="676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5903A70-8A58-6152-C96D-0A16E0E1A4CA}"/>
              </a:ext>
            </a:extLst>
          </p:cNvPr>
          <p:cNvSpPr txBox="1"/>
          <p:nvPr/>
        </p:nvSpPr>
        <p:spPr>
          <a:xfrm>
            <a:off x="4174127" y="84221"/>
            <a:ext cx="3843745" cy="646331"/>
          </a:xfrm>
          <a:prstGeom prst="rect">
            <a:avLst/>
          </a:prstGeom>
          <a:noFill/>
        </p:spPr>
        <p:txBody>
          <a:bodyPr wrap="none" rtlCol="0">
            <a:spAutoFit/>
          </a:bodyPr>
          <a:lstStyle/>
          <a:p>
            <a:r>
              <a:rPr lang="en-US" sz="3200" dirty="0"/>
              <a:t>Quantum </a:t>
            </a:r>
            <a:r>
              <a:rPr lang="en-US" sz="3600" dirty="0"/>
              <a:t>mechanics</a:t>
            </a:r>
            <a:endParaRPr lang="en-US" sz="3200" dirty="0"/>
          </a:p>
        </p:txBody>
      </p:sp>
    </p:spTree>
    <p:extLst>
      <p:ext uri="{BB962C8B-B14F-4D97-AF65-F5344CB8AC3E}">
        <p14:creationId xmlns:p14="http://schemas.microsoft.com/office/powerpoint/2010/main" val="213624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 grpId="0"/>
      <p:bldP spid="7"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ED64-5099-2135-69F3-A548C2919546}"/>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D8261A78-ADA6-CCEF-20CC-8CDCAE2CAE70}"/>
              </a:ext>
            </a:extLst>
          </p:cNvPr>
          <p:cNvGrpSpPr/>
          <p:nvPr/>
        </p:nvGrpSpPr>
        <p:grpSpPr>
          <a:xfrm>
            <a:off x="-184972" y="-2197079"/>
            <a:ext cx="4977398" cy="7054828"/>
            <a:chOff x="5938450" y="2807303"/>
            <a:chExt cx="2377401" cy="3369664"/>
          </a:xfrm>
        </p:grpSpPr>
        <p:grpSp>
          <p:nvGrpSpPr>
            <p:cNvPr id="38" name="Group 37">
              <a:extLst>
                <a:ext uri="{FF2B5EF4-FFF2-40B4-BE49-F238E27FC236}">
                  <a16:creationId xmlns:a16="http://schemas.microsoft.com/office/drawing/2014/main" id="{D3F3C059-BF32-4145-B388-311FB8EF30DD}"/>
                </a:ext>
              </a:extLst>
            </p:cNvPr>
            <p:cNvGrpSpPr/>
            <p:nvPr/>
          </p:nvGrpSpPr>
          <p:grpSpPr>
            <a:xfrm>
              <a:off x="6368262" y="3837068"/>
              <a:ext cx="1713465" cy="2339899"/>
              <a:chOff x="6689695" y="3893048"/>
              <a:chExt cx="1916430" cy="2617066"/>
            </a:xfrm>
          </p:grpSpPr>
          <p:grpSp>
            <p:nvGrpSpPr>
              <p:cNvPr id="44" name="Group 43">
                <a:extLst>
                  <a:ext uri="{FF2B5EF4-FFF2-40B4-BE49-F238E27FC236}">
                    <a16:creationId xmlns:a16="http://schemas.microsoft.com/office/drawing/2014/main" id="{46FBA56F-620C-CC74-9DE3-FE0D5E0AA843}"/>
                  </a:ext>
                </a:extLst>
              </p:cNvPr>
              <p:cNvGrpSpPr/>
              <p:nvPr/>
            </p:nvGrpSpPr>
            <p:grpSpPr>
              <a:xfrm>
                <a:off x="6689695" y="4154166"/>
                <a:ext cx="1916430" cy="1921132"/>
                <a:chOff x="2521889" y="2808131"/>
                <a:chExt cx="1916430" cy="1921132"/>
              </a:xfrm>
            </p:grpSpPr>
            <p:sp>
              <p:nvSpPr>
                <p:cNvPr id="48" name="Oval 47">
                  <a:extLst>
                    <a:ext uri="{FF2B5EF4-FFF2-40B4-BE49-F238E27FC236}">
                      <a16:creationId xmlns:a16="http://schemas.microsoft.com/office/drawing/2014/main" id="{05AB011E-AE94-6380-3507-0769FA1B4B8A}"/>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006340A9-F203-D087-5564-6E7D38702044}"/>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97793AC-F60F-DF9B-09A9-5A593C8CA61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51" name="Group 50">
                  <a:extLst>
                    <a:ext uri="{FF2B5EF4-FFF2-40B4-BE49-F238E27FC236}">
                      <a16:creationId xmlns:a16="http://schemas.microsoft.com/office/drawing/2014/main" id="{F6EBC8AB-6380-C436-7894-69359E308746}"/>
                    </a:ext>
                  </a:extLst>
                </p:cNvPr>
                <p:cNvGrpSpPr/>
                <p:nvPr/>
              </p:nvGrpSpPr>
              <p:grpSpPr>
                <a:xfrm>
                  <a:off x="2923755" y="2808131"/>
                  <a:ext cx="1112528" cy="1921132"/>
                  <a:chOff x="2734489" y="2655731"/>
                  <a:chExt cx="1186260" cy="1921132"/>
                </a:xfrm>
              </p:grpSpPr>
              <p:sp>
                <p:nvSpPr>
                  <p:cNvPr id="55" name="Oval 54">
                    <a:extLst>
                      <a:ext uri="{FF2B5EF4-FFF2-40B4-BE49-F238E27FC236}">
                        <a16:creationId xmlns:a16="http://schemas.microsoft.com/office/drawing/2014/main" id="{06927BC9-F780-C8D3-A4EA-DF78998CCF77}"/>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6" name="Oval 9">
                    <a:extLst>
                      <a:ext uri="{FF2B5EF4-FFF2-40B4-BE49-F238E27FC236}">
                        <a16:creationId xmlns:a16="http://schemas.microsoft.com/office/drawing/2014/main" id="{074BEF26-0327-AE88-83F4-733F9B414D7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7" name="Oval 9">
                    <a:extLst>
                      <a:ext uri="{FF2B5EF4-FFF2-40B4-BE49-F238E27FC236}">
                        <a16:creationId xmlns:a16="http://schemas.microsoft.com/office/drawing/2014/main" id="{29929919-30E2-11F1-0726-BD3BE2F1E33A}"/>
                      </a:ext>
                    </a:extLst>
                  </p:cNvPr>
                  <p:cNvSpPr/>
                  <p:nvPr/>
                </p:nvSpPr>
                <p:spPr>
                  <a:xfrm>
                    <a:off x="3370449" y="2660597"/>
                    <a:ext cx="23466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2" name="Group 51">
                  <a:extLst>
                    <a:ext uri="{FF2B5EF4-FFF2-40B4-BE49-F238E27FC236}">
                      <a16:creationId xmlns:a16="http://schemas.microsoft.com/office/drawing/2014/main" id="{B6D480CD-2542-71E7-22C5-26E7C451D3CA}"/>
                    </a:ext>
                  </a:extLst>
                </p:cNvPr>
                <p:cNvGrpSpPr/>
                <p:nvPr/>
              </p:nvGrpSpPr>
              <p:grpSpPr>
                <a:xfrm rot="16200000">
                  <a:off x="2923922" y="2810085"/>
                  <a:ext cx="1112528" cy="1916266"/>
                  <a:chOff x="2734489" y="2655731"/>
                  <a:chExt cx="1186260" cy="1916266"/>
                </a:xfrm>
              </p:grpSpPr>
              <p:sp>
                <p:nvSpPr>
                  <p:cNvPr id="53" name="Oval 52">
                    <a:extLst>
                      <a:ext uri="{FF2B5EF4-FFF2-40B4-BE49-F238E27FC236}">
                        <a16:creationId xmlns:a16="http://schemas.microsoft.com/office/drawing/2014/main" id="{B327B26B-49B7-6AD7-73AA-1F18A5BC321E}"/>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4" name="Oval 9">
                    <a:extLst>
                      <a:ext uri="{FF2B5EF4-FFF2-40B4-BE49-F238E27FC236}">
                        <a16:creationId xmlns:a16="http://schemas.microsoft.com/office/drawing/2014/main" id="{AF45A121-E8B1-31FA-5A08-D9D3361A0DF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grpSp>
            <p:nvGrpSpPr>
              <p:cNvPr id="45" name="Group 44">
                <a:extLst>
                  <a:ext uri="{FF2B5EF4-FFF2-40B4-BE49-F238E27FC236}">
                    <a16:creationId xmlns:a16="http://schemas.microsoft.com/office/drawing/2014/main" id="{13EB3E54-C704-1753-9346-9714FFF37EC5}"/>
                  </a:ext>
                </a:extLst>
              </p:cNvPr>
              <p:cNvGrpSpPr/>
              <p:nvPr/>
            </p:nvGrpSpPr>
            <p:grpSpPr>
              <a:xfrm>
                <a:off x="7363884" y="3893048"/>
                <a:ext cx="723646" cy="2617066"/>
                <a:chOff x="10178955" y="1049733"/>
                <a:chExt cx="723646" cy="2617066"/>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7456B9B-D123-FE0C-0EE0-06C439BE80C2}"/>
                        </a:ext>
                      </a:extLst>
                    </p:cNvPr>
                    <p:cNvSpPr txBox="1"/>
                    <p:nvPr/>
                  </p:nvSpPr>
                  <p:spPr>
                    <a:xfrm>
                      <a:off x="10178955" y="1049733"/>
                      <a:ext cx="701806" cy="4130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1</m:t>
                                    </m:r>
                                  </m:sub>
                                </m:sSub>
                              </m:e>
                            </m:d>
                          </m:oMath>
                        </m:oMathPara>
                      </a14:m>
                      <a:endParaRPr lang="en-US" dirty="0"/>
                    </a:p>
                  </p:txBody>
                </p:sp>
              </mc:Choice>
              <mc:Fallback xmlns="">
                <p:sp>
                  <p:nvSpPr>
                    <p:cNvPr id="113" name="TextBox 112">
                      <a:extLst>
                        <a:ext uri="{FF2B5EF4-FFF2-40B4-BE49-F238E27FC236}">
                          <a16:creationId xmlns:a16="http://schemas.microsoft.com/office/drawing/2014/main" id="{2E795148-F222-D835-B955-9D0FA0457CD0}"/>
                        </a:ext>
                      </a:extLst>
                    </p:cNvPr>
                    <p:cNvSpPr txBox="1">
                      <a:spLocks noRot="1" noChangeAspect="1" noMove="1" noResize="1" noEditPoints="1" noAdjustHandles="1" noChangeArrowheads="1" noChangeShapeType="1" noTextEdit="1"/>
                    </p:cNvSpPr>
                    <p:nvPr/>
                  </p:nvSpPr>
                  <p:spPr>
                    <a:xfrm>
                      <a:off x="10178955" y="1049733"/>
                      <a:ext cx="701806" cy="41308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83D079F-A371-17C2-7BB1-1F0B14663806}"/>
                        </a:ext>
                      </a:extLst>
                    </p:cNvPr>
                    <p:cNvSpPr txBox="1"/>
                    <p:nvPr/>
                  </p:nvSpPr>
                  <p:spPr>
                    <a:xfrm>
                      <a:off x="10193624" y="3253719"/>
                      <a:ext cx="708977" cy="4130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𝐸</m:t>
                                </m:r>
                              </m:e>
                              <m:sub>
                                <m:r>
                                  <a:rPr lang="en-US" i="1" dirty="0">
                                    <a:latin typeface="Cambria Math" panose="02040503050406030204" pitchFamily="18" charset="0"/>
                                  </a:rPr>
                                  <m:t>0</m:t>
                                </m:r>
                              </m:sub>
                            </m:sSub>
                            <m:r>
                              <a:rPr lang="en-US" i="1" dirty="0">
                                <a:latin typeface="Cambria Math" panose="02040503050406030204" pitchFamily="18" charset="0"/>
                              </a:rPr>
                              <m:t>⟩</m:t>
                            </m:r>
                          </m:oMath>
                        </m:oMathPara>
                      </a14:m>
                      <a:endParaRPr lang="en-US" dirty="0"/>
                    </a:p>
                  </p:txBody>
                </p:sp>
              </mc:Choice>
              <mc:Fallback xmlns="">
                <p:sp>
                  <p:nvSpPr>
                    <p:cNvPr id="114" name="TextBox 113">
                      <a:extLst>
                        <a:ext uri="{FF2B5EF4-FFF2-40B4-BE49-F238E27FC236}">
                          <a16:creationId xmlns:a16="http://schemas.microsoft.com/office/drawing/2014/main" id="{A852EF7B-717C-CD0E-EE68-A98B7BE9FBE5}"/>
                        </a:ext>
                      </a:extLst>
                    </p:cNvPr>
                    <p:cNvSpPr txBox="1">
                      <a:spLocks noRot="1" noChangeAspect="1" noMove="1" noResize="1" noEditPoints="1" noAdjustHandles="1" noChangeArrowheads="1" noChangeShapeType="1" noTextEdit="1"/>
                    </p:cNvSpPr>
                    <p:nvPr/>
                  </p:nvSpPr>
                  <p:spPr>
                    <a:xfrm>
                      <a:off x="10193624" y="3253719"/>
                      <a:ext cx="708977" cy="413080"/>
                    </a:xfrm>
                    <a:prstGeom prst="rect">
                      <a:avLst/>
                    </a:prstGeom>
                    <a:blipFill>
                      <a:blip r:embed="rId3"/>
                      <a:stretch>
                        <a:fillRect/>
                      </a:stretch>
                    </a:blipFill>
                  </p:spPr>
                  <p:txBody>
                    <a:bodyPr/>
                    <a:lstStyle/>
                    <a:p>
                      <a:r>
                        <a:rPr lang="en-US">
                          <a:noFill/>
                        </a:rPr>
                        <a:t> </a:t>
                      </a:r>
                    </a:p>
                  </p:txBody>
                </p:sp>
              </mc:Fallback>
            </mc:AlternateContent>
          </p:grpSp>
        </p:grpSp>
        <p:sp>
          <p:nvSpPr>
            <p:cNvPr id="39" name="Arc 38">
              <a:extLst>
                <a:ext uri="{FF2B5EF4-FFF2-40B4-BE49-F238E27FC236}">
                  <a16:creationId xmlns:a16="http://schemas.microsoft.com/office/drawing/2014/main" id="{039FCD41-DE2E-6186-3CDB-E12687F3A3DB}"/>
                </a:ext>
              </a:extLst>
            </p:cNvPr>
            <p:cNvSpPr/>
            <p:nvPr/>
          </p:nvSpPr>
          <p:spPr>
            <a:xfrm rot="9230533">
              <a:off x="6041815" y="2807303"/>
              <a:ext cx="2274036" cy="2274036"/>
            </a:xfrm>
            <a:prstGeom prst="arc">
              <a:avLst>
                <a:gd name="adj1" fmla="val 17042519"/>
                <a:gd name="adj2" fmla="val 18962680"/>
              </a:avLst>
            </a:prstGeom>
            <a:ln w="38100">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18712D4-66C7-CBD1-54AD-4E9E38E39427}"/>
                    </a:ext>
                  </a:extLst>
                </p:cNvPr>
                <p:cNvSpPr txBox="1"/>
                <p:nvPr/>
              </p:nvSpPr>
              <p:spPr>
                <a:xfrm>
                  <a:off x="6892574" y="4641639"/>
                  <a:ext cx="5119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𝜃</m:t>
                        </m:r>
                      </m:oMath>
                    </m:oMathPara>
                  </a14:m>
                  <a:endParaRPr lang="en-US" dirty="0"/>
                </a:p>
              </p:txBody>
            </p:sp>
          </mc:Choice>
          <mc:Fallback xmlns="">
            <p:sp>
              <p:nvSpPr>
                <p:cNvPr id="107" name="TextBox 106">
                  <a:extLst>
                    <a:ext uri="{FF2B5EF4-FFF2-40B4-BE49-F238E27FC236}">
                      <a16:creationId xmlns:a16="http://schemas.microsoft.com/office/drawing/2014/main" id="{AE751622-54A7-696E-50D7-EC01645F92F1}"/>
                    </a:ext>
                  </a:extLst>
                </p:cNvPr>
                <p:cNvSpPr txBox="1">
                  <a:spLocks noRot="1" noChangeAspect="1" noMove="1" noResize="1" noEditPoints="1" noAdjustHandles="1" noChangeArrowheads="1" noChangeShapeType="1" noTextEdit="1"/>
                </p:cNvSpPr>
                <p:nvPr/>
              </p:nvSpPr>
              <p:spPr>
                <a:xfrm>
                  <a:off x="6892574" y="4641639"/>
                  <a:ext cx="511999" cy="369332"/>
                </a:xfrm>
                <a:prstGeom prst="rect">
                  <a:avLst/>
                </a:prstGeom>
                <a:blipFill>
                  <a:blip r:embed="rId4"/>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A0893FF7-8B0B-9632-6E48-0A79C1BF1070}"/>
                </a:ext>
              </a:extLst>
            </p:cNvPr>
            <p:cNvCxnSpPr>
              <a:cxnSpLocks/>
            </p:cNvCxnSpPr>
            <p:nvPr/>
          </p:nvCxnSpPr>
          <p:spPr>
            <a:xfrm flipV="1">
              <a:off x="6246496" y="3932696"/>
              <a:ext cx="0" cy="21313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CFEF193-6F68-23F1-F546-30FB0448B5D8}"/>
                    </a:ext>
                  </a:extLst>
                </p:cNvPr>
                <p:cNvSpPr txBox="1"/>
                <p:nvPr/>
              </p:nvSpPr>
              <p:spPr>
                <a:xfrm>
                  <a:off x="5938450" y="3930055"/>
                  <a:ext cx="3908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en-US" dirty="0"/>
                </a:p>
              </p:txBody>
            </p:sp>
          </mc:Choice>
          <mc:Fallback xmlns="">
            <p:sp>
              <p:nvSpPr>
                <p:cNvPr id="42" name="TextBox 41">
                  <a:extLst>
                    <a:ext uri="{FF2B5EF4-FFF2-40B4-BE49-F238E27FC236}">
                      <a16:creationId xmlns:a16="http://schemas.microsoft.com/office/drawing/2014/main" id="{FCFEF193-6F68-23F1-F546-30FB0448B5D8}"/>
                    </a:ext>
                  </a:extLst>
                </p:cNvPr>
                <p:cNvSpPr txBox="1">
                  <a:spLocks noRot="1" noChangeAspect="1" noMove="1" noResize="1" noEditPoints="1" noAdjustHandles="1" noChangeArrowheads="1" noChangeShapeType="1" noTextEdit="1"/>
                </p:cNvSpPr>
                <p:nvPr/>
              </p:nvSpPr>
              <p:spPr>
                <a:xfrm>
                  <a:off x="5938450" y="3930055"/>
                  <a:ext cx="39087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A922C1A-4747-C7E6-0161-44FACBCC6CF0}"/>
                    </a:ext>
                  </a:extLst>
                </p:cNvPr>
                <p:cNvSpPr txBox="1"/>
                <p:nvPr/>
              </p:nvSpPr>
              <p:spPr>
                <a:xfrm>
                  <a:off x="6065899" y="5865993"/>
                  <a:ext cx="967883" cy="194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oMath>
                    </m:oMathPara>
                  </a14:m>
                  <a:endParaRPr lang="en-US" dirty="0"/>
                </a:p>
              </p:txBody>
            </p:sp>
          </mc:Choice>
          <mc:Fallback xmlns="">
            <p:sp>
              <p:nvSpPr>
                <p:cNvPr id="43" name="TextBox 42">
                  <a:extLst>
                    <a:ext uri="{FF2B5EF4-FFF2-40B4-BE49-F238E27FC236}">
                      <a16:creationId xmlns:a16="http://schemas.microsoft.com/office/drawing/2014/main" id="{8A922C1A-4747-C7E6-0161-44FACBCC6CF0}"/>
                    </a:ext>
                  </a:extLst>
                </p:cNvPr>
                <p:cNvSpPr txBox="1">
                  <a:spLocks noRot="1" noChangeAspect="1" noMove="1" noResize="1" noEditPoints="1" noAdjustHandles="1" noChangeArrowheads="1" noChangeShapeType="1" noTextEdit="1"/>
                </p:cNvSpPr>
                <p:nvPr/>
              </p:nvSpPr>
              <p:spPr>
                <a:xfrm>
                  <a:off x="6065899" y="5865993"/>
                  <a:ext cx="967883" cy="194993"/>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E1A2283-6454-6F9D-88E3-9EBA3034C147}"/>
                  </a:ext>
                </a:extLst>
              </p:cNvPr>
              <p:cNvSpPr txBox="1"/>
              <p:nvPr/>
            </p:nvSpPr>
            <p:spPr>
              <a:xfrm>
                <a:off x="5579185" y="2665336"/>
                <a:ext cx="5806782" cy="1211870"/>
              </a:xfrm>
              <a:prstGeom prst="rect">
                <a:avLst/>
              </a:prstGeom>
              <a:noFill/>
            </p:spPr>
            <p:txBody>
              <a:bodyPr wrap="none" rtlCol="0">
                <a:spAutoFit/>
              </a:bodyPr>
              <a:lstStyle/>
              <a:p>
                <a:r>
                  <a:rPr lang="en-US" dirty="0"/>
                  <a:t>If we represent states as points on the surface, we can write</a:t>
                </a: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num>
                        <m:den>
                          <m:r>
                            <a:rPr lang="en-US" b="0" i="1" smtClean="0">
                              <a:latin typeface="Cambria Math" panose="02040503050406030204" pitchFamily="18" charset="0"/>
                            </a:rPr>
                            <m:t>𝑑𝑡</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r>
                            <a:rPr lang="en-US" b="0" i="1" smtClean="0">
                              <a:latin typeface="Cambria Math" panose="02040503050406030204" pitchFamily="18" charset="0"/>
                            </a:rPr>
                            <m:t>,</m:t>
                          </m:r>
                          <m:r>
                            <a:rPr lang="en-US" b="0" i="1" smtClean="0">
                              <a:latin typeface="Cambria Math" panose="02040503050406030204" pitchFamily="18" charset="0"/>
                            </a:rPr>
                            <m:t>𝐻</m:t>
                          </m:r>
                        </m:e>
                      </m:d>
                    </m:oMath>
                  </m:oMathPara>
                </a14:m>
                <a:endParaRPr lang="en-US" dirty="0"/>
              </a:p>
              <a:p>
                <a:r>
                  <a:rPr lang="en-US" dirty="0"/>
                  <a:t>where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𝑖</m:t>
                        </m:r>
                      </m:sub>
                    </m:sSub>
                  </m:oMath>
                </a14:m>
                <a:r>
                  <a:rPr lang="en-US" dirty="0"/>
                  <a:t> is a linear function of the coordinates</a:t>
                </a:r>
              </a:p>
            </p:txBody>
          </p:sp>
        </mc:Choice>
        <mc:Fallback xmlns="">
          <p:sp>
            <p:nvSpPr>
              <p:cNvPr id="33" name="TextBox 32">
                <a:extLst>
                  <a:ext uri="{FF2B5EF4-FFF2-40B4-BE49-F238E27FC236}">
                    <a16:creationId xmlns:a16="http://schemas.microsoft.com/office/drawing/2014/main" id="{BE1A2283-6454-6F9D-88E3-9EBA3034C147}"/>
                  </a:ext>
                </a:extLst>
              </p:cNvPr>
              <p:cNvSpPr txBox="1">
                <a:spLocks noRot="1" noChangeAspect="1" noMove="1" noResize="1" noEditPoints="1" noAdjustHandles="1" noChangeArrowheads="1" noChangeShapeType="1" noTextEdit="1"/>
              </p:cNvSpPr>
              <p:nvPr/>
            </p:nvSpPr>
            <p:spPr>
              <a:xfrm>
                <a:off x="5579185" y="2665336"/>
                <a:ext cx="5806782" cy="1211870"/>
              </a:xfrm>
              <a:prstGeom prst="rect">
                <a:avLst/>
              </a:prstGeom>
              <a:blipFill>
                <a:blip r:embed="rId7"/>
                <a:stretch>
                  <a:fillRect l="-839" t="-2513" r="-105" b="-80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30FCACF-3CAB-CEEF-F602-CF0491AC621A}"/>
                  </a:ext>
                </a:extLst>
              </p:cNvPr>
              <p:cNvSpPr txBox="1"/>
              <p:nvPr/>
            </p:nvSpPr>
            <p:spPr>
              <a:xfrm>
                <a:off x="5427573" y="1662370"/>
                <a:ext cx="6110006" cy="895245"/>
              </a:xfrm>
              <a:prstGeom prst="rect">
                <a:avLst/>
              </a:prstGeom>
              <a:noFill/>
            </p:spPr>
            <p:txBody>
              <a:bodyPr wrap="none" rtlCol="0">
                <a:spAutoFit/>
              </a:bodyPr>
              <a:lstStyle/>
              <a:p>
                <a:pPr/>
                <a:r>
                  <a:rPr lang="en-US" dirty="0"/>
                  <a:t>If we represent states with rays of a Hilbert space, we can write</a:t>
                </a:r>
                <a:br>
                  <a:rPr lang="en-US" dirty="0"/>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𝚤</m:t>
                      </m:r>
                      <m:r>
                        <a:rPr lang="en-US" b="0" i="1" smtClean="0">
                          <a:latin typeface="Cambria Math" panose="02040503050406030204" pitchFamily="18" charset="0"/>
                        </a:rPr>
                        <m:t>ℏ</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𝐻</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oMath>
                  </m:oMathPara>
                </a14:m>
                <a:endParaRPr lang="en-US" dirty="0"/>
              </a:p>
            </p:txBody>
          </p:sp>
        </mc:Choice>
        <mc:Fallback xmlns="">
          <p:sp>
            <p:nvSpPr>
              <p:cNvPr id="34" name="TextBox 33">
                <a:extLst>
                  <a:ext uri="{FF2B5EF4-FFF2-40B4-BE49-F238E27FC236}">
                    <a16:creationId xmlns:a16="http://schemas.microsoft.com/office/drawing/2014/main" id="{630FCACF-3CAB-CEEF-F602-CF0491AC621A}"/>
                  </a:ext>
                </a:extLst>
              </p:cNvPr>
              <p:cNvSpPr txBox="1">
                <a:spLocks noRot="1" noChangeAspect="1" noMove="1" noResize="1" noEditPoints="1" noAdjustHandles="1" noChangeArrowheads="1" noChangeShapeType="1" noTextEdit="1"/>
              </p:cNvSpPr>
              <p:nvPr/>
            </p:nvSpPr>
            <p:spPr>
              <a:xfrm>
                <a:off x="5427573" y="1662370"/>
                <a:ext cx="6110006" cy="895245"/>
              </a:xfrm>
              <a:prstGeom prst="rect">
                <a:avLst/>
              </a:prstGeom>
              <a:blipFill>
                <a:blip r:embed="rId8"/>
                <a:stretch>
                  <a:fillRect l="-798" t="-4082"/>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972A9EC8-51EB-F58C-8C46-11A3927242FA}"/>
              </a:ext>
            </a:extLst>
          </p:cNvPr>
          <p:cNvSpPr txBox="1"/>
          <p:nvPr/>
        </p:nvSpPr>
        <p:spPr>
          <a:xfrm>
            <a:off x="4800600" y="257425"/>
            <a:ext cx="7238520" cy="1077218"/>
          </a:xfrm>
          <a:prstGeom prst="rect">
            <a:avLst/>
          </a:prstGeom>
          <a:noFill/>
        </p:spPr>
        <p:txBody>
          <a:bodyPr wrap="none" rtlCol="0">
            <a:spAutoFit/>
          </a:bodyPr>
          <a:lstStyle/>
          <a:p>
            <a:r>
              <a:rPr lang="en-US" sz="3200" dirty="0">
                <a:solidFill>
                  <a:schemeClr val="accent6">
                    <a:lumMod val="75000"/>
                  </a:schemeClr>
                </a:solidFill>
              </a:rPr>
              <a:t>In quantum mechanics, ensembles restrict</a:t>
            </a:r>
            <a:br>
              <a:rPr lang="en-US" sz="3200" dirty="0">
                <a:solidFill>
                  <a:schemeClr val="accent6">
                    <a:lumMod val="75000"/>
                  </a:schemeClr>
                </a:solidFill>
              </a:rPr>
            </a:br>
            <a:r>
              <a:rPr lang="en-US" sz="3200" dirty="0">
                <a:solidFill>
                  <a:schemeClr val="accent6">
                    <a:lumMod val="75000"/>
                  </a:schemeClr>
                </a:solidFill>
              </a:rPr>
              <a:t>motion to rotation/unitary evolution</a:t>
            </a:r>
          </a:p>
        </p:txBody>
      </p:sp>
    </p:spTree>
    <p:extLst>
      <p:ext uri="{BB962C8B-B14F-4D97-AF65-F5344CB8AC3E}">
        <p14:creationId xmlns:p14="http://schemas.microsoft.com/office/powerpoint/2010/main" val="28940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A3486-D829-2B8D-57C9-BAF036A922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631897-1177-910F-57BE-219A25E6ABD2}"/>
              </a:ext>
            </a:extLst>
          </p:cNvPr>
          <p:cNvSpPr txBox="1"/>
          <p:nvPr/>
        </p:nvSpPr>
        <p:spPr>
          <a:xfrm>
            <a:off x="532827" y="288964"/>
            <a:ext cx="10853630" cy="1323439"/>
          </a:xfrm>
          <a:prstGeom prst="rect">
            <a:avLst/>
          </a:prstGeom>
          <a:noFill/>
        </p:spPr>
        <p:txBody>
          <a:bodyPr wrap="square" rtlCol="0">
            <a:spAutoFit/>
          </a:bodyPr>
          <a:lstStyle/>
          <a:p>
            <a:pPr algn="ctr"/>
            <a:r>
              <a:rPr lang="en-US" sz="4000" dirty="0">
                <a:solidFill>
                  <a:schemeClr val="accent6">
                    <a:lumMod val="75000"/>
                  </a:schemeClr>
                </a:solidFill>
              </a:rPr>
              <a:t>The space of ensembles recovers the theory with the correct law of evolution</a:t>
            </a:r>
          </a:p>
        </p:txBody>
      </p:sp>
      <p:sp>
        <p:nvSpPr>
          <p:cNvPr id="3" name="Rectangle 2">
            <a:extLst>
              <a:ext uri="{FF2B5EF4-FFF2-40B4-BE49-F238E27FC236}">
                <a16:creationId xmlns:a16="http://schemas.microsoft.com/office/drawing/2014/main" id="{0F8B4306-279C-FC68-64F2-2277B0588110}"/>
              </a:ext>
            </a:extLst>
          </p:cNvPr>
          <p:cNvSpPr/>
          <p:nvPr/>
        </p:nvSpPr>
        <p:spPr>
          <a:xfrm>
            <a:off x="336884" y="4572000"/>
            <a:ext cx="8656721" cy="190098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4" name="TextBox 3">
            <a:extLst>
              <a:ext uri="{FF2B5EF4-FFF2-40B4-BE49-F238E27FC236}">
                <a16:creationId xmlns:a16="http://schemas.microsoft.com/office/drawing/2014/main" id="{94A3927F-2AA6-61A2-9227-8C3459C1A680}"/>
              </a:ext>
            </a:extLst>
          </p:cNvPr>
          <p:cNvSpPr txBox="1"/>
          <p:nvPr/>
        </p:nvSpPr>
        <p:spPr>
          <a:xfrm>
            <a:off x="433136" y="4671627"/>
            <a:ext cx="1917641" cy="523220"/>
          </a:xfrm>
          <a:prstGeom prst="rect">
            <a:avLst/>
          </a:prstGeom>
          <a:noFill/>
        </p:spPr>
        <p:txBody>
          <a:bodyPr wrap="none" rtlCol="0">
            <a:spAutoFit/>
          </a:bodyPr>
          <a:lstStyle/>
          <a:p>
            <a:r>
              <a:rPr lang="en-US" sz="2800" dirty="0"/>
              <a:t>Base theory</a:t>
            </a:r>
          </a:p>
        </p:txBody>
      </p:sp>
      <p:sp>
        <p:nvSpPr>
          <p:cNvPr id="7" name="TextBox 6">
            <a:extLst>
              <a:ext uri="{FF2B5EF4-FFF2-40B4-BE49-F238E27FC236}">
                <a16:creationId xmlns:a16="http://schemas.microsoft.com/office/drawing/2014/main" id="{E60F39BB-F39A-7617-4D45-9930E773C775}"/>
              </a:ext>
            </a:extLst>
          </p:cNvPr>
          <p:cNvSpPr txBox="1"/>
          <p:nvPr/>
        </p:nvSpPr>
        <p:spPr>
          <a:xfrm>
            <a:off x="572975" y="1887820"/>
            <a:ext cx="3857916" cy="1323439"/>
          </a:xfrm>
          <a:prstGeom prst="rect">
            <a:avLst/>
          </a:prstGeom>
          <a:noFill/>
        </p:spPr>
        <p:txBody>
          <a:bodyPr wrap="none" rtlCol="0">
            <a:spAutoFit/>
          </a:bodyPr>
          <a:lstStyle/>
          <a:p>
            <a:pPr algn="ctr"/>
            <a:r>
              <a:rPr lang="en-US" sz="4000" dirty="0"/>
              <a:t>Classical angular</a:t>
            </a:r>
            <a:br>
              <a:rPr lang="en-US" sz="4000" dirty="0"/>
            </a:br>
            <a:r>
              <a:rPr lang="en-US" sz="4000" dirty="0"/>
              <a:t>mom. + evolution</a:t>
            </a:r>
          </a:p>
        </p:txBody>
      </p:sp>
      <p:sp>
        <p:nvSpPr>
          <p:cNvPr id="8" name="TextBox 7">
            <a:extLst>
              <a:ext uri="{FF2B5EF4-FFF2-40B4-BE49-F238E27FC236}">
                <a16:creationId xmlns:a16="http://schemas.microsoft.com/office/drawing/2014/main" id="{F9782261-98C6-D586-FA29-E98784B7E4BC}"/>
              </a:ext>
            </a:extLst>
          </p:cNvPr>
          <p:cNvSpPr txBox="1"/>
          <p:nvPr/>
        </p:nvSpPr>
        <p:spPr>
          <a:xfrm>
            <a:off x="5033001" y="1882941"/>
            <a:ext cx="3591111" cy="1323439"/>
          </a:xfrm>
          <a:prstGeom prst="rect">
            <a:avLst/>
          </a:prstGeom>
          <a:noFill/>
        </p:spPr>
        <p:txBody>
          <a:bodyPr wrap="none" rtlCol="0">
            <a:spAutoFit/>
          </a:bodyPr>
          <a:lstStyle/>
          <a:p>
            <a:pPr algn="ctr"/>
            <a:r>
              <a:rPr lang="en-US" sz="4000" dirty="0"/>
              <a:t>Quantum spin ½</a:t>
            </a:r>
            <a:br>
              <a:rPr lang="en-US" sz="4000" dirty="0"/>
            </a:br>
            <a:r>
              <a:rPr lang="en-US" sz="4000" dirty="0"/>
              <a:t>+ evolution</a:t>
            </a:r>
          </a:p>
        </p:txBody>
      </p:sp>
      <p:sp>
        <p:nvSpPr>
          <p:cNvPr id="6" name="Rectangle 5">
            <a:extLst>
              <a:ext uri="{FF2B5EF4-FFF2-40B4-BE49-F238E27FC236}">
                <a16:creationId xmlns:a16="http://schemas.microsoft.com/office/drawing/2014/main" id="{377FA3F3-EF7C-F3F5-1DB8-AEF43BF169AB}"/>
              </a:ext>
            </a:extLst>
          </p:cNvPr>
          <p:cNvSpPr/>
          <p:nvPr/>
        </p:nvSpPr>
        <p:spPr>
          <a:xfrm>
            <a:off x="4663508" y="3393485"/>
            <a:ext cx="4330096" cy="11777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0" name="TextBox 9">
            <a:extLst>
              <a:ext uri="{FF2B5EF4-FFF2-40B4-BE49-F238E27FC236}">
                <a16:creationId xmlns:a16="http://schemas.microsoft.com/office/drawing/2014/main" id="{E565A7DC-A10D-A4DE-D1DE-AEC082794E37}"/>
              </a:ext>
            </a:extLst>
          </p:cNvPr>
          <p:cNvSpPr txBox="1"/>
          <p:nvPr/>
        </p:nvSpPr>
        <p:spPr>
          <a:xfrm>
            <a:off x="5386672" y="3560112"/>
            <a:ext cx="3160289" cy="830997"/>
          </a:xfrm>
          <a:prstGeom prst="rect">
            <a:avLst/>
          </a:prstGeom>
          <a:noFill/>
        </p:spPr>
        <p:txBody>
          <a:bodyPr wrap="none" rtlCol="0">
            <a:spAutoFit/>
          </a:bodyPr>
          <a:lstStyle/>
          <a:p>
            <a:pPr algn="ctr"/>
            <a:r>
              <a:rPr lang="en-US" sz="2400" dirty="0"/>
              <a:t>Ensembles identified by</a:t>
            </a:r>
            <a:br>
              <a:rPr lang="en-US" sz="2400" dirty="0"/>
            </a:br>
            <a:r>
              <a:rPr lang="en-US" sz="2400" dirty="0"/>
              <a:t>points of a ball</a:t>
            </a:r>
          </a:p>
        </p:txBody>
      </p:sp>
      <p:sp>
        <p:nvSpPr>
          <p:cNvPr id="12" name="Rectangle 11">
            <a:extLst>
              <a:ext uri="{FF2B5EF4-FFF2-40B4-BE49-F238E27FC236}">
                <a16:creationId xmlns:a16="http://schemas.microsoft.com/office/drawing/2014/main" id="{E2195718-F896-597E-0683-E123F7B41D8A}"/>
              </a:ext>
            </a:extLst>
          </p:cNvPr>
          <p:cNvSpPr/>
          <p:nvPr/>
        </p:nvSpPr>
        <p:spPr>
          <a:xfrm>
            <a:off x="336885" y="3392150"/>
            <a:ext cx="4330096" cy="11777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3" name="TextBox 12">
            <a:extLst>
              <a:ext uri="{FF2B5EF4-FFF2-40B4-BE49-F238E27FC236}">
                <a16:creationId xmlns:a16="http://schemas.microsoft.com/office/drawing/2014/main" id="{4CACFFE8-A5F3-0599-0691-5BC6FEFAC070}"/>
              </a:ext>
            </a:extLst>
          </p:cNvPr>
          <p:cNvSpPr txBox="1"/>
          <p:nvPr/>
        </p:nvSpPr>
        <p:spPr>
          <a:xfrm>
            <a:off x="914190" y="3565504"/>
            <a:ext cx="3175486" cy="830997"/>
          </a:xfrm>
          <a:prstGeom prst="rect">
            <a:avLst/>
          </a:prstGeom>
          <a:noFill/>
        </p:spPr>
        <p:txBody>
          <a:bodyPr wrap="none" rtlCol="0">
            <a:spAutoFit/>
          </a:bodyPr>
          <a:lstStyle/>
          <a:p>
            <a:pPr algn="ctr"/>
            <a:r>
              <a:rPr lang="en-US" sz="2400" dirty="0"/>
              <a:t>Ensembles identified by</a:t>
            </a:r>
            <a:br>
              <a:rPr lang="en-US" sz="2400" dirty="0"/>
            </a:br>
            <a:r>
              <a:rPr lang="en-US" sz="2400" dirty="0"/>
              <a:t>probability densities</a:t>
            </a:r>
          </a:p>
        </p:txBody>
      </p:sp>
      <p:sp>
        <p:nvSpPr>
          <p:cNvPr id="9" name="TextBox 8">
            <a:extLst>
              <a:ext uri="{FF2B5EF4-FFF2-40B4-BE49-F238E27FC236}">
                <a16:creationId xmlns:a16="http://schemas.microsoft.com/office/drawing/2014/main" id="{C4E7A335-1611-5DA3-33D5-F61FC6CBFF34}"/>
              </a:ext>
            </a:extLst>
          </p:cNvPr>
          <p:cNvSpPr txBox="1"/>
          <p:nvPr/>
        </p:nvSpPr>
        <p:spPr>
          <a:xfrm>
            <a:off x="2163009" y="5827718"/>
            <a:ext cx="6207661" cy="523220"/>
          </a:xfrm>
          <a:prstGeom prst="rect">
            <a:avLst/>
          </a:prstGeom>
          <a:noFill/>
        </p:spPr>
        <p:txBody>
          <a:bodyPr wrap="none" rtlCol="0">
            <a:spAutoFit/>
          </a:bodyPr>
          <a:lstStyle/>
          <a:p>
            <a:r>
              <a:rPr lang="en-US" sz="2800" dirty="0"/>
              <a:t>Time evolution: affine map on ensembles</a:t>
            </a:r>
          </a:p>
        </p:txBody>
      </p:sp>
      <p:sp>
        <p:nvSpPr>
          <p:cNvPr id="11" name="TextBox 10">
            <a:extLst>
              <a:ext uri="{FF2B5EF4-FFF2-40B4-BE49-F238E27FC236}">
                <a16:creationId xmlns:a16="http://schemas.microsoft.com/office/drawing/2014/main" id="{AC5ABD8F-5B9D-FC99-1361-AEF890650C63}"/>
              </a:ext>
            </a:extLst>
          </p:cNvPr>
          <p:cNvSpPr txBox="1"/>
          <p:nvPr/>
        </p:nvSpPr>
        <p:spPr>
          <a:xfrm>
            <a:off x="2733101" y="4792882"/>
            <a:ext cx="5067477" cy="523220"/>
          </a:xfrm>
          <a:prstGeom prst="rect">
            <a:avLst/>
          </a:prstGeom>
          <a:noFill/>
        </p:spPr>
        <p:txBody>
          <a:bodyPr wrap="none" rtlCol="0">
            <a:spAutoFit/>
          </a:bodyPr>
          <a:lstStyle/>
          <a:p>
            <a:r>
              <a:rPr lang="en-US" sz="2800" dirty="0"/>
              <a:t>Space of states, given by a sphere</a:t>
            </a:r>
          </a:p>
        </p:txBody>
      </p:sp>
      <p:sp>
        <p:nvSpPr>
          <p:cNvPr id="14" name="TextBox 13">
            <a:extLst>
              <a:ext uri="{FF2B5EF4-FFF2-40B4-BE49-F238E27FC236}">
                <a16:creationId xmlns:a16="http://schemas.microsoft.com/office/drawing/2014/main" id="{CFDC5E6C-E1AA-6FAD-DF7B-F294B5627D45}"/>
              </a:ext>
            </a:extLst>
          </p:cNvPr>
          <p:cNvSpPr txBox="1"/>
          <p:nvPr/>
        </p:nvSpPr>
        <p:spPr>
          <a:xfrm>
            <a:off x="2512047" y="5310300"/>
            <a:ext cx="5509585" cy="523220"/>
          </a:xfrm>
          <a:prstGeom prst="rect">
            <a:avLst/>
          </a:prstGeom>
          <a:noFill/>
        </p:spPr>
        <p:txBody>
          <a:bodyPr wrap="none" rtlCol="0">
            <a:spAutoFit/>
          </a:bodyPr>
          <a:lstStyle/>
          <a:p>
            <a:r>
              <a:rPr lang="en-US" sz="2800" dirty="0"/>
              <a:t>Space of ensembles, allows mixtures</a:t>
            </a:r>
          </a:p>
        </p:txBody>
      </p:sp>
    </p:spTree>
    <p:extLst>
      <p:ext uri="{BB962C8B-B14F-4D97-AF65-F5344CB8AC3E}">
        <p14:creationId xmlns:p14="http://schemas.microsoft.com/office/powerpoint/2010/main" val="93549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6" grpId="0" animBg="1"/>
      <p:bldP spid="10" grpId="0"/>
      <p:bldP spid="12" grpId="0" animBg="1"/>
      <p:bldP spid="13"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2D38D0-C91A-5B01-1A1F-06573170A774}"/>
              </a:ext>
            </a:extLst>
          </p:cNvPr>
          <p:cNvSpPr txBox="1"/>
          <p:nvPr/>
        </p:nvSpPr>
        <p:spPr>
          <a:xfrm>
            <a:off x="1816433" y="629304"/>
            <a:ext cx="8559138" cy="1200329"/>
          </a:xfrm>
          <a:prstGeom prst="rect">
            <a:avLst/>
          </a:prstGeom>
          <a:noFill/>
        </p:spPr>
        <p:txBody>
          <a:bodyPr wrap="none" rtlCol="0">
            <a:spAutoFit/>
          </a:bodyPr>
          <a:lstStyle/>
          <a:p>
            <a:pPr algn="ctr"/>
            <a:r>
              <a:rPr lang="en-US" sz="3600" dirty="0">
                <a:solidFill>
                  <a:srgbClr val="C00000"/>
                </a:solidFill>
              </a:rPr>
              <a:t>You can’t understand quantum mechanics</a:t>
            </a:r>
            <a:br>
              <a:rPr lang="en-US" sz="3600" dirty="0">
                <a:solidFill>
                  <a:srgbClr val="C00000"/>
                </a:solidFill>
              </a:rPr>
            </a:br>
            <a:r>
              <a:rPr lang="en-US" sz="3600" dirty="0">
                <a:solidFill>
                  <a:srgbClr val="C00000"/>
                </a:solidFill>
              </a:rPr>
              <a:t>without understanding statistical mechanics!</a:t>
            </a:r>
          </a:p>
        </p:txBody>
      </p:sp>
      <p:sp>
        <p:nvSpPr>
          <p:cNvPr id="3" name="TextBox 2">
            <a:extLst>
              <a:ext uri="{FF2B5EF4-FFF2-40B4-BE49-F238E27FC236}">
                <a16:creationId xmlns:a16="http://schemas.microsoft.com/office/drawing/2014/main" id="{0083BCE4-B31C-5C45-3EC2-AA23757884B6}"/>
              </a:ext>
            </a:extLst>
          </p:cNvPr>
          <p:cNvSpPr txBox="1"/>
          <p:nvPr/>
        </p:nvSpPr>
        <p:spPr>
          <a:xfrm>
            <a:off x="540025" y="2237710"/>
            <a:ext cx="11111953" cy="1754326"/>
          </a:xfrm>
          <a:prstGeom prst="rect">
            <a:avLst/>
          </a:prstGeom>
          <a:noFill/>
        </p:spPr>
        <p:txBody>
          <a:bodyPr wrap="none" rtlCol="0">
            <a:spAutoFit/>
          </a:bodyPr>
          <a:lstStyle/>
          <a:p>
            <a:pPr algn="ctr"/>
            <a:r>
              <a:rPr lang="en-US" sz="3600" dirty="0">
                <a:solidFill>
                  <a:srgbClr val="C00000"/>
                </a:solidFill>
              </a:rPr>
              <a:t>Any quantum interpretation</a:t>
            </a:r>
            <a:br>
              <a:rPr lang="en-US" sz="3600" dirty="0">
                <a:solidFill>
                  <a:srgbClr val="C00000"/>
                </a:solidFill>
              </a:rPr>
            </a:br>
            <a:r>
              <a:rPr lang="en-US" sz="3600" dirty="0">
                <a:solidFill>
                  <a:srgbClr val="C00000"/>
                </a:solidFill>
              </a:rPr>
              <a:t>that does not take quantum statistical mechanics seriously</a:t>
            </a:r>
            <a:br>
              <a:rPr lang="en-US" sz="3600" dirty="0">
                <a:solidFill>
                  <a:srgbClr val="C00000"/>
                </a:solidFill>
              </a:rPr>
            </a:br>
            <a:r>
              <a:rPr lang="en-US" sz="3600" dirty="0">
                <a:solidFill>
                  <a:srgbClr val="C00000"/>
                </a:solidFill>
              </a:rPr>
              <a:t>is a waste of time!</a:t>
            </a:r>
          </a:p>
        </p:txBody>
      </p:sp>
    </p:spTree>
    <p:extLst>
      <p:ext uri="{BB962C8B-B14F-4D97-AF65-F5344CB8AC3E}">
        <p14:creationId xmlns:p14="http://schemas.microsoft.com/office/powerpoint/2010/main" val="373696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86CE7D-B0F0-6F8D-E05C-017161FD22CD}"/>
              </a:ext>
            </a:extLst>
          </p:cNvPr>
          <p:cNvSpPr txBox="1"/>
          <p:nvPr/>
        </p:nvSpPr>
        <p:spPr>
          <a:xfrm>
            <a:off x="2695229" y="1211462"/>
            <a:ext cx="6801542" cy="954107"/>
          </a:xfrm>
          <a:prstGeom prst="rect">
            <a:avLst/>
          </a:prstGeom>
          <a:noFill/>
        </p:spPr>
        <p:txBody>
          <a:bodyPr wrap="none" rtlCol="0">
            <a:spAutoFit/>
          </a:bodyPr>
          <a:lstStyle/>
          <a:p>
            <a:pPr algn="ctr"/>
            <a:r>
              <a:rPr lang="en-US" sz="2800" dirty="0"/>
              <a:t>Because physics is about finding relationships</a:t>
            </a:r>
            <a:br>
              <a:rPr lang="en-US" sz="2800" dirty="0"/>
            </a:br>
            <a:r>
              <a:rPr lang="en-US" sz="2800" dirty="0"/>
              <a:t> that can be reproduced experimentally</a:t>
            </a:r>
          </a:p>
        </p:txBody>
      </p:sp>
      <p:sp>
        <p:nvSpPr>
          <p:cNvPr id="3" name="TextBox 2">
            <a:extLst>
              <a:ext uri="{FF2B5EF4-FFF2-40B4-BE49-F238E27FC236}">
                <a16:creationId xmlns:a16="http://schemas.microsoft.com/office/drawing/2014/main" id="{E061A871-DEF6-6EC1-A4BF-9D60410A8B2F}"/>
              </a:ext>
            </a:extLst>
          </p:cNvPr>
          <p:cNvSpPr txBox="1"/>
          <p:nvPr/>
        </p:nvSpPr>
        <p:spPr>
          <a:xfrm>
            <a:off x="3381604" y="2280621"/>
            <a:ext cx="5428794" cy="523220"/>
          </a:xfrm>
          <a:prstGeom prst="rect">
            <a:avLst/>
          </a:prstGeom>
          <a:noFill/>
        </p:spPr>
        <p:txBody>
          <a:bodyPr wrap="none" rtlCol="0">
            <a:spAutoFit/>
          </a:bodyPr>
          <a:lstStyle/>
          <a:p>
            <a:pPr algn="ctr"/>
            <a:r>
              <a:rPr lang="en-US" sz="2800" dirty="0"/>
              <a:t>“Every time that I do this, I get that”</a:t>
            </a:r>
          </a:p>
        </p:txBody>
      </p:sp>
      <p:sp>
        <p:nvSpPr>
          <p:cNvPr id="4" name="TextBox 3">
            <a:extLst>
              <a:ext uri="{FF2B5EF4-FFF2-40B4-BE49-F238E27FC236}">
                <a16:creationId xmlns:a16="http://schemas.microsoft.com/office/drawing/2014/main" id="{4E9B10F9-510C-F9D9-98E8-2FFCDD3E0994}"/>
              </a:ext>
            </a:extLst>
          </p:cNvPr>
          <p:cNvSpPr txBox="1"/>
          <p:nvPr/>
        </p:nvSpPr>
        <p:spPr>
          <a:xfrm>
            <a:off x="2659675" y="3557166"/>
            <a:ext cx="6872651" cy="1384995"/>
          </a:xfrm>
          <a:prstGeom prst="rect">
            <a:avLst/>
          </a:prstGeom>
          <a:noFill/>
        </p:spPr>
        <p:txBody>
          <a:bodyPr wrap="none" rtlCol="0">
            <a:spAutoFit/>
          </a:bodyPr>
          <a:lstStyle/>
          <a:p>
            <a:pPr algn="ctr"/>
            <a:r>
              <a:rPr lang="en-US" sz="2800" dirty="0"/>
              <a:t>We must be able to prepare these ensembles,</a:t>
            </a:r>
            <a:br>
              <a:rPr lang="en-US" sz="2800" dirty="0"/>
            </a:br>
            <a:r>
              <a:rPr lang="en-US" sz="2800" dirty="0"/>
              <a:t>and quantum mechanics is about the inability</a:t>
            </a:r>
            <a:br>
              <a:rPr lang="en-US" sz="2800" dirty="0"/>
            </a:br>
            <a:r>
              <a:rPr lang="en-US" sz="2800" dirty="0"/>
              <a:t>of preparing perfect ensembles</a:t>
            </a:r>
          </a:p>
        </p:txBody>
      </p:sp>
      <p:sp>
        <p:nvSpPr>
          <p:cNvPr id="5" name="TextBox 4">
            <a:extLst>
              <a:ext uri="{FF2B5EF4-FFF2-40B4-BE49-F238E27FC236}">
                <a16:creationId xmlns:a16="http://schemas.microsoft.com/office/drawing/2014/main" id="{988438D5-4652-A4AD-E585-6F3684077D3C}"/>
              </a:ext>
            </a:extLst>
          </p:cNvPr>
          <p:cNvSpPr txBox="1"/>
          <p:nvPr/>
        </p:nvSpPr>
        <p:spPr>
          <a:xfrm>
            <a:off x="2307784" y="2918893"/>
            <a:ext cx="7576434" cy="523220"/>
          </a:xfrm>
          <a:prstGeom prst="rect">
            <a:avLst/>
          </a:prstGeom>
          <a:noFill/>
        </p:spPr>
        <p:txBody>
          <a:bodyPr wrap="none" rtlCol="0">
            <a:spAutoFit/>
          </a:bodyPr>
          <a:lstStyle/>
          <a:p>
            <a:pPr algn="ctr"/>
            <a:r>
              <a:rPr lang="en-US" sz="2800" dirty="0"/>
              <a:t>Physical laws are relationships between ensembles</a:t>
            </a:r>
          </a:p>
        </p:txBody>
      </p:sp>
      <p:sp>
        <p:nvSpPr>
          <p:cNvPr id="6" name="TextBox 5">
            <a:extLst>
              <a:ext uri="{FF2B5EF4-FFF2-40B4-BE49-F238E27FC236}">
                <a16:creationId xmlns:a16="http://schemas.microsoft.com/office/drawing/2014/main" id="{D83B2629-89A2-6108-7EAE-C7399A5DDD97}"/>
              </a:ext>
            </a:extLst>
          </p:cNvPr>
          <p:cNvSpPr txBox="1"/>
          <p:nvPr/>
        </p:nvSpPr>
        <p:spPr>
          <a:xfrm>
            <a:off x="1214760" y="265446"/>
            <a:ext cx="9762481" cy="646331"/>
          </a:xfrm>
          <a:prstGeom prst="rect">
            <a:avLst/>
          </a:prstGeom>
          <a:noFill/>
        </p:spPr>
        <p:txBody>
          <a:bodyPr wrap="none" rtlCol="0">
            <a:spAutoFit/>
          </a:bodyPr>
          <a:lstStyle/>
          <a:p>
            <a:r>
              <a:rPr lang="en-US" sz="3600" dirty="0">
                <a:solidFill>
                  <a:schemeClr val="accent6">
                    <a:lumMod val="75000"/>
                  </a:schemeClr>
                </a:solidFill>
              </a:rPr>
              <a:t>Why are ensembles (and entropy) so fundamental?</a:t>
            </a:r>
          </a:p>
        </p:txBody>
      </p:sp>
    </p:spTree>
    <p:extLst>
      <p:ext uri="{BB962C8B-B14F-4D97-AF65-F5344CB8AC3E}">
        <p14:creationId xmlns:p14="http://schemas.microsoft.com/office/powerpoint/2010/main" val="222949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479808"/>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32180</TotalTime>
  <Words>1720</Words>
  <Application>Microsoft Office PowerPoint</Application>
  <PresentationFormat>Widescreen</PresentationFormat>
  <Paragraphs>117</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Cambria Math</vt:lpstr>
      <vt:lpstr>Office Theme</vt:lpstr>
      <vt:lpstr>No Physics without statistics Pure states are not enough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187</cp:revision>
  <dcterms:created xsi:type="dcterms:W3CDTF">2021-04-07T15:17:47Z</dcterms:created>
  <dcterms:modified xsi:type="dcterms:W3CDTF">2026-01-23T21:59:14Z</dcterms:modified>
</cp:coreProperties>
</file>