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934" r:id="rId2"/>
    <p:sldId id="935" r:id="rId3"/>
    <p:sldId id="936" r:id="rId4"/>
    <p:sldId id="937" r:id="rId5"/>
    <p:sldId id="938" r:id="rId6"/>
    <p:sldId id="940" r:id="rId7"/>
    <p:sldId id="941" r:id="rId8"/>
    <p:sldId id="942" r:id="rId9"/>
    <p:sldId id="944" r:id="rId10"/>
    <p:sldId id="945" r:id="rId11"/>
    <p:sldId id="947" r:id="rId12"/>
    <p:sldId id="946" r:id="rId13"/>
    <p:sldId id="943" r:id="rId14"/>
    <p:sldId id="93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87443" autoAdjust="0"/>
  </p:normalViewPr>
  <p:slideViewPr>
    <p:cSldViewPr snapToGrid="0">
      <p:cViewPr varScale="1">
        <p:scale>
          <a:sx n="65" d="100"/>
          <a:sy n="65" d="100"/>
        </p:scale>
        <p:origin x="66" y="1584"/>
      </p:cViewPr>
      <p:guideLst/>
    </p:cSldViewPr>
  </p:slideViewPr>
  <p:outlineViewPr>
    <p:cViewPr>
      <p:scale>
        <a:sx n="33" d="100"/>
        <a:sy n="33" d="100"/>
      </p:scale>
      <p:origin x="0" y="-9029"/>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19C704-B8F9-449B-B828-36D786A1FE73}" type="datetimeFigureOut">
              <a:rPr lang="en-US" smtClean="0"/>
              <a:t>2/28/2026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54F452-85BD-4268-B680-C313DBFDCEB3}" type="slidenum">
              <a:rPr lang="en-US" smtClean="0"/>
              <a:t>‹#›</a:t>
            </a:fld>
            <a:endParaRPr lang="en-US"/>
          </a:p>
        </p:txBody>
      </p:sp>
    </p:spTree>
    <p:extLst>
      <p:ext uri="{BB962C8B-B14F-4D97-AF65-F5344CB8AC3E}">
        <p14:creationId xmlns:p14="http://schemas.microsoft.com/office/powerpoint/2010/main" val="843431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Superpositions! One of the most mischaracterized features of quantum mechanics. Quantum systems can be in a superposition state, where they are in multiple states at once before you measure! No. So, first we are going to see that quantum systems are always in a single state and that there are no “superposition states,” though you can express any state as a superposition, a linear combination, of others. Just like you do for vectors that describe directions in space. Then we are going to see how and, most importantly, why the linearity we use for directions in space is different than the linearity we use for quantum states, why we often “divide angles by two” in quantum mechanics and why we use complex linear combinations. So, let’s do it!</a:t>
            </a:r>
          </a:p>
          <a:p>
            <a:endParaRPr lang="en-US" dirty="0"/>
          </a:p>
        </p:txBody>
      </p:sp>
      <p:sp>
        <p:nvSpPr>
          <p:cNvPr id="4" name="Slide Number Placeholder 3"/>
          <p:cNvSpPr>
            <a:spLocks noGrp="1"/>
          </p:cNvSpPr>
          <p:nvPr>
            <p:ph type="sldNum" sz="quarter" idx="5"/>
          </p:nvPr>
        </p:nvSpPr>
        <p:spPr/>
        <p:txBody>
          <a:bodyPr/>
          <a:lstStyle/>
          <a:p>
            <a:fld id="{A154F452-85BD-4268-B680-C313DBFDCEB3}" type="slidenum">
              <a:rPr lang="en-US" smtClean="0"/>
              <a:t>1</a:t>
            </a:fld>
            <a:endParaRPr lang="en-US"/>
          </a:p>
        </p:txBody>
      </p:sp>
    </p:spTree>
    <p:extLst>
      <p:ext uri="{BB962C8B-B14F-4D97-AF65-F5344CB8AC3E}">
        <p14:creationId xmlns:p14="http://schemas.microsoft.com/office/powerpoint/2010/main" val="18106900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FB9D-FE32-4608-A322-879EB604C4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2BEF24-38DB-414B-9143-835F94C545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649D3D-74DA-4CF4-9D8A-35BEC589E886}"/>
              </a:ext>
            </a:extLst>
          </p:cNvPr>
          <p:cNvSpPr>
            <a:spLocks noGrp="1"/>
          </p:cNvSpPr>
          <p:nvPr>
            <p:ph type="dt" sz="half" idx="10"/>
          </p:nvPr>
        </p:nvSpPr>
        <p:spPr/>
        <p:txBody>
          <a:bodyPr/>
          <a:lstStyle/>
          <a:p>
            <a:fld id="{46E33BD1-BDB8-4376-AAF8-3A003435480C}" type="datetime1">
              <a:rPr lang="en-US" smtClean="0"/>
              <a:t>2/28/2026</a:t>
            </a:fld>
            <a:endParaRPr lang="en-US"/>
          </a:p>
        </p:txBody>
      </p:sp>
      <p:sp>
        <p:nvSpPr>
          <p:cNvPr id="5" name="Footer Placeholder 4">
            <a:extLst>
              <a:ext uri="{FF2B5EF4-FFF2-40B4-BE49-F238E27FC236}">
                <a16:creationId xmlns:a16="http://schemas.microsoft.com/office/drawing/2014/main" id="{C3B2A6A3-4127-48D5-9784-9FE0EA9F2B0E}"/>
              </a:ext>
            </a:extLst>
          </p:cNvPr>
          <p:cNvSpPr>
            <a:spLocks noGrp="1"/>
          </p:cNvSpPr>
          <p:nvPr>
            <p:ph type="ftr" sz="quarter" idx="11"/>
          </p:nvPr>
        </p:nvSpPr>
        <p:spPr/>
        <p:txBody>
          <a:bodyPr/>
          <a:lstStyle/>
          <a:p>
            <a:r>
              <a:rPr lang="en-US"/>
              <a:t>Gabriele Carcassi - Physics Department - University of Michigan</a:t>
            </a:r>
          </a:p>
        </p:txBody>
      </p:sp>
      <p:sp>
        <p:nvSpPr>
          <p:cNvPr id="6" name="Slide Number Placeholder 5">
            <a:extLst>
              <a:ext uri="{FF2B5EF4-FFF2-40B4-BE49-F238E27FC236}">
                <a16:creationId xmlns:a16="http://schemas.microsoft.com/office/drawing/2014/main" id="{747A031F-D251-4900-90B5-0DBC5EEB8B53}"/>
              </a:ext>
            </a:extLst>
          </p:cNvPr>
          <p:cNvSpPr>
            <a:spLocks noGrp="1"/>
          </p:cNvSpPr>
          <p:nvPr>
            <p:ph type="sldNum" sz="quarter" idx="12"/>
          </p:nvPr>
        </p:nvSpPr>
        <p:spPr/>
        <p:txBody>
          <a:bodyPr/>
          <a:lstStyle/>
          <a:p>
            <a:fld id="{F47845EA-7733-40EE-B074-20032348B727}" type="slidenum">
              <a:rPr lang="en-US" smtClean="0"/>
              <a:t>‹#›</a:t>
            </a:fld>
            <a:endParaRPr lang="en-US"/>
          </a:p>
        </p:txBody>
      </p:sp>
      <p:sp>
        <p:nvSpPr>
          <p:cNvPr id="9" name="Oval 8">
            <a:extLst>
              <a:ext uri="{FF2B5EF4-FFF2-40B4-BE49-F238E27FC236}">
                <a16:creationId xmlns:a16="http://schemas.microsoft.com/office/drawing/2014/main" id="{3AF2D39E-1CF2-6C35-A74E-C2E85F817FF0}"/>
              </a:ext>
            </a:extLst>
          </p:cNvPr>
          <p:cNvSpPr/>
          <p:nvPr userDrawn="1"/>
        </p:nvSpPr>
        <p:spPr>
          <a:xfrm>
            <a:off x="9442580" y="4170784"/>
            <a:ext cx="2674054" cy="2668555"/>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3" name="Picture 12">
            <a:extLst>
              <a:ext uri="{FF2B5EF4-FFF2-40B4-BE49-F238E27FC236}">
                <a16:creationId xmlns:a16="http://schemas.microsoft.com/office/drawing/2014/main" id="{803588DA-AF3D-0538-FED6-B91B80D9B0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41405" y="4365482"/>
            <a:ext cx="1676403" cy="1523725"/>
          </a:xfrm>
          <a:prstGeom prst="rect">
            <a:avLst/>
          </a:prstGeom>
        </p:spPr>
      </p:pic>
      <p:pic>
        <p:nvPicPr>
          <p:cNvPr id="15" name="Picture 14">
            <a:extLst>
              <a:ext uri="{FF2B5EF4-FFF2-40B4-BE49-F238E27FC236}">
                <a16:creationId xmlns:a16="http://schemas.microsoft.com/office/drawing/2014/main" id="{4EEE5F5B-B632-2F49-E623-5C0F89CE0E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664754" y="5933727"/>
            <a:ext cx="2229706" cy="756859"/>
          </a:xfrm>
          <a:prstGeom prst="rect">
            <a:avLst/>
          </a:prstGeom>
        </p:spPr>
      </p:pic>
      <p:pic>
        <p:nvPicPr>
          <p:cNvPr id="16" name="Picture 15">
            <a:extLst>
              <a:ext uri="{FF2B5EF4-FFF2-40B4-BE49-F238E27FC236}">
                <a16:creationId xmlns:a16="http://schemas.microsoft.com/office/drawing/2014/main" id="{9AE0316C-62B2-770F-A578-C8D4BEA5ED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2032" y="4433212"/>
            <a:ext cx="1676403" cy="1523725"/>
          </a:xfrm>
          <a:prstGeom prst="rect">
            <a:avLst/>
          </a:prstGeom>
        </p:spPr>
      </p:pic>
      <p:pic>
        <p:nvPicPr>
          <p:cNvPr id="17" name="Picture 16">
            <a:extLst>
              <a:ext uri="{FF2B5EF4-FFF2-40B4-BE49-F238E27FC236}">
                <a16:creationId xmlns:a16="http://schemas.microsoft.com/office/drawing/2014/main" id="{730B28FF-2283-988B-15E2-3907B103BE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5381" y="6001457"/>
            <a:ext cx="2229706" cy="756859"/>
          </a:xfrm>
          <a:prstGeom prst="rect">
            <a:avLst/>
          </a:prstGeom>
        </p:spPr>
      </p:pic>
    </p:spTree>
    <p:extLst>
      <p:ext uri="{BB962C8B-B14F-4D97-AF65-F5344CB8AC3E}">
        <p14:creationId xmlns:p14="http://schemas.microsoft.com/office/powerpoint/2010/main" val="2314530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xit" presetSubtype="0" fill="hold" grpId="1" nodeType="withEffect">
                                  <p:stCondLst>
                                    <p:cond delay="0"/>
                                  </p:stCondLst>
                                  <p:childTnLst>
                                    <p:set>
                                      <p:cBhvr>
                                        <p:cTn id="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2083A-4E98-4B0F-9BE9-89B3801C59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3EDFED-B2F5-4E8E-B7CC-56CC10C1C4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65BC790-453E-4FDF-8576-041B1DF9865E}"/>
              </a:ext>
            </a:extLst>
          </p:cNvPr>
          <p:cNvSpPr>
            <a:spLocks noGrp="1"/>
          </p:cNvSpPr>
          <p:nvPr>
            <p:ph type="ftr" sz="quarter" idx="11"/>
          </p:nvPr>
        </p:nvSpPr>
        <p:spPr/>
        <p:txBody>
          <a:bodyPr/>
          <a:lstStyle/>
          <a:p>
            <a:r>
              <a:rPr lang="en-US"/>
              <a:t>Gabriele Carcassi - Physics Department - University of Michigan</a:t>
            </a:r>
          </a:p>
        </p:txBody>
      </p:sp>
      <p:sp>
        <p:nvSpPr>
          <p:cNvPr id="9" name="Date Placeholder 8">
            <a:extLst>
              <a:ext uri="{FF2B5EF4-FFF2-40B4-BE49-F238E27FC236}">
                <a16:creationId xmlns:a16="http://schemas.microsoft.com/office/drawing/2014/main" id="{0BC8FBAB-8131-440B-982D-5FFA7A53024B}"/>
              </a:ext>
            </a:extLst>
          </p:cNvPr>
          <p:cNvSpPr>
            <a:spLocks noGrp="1"/>
          </p:cNvSpPr>
          <p:nvPr>
            <p:ph type="dt" sz="half" idx="12"/>
          </p:nvPr>
        </p:nvSpPr>
        <p:spPr/>
        <p:txBody>
          <a:bodyPr/>
          <a:lstStyle/>
          <a:p>
            <a:fld id="{62632B5B-3D6C-4612-9889-D56772AB65F7}" type="datetime1">
              <a:rPr lang="en-US" smtClean="0"/>
              <a:t>2/28/2026</a:t>
            </a:fld>
            <a:endParaRPr lang="en-US" dirty="0"/>
          </a:p>
        </p:txBody>
      </p:sp>
      <p:sp>
        <p:nvSpPr>
          <p:cNvPr id="10" name="Slide Number Placeholder 9">
            <a:extLst>
              <a:ext uri="{FF2B5EF4-FFF2-40B4-BE49-F238E27FC236}">
                <a16:creationId xmlns:a16="http://schemas.microsoft.com/office/drawing/2014/main" id="{2CD6FF50-33B5-48AA-9106-E41AD3A7C711}"/>
              </a:ext>
            </a:extLst>
          </p:cNvPr>
          <p:cNvSpPr>
            <a:spLocks noGrp="1"/>
          </p:cNvSpPr>
          <p:nvPr>
            <p:ph type="sldNum" sz="quarter" idx="13"/>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327891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ACB5C-4D91-4CEE-A37D-A6D6EA7755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72FF89-CC5E-4ECF-8587-C5477617EC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65818F-79A2-4B99-9E93-0A0D3450941C}"/>
              </a:ext>
            </a:extLst>
          </p:cNvPr>
          <p:cNvSpPr>
            <a:spLocks noGrp="1"/>
          </p:cNvSpPr>
          <p:nvPr>
            <p:ph type="dt" sz="half" idx="10"/>
          </p:nvPr>
        </p:nvSpPr>
        <p:spPr/>
        <p:txBody>
          <a:bodyPr/>
          <a:lstStyle/>
          <a:p>
            <a:fld id="{489234EC-2A19-44A7-B16B-2575145E773E}" type="datetime1">
              <a:rPr lang="en-US" smtClean="0"/>
              <a:t>2/28/2026</a:t>
            </a:fld>
            <a:endParaRPr lang="en-US"/>
          </a:p>
        </p:txBody>
      </p:sp>
      <p:sp>
        <p:nvSpPr>
          <p:cNvPr id="5" name="Footer Placeholder 4">
            <a:extLst>
              <a:ext uri="{FF2B5EF4-FFF2-40B4-BE49-F238E27FC236}">
                <a16:creationId xmlns:a16="http://schemas.microsoft.com/office/drawing/2014/main" id="{A0A0A171-786D-4212-94DA-A3B5DDCBE8FE}"/>
              </a:ext>
            </a:extLst>
          </p:cNvPr>
          <p:cNvSpPr>
            <a:spLocks noGrp="1"/>
          </p:cNvSpPr>
          <p:nvPr>
            <p:ph type="ftr" sz="quarter" idx="11"/>
          </p:nvPr>
        </p:nvSpPr>
        <p:spPr/>
        <p:txBody>
          <a:bodyPr/>
          <a:lstStyle/>
          <a:p>
            <a:r>
              <a:rPr lang="en-US"/>
              <a:t>Gabriele Carcassi - Physics Department - University of Michigan</a:t>
            </a:r>
          </a:p>
        </p:txBody>
      </p:sp>
      <p:sp>
        <p:nvSpPr>
          <p:cNvPr id="6" name="Slide Number Placeholder 5">
            <a:extLst>
              <a:ext uri="{FF2B5EF4-FFF2-40B4-BE49-F238E27FC236}">
                <a16:creationId xmlns:a16="http://schemas.microsoft.com/office/drawing/2014/main" id="{F90C80CF-897E-4A36-9214-10EE125C5239}"/>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878647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8B1A4-D1EF-45A3-9791-016116AFC3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B0615B-3F88-41CF-8B1F-20FB3C7BE2C0}"/>
              </a:ext>
            </a:extLst>
          </p:cNvPr>
          <p:cNvSpPr>
            <a:spLocks noGrp="1"/>
          </p:cNvSpPr>
          <p:nvPr>
            <p:ph sz="half" idx="1"/>
          </p:nvPr>
        </p:nvSpPr>
        <p:spPr>
          <a:xfrm>
            <a:off x="103955" y="1105469"/>
            <a:ext cx="5915845" cy="5071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C97195-09DC-40DF-8642-91B5CEAE2EB1}"/>
              </a:ext>
            </a:extLst>
          </p:cNvPr>
          <p:cNvSpPr>
            <a:spLocks noGrp="1"/>
          </p:cNvSpPr>
          <p:nvPr>
            <p:ph sz="half" idx="2"/>
          </p:nvPr>
        </p:nvSpPr>
        <p:spPr>
          <a:xfrm>
            <a:off x="6172199" y="1105469"/>
            <a:ext cx="5915845" cy="5071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77FD46-DF3C-4CF1-8DB8-AE555EDA6094}"/>
              </a:ext>
            </a:extLst>
          </p:cNvPr>
          <p:cNvSpPr>
            <a:spLocks noGrp="1"/>
          </p:cNvSpPr>
          <p:nvPr>
            <p:ph type="dt" sz="half" idx="10"/>
          </p:nvPr>
        </p:nvSpPr>
        <p:spPr/>
        <p:txBody>
          <a:bodyPr/>
          <a:lstStyle/>
          <a:p>
            <a:fld id="{4205EDB3-4761-4B82-865F-A5EEEFDA670E}" type="datetime1">
              <a:rPr lang="en-US" smtClean="0"/>
              <a:t>2/28/2026</a:t>
            </a:fld>
            <a:endParaRPr lang="en-US"/>
          </a:p>
        </p:txBody>
      </p:sp>
      <p:sp>
        <p:nvSpPr>
          <p:cNvPr id="6" name="Footer Placeholder 5">
            <a:extLst>
              <a:ext uri="{FF2B5EF4-FFF2-40B4-BE49-F238E27FC236}">
                <a16:creationId xmlns:a16="http://schemas.microsoft.com/office/drawing/2014/main" id="{32AA3C63-BDA7-4CD1-98D2-7B44F82B1548}"/>
              </a:ext>
            </a:extLst>
          </p:cNvPr>
          <p:cNvSpPr>
            <a:spLocks noGrp="1"/>
          </p:cNvSpPr>
          <p:nvPr>
            <p:ph type="ftr" sz="quarter" idx="11"/>
          </p:nvPr>
        </p:nvSpPr>
        <p:spPr/>
        <p:txBody>
          <a:bodyPr/>
          <a:lstStyle/>
          <a:p>
            <a:r>
              <a:rPr lang="en-US"/>
              <a:t>Gabriele Carcassi - Physics Department - University of Michigan</a:t>
            </a:r>
          </a:p>
        </p:txBody>
      </p:sp>
      <p:sp>
        <p:nvSpPr>
          <p:cNvPr id="7" name="Slide Number Placeholder 6">
            <a:extLst>
              <a:ext uri="{FF2B5EF4-FFF2-40B4-BE49-F238E27FC236}">
                <a16:creationId xmlns:a16="http://schemas.microsoft.com/office/drawing/2014/main" id="{C09C5504-0686-44F8-A23D-45B91F88ED2C}"/>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158628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9177B-A747-42FD-8F29-D1361B4E2C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DEB389-9A95-4143-B34D-74A157C3E5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8FF914-FCFA-477B-964A-C59B91251C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6DC335-A7AE-4EBC-A953-CD7B08744D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06B780-1F08-4E36-968D-D083275A4F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AC007B-DA08-41DC-96BA-9EDC62C18742}"/>
              </a:ext>
            </a:extLst>
          </p:cNvPr>
          <p:cNvSpPr>
            <a:spLocks noGrp="1"/>
          </p:cNvSpPr>
          <p:nvPr>
            <p:ph type="dt" sz="half" idx="10"/>
          </p:nvPr>
        </p:nvSpPr>
        <p:spPr/>
        <p:txBody>
          <a:bodyPr/>
          <a:lstStyle/>
          <a:p>
            <a:fld id="{5BB56CE5-357E-4369-9BE4-05AD9FAD5660}" type="datetime1">
              <a:rPr lang="en-US" smtClean="0"/>
              <a:t>2/28/2026</a:t>
            </a:fld>
            <a:endParaRPr lang="en-US"/>
          </a:p>
        </p:txBody>
      </p:sp>
      <p:sp>
        <p:nvSpPr>
          <p:cNvPr id="8" name="Footer Placeholder 7">
            <a:extLst>
              <a:ext uri="{FF2B5EF4-FFF2-40B4-BE49-F238E27FC236}">
                <a16:creationId xmlns:a16="http://schemas.microsoft.com/office/drawing/2014/main" id="{29F2FD71-2584-48F8-992F-EBA7CFFACF44}"/>
              </a:ext>
            </a:extLst>
          </p:cNvPr>
          <p:cNvSpPr>
            <a:spLocks noGrp="1"/>
          </p:cNvSpPr>
          <p:nvPr>
            <p:ph type="ftr" sz="quarter" idx="11"/>
          </p:nvPr>
        </p:nvSpPr>
        <p:spPr/>
        <p:txBody>
          <a:bodyPr/>
          <a:lstStyle/>
          <a:p>
            <a:r>
              <a:rPr lang="en-US"/>
              <a:t>Gabriele Carcassi - Physics Department - University of Michigan</a:t>
            </a:r>
          </a:p>
        </p:txBody>
      </p:sp>
      <p:sp>
        <p:nvSpPr>
          <p:cNvPr id="9" name="Slide Number Placeholder 8">
            <a:extLst>
              <a:ext uri="{FF2B5EF4-FFF2-40B4-BE49-F238E27FC236}">
                <a16:creationId xmlns:a16="http://schemas.microsoft.com/office/drawing/2014/main" id="{51FB88B5-3CD1-407E-B5B5-2FDF80D2DBD8}"/>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328709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BD30F-053D-46F9-9A37-D1DA8923C9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2A0CFC-E613-4829-BB1E-23DC17F1F460}"/>
              </a:ext>
            </a:extLst>
          </p:cNvPr>
          <p:cNvSpPr>
            <a:spLocks noGrp="1"/>
          </p:cNvSpPr>
          <p:nvPr>
            <p:ph type="dt" sz="half" idx="10"/>
          </p:nvPr>
        </p:nvSpPr>
        <p:spPr/>
        <p:txBody>
          <a:bodyPr/>
          <a:lstStyle/>
          <a:p>
            <a:fld id="{9EDE89CB-A9F6-477A-A4C2-11E3149C3A97}" type="datetime1">
              <a:rPr lang="en-US" smtClean="0"/>
              <a:t>2/28/2026</a:t>
            </a:fld>
            <a:endParaRPr lang="en-US"/>
          </a:p>
        </p:txBody>
      </p:sp>
      <p:sp>
        <p:nvSpPr>
          <p:cNvPr id="4" name="Footer Placeholder 3">
            <a:extLst>
              <a:ext uri="{FF2B5EF4-FFF2-40B4-BE49-F238E27FC236}">
                <a16:creationId xmlns:a16="http://schemas.microsoft.com/office/drawing/2014/main" id="{B344F9ED-0DC1-499C-966A-67FA83690F04}"/>
              </a:ext>
            </a:extLst>
          </p:cNvPr>
          <p:cNvSpPr>
            <a:spLocks noGrp="1"/>
          </p:cNvSpPr>
          <p:nvPr>
            <p:ph type="ftr" sz="quarter" idx="11"/>
          </p:nvPr>
        </p:nvSpPr>
        <p:spPr/>
        <p:txBody>
          <a:bodyPr/>
          <a:lstStyle/>
          <a:p>
            <a:r>
              <a:rPr lang="en-US"/>
              <a:t>Gabriele Carcassi - Physics Department - University of Michigan</a:t>
            </a:r>
          </a:p>
        </p:txBody>
      </p:sp>
      <p:sp>
        <p:nvSpPr>
          <p:cNvPr id="5" name="Slide Number Placeholder 4">
            <a:extLst>
              <a:ext uri="{FF2B5EF4-FFF2-40B4-BE49-F238E27FC236}">
                <a16:creationId xmlns:a16="http://schemas.microsoft.com/office/drawing/2014/main" id="{5E2F0D14-ECEA-4749-973A-35A78F792B48}"/>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562136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0F97A8DE-26FB-44D4-A9F1-CB9FF4220695}"/>
              </a:ext>
            </a:extLst>
          </p:cNvPr>
          <p:cNvSpPr>
            <a:spLocks noGrp="1"/>
          </p:cNvSpPr>
          <p:nvPr>
            <p:ph type="dt" sz="half" idx="10"/>
          </p:nvPr>
        </p:nvSpPr>
        <p:spPr/>
        <p:txBody>
          <a:bodyPr/>
          <a:lstStyle/>
          <a:p>
            <a:fld id="{6F4E52C4-4608-40F5-9B8E-BEEB48B105B6}" type="datetime1">
              <a:rPr lang="en-US" smtClean="0"/>
              <a:t>2/28/2026</a:t>
            </a:fld>
            <a:endParaRPr lang="en-US" dirty="0"/>
          </a:p>
        </p:txBody>
      </p:sp>
      <p:sp>
        <p:nvSpPr>
          <p:cNvPr id="6" name="Footer Placeholder 5">
            <a:extLst>
              <a:ext uri="{FF2B5EF4-FFF2-40B4-BE49-F238E27FC236}">
                <a16:creationId xmlns:a16="http://schemas.microsoft.com/office/drawing/2014/main" id="{AB56CC65-9693-4336-8892-7DBB0D428480}"/>
              </a:ext>
            </a:extLst>
          </p:cNvPr>
          <p:cNvSpPr>
            <a:spLocks noGrp="1"/>
          </p:cNvSpPr>
          <p:nvPr>
            <p:ph type="ftr" sz="quarter" idx="11"/>
          </p:nvPr>
        </p:nvSpPr>
        <p:spPr/>
        <p:txBody>
          <a:bodyPr/>
          <a:lstStyle/>
          <a:p>
            <a:r>
              <a:rPr lang="en-US"/>
              <a:t>Gabriele Carcassi - Physics Department - University of Michigan</a:t>
            </a:r>
            <a:endParaRPr lang="en-US" dirty="0"/>
          </a:p>
        </p:txBody>
      </p:sp>
      <p:sp>
        <p:nvSpPr>
          <p:cNvPr id="7" name="Slide Number Placeholder 6">
            <a:extLst>
              <a:ext uri="{FF2B5EF4-FFF2-40B4-BE49-F238E27FC236}">
                <a16:creationId xmlns:a16="http://schemas.microsoft.com/office/drawing/2014/main" id="{01092D98-AE7E-447E-AA93-A2032A1FEC20}"/>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858322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036F1-9482-436E-9974-452FA8C033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63F32D-85F2-44AA-81B0-6B60F5AE66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3A3A79-53E7-4E9B-A70E-77106E56CD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D5672-F891-4ED6-8D9F-0B8771B5CE5E}"/>
              </a:ext>
            </a:extLst>
          </p:cNvPr>
          <p:cNvSpPr>
            <a:spLocks noGrp="1"/>
          </p:cNvSpPr>
          <p:nvPr>
            <p:ph type="dt" sz="half" idx="10"/>
          </p:nvPr>
        </p:nvSpPr>
        <p:spPr/>
        <p:txBody>
          <a:bodyPr/>
          <a:lstStyle/>
          <a:p>
            <a:fld id="{56CDB743-5423-42F1-9DC7-FD2205F9F888}" type="datetime1">
              <a:rPr lang="en-US" smtClean="0"/>
              <a:t>2/28/2026</a:t>
            </a:fld>
            <a:endParaRPr lang="en-US"/>
          </a:p>
        </p:txBody>
      </p:sp>
      <p:sp>
        <p:nvSpPr>
          <p:cNvPr id="6" name="Footer Placeholder 5">
            <a:extLst>
              <a:ext uri="{FF2B5EF4-FFF2-40B4-BE49-F238E27FC236}">
                <a16:creationId xmlns:a16="http://schemas.microsoft.com/office/drawing/2014/main" id="{11272739-2C05-4A24-88F6-82BBE08FDB25}"/>
              </a:ext>
            </a:extLst>
          </p:cNvPr>
          <p:cNvSpPr>
            <a:spLocks noGrp="1"/>
          </p:cNvSpPr>
          <p:nvPr>
            <p:ph type="ftr" sz="quarter" idx="11"/>
          </p:nvPr>
        </p:nvSpPr>
        <p:spPr/>
        <p:txBody>
          <a:bodyPr/>
          <a:lstStyle/>
          <a:p>
            <a:r>
              <a:rPr lang="en-US"/>
              <a:t>Gabriele Carcassi - Physics Department - University of Michigan</a:t>
            </a:r>
          </a:p>
        </p:txBody>
      </p:sp>
      <p:sp>
        <p:nvSpPr>
          <p:cNvPr id="7" name="Slide Number Placeholder 6">
            <a:extLst>
              <a:ext uri="{FF2B5EF4-FFF2-40B4-BE49-F238E27FC236}">
                <a16:creationId xmlns:a16="http://schemas.microsoft.com/office/drawing/2014/main" id="{62675969-E211-4DE2-B886-5934860C36F7}"/>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3122650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47BCD-8167-44E1-825E-012B66377C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72A2AE-5BB8-4C31-9C94-6EDE7D578B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D1A6C8-B63C-47F8-8C8C-4DB028D4B5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356164-D348-4A71-AE1D-E22897D3C6B4}"/>
              </a:ext>
            </a:extLst>
          </p:cNvPr>
          <p:cNvSpPr>
            <a:spLocks noGrp="1"/>
          </p:cNvSpPr>
          <p:nvPr>
            <p:ph type="dt" sz="half" idx="10"/>
          </p:nvPr>
        </p:nvSpPr>
        <p:spPr/>
        <p:txBody>
          <a:bodyPr/>
          <a:lstStyle/>
          <a:p>
            <a:fld id="{5AAF03F7-4D9C-4471-819E-E2C49033A744}" type="datetime1">
              <a:rPr lang="en-US" smtClean="0"/>
              <a:t>2/28/2026</a:t>
            </a:fld>
            <a:endParaRPr lang="en-US"/>
          </a:p>
        </p:txBody>
      </p:sp>
      <p:sp>
        <p:nvSpPr>
          <p:cNvPr id="6" name="Footer Placeholder 5">
            <a:extLst>
              <a:ext uri="{FF2B5EF4-FFF2-40B4-BE49-F238E27FC236}">
                <a16:creationId xmlns:a16="http://schemas.microsoft.com/office/drawing/2014/main" id="{91F6AADB-3A05-424C-9F43-41572E843641}"/>
              </a:ext>
            </a:extLst>
          </p:cNvPr>
          <p:cNvSpPr>
            <a:spLocks noGrp="1"/>
          </p:cNvSpPr>
          <p:nvPr>
            <p:ph type="ftr" sz="quarter" idx="11"/>
          </p:nvPr>
        </p:nvSpPr>
        <p:spPr/>
        <p:txBody>
          <a:bodyPr/>
          <a:lstStyle/>
          <a:p>
            <a:r>
              <a:rPr lang="en-US"/>
              <a:t>Gabriele Carcassi - Physics Department - University of Michigan</a:t>
            </a:r>
          </a:p>
        </p:txBody>
      </p:sp>
      <p:sp>
        <p:nvSpPr>
          <p:cNvPr id="7" name="Slide Number Placeholder 6">
            <a:extLst>
              <a:ext uri="{FF2B5EF4-FFF2-40B4-BE49-F238E27FC236}">
                <a16:creationId xmlns:a16="http://schemas.microsoft.com/office/drawing/2014/main" id="{A6B28A14-221B-4635-AA55-72AC789D4FBE}"/>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955683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61A85-F374-4F3F-BA0C-52075B074A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3497C3-0A16-4208-BEB3-607737FDD7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EED635-7E11-4664-8FBC-36FEBFF2DC4C}"/>
              </a:ext>
            </a:extLst>
          </p:cNvPr>
          <p:cNvSpPr>
            <a:spLocks noGrp="1"/>
          </p:cNvSpPr>
          <p:nvPr>
            <p:ph type="dt" sz="half" idx="10"/>
          </p:nvPr>
        </p:nvSpPr>
        <p:spPr/>
        <p:txBody>
          <a:bodyPr/>
          <a:lstStyle/>
          <a:p>
            <a:fld id="{C06845AE-F78C-47ED-986D-2F5B5C247549}" type="datetime1">
              <a:rPr lang="en-US" smtClean="0"/>
              <a:t>2/28/2026</a:t>
            </a:fld>
            <a:endParaRPr lang="en-US"/>
          </a:p>
        </p:txBody>
      </p:sp>
      <p:sp>
        <p:nvSpPr>
          <p:cNvPr id="5" name="Footer Placeholder 4">
            <a:extLst>
              <a:ext uri="{FF2B5EF4-FFF2-40B4-BE49-F238E27FC236}">
                <a16:creationId xmlns:a16="http://schemas.microsoft.com/office/drawing/2014/main" id="{C4B9DE0C-6D6F-4D42-817A-BBD09369DA60}"/>
              </a:ext>
            </a:extLst>
          </p:cNvPr>
          <p:cNvSpPr>
            <a:spLocks noGrp="1"/>
          </p:cNvSpPr>
          <p:nvPr>
            <p:ph type="ftr" sz="quarter" idx="11"/>
          </p:nvPr>
        </p:nvSpPr>
        <p:spPr/>
        <p:txBody>
          <a:bodyPr/>
          <a:lstStyle/>
          <a:p>
            <a:r>
              <a:rPr lang="en-US"/>
              <a:t>Gabriele Carcassi - Physics Department - University of Michigan</a:t>
            </a:r>
          </a:p>
        </p:txBody>
      </p:sp>
      <p:sp>
        <p:nvSpPr>
          <p:cNvPr id="6" name="Slide Number Placeholder 5">
            <a:extLst>
              <a:ext uri="{FF2B5EF4-FFF2-40B4-BE49-F238E27FC236}">
                <a16:creationId xmlns:a16="http://schemas.microsoft.com/office/drawing/2014/main" id="{E2E03EC4-334C-45C4-A174-AFF5497F81A4}"/>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17333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597DE0-D863-4430-924C-3EB271CE81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98BD85-A68E-409D-B87F-BAD2034195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EAA6CF-52A1-4471-AFF7-79B37FEF207B}"/>
              </a:ext>
            </a:extLst>
          </p:cNvPr>
          <p:cNvSpPr>
            <a:spLocks noGrp="1"/>
          </p:cNvSpPr>
          <p:nvPr>
            <p:ph type="dt" sz="half" idx="10"/>
          </p:nvPr>
        </p:nvSpPr>
        <p:spPr/>
        <p:txBody>
          <a:bodyPr/>
          <a:lstStyle/>
          <a:p>
            <a:fld id="{95AFA110-3775-4B6B-91E5-6049BB8CC0F2}" type="datetime1">
              <a:rPr lang="en-US" smtClean="0"/>
              <a:t>2/28/2026</a:t>
            </a:fld>
            <a:endParaRPr lang="en-US"/>
          </a:p>
        </p:txBody>
      </p:sp>
      <p:sp>
        <p:nvSpPr>
          <p:cNvPr id="5" name="Footer Placeholder 4">
            <a:extLst>
              <a:ext uri="{FF2B5EF4-FFF2-40B4-BE49-F238E27FC236}">
                <a16:creationId xmlns:a16="http://schemas.microsoft.com/office/drawing/2014/main" id="{C9E4AF83-3843-42EB-A5A1-2BDCD43FA050}"/>
              </a:ext>
            </a:extLst>
          </p:cNvPr>
          <p:cNvSpPr>
            <a:spLocks noGrp="1"/>
          </p:cNvSpPr>
          <p:nvPr>
            <p:ph type="ftr" sz="quarter" idx="11"/>
          </p:nvPr>
        </p:nvSpPr>
        <p:spPr/>
        <p:txBody>
          <a:bodyPr/>
          <a:lstStyle/>
          <a:p>
            <a:r>
              <a:rPr lang="en-US"/>
              <a:t>Gabriele Carcassi - Physics Department - University of Michigan</a:t>
            </a:r>
          </a:p>
        </p:txBody>
      </p:sp>
      <p:sp>
        <p:nvSpPr>
          <p:cNvPr id="6" name="Slide Number Placeholder 5">
            <a:extLst>
              <a:ext uri="{FF2B5EF4-FFF2-40B4-BE49-F238E27FC236}">
                <a16:creationId xmlns:a16="http://schemas.microsoft.com/office/drawing/2014/main" id="{15368DFD-8437-42AF-BA50-3290D8CDC27B}"/>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388594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5AE79D-67AF-4A6E-B20E-A13E26034F0F}"/>
              </a:ext>
            </a:extLst>
          </p:cNvPr>
          <p:cNvSpPr>
            <a:spLocks noGrp="1"/>
          </p:cNvSpPr>
          <p:nvPr>
            <p:ph type="title"/>
          </p:nvPr>
        </p:nvSpPr>
        <p:spPr>
          <a:xfrm>
            <a:off x="103955" y="84779"/>
            <a:ext cx="11984090" cy="89742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EDFF892-5903-470F-A479-331C39379FA1}"/>
              </a:ext>
            </a:extLst>
          </p:cNvPr>
          <p:cNvSpPr>
            <a:spLocks noGrp="1"/>
          </p:cNvSpPr>
          <p:nvPr>
            <p:ph type="body" idx="1"/>
          </p:nvPr>
        </p:nvSpPr>
        <p:spPr>
          <a:xfrm>
            <a:off x="103955" y="1075038"/>
            <a:ext cx="11984090" cy="538174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686424-CA87-4045-BC8B-6EDDC11B3217}"/>
              </a:ext>
            </a:extLst>
          </p:cNvPr>
          <p:cNvSpPr>
            <a:spLocks noGrp="1"/>
          </p:cNvSpPr>
          <p:nvPr>
            <p:ph type="dt" sz="half" idx="2"/>
          </p:nvPr>
        </p:nvSpPr>
        <p:spPr>
          <a:xfrm>
            <a:off x="7604759" y="6580246"/>
            <a:ext cx="2229706" cy="228609"/>
          </a:xfrm>
          <a:prstGeom prst="rect">
            <a:avLst/>
          </a:prstGeom>
        </p:spPr>
        <p:txBody>
          <a:bodyPr vert="horz" lIns="91440" tIns="45720" rIns="91440" bIns="45720" rtlCol="0" anchor="ctr"/>
          <a:lstStyle>
            <a:lvl1pPr algn="l">
              <a:defRPr sz="1200">
                <a:solidFill>
                  <a:schemeClr val="tx1">
                    <a:tint val="75000"/>
                  </a:schemeClr>
                </a:solidFill>
              </a:defRPr>
            </a:lvl1pPr>
          </a:lstStyle>
          <a:p>
            <a:fld id="{0A85AB10-52F0-434A-B1D5-C9C9261256B7}" type="datetime1">
              <a:rPr lang="en-US" smtClean="0"/>
              <a:t>2/28/2026</a:t>
            </a:fld>
            <a:endParaRPr lang="en-US" dirty="0"/>
          </a:p>
        </p:txBody>
      </p:sp>
      <p:sp>
        <p:nvSpPr>
          <p:cNvPr id="5" name="Footer Placeholder 4">
            <a:extLst>
              <a:ext uri="{FF2B5EF4-FFF2-40B4-BE49-F238E27FC236}">
                <a16:creationId xmlns:a16="http://schemas.microsoft.com/office/drawing/2014/main" id="{3A6D1E3F-305F-48EC-9661-A5555D6D9141}"/>
              </a:ext>
            </a:extLst>
          </p:cNvPr>
          <p:cNvSpPr>
            <a:spLocks noGrp="1"/>
          </p:cNvSpPr>
          <p:nvPr>
            <p:ph type="ftr" sz="quarter" idx="3"/>
          </p:nvPr>
        </p:nvSpPr>
        <p:spPr>
          <a:xfrm>
            <a:off x="119730" y="6565529"/>
            <a:ext cx="5967867" cy="235967"/>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Gabriele Carcassi - Physics Department - University of Michigan</a:t>
            </a:r>
            <a:endParaRPr lang="en-US" dirty="0"/>
          </a:p>
        </p:txBody>
      </p:sp>
      <p:sp>
        <p:nvSpPr>
          <p:cNvPr id="6" name="Slide Number Placeholder 5">
            <a:extLst>
              <a:ext uri="{FF2B5EF4-FFF2-40B4-BE49-F238E27FC236}">
                <a16:creationId xmlns:a16="http://schemas.microsoft.com/office/drawing/2014/main" id="{1B9D7172-52C7-47AA-A8CB-03E0DDB3662E}"/>
              </a:ext>
            </a:extLst>
          </p:cNvPr>
          <p:cNvSpPr>
            <a:spLocks noGrp="1"/>
          </p:cNvSpPr>
          <p:nvPr>
            <p:ph type="sldNum" sz="quarter" idx="4"/>
          </p:nvPr>
        </p:nvSpPr>
        <p:spPr>
          <a:xfrm>
            <a:off x="11540178" y="6572888"/>
            <a:ext cx="555908" cy="228609"/>
          </a:xfrm>
          <a:prstGeom prst="rect">
            <a:avLst/>
          </a:prstGeom>
        </p:spPr>
        <p:txBody>
          <a:bodyPr vert="horz" lIns="91440" tIns="45720" rIns="91440" bIns="45720" rtlCol="0" anchor="ctr"/>
          <a:lstStyle>
            <a:lvl1pPr algn="r">
              <a:defRPr sz="1200">
                <a:solidFill>
                  <a:schemeClr val="tx1">
                    <a:tint val="75000"/>
                  </a:schemeClr>
                </a:solidFill>
              </a:defRPr>
            </a:lvl1pPr>
          </a:lstStyle>
          <a:p>
            <a:fld id="{F47845EA-7733-40EE-B074-20032348B727}" type="slidenum">
              <a:rPr lang="en-US" smtClean="0"/>
              <a:t>‹#›</a:t>
            </a:fld>
            <a:endParaRPr lang="en-US"/>
          </a:p>
        </p:txBody>
      </p:sp>
      <p:sp>
        <p:nvSpPr>
          <p:cNvPr id="7" name="Oval 6">
            <a:extLst>
              <a:ext uri="{FF2B5EF4-FFF2-40B4-BE49-F238E27FC236}">
                <a16:creationId xmlns:a16="http://schemas.microsoft.com/office/drawing/2014/main" id="{B1AA285D-1676-8476-E3FF-1782C3DC601F}"/>
              </a:ext>
            </a:extLst>
          </p:cNvPr>
          <p:cNvSpPr/>
          <p:nvPr userDrawn="1"/>
        </p:nvSpPr>
        <p:spPr>
          <a:xfrm>
            <a:off x="9442580" y="4170784"/>
            <a:ext cx="2674054" cy="2668555"/>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93C0152C-5722-D560-A1D1-83330A0E1841}"/>
              </a:ext>
            </a:extLst>
          </p:cNvPr>
          <p:cNvSpPr txBox="1"/>
          <p:nvPr userDrawn="1"/>
        </p:nvSpPr>
        <p:spPr>
          <a:xfrm>
            <a:off x="9723330" y="5954370"/>
            <a:ext cx="2151551" cy="261610"/>
          </a:xfrm>
          <a:prstGeom prst="rect">
            <a:avLst/>
          </a:prstGeom>
          <a:noFill/>
        </p:spPr>
        <p:txBody>
          <a:bodyPr wrap="none">
            <a:spAutoFit/>
          </a:bodyPr>
          <a:lstStyle/>
          <a:p>
            <a:r>
              <a:rPr lang="en-US" sz="1100" dirty="0"/>
              <a:t>https://assumptionsofphysics.org/</a:t>
            </a:r>
          </a:p>
        </p:txBody>
      </p:sp>
      <p:pic>
        <p:nvPicPr>
          <p:cNvPr id="14" name="Picture 13">
            <a:extLst>
              <a:ext uri="{FF2B5EF4-FFF2-40B4-BE49-F238E27FC236}">
                <a16:creationId xmlns:a16="http://schemas.microsoft.com/office/drawing/2014/main" id="{12EABDBC-29F5-54A5-0B74-DE652EDCED65}"/>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421201" y="5161572"/>
            <a:ext cx="755811" cy="686976"/>
          </a:xfrm>
          <a:prstGeom prst="rect">
            <a:avLst/>
          </a:prstGeom>
        </p:spPr>
      </p:pic>
      <p:pic>
        <p:nvPicPr>
          <p:cNvPr id="17" name="Picture 16">
            <a:extLst>
              <a:ext uri="{FF2B5EF4-FFF2-40B4-BE49-F238E27FC236}">
                <a16:creationId xmlns:a16="http://schemas.microsoft.com/office/drawing/2014/main" id="{90CDCAE5-166F-5A8D-47B6-2316E82EF1EA}"/>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124150" y="6274104"/>
            <a:ext cx="1313865" cy="445983"/>
          </a:xfrm>
          <a:prstGeom prst="rect">
            <a:avLst/>
          </a:prstGeom>
        </p:spPr>
      </p:pic>
    </p:spTree>
    <p:extLst>
      <p:ext uri="{BB962C8B-B14F-4D97-AF65-F5344CB8AC3E}">
        <p14:creationId xmlns:p14="http://schemas.microsoft.com/office/powerpoint/2010/main" val="3603477694"/>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grpId="1"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7" grpId="3" animBg="1"/>
      <p:bldP spid="7" grpId="4" animBg="1"/>
      <p:bldP spid="7" grpId="5" animBg="1"/>
      <p:bldP spid="7" grpId="6" animBg="1"/>
      <p:bldP spid="7" grpId="7" animBg="1"/>
      <p:bldP spid="7" grpId="8" animBg="1"/>
      <p:bldP spid="7" grpId="9" animBg="1"/>
      <p:bldP spid="7" grpId="10" animBg="1"/>
      <p:bldP spid="7" grpId="11" animBg="1"/>
      <p:bldP spid="7" grpId="12" animBg="1"/>
      <p:bldP spid="7" grpId="13" animBg="1"/>
      <p:bldP spid="7" grpId="16" animBg="1"/>
      <p:bldP spid="7" grpId="17" animBg="1"/>
      <p:bldP spid="7" grpId="18" animBg="1"/>
      <p:bldP spid="7" grpId="19" animBg="1"/>
      <p:bldP spid="7" grpId="20" animBg="1"/>
      <p:bldP spid="7" grpId="21" animBg="1"/>
      <p:bldP spid="7" grpId="22" animBg="1"/>
      <p:bldP spid="7" grpId="23" animBg="1"/>
      <p:bldP spid="7" grpId="24" animBg="1"/>
      <p:bldP spid="7" grpId="25" animBg="1"/>
      <p:bldP spid="7" grpId="26" animBg="1"/>
      <p:bldP spid="7" grpId="27" animBg="1"/>
      <p:bldP spid="7" grpId="28" animBg="1"/>
      <p:bldP spid="7" grpId="29" animBg="1"/>
      <p:bldP spid="7" grpId="30" animBg="1"/>
      <p:bldP spid="7" grpId="31" animBg="1"/>
      <p:bldP spid="7" grpId="32" animBg="1"/>
      <p:bldP spid="7" grpId="33" animBg="1"/>
      <p:bldP spid="7" grpId="38" animBg="1"/>
      <p:bldP spid="7" grpId="39" animBg="1"/>
      <p:bldP spid="7" grpId="40" animBg="1"/>
      <p:bldP spid="7" grpId="41" animBg="1"/>
      <p:bldP spid="7" grpId="42" animBg="1"/>
      <p:bldP spid="7" grpId="43" animBg="1"/>
      <p:bldP spid="7" grpId="44" animBg="1"/>
      <p:bldP spid="7" grpId="45" animBg="1"/>
      <p:bldP spid="7" grpId="46" animBg="1"/>
      <p:bldP spid="7" grpId="47" animBg="1"/>
      <p:bldP spid="7" grpId="48" animBg="1"/>
      <p:bldP spid="7" grpId="49" animBg="1"/>
      <p:bldP spid="7" grpId="50" animBg="1"/>
      <p:bldP spid="7" grpId="51" animBg="1"/>
      <p:bldP spid="7" grpId="52" animBg="1"/>
      <p:bldP spid="7" grpId="53" animBg="1"/>
      <p:bldP spid="7" grpId="54" animBg="1"/>
      <p:bldP spid="7" grpId="55" animBg="1"/>
      <p:bldP spid="7" grpId="56" animBg="1"/>
      <p:bldP spid="7" grpId="57" animBg="1"/>
    </p:bldLst>
  </p:timing>
  <p:hf sldNum="0" hdr="0" ftr="0" dt="0"/>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6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511.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610.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511.png"/><Relationship Id="rId5" Type="http://schemas.openxmlformats.org/officeDocument/2006/relationships/image" Target="../media/image16.pn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image" Target="../media/image19.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4.png"/><Relationship Id="rId9" Type="http://schemas.openxmlformats.org/officeDocument/2006/relationships/image" Target="../media/image28.png"/></Relationships>
</file>

<file path=ppt/slides/_rels/slide5.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5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7.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7.png"/><Relationship Id="rId10" Type="http://schemas.openxmlformats.org/officeDocument/2006/relationships/image" Target="../media/image41.png"/><Relationship Id="rId4" Type="http://schemas.openxmlformats.org/officeDocument/2006/relationships/image" Target="../media/image36.png"/><Relationship Id="rId9" Type="http://schemas.openxmlformats.org/officeDocument/2006/relationships/image" Target="../media/image42.png"/><Relationship Id="rId14" Type="http://schemas.openxmlformats.org/officeDocument/2006/relationships/image" Target="../media/image46.png"/></Relationships>
</file>

<file path=ppt/slides/_rels/slide8.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52.png"/><Relationship Id="rId18" Type="http://schemas.openxmlformats.org/officeDocument/2006/relationships/image" Target="../media/image57.png"/><Relationship Id="rId3" Type="http://schemas.openxmlformats.org/officeDocument/2006/relationships/image" Target="../media/image35.png"/><Relationship Id="rId7" Type="http://schemas.openxmlformats.org/officeDocument/2006/relationships/image" Target="../media/image51.png"/><Relationship Id="rId12" Type="http://schemas.openxmlformats.org/officeDocument/2006/relationships/image" Target="../media/image40.png"/><Relationship Id="rId17" Type="http://schemas.openxmlformats.org/officeDocument/2006/relationships/image" Target="../media/image56.png"/><Relationship Id="rId2" Type="http://schemas.openxmlformats.org/officeDocument/2006/relationships/image" Target="../media/image48.png"/><Relationship Id="rId16"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39.png"/><Relationship Id="rId5" Type="http://schemas.openxmlformats.org/officeDocument/2006/relationships/image" Target="../media/image37.png"/><Relationship Id="rId15" Type="http://schemas.openxmlformats.org/officeDocument/2006/relationships/image" Target="../media/image54.png"/><Relationship Id="rId10" Type="http://schemas.openxmlformats.org/officeDocument/2006/relationships/image" Target="../media/image38.png"/><Relationship Id="rId4" Type="http://schemas.openxmlformats.org/officeDocument/2006/relationships/image" Target="../media/image49.png"/><Relationship Id="rId9" Type="http://schemas.openxmlformats.org/officeDocument/2006/relationships/image" Target="../media/image36.png"/><Relationship Id="rId14" Type="http://schemas.openxmlformats.org/officeDocument/2006/relationships/image" Target="../media/image53.png"/></Relationships>
</file>

<file path=ppt/slides/_rels/slide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35.png"/><Relationship Id="rId7" Type="http://schemas.openxmlformats.org/officeDocument/2006/relationships/image" Target="../media/image60.png"/><Relationship Id="rId12" Type="http://schemas.openxmlformats.org/officeDocument/2006/relationships/image" Target="../media/image65.png"/><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37.png"/><Relationship Id="rId10" Type="http://schemas.openxmlformats.org/officeDocument/2006/relationships/image" Target="../media/image63.png"/><Relationship Id="rId4" Type="http://schemas.openxmlformats.org/officeDocument/2006/relationships/image" Target="../media/image36.png"/><Relationship Id="rId9" Type="http://schemas.openxmlformats.org/officeDocument/2006/relationships/image" Target="../media/image62.pn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52.png"/><Relationship Id="rId3" Type="http://schemas.openxmlformats.org/officeDocument/2006/relationships/image" Target="../media/image35.png"/><Relationship Id="rId7" Type="http://schemas.openxmlformats.org/officeDocument/2006/relationships/image" Target="../media/image51.png"/><Relationship Id="rId12" Type="http://schemas.openxmlformats.org/officeDocument/2006/relationships/image" Target="../media/image40.png"/><Relationship Id="rId2" Type="http://schemas.openxmlformats.org/officeDocument/2006/relationships/image" Target="../media/image48.png"/><Relationship Id="rId16"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39.png"/><Relationship Id="rId5" Type="http://schemas.openxmlformats.org/officeDocument/2006/relationships/image" Target="../media/image37.png"/><Relationship Id="rId15" Type="http://schemas.openxmlformats.org/officeDocument/2006/relationships/image" Target="../media/image54.png"/><Relationship Id="rId10" Type="http://schemas.openxmlformats.org/officeDocument/2006/relationships/image" Target="../media/image38.png"/><Relationship Id="rId4" Type="http://schemas.openxmlformats.org/officeDocument/2006/relationships/image" Target="../media/image49.png"/><Relationship Id="rId9" Type="http://schemas.openxmlformats.org/officeDocument/2006/relationships/image" Target="../media/image36.png"/><Relationship Id="rId14" Type="http://schemas.openxmlformats.org/officeDocument/2006/relationships/image" Target="../media/image53.png"/></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66.png"/><Relationship Id="rId7" Type="http://schemas.openxmlformats.org/officeDocument/2006/relationships/image" Target="../media/image610.png"/><Relationship Id="rId12" Type="http://schemas.openxmlformats.org/officeDocument/2006/relationships/image" Target="../media/image29.png"/><Relationship Id="rId16"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511.png"/><Relationship Id="rId11" Type="http://schemas.openxmlformats.org/officeDocument/2006/relationships/image" Target="../media/image8.png"/><Relationship Id="rId15" Type="http://schemas.openxmlformats.org/officeDocument/2006/relationships/image" Target="../media/image68.png"/><Relationship Id="rId10" Type="http://schemas.openxmlformats.org/officeDocument/2006/relationships/image" Target="../media/image7.png"/><Relationship Id="rId9" Type="http://schemas.openxmlformats.org/officeDocument/2006/relationships/image" Target="../media/image6.png"/><Relationship Id="rId14" Type="http://schemas.openxmlformats.org/officeDocument/2006/relationships/image" Target="../media/image67.png"/></Relationships>
</file>

<file path=ppt/slides/_rels/slide12.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10.png"/><Relationship Id="rId7" Type="http://schemas.openxmlformats.org/officeDocument/2006/relationships/image" Target="../media/image80.png"/><Relationship Id="rId2" Type="http://schemas.openxmlformats.org/officeDocument/2006/relationships/image" Target="../media/image310.png"/><Relationship Id="rId1"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611.png"/><Relationship Id="rId4" Type="http://schemas.openxmlformats.org/officeDocument/2006/relationships/image" Target="../media/image5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5BE50-518E-CF13-F938-60BA21FDEEB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2C51861-43B4-7935-D31B-C418BAE8737D}"/>
                  </a:ext>
                </a:extLst>
              </p:cNvPr>
              <p:cNvSpPr txBox="1"/>
              <p:nvPr/>
            </p:nvSpPr>
            <p:spPr>
              <a:xfrm>
                <a:off x="7205439" y="2841162"/>
                <a:ext cx="4239750" cy="69006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solidFill>
                                <a:schemeClr val="tx1"/>
                              </a:solidFill>
                              <a:latin typeface="Cambria Math" panose="02040503050406030204" pitchFamily="18" charset="0"/>
                            </a:rPr>
                          </m:ctrlPr>
                        </m:sSupPr>
                        <m:e>
                          <m:r>
                            <a:rPr lang="en-US" sz="3600" b="0" i="1" smtClean="0">
                              <a:solidFill>
                                <a:schemeClr val="tx1"/>
                              </a:solidFill>
                              <a:latin typeface="Cambria Math" panose="02040503050406030204" pitchFamily="18" charset="0"/>
                            </a:rPr>
                            <m:t>𝑣</m:t>
                          </m:r>
                        </m:e>
                        <m:sup>
                          <m:r>
                            <a:rPr lang="en-US" sz="3600" b="0" i="1" smtClean="0">
                              <a:solidFill>
                                <a:schemeClr val="tx1"/>
                              </a:solidFill>
                              <a:latin typeface="Cambria Math" panose="02040503050406030204" pitchFamily="18" charset="0"/>
                            </a:rPr>
                            <m:t>𝑥</m:t>
                          </m:r>
                        </m:sup>
                      </m:sSup>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𝑒</m:t>
                          </m:r>
                        </m:e>
                        <m:sub>
                          <m:r>
                            <a:rPr lang="en-US" sz="3600" b="0" i="1" smtClean="0">
                              <a:solidFill>
                                <a:schemeClr val="tx1"/>
                              </a:solidFill>
                              <a:latin typeface="Cambria Math" panose="02040503050406030204" pitchFamily="18" charset="0"/>
                            </a:rPr>
                            <m:t>𝑥</m:t>
                          </m:r>
                        </m:sub>
                      </m:sSub>
                      <m:r>
                        <a:rPr lang="en-US" sz="3600" i="1">
                          <a:solidFill>
                            <a:schemeClr val="tx1"/>
                          </a:solidFill>
                          <a:latin typeface="Cambria Math" panose="02040503050406030204" pitchFamily="18" charset="0"/>
                        </a:rPr>
                        <m:t>+</m:t>
                      </m:r>
                      <m:sSup>
                        <m:sSupPr>
                          <m:ctrlPr>
                            <a:rPr lang="en-US" sz="3600" i="1">
                              <a:solidFill>
                                <a:schemeClr val="tx1"/>
                              </a:solidFill>
                              <a:latin typeface="Cambria Math" panose="02040503050406030204" pitchFamily="18" charset="0"/>
                            </a:rPr>
                          </m:ctrlPr>
                        </m:sSupPr>
                        <m:e>
                          <m:r>
                            <a:rPr lang="en-US" sz="3600" i="1">
                              <a:solidFill>
                                <a:schemeClr val="tx1"/>
                              </a:solidFill>
                              <a:latin typeface="Cambria Math" panose="02040503050406030204" pitchFamily="18" charset="0"/>
                            </a:rPr>
                            <m:t>𝑣</m:t>
                          </m:r>
                        </m:e>
                        <m:sup>
                          <m:r>
                            <a:rPr lang="en-US" sz="3600" i="1">
                              <a:solidFill>
                                <a:schemeClr val="tx1"/>
                              </a:solidFill>
                              <a:latin typeface="Cambria Math" panose="02040503050406030204" pitchFamily="18" charset="0"/>
                            </a:rPr>
                            <m:t>𝑦</m:t>
                          </m:r>
                        </m:sup>
                      </m:sSup>
                      <m:sSub>
                        <m:sSubPr>
                          <m:ctrlPr>
                            <a:rPr lang="en-US" sz="3600" i="1">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𝑒</m:t>
                          </m:r>
                        </m:e>
                        <m:sub>
                          <m:r>
                            <a:rPr lang="en-US" sz="3600" i="1">
                              <a:solidFill>
                                <a:schemeClr val="tx1"/>
                              </a:solidFill>
                              <a:latin typeface="Cambria Math" panose="02040503050406030204" pitchFamily="18" charset="0"/>
                            </a:rPr>
                            <m:t>𝑦</m:t>
                          </m:r>
                        </m:sub>
                      </m:sSub>
                      <m:r>
                        <a:rPr lang="en-US" sz="3600" i="1">
                          <a:solidFill>
                            <a:schemeClr val="tx1"/>
                          </a:solidFill>
                          <a:latin typeface="Cambria Math" panose="02040503050406030204" pitchFamily="18" charset="0"/>
                        </a:rPr>
                        <m:t>+</m:t>
                      </m:r>
                      <m:sSup>
                        <m:sSupPr>
                          <m:ctrlPr>
                            <a:rPr lang="en-US" sz="3600" i="1">
                              <a:solidFill>
                                <a:schemeClr val="tx1"/>
                              </a:solidFill>
                              <a:latin typeface="Cambria Math" panose="02040503050406030204" pitchFamily="18" charset="0"/>
                            </a:rPr>
                          </m:ctrlPr>
                        </m:sSupPr>
                        <m:e>
                          <m:r>
                            <a:rPr lang="en-US" sz="3600" i="1">
                              <a:solidFill>
                                <a:schemeClr val="tx1"/>
                              </a:solidFill>
                              <a:latin typeface="Cambria Math" panose="02040503050406030204" pitchFamily="18" charset="0"/>
                            </a:rPr>
                            <m:t>𝑣</m:t>
                          </m:r>
                        </m:e>
                        <m:sup>
                          <m:r>
                            <a:rPr lang="en-US" sz="3600" b="0" i="1" smtClean="0">
                              <a:solidFill>
                                <a:schemeClr val="tx1"/>
                              </a:solidFill>
                              <a:latin typeface="Cambria Math" panose="02040503050406030204" pitchFamily="18" charset="0"/>
                            </a:rPr>
                            <m:t>𝑧</m:t>
                          </m:r>
                        </m:sup>
                      </m:sSup>
                      <m:sSub>
                        <m:sSubPr>
                          <m:ctrlPr>
                            <a:rPr lang="en-US" sz="3600" i="1">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𝑒</m:t>
                          </m:r>
                        </m:e>
                        <m:sub>
                          <m:r>
                            <a:rPr lang="en-US" sz="3600" b="0" i="1" smtClean="0">
                              <a:solidFill>
                                <a:schemeClr val="tx1"/>
                              </a:solidFill>
                              <a:latin typeface="Cambria Math" panose="02040503050406030204" pitchFamily="18" charset="0"/>
                            </a:rPr>
                            <m:t>𝑧</m:t>
                          </m:r>
                        </m:sub>
                      </m:sSub>
                    </m:oMath>
                  </m:oMathPara>
                </a14:m>
                <a:endParaRPr lang="en-US" sz="3600" dirty="0">
                  <a:solidFill>
                    <a:schemeClr val="tx1"/>
                  </a:solidFill>
                </a:endParaRPr>
              </a:p>
            </p:txBody>
          </p:sp>
        </mc:Choice>
        <mc:Fallback xmlns="">
          <p:sp>
            <p:nvSpPr>
              <p:cNvPr id="34" name="TextBox 33">
                <a:extLst>
                  <a:ext uri="{FF2B5EF4-FFF2-40B4-BE49-F238E27FC236}">
                    <a16:creationId xmlns:a16="http://schemas.microsoft.com/office/drawing/2014/main" id="{C2C51861-43B4-7935-D31B-C418BAE8737D}"/>
                  </a:ext>
                </a:extLst>
              </p:cNvPr>
              <p:cNvSpPr txBox="1">
                <a:spLocks noRot="1" noChangeAspect="1" noMove="1" noResize="1" noEditPoints="1" noAdjustHandles="1" noChangeArrowheads="1" noChangeShapeType="1" noTextEdit="1"/>
              </p:cNvSpPr>
              <p:nvPr/>
            </p:nvSpPr>
            <p:spPr>
              <a:xfrm>
                <a:off x="7205439" y="2841162"/>
                <a:ext cx="4239750" cy="69006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2EA28E84-4F0B-AED5-14F6-F8859344405F}"/>
                  </a:ext>
                </a:extLst>
              </p:cNvPr>
              <p:cNvSpPr txBox="1"/>
              <p:nvPr/>
            </p:nvSpPr>
            <p:spPr>
              <a:xfrm>
                <a:off x="8535227" y="240765"/>
                <a:ext cx="1580176"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000" b="0" i="1" smtClean="0">
                          <a:solidFill>
                            <a:schemeClr val="tx1"/>
                          </a:solidFill>
                          <a:latin typeface="Cambria Math" panose="02040503050406030204" pitchFamily="18" charset="0"/>
                        </a:rPr>
                        <m:t>(</m:t>
                      </m:r>
                      <m:r>
                        <a:rPr lang="en-US" sz="4000" b="0" i="1" smtClean="0">
                          <a:solidFill>
                            <a:schemeClr val="tx1"/>
                          </a:solidFill>
                          <a:latin typeface="Cambria Math" panose="02040503050406030204" pitchFamily="18" charset="0"/>
                        </a:rPr>
                        <m:t>𝜃</m:t>
                      </m:r>
                      <m:r>
                        <a:rPr lang="en-US" sz="4000" b="0" i="1" smtClean="0">
                          <a:solidFill>
                            <a:schemeClr val="tx1"/>
                          </a:solidFill>
                          <a:latin typeface="Cambria Math" panose="02040503050406030204" pitchFamily="18" charset="0"/>
                        </a:rPr>
                        <m:t>,</m:t>
                      </m:r>
                      <m:r>
                        <a:rPr lang="en-US" sz="4000" b="0" i="1" smtClean="0">
                          <a:solidFill>
                            <a:schemeClr val="tx1"/>
                          </a:solidFill>
                          <a:latin typeface="Cambria Math" panose="02040503050406030204" pitchFamily="18" charset="0"/>
                        </a:rPr>
                        <m:t>𝜑</m:t>
                      </m:r>
                      <m:r>
                        <a:rPr lang="en-US" sz="4000" b="0" i="1" smtClean="0">
                          <a:solidFill>
                            <a:schemeClr val="tx1"/>
                          </a:solidFill>
                          <a:latin typeface="Cambria Math" panose="02040503050406030204" pitchFamily="18" charset="0"/>
                        </a:rPr>
                        <m:t>)</m:t>
                      </m:r>
                    </m:oMath>
                  </m:oMathPara>
                </a14:m>
                <a:endParaRPr lang="en-US" sz="4000" dirty="0">
                  <a:solidFill>
                    <a:schemeClr val="tx1"/>
                  </a:solidFill>
                </a:endParaRPr>
              </a:p>
            </p:txBody>
          </p:sp>
        </mc:Choice>
        <mc:Fallback xmlns="">
          <p:sp>
            <p:nvSpPr>
              <p:cNvPr id="59" name="TextBox 58">
                <a:extLst>
                  <a:ext uri="{FF2B5EF4-FFF2-40B4-BE49-F238E27FC236}">
                    <a16:creationId xmlns:a16="http://schemas.microsoft.com/office/drawing/2014/main" id="{2EA28E84-4F0B-AED5-14F6-F8859344405F}"/>
                  </a:ext>
                </a:extLst>
              </p:cNvPr>
              <p:cNvSpPr txBox="1">
                <a:spLocks noRot="1" noChangeAspect="1" noMove="1" noResize="1" noEditPoints="1" noAdjustHandles="1" noChangeArrowheads="1" noChangeShapeType="1" noTextEdit="1"/>
              </p:cNvSpPr>
              <p:nvPr/>
            </p:nvSpPr>
            <p:spPr>
              <a:xfrm>
                <a:off x="8535227" y="240765"/>
                <a:ext cx="1580176" cy="707886"/>
              </a:xfrm>
              <a:prstGeom prst="rect">
                <a:avLst/>
              </a:prstGeom>
              <a:blipFill>
                <a:blip r:embed="rId4"/>
                <a:stretch>
                  <a:fillRect/>
                </a:stretch>
              </a:blipFill>
            </p:spPr>
            <p:txBody>
              <a:bodyPr/>
              <a:lstStyle/>
              <a:p>
                <a:r>
                  <a:rPr lang="en-US">
                    <a:noFill/>
                  </a:rPr>
                  <a:t> </a:t>
                </a:r>
              </a:p>
            </p:txBody>
          </p:sp>
        </mc:Fallback>
      </mc:AlternateContent>
      <p:grpSp>
        <p:nvGrpSpPr>
          <p:cNvPr id="62" name="Group 61">
            <a:extLst>
              <a:ext uri="{FF2B5EF4-FFF2-40B4-BE49-F238E27FC236}">
                <a16:creationId xmlns:a16="http://schemas.microsoft.com/office/drawing/2014/main" id="{42F82A6C-D0B5-F5A5-D12F-61D2D4372C0D}"/>
              </a:ext>
            </a:extLst>
          </p:cNvPr>
          <p:cNvGrpSpPr/>
          <p:nvPr/>
        </p:nvGrpSpPr>
        <p:grpSpPr>
          <a:xfrm>
            <a:off x="7723947" y="1232160"/>
            <a:ext cx="3202735" cy="1431713"/>
            <a:chOff x="7723947" y="1232160"/>
            <a:chExt cx="3202735" cy="1431713"/>
          </a:xfrm>
        </p:grpSpPr>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F2B087E-79E6-4933-AFE3-EED05A22D5AA}"/>
                    </a:ext>
                  </a:extLst>
                </p:cNvPr>
                <p:cNvSpPr txBox="1"/>
                <p:nvPr/>
              </p:nvSpPr>
              <p:spPr>
                <a:xfrm>
                  <a:off x="7723947" y="2294541"/>
                  <a:ext cx="32027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unc>
                          <m:funcPr>
                            <m:ctrlPr>
                              <a:rPr lang="en-US" i="1" smtClean="0">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rPr>
                              <m:t>𝜃</m:t>
                            </m:r>
                          </m:e>
                        </m:func>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r>
                              <a:rPr lang="en-US" i="1">
                                <a:latin typeface="Cambria Math" panose="02040503050406030204" pitchFamily="18" charset="0"/>
                              </a:rPr>
                              <m:t>𝜑</m:t>
                            </m:r>
                          </m:e>
                        </m:func>
                        <m:r>
                          <a:rPr lang="en-US" b="0" i="1" smtClean="0">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rPr>
                              <m:t>𝜃</m:t>
                            </m:r>
                          </m:e>
                        </m:func>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rPr>
                              <m:t>𝜑</m:t>
                            </m:r>
                          </m:e>
                        </m:func>
                        <m:r>
                          <a:rPr lang="en-US" b="0" i="1" smtClean="0">
                            <a:latin typeface="Cambria Math" panose="02040503050406030204" pitchFamily="18" charset="0"/>
                          </a:rPr>
                          <m:t>,</m:t>
                        </m:r>
                        <m:func>
                          <m:funcPr>
                            <m:ctrlPr>
                              <a:rPr lang="en-US" b="0" i="1" smtClean="0">
                                <a:solidFill>
                                  <a:schemeClr val="tx1"/>
                                </a:solidFill>
                                <a:latin typeface="Cambria Math" panose="02040503050406030204" pitchFamily="18" charset="0"/>
                              </a:rPr>
                            </m:ctrlPr>
                          </m:funcPr>
                          <m:fName>
                            <m:r>
                              <m:rPr>
                                <m:sty m:val="p"/>
                              </m:rPr>
                              <a:rPr lang="en-US" i="0" smtClean="0">
                                <a:solidFill>
                                  <a:schemeClr val="tx1"/>
                                </a:solidFill>
                                <a:latin typeface="Cambria Math" panose="02040503050406030204" pitchFamily="18" charset="0"/>
                              </a:rPr>
                              <m:t>cos</m:t>
                            </m:r>
                          </m:fName>
                          <m:e>
                            <m:r>
                              <a:rPr lang="en-US" b="0" i="1" smtClean="0">
                                <a:solidFill>
                                  <a:schemeClr val="tx1"/>
                                </a:solidFill>
                                <a:latin typeface="Cambria Math" panose="02040503050406030204" pitchFamily="18" charset="0"/>
                              </a:rPr>
                              <m:t>𝜃</m:t>
                            </m:r>
                          </m:e>
                        </m:func>
                        <m:r>
                          <a:rPr lang="en-US" b="0" i="1" smtClean="0">
                            <a:solidFill>
                              <a:schemeClr val="tx1"/>
                            </a:solidFill>
                            <a:latin typeface="Cambria Math" panose="02040503050406030204" pitchFamily="18" charset="0"/>
                          </a:rPr>
                          <m:t>)</m:t>
                        </m:r>
                      </m:oMath>
                    </m:oMathPara>
                  </a14:m>
                  <a:endParaRPr lang="en-US" dirty="0">
                    <a:solidFill>
                      <a:schemeClr val="tx1"/>
                    </a:solidFill>
                  </a:endParaRPr>
                </a:p>
              </p:txBody>
            </p:sp>
          </mc:Choice>
          <mc:Fallback xmlns="">
            <p:sp>
              <p:nvSpPr>
                <p:cNvPr id="35" name="TextBox 34">
                  <a:extLst>
                    <a:ext uri="{FF2B5EF4-FFF2-40B4-BE49-F238E27FC236}">
                      <a16:creationId xmlns:a16="http://schemas.microsoft.com/office/drawing/2014/main" id="{0F2B087E-79E6-4933-AFE3-EED05A22D5AA}"/>
                    </a:ext>
                  </a:extLst>
                </p:cNvPr>
                <p:cNvSpPr txBox="1">
                  <a:spLocks noRot="1" noChangeAspect="1" noMove="1" noResize="1" noEditPoints="1" noAdjustHandles="1" noChangeArrowheads="1" noChangeShapeType="1" noTextEdit="1"/>
                </p:cNvSpPr>
                <p:nvPr/>
              </p:nvSpPr>
              <p:spPr>
                <a:xfrm>
                  <a:off x="7723947" y="2294541"/>
                  <a:ext cx="3202735" cy="369332"/>
                </a:xfrm>
                <a:prstGeom prst="rect">
                  <a:avLst/>
                </a:prstGeom>
                <a:blipFill>
                  <a:blip r:embed="rId5"/>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344A2F2E-5C78-FDB0-0521-B80FE14448DF}"/>
                    </a:ext>
                  </a:extLst>
                </p:cNvPr>
                <p:cNvSpPr txBox="1"/>
                <p:nvPr/>
              </p:nvSpPr>
              <p:spPr>
                <a:xfrm>
                  <a:off x="7919897" y="1232160"/>
                  <a:ext cx="2810834"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000" b="0" i="1" smtClean="0">
                            <a:solidFill>
                              <a:schemeClr val="tx1"/>
                            </a:solidFill>
                            <a:latin typeface="Cambria Math" panose="02040503050406030204" pitchFamily="18" charset="0"/>
                          </a:rPr>
                          <m:t>(</m:t>
                        </m:r>
                        <m:sSup>
                          <m:sSupPr>
                            <m:ctrlPr>
                              <a:rPr lang="en-US" sz="4000" b="0" i="1" smtClean="0">
                                <a:solidFill>
                                  <a:schemeClr val="tx1"/>
                                </a:solidFill>
                                <a:latin typeface="Cambria Math" panose="02040503050406030204" pitchFamily="18" charset="0"/>
                              </a:rPr>
                            </m:ctrlPr>
                          </m:sSupPr>
                          <m:e>
                            <m:r>
                              <a:rPr lang="en-US" sz="4000" b="0" i="1" smtClean="0">
                                <a:solidFill>
                                  <a:schemeClr val="tx1"/>
                                </a:solidFill>
                                <a:latin typeface="Cambria Math" panose="02040503050406030204" pitchFamily="18" charset="0"/>
                              </a:rPr>
                              <m:t>𝑣</m:t>
                            </m:r>
                          </m:e>
                          <m:sup>
                            <m:r>
                              <a:rPr lang="en-US" sz="4000" b="0" i="1" smtClean="0">
                                <a:solidFill>
                                  <a:schemeClr val="tx1"/>
                                </a:solidFill>
                                <a:latin typeface="Cambria Math" panose="02040503050406030204" pitchFamily="18" charset="0"/>
                              </a:rPr>
                              <m:t>𝑥</m:t>
                            </m:r>
                          </m:sup>
                        </m:sSup>
                        <m:r>
                          <a:rPr lang="en-US" sz="4000" b="0" i="1" smtClean="0">
                            <a:solidFill>
                              <a:schemeClr val="tx1"/>
                            </a:solidFill>
                            <a:latin typeface="Cambria Math" panose="02040503050406030204" pitchFamily="18" charset="0"/>
                          </a:rPr>
                          <m:t>,</m:t>
                        </m:r>
                        <m:sSup>
                          <m:sSupPr>
                            <m:ctrlPr>
                              <a:rPr lang="en-US" sz="4000" b="0" i="1" smtClean="0">
                                <a:solidFill>
                                  <a:schemeClr val="tx1"/>
                                </a:solidFill>
                                <a:latin typeface="Cambria Math" panose="02040503050406030204" pitchFamily="18" charset="0"/>
                              </a:rPr>
                            </m:ctrlPr>
                          </m:sSupPr>
                          <m:e>
                            <m:r>
                              <a:rPr lang="en-US" sz="4000" b="0" i="1" smtClean="0">
                                <a:solidFill>
                                  <a:schemeClr val="tx1"/>
                                </a:solidFill>
                                <a:latin typeface="Cambria Math" panose="02040503050406030204" pitchFamily="18" charset="0"/>
                              </a:rPr>
                              <m:t>𝑣</m:t>
                            </m:r>
                          </m:e>
                          <m:sup>
                            <m:r>
                              <a:rPr lang="en-US" sz="4000" b="0" i="1" smtClean="0">
                                <a:solidFill>
                                  <a:schemeClr val="tx1"/>
                                </a:solidFill>
                                <a:latin typeface="Cambria Math" panose="02040503050406030204" pitchFamily="18" charset="0"/>
                              </a:rPr>
                              <m:t>𝑦</m:t>
                            </m:r>
                          </m:sup>
                        </m:sSup>
                        <m:r>
                          <a:rPr lang="en-US" sz="4000" b="0" i="1" smtClean="0">
                            <a:solidFill>
                              <a:schemeClr val="tx1"/>
                            </a:solidFill>
                            <a:latin typeface="Cambria Math" panose="02040503050406030204" pitchFamily="18" charset="0"/>
                          </a:rPr>
                          <m:t>,</m:t>
                        </m:r>
                        <m:sSup>
                          <m:sSupPr>
                            <m:ctrlPr>
                              <a:rPr lang="en-US" sz="4000" b="0" i="1" smtClean="0">
                                <a:solidFill>
                                  <a:schemeClr val="tx1"/>
                                </a:solidFill>
                                <a:latin typeface="Cambria Math" panose="02040503050406030204" pitchFamily="18" charset="0"/>
                              </a:rPr>
                            </m:ctrlPr>
                          </m:sSupPr>
                          <m:e>
                            <m:r>
                              <a:rPr lang="en-US" sz="4000" b="0" i="1" smtClean="0">
                                <a:solidFill>
                                  <a:schemeClr val="tx1"/>
                                </a:solidFill>
                                <a:latin typeface="Cambria Math" panose="02040503050406030204" pitchFamily="18" charset="0"/>
                              </a:rPr>
                              <m:t>𝑣</m:t>
                            </m:r>
                          </m:e>
                          <m:sup>
                            <m:r>
                              <a:rPr lang="en-US" sz="4000" b="0" i="1" smtClean="0">
                                <a:solidFill>
                                  <a:schemeClr val="tx1"/>
                                </a:solidFill>
                                <a:latin typeface="Cambria Math" panose="02040503050406030204" pitchFamily="18" charset="0"/>
                              </a:rPr>
                              <m:t>𝑧</m:t>
                            </m:r>
                          </m:sup>
                        </m:sSup>
                        <m:r>
                          <a:rPr lang="en-US" sz="4000" b="0" i="1" smtClean="0">
                            <a:solidFill>
                              <a:schemeClr val="tx1"/>
                            </a:solidFill>
                            <a:latin typeface="Cambria Math" panose="02040503050406030204" pitchFamily="18" charset="0"/>
                          </a:rPr>
                          <m:t>)</m:t>
                        </m:r>
                      </m:oMath>
                    </m:oMathPara>
                  </a14:m>
                  <a:endParaRPr lang="en-US" sz="4000" dirty="0">
                    <a:solidFill>
                      <a:schemeClr val="tx1"/>
                    </a:solidFill>
                  </a:endParaRPr>
                </a:p>
              </p:txBody>
            </p:sp>
          </mc:Choice>
          <mc:Fallback xmlns="">
            <p:sp>
              <p:nvSpPr>
                <p:cNvPr id="60" name="TextBox 59">
                  <a:extLst>
                    <a:ext uri="{FF2B5EF4-FFF2-40B4-BE49-F238E27FC236}">
                      <a16:creationId xmlns:a16="http://schemas.microsoft.com/office/drawing/2014/main" id="{344A2F2E-5C78-FDB0-0521-B80FE14448DF}"/>
                    </a:ext>
                  </a:extLst>
                </p:cNvPr>
                <p:cNvSpPr txBox="1">
                  <a:spLocks noRot="1" noChangeAspect="1" noMove="1" noResize="1" noEditPoints="1" noAdjustHandles="1" noChangeArrowheads="1" noChangeShapeType="1" noTextEdit="1"/>
                </p:cNvSpPr>
                <p:nvPr/>
              </p:nvSpPr>
              <p:spPr>
                <a:xfrm>
                  <a:off x="7919897" y="1232160"/>
                  <a:ext cx="2810834" cy="70788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B04D69FD-BF5B-D147-27F5-9B4BE7FDEA41}"/>
                    </a:ext>
                  </a:extLst>
                </p:cNvPr>
                <p:cNvSpPr txBox="1"/>
                <p:nvPr/>
              </p:nvSpPr>
              <p:spPr>
                <a:xfrm>
                  <a:off x="7885176" y="1932628"/>
                  <a:ext cx="28802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𝑣</m:t>
                                    </m:r>
                                  </m:e>
                                  <m:sup>
                                    <m:r>
                                      <a:rPr lang="en-US" i="1">
                                        <a:latin typeface="Cambria Math" panose="02040503050406030204" pitchFamily="18" charset="0"/>
                                      </a:rPr>
                                      <m:t>𝑥</m:t>
                                    </m:r>
                                  </m:sup>
                                </m:sSup>
                              </m:e>
                            </m:d>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𝑣</m:t>
                                    </m:r>
                                  </m:e>
                                  <m:sup>
                                    <m:r>
                                      <a:rPr lang="en-US" b="0" i="1" smtClean="0">
                                        <a:latin typeface="Cambria Math" panose="02040503050406030204" pitchFamily="18" charset="0"/>
                                      </a:rPr>
                                      <m:t>𝑦</m:t>
                                    </m:r>
                                  </m:sup>
                                </m:sSup>
                              </m:e>
                            </m:d>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𝑣</m:t>
                                    </m:r>
                                  </m:e>
                                  <m:sup>
                                    <m:r>
                                      <a:rPr lang="en-US" b="0" i="1" smtClean="0">
                                        <a:latin typeface="Cambria Math" panose="02040503050406030204" pitchFamily="18" charset="0"/>
                                      </a:rPr>
                                      <m:t>𝑧</m:t>
                                    </m:r>
                                  </m:sup>
                                </m:sSup>
                              </m:e>
                            </m:d>
                          </m:e>
                          <m:sup>
                            <m:r>
                              <a:rPr lang="en-US" i="1">
                                <a:latin typeface="Cambria Math" panose="02040503050406030204" pitchFamily="18" charset="0"/>
                              </a:rPr>
                              <m:t>2</m:t>
                            </m:r>
                          </m:sup>
                        </m:sSup>
                        <m:r>
                          <a:rPr lang="en-US" b="0" i="1" smtClean="0">
                            <a:latin typeface="Cambria Math" panose="02040503050406030204" pitchFamily="18" charset="0"/>
                          </a:rPr>
                          <m:t>=1</m:t>
                        </m:r>
                      </m:oMath>
                    </m:oMathPara>
                  </a14:m>
                  <a:endParaRPr lang="en-US" dirty="0">
                    <a:solidFill>
                      <a:schemeClr val="tx1"/>
                    </a:solidFill>
                  </a:endParaRPr>
                </a:p>
              </p:txBody>
            </p:sp>
          </mc:Choice>
          <mc:Fallback xmlns="">
            <p:sp>
              <p:nvSpPr>
                <p:cNvPr id="61" name="TextBox 60">
                  <a:extLst>
                    <a:ext uri="{FF2B5EF4-FFF2-40B4-BE49-F238E27FC236}">
                      <a16:creationId xmlns:a16="http://schemas.microsoft.com/office/drawing/2014/main" id="{B04D69FD-BF5B-D147-27F5-9B4BE7FDEA41}"/>
                    </a:ext>
                  </a:extLst>
                </p:cNvPr>
                <p:cNvSpPr txBox="1">
                  <a:spLocks noRot="1" noChangeAspect="1" noMove="1" noResize="1" noEditPoints="1" noAdjustHandles="1" noChangeArrowheads="1" noChangeShapeType="1" noTextEdit="1"/>
                </p:cNvSpPr>
                <p:nvPr/>
              </p:nvSpPr>
              <p:spPr>
                <a:xfrm>
                  <a:off x="7885176" y="1932628"/>
                  <a:ext cx="2880276" cy="369332"/>
                </a:xfrm>
                <a:prstGeom prst="rect">
                  <a:avLst/>
                </a:prstGeom>
                <a:blipFill>
                  <a:blip r:embed="rId7"/>
                  <a:stretch>
                    <a:fillRect/>
                  </a:stretch>
                </a:blipFill>
              </p:spPr>
              <p:txBody>
                <a:bodyPr/>
                <a:lstStyle/>
                <a:p>
                  <a:r>
                    <a:rPr lang="en-US">
                      <a:noFill/>
                    </a:rPr>
                    <a:t> </a:t>
                  </a:r>
                </a:p>
              </p:txBody>
            </p:sp>
          </mc:Fallback>
        </mc:AlternateContent>
      </p:grpSp>
      <p:grpSp>
        <p:nvGrpSpPr>
          <p:cNvPr id="64" name="Group 63">
            <a:extLst>
              <a:ext uri="{FF2B5EF4-FFF2-40B4-BE49-F238E27FC236}">
                <a16:creationId xmlns:a16="http://schemas.microsoft.com/office/drawing/2014/main" id="{118DC763-8017-3057-B94D-ABB95F73AF2B}"/>
              </a:ext>
            </a:extLst>
          </p:cNvPr>
          <p:cNvGrpSpPr/>
          <p:nvPr/>
        </p:nvGrpSpPr>
        <p:grpSpPr>
          <a:xfrm>
            <a:off x="182880" y="122660"/>
            <a:ext cx="6262011" cy="5434592"/>
            <a:chOff x="723900" y="102608"/>
            <a:chExt cx="6262011" cy="5434592"/>
          </a:xfrm>
        </p:grpSpPr>
        <p:cxnSp>
          <p:nvCxnSpPr>
            <p:cNvPr id="65" name="Straight Connector 64">
              <a:extLst>
                <a:ext uri="{FF2B5EF4-FFF2-40B4-BE49-F238E27FC236}">
                  <a16:creationId xmlns:a16="http://schemas.microsoft.com/office/drawing/2014/main" id="{E76AADCB-282A-3FEC-0C9A-FE13A761C795}"/>
                </a:ext>
              </a:extLst>
            </p:cNvPr>
            <p:cNvCxnSpPr>
              <a:cxnSpLocks/>
            </p:cNvCxnSpPr>
            <p:nvPr/>
          </p:nvCxnSpPr>
          <p:spPr>
            <a:xfrm>
              <a:off x="723900" y="2745266"/>
              <a:ext cx="6070600" cy="0"/>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C936EFA-7D0C-B6EC-DF5D-253DB5CF1B16}"/>
                </a:ext>
              </a:extLst>
            </p:cNvPr>
            <p:cNvCxnSpPr/>
            <p:nvPr/>
          </p:nvCxnSpPr>
          <p:spPr>
            <a:xfrm>
              <a:off x="3799136" y="393700"/>
              <a:ext cx="0" cy="5143500"/>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1866E7B-8E89-E5E7-CB9F-3FB661BADEEE}"/>
                </a:ext>
              </a:extLst>
            </p:cNvPr>
            <p:cNvCxnSpPr>
              <a:cxnSpLocks/>
            </p:cNvCxnSpPr>
            <p:nvPr/>
          </p:nvCxnSpPr>
          <p:spPr>
            <a:xfrm flipV="1">
              <a:off x="1473200" y="580108"/>
              <a:ext cx="4485640" cy="4494243"/>
            </a:xfrm>
            <a:prstGeom prst="line">
              <a:avLst/>
            </a:prstGeom>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BE4A390F-0696-6299-37EA-9A4DBBEAF363}"/>
                    </a:ext>
                  </a:extLst>
                </p:cNvPr>
                <p:cNvSpPr txBox="1"/>
                <p:nvPr/>
              </p:nvSpPr>
              <p:spPr>
                <a:xfrm>
                  <a:off x="6517834" y="2701799"/>
                  <a:ext cx="46807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𝑥</m:t>
                        </m:r>
                      </m:oMath>
                    </m:oMathPara>
                  </a14:m>
                  <a:endParaRPr lang="en-US" sz="2800" dirty="0"/>
                </a:p>
              </p:txBody>
            </p:sp>
          </mc:Choice>
          <mc:Fallback xmlns="">
            <p:sp>
              <p:nvSpPr>
                <p:cNvPr id="68" name="TextBox 67">
                  <a:extLst>
                    <a:ext uri="{FF2B5EF4-FFF2-40B4-BE49-F238E27FC236}">
                      <a16:creationId xmlns:a16="http://schemas.microsoft.com/office/drawing/2014/main" id="{BE4A390F-0696-6299-37EA-9A4DBBEAF363}"/>
                    </a:ext>
                  </a:extLst>
                </p:cNvPr>
                <p:cNvSpPr txBox="1">
                  <a:spLocks noRot="1" noChangeAspect="1" noMove="1" noResize="1" noEditPoints="1" noAdjustHandles="1" noChangeArrowheads="1" noChangeShapeType="1" noTextEdit="1"/>
                </p:cNvSpPr>
                <p:nvPr/>
              </p:nvSpPr>
              <p:spPr>
                <a:xfrm>
                  <a:off x="6517834" y="2701799"/>
                  <a:ext cx="468077"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952D9F41-0A9D-5BE8-45A1-6B468B26C5D2}"/>
                    </a:ext>
                  </a:extLst>
                </p:cNvPr>
                <p:cNvSpPr txBox="1"/>
                <p:nvPr/>
              </p:nvSpPr>
              <p:spPr>
                <a:xfrm>
                  <a:off x="5361263" y="207735"/>
                  <a:ext cx="47295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oMath>
                    </m:oMathPara>
                  </a14:m>
                  <a:endParaRPr lang="en-US" sz="2800" dirty="0"/>
                </a:p>
              </p:txBody>
            </p:sp>
          </mc:Choice>
          <mc:Fallback xmlns="">
            <p:sp>
              <p:nvSpPr>
                <p:cNvPr id="69" name="TextBox 68">
                  <a:extLst>
                    <a:ext uri="{FF2B5EF4-FFF2-40B4-BE49-F238E27FC236}">
                      <a16:creationId xmlns:a16="http://schemas.microsoft.com/office/drawing/2014/main" id="{952D9F41-0A9D-5BE8-45A1-6B468B26C5D2}"/>
                    </a:ext>
                  </a:extLst>
                </p:cNvPr>
                <p:cNvSpPr txBox="1">
                  <a:spLocks noRot="1" noChangeAspect="1" noMove="1" noResize="1" noEditPoints="1" noAdjustHandles="1" noChangeArrowheads="1" noChangeShapeType="1" noTextEdit="1"/>
                </p:cNvSpPr>
                <p:nvPr/>
              </p:nvSpPr>
              <p:spPr>
                <a:xfrm>
                  <a:off x="5361263" y="207735"/>
                  <a:ext cx="472950"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64EF2206-36EA-BF35-69F6-D18EC2C1965C}"/>
                    </a:ext>
                  </a:extLst>
                </p:cNvPr>
                <p:cNvSpPr txBox="1"/>
                <p:nvPr/>
              </p:nvSpPr>
              <p:spPr>
                <a:xfrm>
                  <a:off x="3216799" y="102608"/>
                  <a:ext cx="44569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𝑧</m:t>
                        </m:r>
                      </m:oMath>
                    </m:oMathPara>
                  </a14:m>
                  <a:endParaRPr lang="en-US" sz="2800" dirty="0"/>
                </a:p>
              </p:txBody>
            </p:sp>
          </mc:Choice>
          <mc:Fallback xmlns="">
            <p:sp>
              <p:nvSpPr>
                <p:cNvPr id="70" name="TextBox 69">
                  <a:extLst>
                    <a:ext uri="{FF2B5EF4-FFF2-40B4-BE49-F238E27FC236}">
                      <a16:creationId xmlns:a16="http://schemas.microsoft.com/office/drawing/2014/main" id="{64EF2206-36EA-BF35-69F6-D18EC2C1965C}"/>
                    </a:ext>
                  </a:extLst>
                </p:cNvPr>
                <p:cNvSpPr txBox="1">
                  <a:spLocks noRot="1" noChangeAspect="1" noMove="1" noResize="1" noEditPoints="1" noAdjustHandles="1" noChangeArrowheads="1" noChangeShapeType="1" noTextEdit="1"/>
                </p:cNvSpPr>
                <p:nvPr/>
              </p:nvSpPr>
              <p:spPr>
                <a:xfrm>
                  <a:off x="3216799" y="102608"/>
                  <a:ext cx="445699" cy="523220"/>
                </a:xfrm>
                <a:prstGeom prst="rect">
                  <a:avLst/>
                </a:prstGeom>
                <a:blipFill>
                  <a:blip r:embed="rId10"/>
                  <a:stretch>
                    <a:fillRect/>
                  </a:stretch>
                </a:blipFill>
              </p:spPr>
              <p:txBody>
                <a:bodyPr/>
                <a:lstStyle/>
                <a:p>
                  <a:r>
                    <a:rPr lang="en-US">
                      <a:noFill/>
                    </a:rPr>
                    <a:t> </a:t>
                  </a:r>
                </a:p>
              </p:txBody>
            </p:sp>
          </mc:Fallback>
        </mc:AlternateContent>
        <p:grpSp>
          <p:nvGrpSpPr>
            <p:cNvPr id="71" name="Group 70">
              <a:extLst>
                <a:ext uri="{FF2B5EF4-FFF2-40B4-BE49-F238E27FC236}">
                  <a16:creationId xmlns:a16="http://schemas.microsoft.com/office/drawing/2014/main" id="{9A25147C-BEA2-5BF1-7D9B-D7C35D1D0FC8}"/>
                </a:ext>
              </a:extLst>
            </p:cNvPr>
            <p:cNvGrpSpPr/>
            <p:nvPr/>
          </p:nvGrpSpPr>
          <p:grpSpPr>
            <a:xfrm>
              <a:off x="2012103" y="948792"/>
              <a:ext cx="3578015" cy="3577707"/>
              <a:chOff x="934943" y="1636949"/>
              <a:chExt cx="2674503" cy="2674273"/>
            </a:xfrm>
          </p:grpSpPr>
          <p:grpSp>
            <p:nvGrpSpPr>
              <p:cNvPr id="72" name="Group 71">
                <a:extLst>
                  <a:ext uri="{FF2B5EF4-FFF2-40B4-BE49-F238E27FC236}">
                    <a16:creationId xmlns:a16="http://schemas.microsoft.com/office/drawing/2014/main" id="{5E330809-63CE-0B1B-97C0-8C82B1D62F65}"/>
                  </a:ext>
                </a:extLst>
              </p:cNvPr>
              <p:cNvGrpSpPr/>
              <p:nvPr/>
            </p:nvGrpSpPr>
            <p:grpSpPr>
              <a:xfrm>
                <a:off x="934943" y="1636949"/>
                <a:ext cx="2674503" cy="2674273"/>
                <a:chOff x="2521889" y="2808131"/>
                <a:chExt cx="1916430" cy="1916266"/>
              </a:xfrm>
            </p:grpSpPr>
            <p:sp>
              <p:nvSpPr>
                <p:cNvPr id="80" name="Oval 79">
                  <a:extLst>
                    <a:ext uri="{FF2B5EF4-FFF2-40B4-BE49-F238E27FC236}">
                      <a16:creationId xmlns:a16="http://schemas.microsoft.com/office/drawing/2014/main" id="{50D1A4CB-8680-E55A-B924-A9235CA40EA6}"/>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1" name="Oval 31">
                  <a:extLst>
                    <a:ext uri="{FF2B5EF4-FFF2-40B4-BE49-F238E27FC236}">
                      <a16:creationId xmlns:a16="http://schemas.microsoft.com/office/drawing/2014/main" id="{7E32BF50-8BA9-5B7F-249B-3387B1C6A35C}"/>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767E46A1-08B6-638A-6B8B-3E205D97C385}"/>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83" name="Group 82">
                  <a:extLst>
                    <a:ext uri="{FF2B5EF4-FFF2-40B4-BE49-F238E27FC236}">
                      <a16:creationId xmlns:a16="http://schemas.microsoft.com/office/drawing/2014/main" id="{7E714F30-6AF3-02BC-F63F-A5C5C2756305}"/>
                    </a:ext>
                  </a:extLst>
                </p:cNvPr>
                <p:cNvGrpSpPr/>
                <p:nvPr/>
              </p:nvGrpSpPr>
              <p:grpSpPr>
                <a:xfrm>
                  <a:off x="2923755" y="2808131"/>
                  <a:ext cx="1112528" cy="1916266"/>
                  <a:chOff x="2734489" y="2655731"/>
                  <a:chExt cx="1186260" cy="1916266"/>
                </a:xfrm>
              </p:grpSpPr>
              <p:sp>
                <p:nvSpPr>
                  <p:cNvPr id="87" name="Oval 86">
                    <a:extLst>
                      <a:ext uri="{FF2B5EF4-FFF2-40B4-BE49-F238E27FC236}">
                        <a16:creationId xmlns:a16="http://schemas.microsoft.com/office/drawing/2014/main" id="{D80097C0-CDF5-C5CA-4847-22433C28DC4D}"/>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88" name="Oval 9">
                    <a:extLst>
                      <a:ext uri="{FF2B5EF4-FFF2-40B4-BE49-F238E27FC236}">
                        <a16:creationId xmlns:a16="http://schemas.microsoft.com/office/drawing/2014/main" id="{C657546C-D09B-6214-8F41-98D72BD591D0}"/>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84" name="Group 83">
                  <a:extLst>
                    <a:ext uri="{FF2B5EF4-FFF2-40B4-BE49-F238E27FC236}">
                      <a16:creationId xmlns:a16="http://schemas.microsoft.com/office/drawing/2014/main" id="{D1FCB60C-F89F-B527-DD4D-3C044114D666}"/>
                    </a:ext>
                  </a:extLst>
                </p:cNvPr>
                <p:cNvGrpSpPr/>
                <p:nvPr/>
              </p:nvGrpSpPr>
              <p:grpSpPr>
                <a:xfrm rot="16200000">
                  <a:off x="2923922" y="2810085"/>
                  <a:ext cx="1112528" cy="1916266"/>
                  <a:chOff x="2734489" y="2655731"/>
                  <a:chExt cx="1186260" cy="1916266"/>
                </a:xfrm>
              </p:grpSpPr>
              <p:sp>
                <p:nvSpPr>
                  <p:cNvPr id="85" name="Oval 84">
                    <a:extLst>
                      <a:ext uri="{FF2B5EF4-FFF2-40B4-BE49-F238E27FC236}">
                        <a16:creationId xmlns:a16="http://schemas.microsoft.com/office/drawing/2014/main" id="{23A87DEF-0517-BC90-1B73-31BA50B6983A}"/>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86" name="Oval 9">
                    <a:extLst>
                      <a:ext uri="{FF2B5EF4-FFF2-40B4-BE49-F238E27FC236}">
                        <a16:creationId xmlns:a16="http://schemas.microsoft.com/office/drawing/2014/main" id="{2B877A20-1BE3-0DBE-5A53-CC481418FE53}"/>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cxnSp>
            <p:nvCxnSpPr>
              <p:cNvPr id="73" name="Straight Connector 72">
                <a:extLst>
                  <a:ext uri="{FF2B5EF4-FFF2-40B4-BE49-F238E27FC236}">
                    <a16:creationId xmlns:a16="http://schemas.microsoft.com/office/drawing/2014/main" id="{825CAAD5-F1BA-E098-7AEA-F71A656FE4EF}"/>
                  </a:ext>
                </a:extLst>
              </p:cNvPr>
              <p:cNvCxnSpPr/>
              <p:nvPr/>
            </p:nvCxnSpPr>
            <p:spPr>
              <a:xfrm>
                <a:off x="2271845" y="2974084"/>
                <a:ext cx="999675" cy="525009"/>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46A3C4D-CF74-B614-0E20-97689C3EC4C5}"/>
                  </a:ext>
                </a:extLst>
              </p:cNvPr>
              <p:cNvCxnSpPr>
                <a:cxnSpLocks/>
              </p:cNvCxnSpPr>
              <p:nvPr/>
            </p:nvCxnSpPr>
            <p:spPr>
              <a:xfrm>
                <a:off x="3113096" y="2200506"/>
                <a:ext cx="0" cy="1214853"/>
              </a:xfrm>
              <a:prstGeom prst="line">
                <a:avLst/>
              </a:prstGeom>
            </p:spPr>
            <p:style>
              <a:lnRef idx="1">
                <a:schemeClr val="accent1"/>
              </a:lnRef>
              <a:fillRef idx="0">
                <a:schemeClr val="accent1"/>
              </a:fillRef>
              <a:effectRef idx="0">
                <a:schemeClr val="accent1"/>
              </a:effectRef>
              <a:fontRef idx="minor">
                <a:schemeClr val="tx1"/>
              </a:fontRef>
            </p:style>
          </p:cxnSp>
          <p:sp>
            <p:nvSpPr>
              <p:cNvPr id="75" name="Arc 74">
                <a:extLst>
                  <a:ext uri="{FF2B5EF4-FFF2-40B4-BE49-F238E27FC236}">
                    <a16:creationId xmlns:a16="http://schemas.microsoft.com/office/drawing/2014/main" id="{F22E7259-3A80-0D91-B8EE-7F981222CF31}"/>
                  </a:ext>
                </a:extLst>
              </p:cNvPr>
              <p:cNvSpPr/>
              <p:nvPr/>
            </p:nvSpPr>
            <p:spPr>
              <a:xfrm>
                <a:off x="2014778" y="2642873"/>
                <a:ext cx="521176" cy="413772"/>
              </a:xfrm>
              <a:prstGeom prst="arc">
                <a:avLst>
                  <a:gd name="adj1" fmla="val 16200000"/>
                  <a:gd name="adj2" fmla="val 2046445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6" name="Straight Arrow Connector 75">
                <a:extLst>
                  <a:ext uri="{FF2B5EF4-FFF2-40B4-BE49-F238E27FC236}">
                    <a16:creationId xmlns:a16="http://schemas.microsoft.com/office/drawing/2014/main" id="{EE646506-BA45-118F-315D-34CF55BD7186}"/>
                  </a:ext>
                </a:extLst>
              </p:cNvPr>
              <p:cNvCxnSpPr>
                <a:cxnSpLocks/>
              </p:cNvCxnSpPr>
              <p:nvPr/>
            </p:nvCxnSpPr>
            <p:spPr>
              <a:xfrm flipV="1">
                <a:off x="2272076" y="2200506"/>
                <a:ext cx="839906" cy="77357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7C8262A5-5981-FA1E-77D2-6706F684D053}"/>
                      </a:ext>
                    </a:extLst>
                  </p:cNvPr>
                  <p:cNvSpPr txBox="1"/>
                  <p:nvPr/>
                </p:nvSpPr>
                <p:spPr>
                  <a:xfrm>
                    <a:off x="2286085" y="2329788"/>
                    <a:ext cx="37414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oMath>
                      </m:oMathPara>
                    </a14:m>
                    <a:endParaRPr lang="en-US" dirty="0"/>
                  </a:p>
                </p:txBody>
              </p:sp>
            </mc:Choice>
            <mc:Fallback xmlns="">
              <p:sp>
                <p:nvSpPr>
                  <p:cNvPr id="37" name="TextBox 36">
                    <a:extLst>
                      <a:ext uri="{FF2B5EF4-FFF2-40B4-BE49-F238E27FC236}">
                        <a16:creationId xmlns:a16="http://schemas.microsoft.com/office/drawing/2014/main" id="{4923AE05-E995-F3EB-37BA-056D5E0F6A35}"/>
                      </a:ext>
                    </a:extLst>
                  </p:cNvPr>
                  <p:cNvSpPr txBox="1">
                    <a:spLocks noRot="1" noChangeAspect="1" noMove="1" noResize="1" noEditPoints="1" noAdjustHandles="1" noChangeArrowheads="1" noChangeShapeType="1" noTextEdit="1"/>
                  </p:cNvSpPr>
                  <p:nvPr/>
                </p:nvSpPr>
                <p:spPr>
                  <a:xfrm>
                    <a:off x="2286085" y="2329788"/>
                    <a:ext cx="374141" cy="369332"/>
                  </a:xfrm>
                  <a:prstGeom prst="rect">
                    <a:avLst/>
                  </a:prstGeom>
                  <a:blipFill>
                    <a:blip r:embed="rId11"/>
                    <a:stretch>
                      <a:fillRect/>
                    </a:stretch>
                  </a:blipFill>
                </p:spPr>
                <p:txBody>
                  <a:bodyPr/>
                  <a:lstStyle/>
                  <a:p>
                    <a:r>
                      <a:rPr lang="en-US">
                        <a:noFill/>
                      </a:rPr>
                      <a:t> </a:t>
                    </a:r>
                  </a:p>
                </p:txBody>
              </p:sp>
            </mc:Fallback>
          </mc:AlternateContent>
          <p:sp>
            <p:nvSpPr>
              <p:cNvPr id="78" name="Arc 77">
                <a:extLst>
                  <a:ext uri="{FF2B5EF4-FFF2-40B4-BE49-F238E27FC236}">
                    <a16:creationId xmlns:a16="http://schemas.microsoft.com/office/drawing/2014/main" id="{9489555D-1935-2214-318C-F92FB064687C}"/>
                  </a:ext>
                </a:extLst>
              </p:cNvPr>
              <p:cNvSpPr/>
              <p:nvPr/>
            </p:nvSpPr>
            <p:spPr>
              <a:xfrm>
                <a:off x="1840894" y="2723583"/>
                <a:ext cx="861908" cy="500546"/>
              </a:xfrm>
              <a:prstGeom prst="arc">
                <a:avLst>
                  <a:gd name="adj1" fmla="val 75082"/>
                  <a:gd name="adj2" fmla="val 159574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62EE464B-BCE3-04BE-F53C-5683B83659F7}"/>
                      </a:ext>
                    </a:extLst>
                  </p:cNvPr>
                  <p:cNvSpPr txBox="1"/>
                  <p:nvPr/>
                </p:nvSpPr>
                <p:spPr>
                  <a:xfrm>
                    <a:off x="2613151" y="2879260"/>
                    <a:ext cx="3995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𝜑</m:t>
                          </m:r>
                        </m:oMath>
                      </m:oMathPara>
                    </a14:m>
                    <a:endParaRPr lang="en-US" dirty="0"/>
                  </a:p>
                </p:txBody>
              </p:sp>
            </mc:Choice>
            <mc:Fallback xmlns="">
              <p:sp>
                <p:nvSpPr>
                  <p:cNvPr id="40" name="TextBox 39">
                    <a:extLst>
                      <a:ext uri="{FF2B5EF4-FFF2-40B4-BE49-F238E27FC236}">
                        <a16:creationId xmlns:a16="http://schemas.microsoft.com/office/drawing/2014/main" id="{90AFA723-236E-926F-51C8-FFE12408AB16}"/>
                      </a:ext>
                    </a:extLst>
                  </p:cNvPr>
                  <p:cNvSpPr txBox="1">
                    <a:spLocks noRot="1" noChangeAspect="1" noMove="1" noResize="1" noEditPoints="1" noAdjustHandles="1" noChangeArrowheads="1" noChangeShapeType="1" noTextEdit="1"/>
                  </p:cNvSpPr>
                  <p:nvPr/>
                </p:nvSpPr>
                <p:spPr>
                  <a:xfrm>
                    <a:off x="2613151" y="2879260"/>
                    <a:ext cx="399597" cy="369332"/>
                  </a:xfrm>
                  <a:prstGeom prst="rect">
                    <a:avLst/>
                  </a:prstGeom>
                  <a:blipFill>
                    <a:blip r:embed="rId12"/>
                    <a:stretch>
                      <a:fillRect/>
                    </a:stretch>
                  </a:blipFill>
                </p:spPr>
                <p:txBody>
                  <a:bodyPr/>
                  <a:lstStyle/>
                  <a:p>
                    <a:r>
                      <a:rPr lang="en-US">
                        <a:noFill/>
                      </a:rPr>
                      <a:t> </a:t>
                    </a:r>
                  </a:p>
                </p:txBody>
              </p:sp>
            </mc:Fallback>
          </mc:AlternateContent>
        </p:grpSp>
      </p:grpSp>
    </p:spTree>
    <p:extLst>
      <p:ext uri="{BB962C8B-B14F-4D97-AF65-F5344CB8AC3E}">
        <p14:creationId xmlns:p14="http://schemas.microsoft.com/office/powerpoint/2010/main" val="1408606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93910-2458-135A-912F-C1BFB5B5940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5FFBBEE-62F2-1DB2-7953-21DA2C04E788}"/>
                  </a:ext>
                </a:extLst>
              </p:cNvPr>
              <p:cNvSpPr txBox="1"/>
              <p:nvPr/>
            </p:nvSpPr>
            <p:spPr>
              <a:xfrm>
                <a:off x="7396346" y="623813"/>
                <a:ext cx="4239750" cy="69006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solidFill>
                                <a:schemeClr val="tx1"/>
                              </a:solidFill>
                              <a:latin typeface="Cambria Math" panose="02040503050406030204" pitchFamily="18" charset="0"/>
                            </a:rPr>
                          </m:ctrlPr>
                        </m:sSupPr>
                        <m:e>
                          <m:r>
                            <a:rPr lang="en-US" sz="3600" b="0" i="1" smtClean="0">
                              <a:solidFill>
                                <a:schemeClr val="tx1"/>
                              </a:solidFill>
                              <a:latin typeface="Cambria Math" panose="02040503050406030204" pitchFamily="18" charset="0"/>
                            </a:rPr>
                            <m:t>𝑣</m:t>
                          </m:r>
                        </m:e>
                        <m:sup>
                          <m:r>
                            <a:rPr lang="en-US" sz="3600" b="0" i="1" smtClean="0">
                              <a:solidFill>
                                <a:schemeClr val="tx1"/>
                              </a:solidFill>
                              <a:latin typeface="Cambria Math" panose="02040503050406030204" pitchFamily="18" charset="0"/>
                            </a:rPr>
                            <m:t>𝑥</m:t>
                          </m:r>
                        </m:sup>
                      </m:sSup>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𝑒</m:t>
                          </m:r>
                        </m:e>
                        <m:sub>
                          <m:r>
                            <a:rPr lang="en-US" sz="3600" b="0" i="1" smtClean="0">
                              <a:solidFill>
                                <a:schemeClr val="tx1"/>
                              </a:solidFill>
                              <a:latin typeface="Cambria Math" panose="02040503050406030204" pitchFamily="18" charset="0"/>
                            </a:rPr>
                            <m:t>𝑥</m:t>
                          </m:r>
                        </m:sub>
                      </m:sSub>
                      <m:r>
                        <a:rPr lang="en-US" sz="3600" i="1">
                          <a:solidFill>
                            <a:schemeClr val="tx1"/>
                          </a:solidFill>
                          <a:latin typeface="Cambria Math" panose="02040503050406030204" pitchFamily="18" charset="0"/>
                        </a:rPr>
                        <m:t>+</m:t>
                      </m:r>
                      <m:sSup>
                        <m:sSupPr>
                          <m:ctrlPr>
                            <a:rPr lang="en-US" sz="3600" i="1">
                              <a:solidFill>
                                <a:schemeClr val="tx1"/>
                              </a:solidFill>
                              <a:latin typeface="Cambria Math" panose="02040503050406030204" pitchFamily="18" charset="0"/>
                            </a:rPr>
                          </m:ctrlPr>
                        </m:sSupPr>
                        <m:e>
                          <m:r>
                            <a:rPr lang="en-US" sz="3600" i="1">
                              <a:solidFill>
                                <a:schemeClr val="tx1"/>
                              </a:solidFill>
                              <a:latin typeface="Cambria Math" panose="02040503050406030204" pitchFamily="18" charset="0"/>
                            </a:rPr>
                            <m:t>𝑣</m:t>
                          </m:r>
                        </m:e>
                        <m:sup>
                          <m:r>
                            <a:rPr lang="en-US" sz="3600" i="1">
                              <a:solidFill>
                                <a:schemeClr val="tx1"/>
                              </a:solidFill>
                              <a:latin typeface="Cambria Math" panose="02040503050406030204" pitchFamily="18" charset="0"/>
                            </a:rPr>
                            <m:t>𝑦</m:t>
                          </m:r>
                        </m:sup>
                      </m:sSup>
                      <m:sSub>
                        <m:sSubPr>
                          <m:ctrlPr>
                            <a:rPr lang="en-US" sz="3600" i="1">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𝑒</m:t>
                          </m:r>
                        </m:e>
                        <m:sub>
                          <m:r>
                            <a:rPr lang="en-US" sz="3600" i="1">
                              <a:solidFill>
                                <a:schemeClr val="tx1"/>
                              </a:solidFill>
                              <a:latin typeface="Cambria Math" panose="02040503050406030204" pitchFamily="18" charset="0"/>
                            </a:rPr>
                            <m:t>𝑦</m:t>
                          </m:r>
                        </m:sub>
                      </m:sSub>
                      <m:r>
                        <a:rPr lang="en-US" sz="3600" i="1">
                          <a:solidFill>
                            <a:schemeClr val="tx1"/>
                          </a:solidFill>
                          <a:latin typeface="Cambria Math" panose="02040503050406030204" pitchFamily="18" charset="0"/>
                        </a:rPr>
                        <m:t>+</m:t>
                      </m:r>
                      <m:sSup>
                        <m:sSupPr>
                          <m:ctrlPr>
                            <a:rPr lang="en-US" sz="3600" i="1">
                              <a:solidFill>
                                <a:schemeClr val="tx1"/>
                              </a:solidFill>
                              <a:latin typeface="Cambria Math" panose="02040503050406030204" pitchFamily="18" charset="0"/>
                            </a:rPr>
                          </m:ctrlPr>
                        </m:sSupPr>
                        <m:e>
                          <m:r>
                            <a:rPr lang="en-US" sz="3600" i="1">
                              <a:solidFill>
                                <a:schemeClr val="tx1"/>
                              </a:solidFill>
                              <a:latin typeface="Cambria Math" panose="02040503050406030204" pitchFamily="18" charset="0"/>
                            </a:rPr>
                            <m:t>𝑣</m:t>
                          </m:r>
                        </m:e>
                        <m:sup>
                          <m:r>
                            <a:rPr lang="en-US" sz="3600" b="0" i="1" smtClean="0">
                              <a:solidFill>
                                <a:schemeClr val="tx1"/>
                              </a:solidFill>
                              <a:latin typeface="Cambria Math" panose="02040503050406030204" pitchFamily="18" charset="0"/>
                            </a:rPr>
                            <m:t>𝑧</m:t>
                          </m:r>
                        </m:sup>
                      </m:sSup>
                      <m:sSub>
                        <m:sSubPr>
                          <m:ctrlPr>
                            <a:rPr lang="en-US" sz="3600" i="1">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𝑒</m:t>
                          </m:r>
                        </m:e>
                        <m:sub>
                          <m:r>
                            <a:rPr lang="en-US" sz="3600" b="0" i="1" smtClean="0">
                              <a:solidFill>
                                <a:schemeClr val="tx1"/>
                              </a:solidFill>
                              <a:latin typeface="Cambria Math" panose="02040503050406030204" pitchFamily="18" charset="0"/>
                            </a:rPr>
                            <m:t>𝑧</m:t>
                          </m:r>
                        </m:sub>
                      </m:sSub>
                    </m:oMath>
                  </m:oMathPara>
                </a14:m>
                <a:endParaRPr lang="en-US" sz="3600" dirty="0">
                  <a:solidFill>
                    <a:schemeClr val="tx1"/>
                  </a:solidFill>
                </a:endParaRPr>
              </a:p>
            </p:txBody>
          </p:sp>
        </mc:Choice>
        <mc:Fallback xmlns="">
          <p:sp>
            <p:nvSpPr>
              <p:cNvPr id="34" name="TextBox 33">
                <a:extLst>
                  <a:ext uri="{FF2B5EF4-FFF2-40B4-BE49-F238E27FC236}">
                    <a16:creationId xmlns:a16="http://schemas.microsoft.com/office/drawing/2014/main" id="{E5FFBBEE-62F2-1DB2-7953-21DA2C04E788}"/>
                  </a:ext>
                </a:extLst>
              </p:cNvPr>
              <p:cNvSpPr txBox="1">
                <a:spLocks noRot="1" noChangeAspect="1" noMove="1" noResize="1" noEditPoints="1" noAdjustHandles="1" noChangeArrowheads="1" noChangeShapeType="1" noTextEdit="1"/>
              </p:cNvSpPr>
              <p:nvPr/>
            </p:nvSpPr>
            <p:spPr>
              <a:xfrm>
                <a:off x="7396346" y="623813"/>
                <a:ext cx="4239750" cy="690061"/>
              </a:xfrm>
              <a:prstGeom prst="rect">
                <a:avLst/>
              </a:prstGeom>
              <a:blipFill>
                <a:blip r:embed="rId2"/>
                <a:stretch>
                  <a:fillRect/>
                </a:stretch>
              </a:blipFill>
            </p:spPr>
            <p:txBody>
              <a:bodyPr/>
              <a:lstStyle/>
              <a:p>
                <a:r>
                  <a:rPr lang="en-US">
                    <a:noFill/>
                  </a:rPr>
                  <a:t> </a:t>
                </a:r>
              </a:p>
            </p:txBody>
          </p:sp>
        </mc:Fallback>
      </mc:AlternateContent>
      <p:grpSp>
        <p:nvGrpSpPr>
          <p:cNvPr id="63" name="Group 62">
            <a:extLst>
              <a:ext uri="{FF2B5EF4-FFF2-40B4-BE49-F238E27FC236}">
                <a16:creationId xmlns:a16="http://schemas.microsoft.com/office/drawing/2014/main" id="{192D84AB-07AB-680A-D83A-74A0F905DC48}"/>
              </a:ext>
            </a:extLst>
          </p:cNvPr>
          <p:cNvGrpSpPr/>
          <p:nvPr/>
        </p:nvGrpSpPr>
        <p:grpSpPr>
          <a:xfrm>
            <a:off x="182880" y="122660"/>
            <a:ext cx="6262011" cy="5434592"/>
            <a:chOff x="723900" y="102608"/>
            <a:chExt cx="6262011" cy="5434592"/>
          </a:xfrm>
        </p:grpSpPr>
        <p:cxnSp>
          <p:nvCxnSpPr>
            <p:cNvPr id="21" name="Straight Connector 20">
              <a:extLst>
                <a:ext uri="{FF2B5EF4-FFF2-40B4-BE49-F238E27FC236}">
                  <a16:creationId xmlns:a16="http://schemas.microsoft.com/office/drawing/2014/main" id="{4FB27349-B9F0-1071-353F-09C048903970}"/>
                </a:ext>
              </a:extLst>
            </p:cNvPr>
            <p:cNvCxnSpPr>
              <a:cxnSpLocks/>
            </p:cNvCxnSpPr>
            <p:nvPr/>
          </p:nvCxnSpPr>
          <p:spPr>
            <a:xfrm>
              <a:off x="723900" y="2745266"/>
              <a:ext cx="6070600" cy="0"/>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C3D1573-1C32-48FF-7DFD-47E17C694D0E}"/>
                </a:ext>
              </a:extLst>
            </p:cNvPr>
            <p:cNvCxnSpPr/>
            <p:nvPr/>
          </p:nvCxnSpPr>
          <p:spPr>
            <a:xfrm>
              <a:off x="3799136" y="393700"/>
              <a:ext cx="0" cy="5143500"/>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514F699-AE7B-E9AF-C8B4-BF03C98A6F00}"/>
                </a:ext>
              </a:extLst>
            </p:cNvPr>
            <p:cNvCxnSpPr>
              <a:cxnSpLocks/>
            </p:cNvCxnSpPr>
            <p:nvPr/>
          </p:nvCxnSpPr>
          <p:spPr>
            <a:xfrm flipV="1">
              <a:off x="1473200" y="580108"/>
              <a:ext cx="4485640" cy="4494243"/>
            </a:xfrm>
            <a:prstGeom prst="line">
              <a:avLst/>
            </a:prstGeom>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AD237D8-81E6-BB1F-E0F3-E152FAC9D2B9}"/>
                    </a:ext>
                  </a:extLst>
                </p:cNvPr>
                <p:cNvSpPr txBox="1"/>
                <p:nvPr/>
              </p:nvSpPr>
              <p:spPr>
                <a:xfrm>
                  <a:off x="6517834" y="2701799"/>
                  <a:ext cx="46807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𝑥</m:t>
                        </m:r>
                      </m:oMath>
                    </m:oMathPara>
                  </a14:m>
                  <a:endParaRPr lang="en-US" sz="2800" dirty="0"/>
                </a:p>
              </p:txBody>
            </p:sp>
          </mc:Choice>
          <mc:Fallback xmlns="">
            <p:sp>
              <p:nvSpPr>
                <p:cNvPr id="29" name="TextBox 28">
                  <a:extLst>
                    <a:ext uri="{FF2B5EF4-FFF2-40B4-BE49-F238E27FC236}">
                      <a16:creationId xmlns:a16="http://schemas.microsoft.com/office/drawing/2014/main" id="{DAD237D8-81E6-BB1F-E0F3-E152FAC9D2B9}"/>
                    </a:ext>
                  </a:extLst>
                </p:cNvPr>
                <p:cNvSpPr txBox="1">
                  <a:spLocks noRot="1" noChangeAspect="1" noMove="1" noResize="1" noEditPoints="1" noAdjustHandles="1" noChangeArrowheads="1" noChangeShapeType="1" noTextEdit="1"/>
                </p:cNvSpPr>
                <p:nvPr/>
              </p:nvSpPr>
              <p:spPr>
                <a:xfrm>
                  <a:off x="6517834" y="2701799"/>
                  <a:ext cx="468077"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E9873FA-C065-21AC-77BC-CA25DB562F46}"/>
                    </a:ext>
                  </a:extLst>
                </p:cNvPr>
                <p:cNvSpPr txBox="1"/>
                <p:nvPr/>
              </p:nvSpPr>
              <p:spPr>
                <a:xfrm>
                  <a:off x="5361263" y="207735"/>
                  <a:ext cx="47295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oMath>
                    </m:oMathPara>
                  </a14:m>
                  <a:endParaRPr lang="en-US" sz="2800" dirty="0"/>
                </a:p>
              </p:txBody>
            </p:sp>
          </mc:Choice>
          <mc:Fallback xmlns="">
            <p:sp>
              <p:nvSpPr>
                <p:cNvPr id="30" name="TextBox 29">
                  <a:extLst>
                    <a:ext uri="{FF2B5EF4-FFF2-40B4-BE49-F238E27FC236}">
                      <a16:creationId xmlns:a16="http://schemas.microsoft.com/office/drawing/2014/main" id="{3E9873FA-C065-21AC-77BC-CA25DB562F46}"/>
                    </a:ext>
                  </a:extLst>
                </p:cNvPr>
                <p:cNvSpPr txBox="1">
                  <a:spLocks noRot="1" noChangeAspect="1" noMove="1" noResize="1" noEditPoints="1" noAdjustHandles="1" noChangeArrowheads="1" noChangeShapeType="1" noTextEdit="1"/>
                </p:cNvSpPr>
                <p:nvPr/>
              </p:nvSpPr>
              <p:spPr>
                <a:xfrm>
                  <a:off x="5361263" y="207735"/>
                  <a:ext cx="472950"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69FAD3C-02EE-153C-DAF6-989F6E46E755}"/>
                    </a:ext>
                  </a:extLst>
                </p:cNvPr>
                <p:cNvSpPr txBox="1"/>
                <p:nvPr/>
              </p:nvSpPr>
              <p:spPr>
                <a:xfrm>
                  <a:off x="3216799" y="102608"/>
                  <a:ext cx="44569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𝑧</m:t>
                        </m:r>
                      </m:oMath>
                    </m:oMathPara>
                  </a14:m>
                  <a:endParaRPr lang="en-US" sz="2800" dirty="0"/>
                </a:p>
              </p:txBody>
            </p:sp>
          </mc:Choice>
          <mc:Fallback xmlns="">
            <p:sp>
              <p:nvSpPr>
                <p:cNvPr id="31" name="TextBox 30">
                  <a:extLst>
                    <a:ext uri="{FF2B5EF4-FFF2-40B4-BE49-F238E27FC236}">
                      <a16:creationId xmlns:a16="http://schemas.microsoft.com/office/drawing/2014/main" id="{F69FAD3C-02EE-153C-DAF6-989F6E46E755}"/>
                    </a:ext>
                  </a:extLst>
                </p:cNvPr>
                <p:cNvSpPr txBox="1">
                  <a:spLocks noRot="1" noChangeAspect="1" noMove="1" noResize="1" noEditPoints="1" noAdjustHandles="1" noChangeArrowheads="1" noChangeShapeType="1" noTextEdit="1"/>
                </p:cNvSpPr>
                <p:nvPr/>
              </p:nvSpPr>
              <p:spPr>
                <a:xfrm>
                  <a:off x="3216799" y="102608"/>
                  <a:ext cx="445699" cy="523220"/>
                </a:xfrm>
                <a:prstGeom prst="rect">
                  <a:avLst/>
                </a:prstGeom>
                <a:blipFill>
                  <a:blip r:embed="rId5"/>
                  <a:stretch>
                    <a:fillRect/>
                  </a:stretch>
                </a:blipFill>
              </p:spPr>
              <p:txBody>
                <a:bodyPr/>
                <a:lstStyle/>
                <a:p>
                  <a:r>
                    <a:rPr lang="en-US">
                      <a:noFill/>
                    </a:rPr>
                    <a:t> </a:t>
                  </a:r>
                </a:p>
              </p:txBody>
            </p:sp>
          </mc:Fallback>
        </mc:AlternateContent>
        <p:grpSp>
          <p:nvGrpSpPr>
            <p:cNvPr id="37" name="Group 36">
              <a:extLst>
                <a:ext uri="{FF2B5EF4-FFF2-40B4-BE49-F238E27FC236}">
                  <a16:creationId xmlns:a16="http://schemas.microsoft.com/office/drawing/2014/main" id="{6963F277-14D9-CDB2-2413-4C9B3104EC41}"/>
                </a:ext>
              </a:extLst>
            </p:cNvPr>
            <p:cNvGrpSpPr/>
            <p:nvPr/>
          </p:nvGrpSpPr>
          <p:grpSpPr>
            <a:xfrm>
              <a:off x="2012103" y="948792"/>
              <a:ext cx="3578015" cy="3577707"/>
              <a:chOff x="934943" y="1636949"/>
              <a:chExt cx="2674503" cy="2674273"/>
            </a:xfrm>
          </p:grpSpPr>
          <p:grpSp>
            <p:nvGrpSpPr>
              <p:cNvPr id="38" name="Group 37">
                <a:extLst>
                  <a:ext uri="{FF2B5EF4-FFF2-40B4-BE49-F238E27FC236}">
                    <a16:creationId xmlns:a16="http://schemas.microsoft.com/office/drawing/2014/main" id="{B4BDB366-9599-8ADE-8F42-E2D00C8BEDFC}"/>
                  </a:ext>
                </a:extLst>
              </p:cNvPr>
              <p:cNvGrpSpPr/>
              <p:nvPr/>
            </p:nvGrpSpPr>
            <p:grpSpPr>
              <a:xfrm>
                <a:off x="934943" y="1636949"/>
                <a:ext cx="2674503" cy="2674273"/>
                <a:chOff x="2521889" y="2808131"/>
                <a:chExt cx="1916430" cy="1916266"/>
              </a:xfrm>
            </p:grpSpPr>
            <p:sp>
              <p:nvSpPr>
                <p:cNvPr id="48" name="Oval 47">
                  <a:extLst>
                    <a:ext uri="{FF2B5EF4-FFF2-40B4-BE49-F238E27FC236}">
                      <a16:creationId xmlns:a16="http://schemas.microsoft.com/office/drawing/2014/main" id="{8B6BABDA-9896-6B3C-093F-0C96B64DCAEA}"/>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Oval 31">
                  <a:extLst>
                    <a:ext uri="{FF2B5EF4-FFF2-40B4-BE49-F238E27FC236}">
                      <a16:creationId xmlns:a16="http://schemas.microsoft.com/office/drawing/2014/main" id="{55588629-89BA-9101-5B99-56A268445F92}"/>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73DEF60F-065B-6D6B-F2DE-83DC67AB2627}"/>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51" name="Group 50">
                  <a:extLst>
                    <a:ext uri="{FF2B5EF4-FFF2-40B4-BE49-F238E27FC236}">
                      <a16:creationId xmlns:a16="http://schemas.microsoft.com/office/drawing/2014/main" id="{71C229F6-F932-847F-1543-27D899C614ED}"/>
                    </a:ext>
                  </a:extLst>
                </p:cNvPr>
                <p:cNvGrpSpPr/>
                <p:nvPr/>
              </p:nvGrpSpPr>
              <p:grpSpPr>
                <a:xfrm>
                  <a:off x="2923755" y="2808131"/>
                  <a:ext cx="1112528" cy="1916266"/>
                  <a:chOff x="2734489" y="2655731"/>
                  <a:chExt cx="1186260" cy="1916266"/>
                </a:xfrm>
              </p:grpSpPr>
              <p:sp>
                <p:nvSpPr>
                  <p:cNvPr id="55" name="Oval 54">
                    <a:extLst>
                      <a:ext uri="{FF2B5EF4-FFF2-40B4-BE49-F238E27FC236}">
                        <a16:creationId xmlns:a16="http://schemas.microsoft.com/office/drawing/2014/main" id="{16FE69BC-5296-2A54-A17E-FF6F69C551FE}"/>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56" name="Oval 9">
                    <a:extLst>
                      <a:ext uri="{FF2B5EF4-FFF2-40B4-BE49-F238E27FC236}">
                        <a16:creationId xmlns:a16="http://schemas.microsoft.com/office/drawing/2014/main" id="{CC59CEDF-C16B-54AF-45B7-EEA5DA1A33AB}"/>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52" name="Group 51">
                  <a:extLst>
                    <a:ext uri="{FF2B5EF4-FFF2-40B4-BE49-F238E27FC236}">
                      <a16:creationId xmlns:a16="http://schemas.microsoft.com/office/drawing/2014/main" id="{16E2BCA7-34B3-958F-6845-8FEBE95ABD8C}"/>
                    </a:ext>
                  </a:extLst>
                </p:cNvPr>
                <p:cNvGrpSpPr/>
                <p:nvPr/>
              </p:nvGrpSpPr>
              <p:grpSpPr>
                <a:xfrm rot="16200000">
                  <a:off x="2923922" y="2810085"/>
                  <a:ext cx="1112528" cy="1916266"/>
                  <a:chOff x="2734489" y="2655731"/>
                  <a:chExt cx="1186260" cy="1916266"/>
                </a:xfrm>
              </p:grpSpPr>
              <p:sp>
                <p:nvSpPr>
                  <p:cNvPr id="53" name="Oval 52">
                    <a:extLst>
                      <a:ext uri="{FF2B5EF4-FFF2-40B4-BE49-F238E27FC236}">
                        <a16:creationId xmlns:a16="http://schemas.microsoft.com/office/drawing/2014/main" id="{57DFB58B-2512-A08D-1F0C-413B76BD9214}"/>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54" name="Oval 9">
                    <a:extLst>
                      <a:ext uri="{FF2B5EF4-FFF2-40B4-BE49-F238E27FC236}">
                        <a16:creationId xmlns:a16="http://schemas.microsoft.com/office/drawing/2014/main" id="{92F82207-E95D-D82D-7376-7BD72B56BFA7}"/>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cxnSp>
            <p:nvCxnSpPr>
              <p:cNvPr id="41" name="Straight Connector 40">
                <a:extLst>
                  <a:ext uri="{FF2B5EF4-FFF2-40B4-BE49-F238E27FC236}">
                    <a16:creationId xmlns:a16="http://schemas.microsoft.com/office/drawing/2014/main" id="{B671F040-FC7C-5A6C-C7CB-E520A8F9CDF2}"/>
                  </a:ext>
                </a:extLst>
              </p:cNvPr>
              <p:cNvCxnSpPr/>
              <p:nvPr/>
            </p:nvCxnSpPr>
            <p:spPr>
              <a:xfrm>
                <a:off x="2271845" y="2974084"/>
                <a:ext cx="999675" cy="525009"/>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37B1B7A-7632-9F09-519A-0810093FFBE3}"/>
                  </a:ext>
                </a:extLst>
              </p:cNvPr>
              <p:cNvCxnSpPr>
                <a:cxnSpLocks/>
              </p:cNvCxnSpPr>
              <p:nvPr/>
            </p:nvCxnSpPr>
            <p:spPr>
              <a:xfrm>
                <a:off x="3113096" y="2200506"/>
                <a:ext cx="0" cy="1214853"/>
              </a:xfrm>
              <a:prstGeom prst="line">
                <a:avLst/>
              </a:prstGeom>
            </p:spPr>
            <p:style>
              <a:lnRef idx="1">
                <a:schemeClr val="accent1"/>
              </a:lnRef>
              <a:fillRef idx="0">
                <a:schemeClr val="accent1"/>
              </a:fillRef>
              <a:effectRef idx="0">
                <a:schemeClr val="accent1"/>
              </a:effectRef>
              <a:fontRef idx="minor">
                <a:schemeClr val="tx1"/>
              </a:fontRef>
            </p:style>
          </p:cxnSp>
          <p:sp>
            <p:nvSpPr>
              <p:cNvPr id="43" name="Arc 42">
                <a:extLst>
                  <a:ext uri="{FF2B5EF4-FFF2-40B4-BE49-F238E27FC236}">
                    <a16:creationId xmlns:a16="http://schemas.microsoft.com/office/drawing/2014/main" id="{DC6A9298-ADC2-509D-1C70-EC2C530C4211}"/>
                  </a:ext>
                </a:extLst>
              </p:cNvPr>
              <p:cNvSpPr/>
              <p:nvPr/>
            </p:nvSpPr>
            <p:spPr>
              <a:xfrm>
                <a:off x="2014778" y="2642873"/>
                <a:ext cx="521176" cy="413772"/>
              </a:xfrm>
              <a:prstGeom prst="arc">
                <a:avLst>
                  <a:gd name="adj1" fmla="val 16200000"/>
                  <a:gd name="adj2" fmla="val 2046445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4" name="Straight Arrow Connector 43">
                <a:extLst>
                  <a:ext uri="{FF2B5EF4-FFF2-40B4-BE49-F238E27FC236}">
                    <a16:creationId xmlns:a16="http://schemas.microsoft.com/office/drawing/2014/main" id="{6424C490-F095-6C50-1FA6-BF2F7A028DDA}"/>
                  </a:ext>
                </a:extLst>
              </p:cNvPr>
              <p:cNvCxnSpPr>
                <a:cxnSpLocks/>
              </p:cNvCxnSpPr>
              <p:nvPr/>
            </p:nvCxnSpPr>
            <p:spPr>
              <a:xfrm flipV="1">
                <a:off x="2272076" y="2200506"/>
                <a:ext cx="839906" cy="77357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24524185-B178-90A4-5BF6-A0EB095313E7}"/>
                      </a:ext>
                    </a:extLst>
                  </p:cNvPr>
                  <p:cNvSpPr txBox="1"/>
                  <p:nvPr/>
                </p:nvSpPr>
                <p:spPr>
                  <a:xfrm>
                    <a:off x="2286085" y="2329788"/>
                    <a:ext cx="37414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oMath>
                      </m:oMathPara>
                    </a14:m>
                    <a:endParaRPr lang="en-US" dirty="0"/>
                  </a:p>
                </p:txBody>
              </p:sp>
            </mc:Choice>
            <mc:Fallback xmlns="">
              <p:sp>
                <p:nvSpPr>
                  <p:cNvPr id="37" name="TextBox 36">
                    <a:extLst>
                      <a:ext uri="{FF2B5EF4-FFF2-40B4-BE49-F238E27FC236}">
                        <a16:creationId xmlns:a16="http://schemas.microsoft.com/office/drawing/2014/main" id="{4923AE05-E995-F3EB-37BA-056D5E0F6A35}"/>
                      </a:ext>
                    </a:extLst>
                  </p:cNvPr>
                  <p:cNvSpPr txBox="1">
                    <a:spLocks noRot="1" noChangeAspect="1" noMove="1" noResize="1" noEditPoints="1" noAdjustHandles="1" noChangeArrowheads="1" noChangeShapeType="1" noTextEdit="1"/>
                  </p:cNvSpPr>
                  <p:nvPr/>
                </p:nvSpPr>
                <p:spPr>
                  <a:xfrm>
                    <a:off x="2286085" y="2329788"/>
                    <a:ext cx="374141" cy="369332"/>
                  </a:xfrm>
                  <a:prstGeom prst="rect">
                    <a:avLst/>
                  </a:prstGeom>
                  <a:blipFill>
                    <a:blip r:embed="rId6"/>
                    <a:stretch>
                      <a:fillRect/>
                    </a:stretch>
                  </a:blipFill>
                </p:spPr>
                <p:txBody>
                  <a:bodyPr/>
                  <a:lstStyle/>
                  <a:p>
                    <a:r>
                      <a:rPr lang="en-US">
                        <a:noFill/>
                      </a:rPr>
                      <a:t> </a:t>
                    </a:r>
                  </a:p>
                </p:txBody>
              </p:sp>
            </mc:Fallback>
          </mc:AlternateContent>
          <p:sp>
            <p:nvSpPr>
              <p:cNvPr id="46" name="Arc 45">
                <a:extLst>
                  <a:ext uri="{FF2B5EF4-FFF2-40B4-BE49-F238E27FC236}">
                    <a16:creationId xmlns:a16="http://schemas.microsoft.com/office/drawing/2014/main" id="{C0201B5A-935F-E634-6BEE-4A6667EBB8C9}"/>
                  </a:ext>
                </a:extLst>
              </p:cNvPr>
              <p:cNvSpPr/>
              <p:nvPr/>
            </p:nvSpPr>
            <p:spPr>
              <a:xfrm>
                <a:off x="1840894" y="2723583"/>
                <a:ext cx="861908" cy="500546"/>
              </a:xfrm>
              <a:prstGeom prst="arc">
                <a:avLst>
                  <a:gd name="adj1" fmla="val 75082"/>
                  <a:gd name="adj2" fmla="val 159574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6128FD0D-7E6D-4CD0-DD73-2A8A4C9F34BD}"/>
                      </a:ext>
                    </a:extLst>
                  </p:cNvPr>
                  <p:cNvSpPr txBox="1"/>
                  <p:nvPr/>
                </p:nvSpPr>
                <p:spPr>
                  <a:xfrm>
                    <a:off x="2613151" y="2879260"/>
                    <a:ext cx="3995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𝜑</m:t>
                          </m:r>
                        </m:oMath>
                      </m:oMathPara>
                    </a14:m>
                    <a:endParaRPr lang="en-US" dirty="0"/>
                  </a:p>
                </p:txBody>
              </p:sp>
            </mc:Choice>
            <mc:Fallback xmlns="">
              <p:sp>
                <p:nvSpPr>
                  <p:cNvPr id="40" name="TextBox 39">
                    <a:extLst>
                      <a:ext uri="{FF2B5EF4-FFF2-40B4-BE49-F238E27FC236}">
                        <a16:creationId xmlns:a16="http://schemas.microsoft.com/office/drawing/2014/main" id="{90AFA723-236E-926F-51C8-FFE12408AB16}"/>
                      </a:ext>
                    </a:extLst>
                  </p:cNvPr>
                  <p:cNvSpPr txBox="1">
                    <a:spLocks noRot="1" noChangeAspect="1" noMove="1" noResize="1" noEditPoints="1" noAdjustHandles="1" noChangeArrowheads="1" noChangeShapeType="1" noTextEdit="1"/>
                  </p:cNvSpPr>
                  <p:nvPr/>
                </p:nvSpPr>
                <p:spPr>
                  <a:xfrm>
                    <a:off x="2613151" y="2879260"/>
                    <a:ext cx="399597" cy="369332"/>
                  </a:xfrm>
                  <a:prstGeom prst="rect">
                    <a:avLst/>
                  </a:prstGeom>
                  <a:blipFill>
                    <a:blip r:embed="rId7"/>
                    <a:stretch>
                      <a:fillRect/>
                    </a:stretch>
                  </a:blipFill>
                </p:spPr>
                <p:txBody>
                  <a:bodyPr/>
                  <a:lstStyle/>
                  <a:p>
                    <a:r>
                      <a:rPr lang="en-US">
                        <a:noFill/>
                      </a:rPr>
                      <a:t> </a:t>
                    </a:r>
                  </a:p>
                </p:txBody>
              </p:sp>
            </mc:Fallback>
          </mc:AlternateContent>
        </p:grpSp>
      </p:grpSp>
      <p:sp>
        <p:nvSpPr>
          <p:cNvPr id="4" name="TextBox 3">
            <a:extLst>
              <a:ext uri="{FF2B5EF4-FFF2-40B4-BE49-F238E27FC236}">
                <a16:creationId xmlns:a16="http://schemas.microsoft.com/office/drawing/2014/main" id="{84222D8C-E000-5C14-D9A0-2C5657CE4C5F}"/>
              </a:ext>
            </a:extLst>
          </p:cNvPr>
          <p:cNvSpPr txBox="1"/>
          <p:nvPr/>
        </p:nvSpPr>
        <p:spPr>
          <a:xfrm>
            <a:off x="6898809" y="184215"/>
            <a:ext cx="2125325" cy="400110"/>
          </a:xfrm>
          <a:prstGeom prst="rect">
            <a:avLst/>
          </a:prstGeom>
          <a:noFill/>
        </p:spPr>
        <p:txBody>
          <a:bodyPr wrap="none" rtlCol="0">
            <a:spAutoFit/>
          </a:bodyPr>
          <a:lstStyle/>
          <a:p>
            <a:r>
              <a:rPr lang="en-US" sz="2000" dirty="0">
                <a:solidFill>
                  <a:srgbClr val="C00000"/>
                </a:solidFill>
              </a:rPr>
              <a:t>Why is this useful?</a:t>
            </a:r>
          </a:p>
        </p:txBody>
      </p:sp>
      <p:sp>
        <p:nvSpPr>
          <p:cNvPr id="5" name="TextBox 4">
            <a:extLst>
              <a:ext uri="{FF2B5EF4-FFF2-40B4-BE49-F238E27FC236}">
                <a16:creationId xmlns:a16="http://schemas.microsoft.com/office/drawing/2014/main" id="{4DCFB788-84C4-0336-3CC4-03A9D817C936}"/>
              </a:ext>
            </a:extLst>
          </p:cNvPr>
          <p:cNvSpPr txBox="1"/>
          <p:nvPr/>
        </p:nvSpPr>
        <p:spPr>
          <a:xfrm>
            <a:off x="6898809" y="1538118"/>
            <a:ext cx="4438907" cy="369332"/>
          </a:xfrm>
          <a:prstGeom prst="rect">
            <a:avLst/>
          </a:prstGeom>
          <a:noFill/>
        </p:spPr>
        <p:txBody>
          <a:bodyPr wrap="none" rtlCol="0">
            <a:spAutoFit/>
          </a:bodyPr>
          <a:lstStyle/>
          <a:p>
            <a:r>
              <a:rPr lang="en-US" dirty="0"/>
              <a:t>Because many physical objects apply linearly!</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E2C7934-1626-7D70-2DB5-54B713A8F296}"/>
                  </a:ext>
                </a:extLst>
              </p:cNvPr>
              <p:cNvSpPr txBox="1"/>
              <p:nvPr/>
            </p:nvSpPr>
            <p:spPr>
              <a:xfrm>
                <a:off x="7082897" y="2044574"/>
                <a:ext cx="4070730" cy="49084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𝐴</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𝑣</m:t>
                          </m:r>
                        </m:e>
                        <m:sup>
                          <m:r>
                            <a:rPr lang="en-US" sz="2400" b="0" i="1" smtClean="0">
                              <a:latin typeface="Cambria Math" panose="02040503050406030204" pitchFamily="18" charset="0"/>
                            </a:rPr>
                            <m:t>𝑥</m:t>
                          </m:r>
                        </m:sup>
                      </m:s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𝐴</m:t>
                          </m:r>
                        </m:e>
                        <m:sub>
                          <m:r>
                            <a:rPr lang="en-US" sz="2400" b="0" i="1" smtClean="0">
                              <a:latin typeface="Cambria Math" panose="02040503050406030204" pitchFamily="18" charset="0"/>
                            </a:rPr>
                            <m:t>𝑥</m:t>
                          </m:r>
                        </m:sub>
                      </m:sSub>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𝑣</m:t>
                          </m:r>
                        </m:e>
                        <m:sup>
                          <m:r>
                            <a:rPr lang="en-US" sz="2400" b="0" i="1" smtClean="0">
                              <a:latin typeface="Cambria Math" panose="02040503050406030204" pitchFamily="18" charset="0"/>
                            </a:rPr>
                            <m:t>𝑦</m:t>
                          </m:r>
                        </m:sup>
                      </m:s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𝐴</m:t>
                          </m:r>
                        </m:e>
                        <m:sub>
                          <m:r>
                            <a:rPr lang="en-US" sz="2400" b="0" i="1" smtClean="0">
                              <a:latin typeface="Cambria Math" panose="02040503050406030204" pitchFamily="18" charset="0"/>
                            </a:rPr>
                            <m:t>𝑦</m:t>
                          </m:r>
                        </m:sub>
                      </m:sSub>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𝑣</m:t>
                          </m:r>
                        </m:e>
                        <m:sup>
                          <m:r>
                            <a:rPr lang="en-US" sz="2400" b="0" i="1" smtClean="0">
                              <a:latin typeface="Cambria Math" panose="02040503050406030204" pitchFamily="18" charset="0"/>
                            </a:rPr>
                            <m:t>𝑧</m:t>
                          </m:r>
                        </m:sup>
                      </m:s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𝐴</m:t>
                          </m:r>
                        </m:e>
                        <m:sub>
                          <m:r>
                            <a:rPr lang="en-US" sz="2400" b="0" i="1" smtClean="0">
                              <a:latin typeface="Cambria Math" panose="02040503050406030204" pitchFamily="18" charset="0"/>
                            </a:rPr>
                            <m:t>𝑧</m:t>
                          </m:r>
                        </m:sub>
                      </m:sSub>
                    </m:oMath>
                  </m:oMathPara>
                </a14:m>
                <a:endParaRPr lang="en-US" sz="2400" dirty="0"/>
              </a:p>
            </p:txBody>
          </p:sp>
        </mc:Choice>
        <mc:Fallback xmlns="">
          <p:sp>
            <p:nvSpPr>
              <p:cNvPr id="6" name="TextBox 5">
                <a:extLst>
                  <a:ext uri="{FF2B5EF4-FFF2-40B4-BE49-F238E27FC236}">
                    <a16:creationId xmlns:a16="http://schemas.microsoft.com/office/drawing/2014/main" id="{4E2C7934-1626-7D70-2DB5-54B713A8F296}"/>
                  </a:ext>
                </a:extLst>
              </p:cNvPr>
              <p:cNvSpPr txBox="1">
                <a:spLocks noRot="1" noChangeAspect="1" noMove="1" noResize="1" noEditPoints="1" noAdjustHandles="1" noChangeArrowheads="1" noChangeShapeType="1" noTextEdit="1"/>
              </p:cNvSpPr>
              <p:nvPr/>
            </p:nvSpPr>
            <p:spPr>
              <a:xfrm>
                <a:off x="7082897" y="2044574"/>
                <a:ext cx="4070730" cy="490840"/>
              </a:xfrm>
              <a:prstGeom prst="rect">
                <a:avLst/>
              </a:prstGeom>
              <a:blipFill>
                <a:blip r:embed="rId8"/>
                <a:stretch>
                  <a:fillRect b="-61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610F99F-634E-1295-4F54-0F1468B964CC}"/>
                  </a:ext>
                </a:extLst>
              </p:cNvPr>
              <p:cNvSpPr txBox="1"/>
              <p:nvPr/>
            </p:nvSpPr>
            <p:spPr>
              <a:xfrm>
                <a:off x="7289666" y="3702243"/>
                <a:ext cx="2892395" cy="39126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𝑥</m:t>
                          </m:r>
                        </m:sub>
                      </m:sSub>
                      <m:r>
                        <a:rPr lang="en-US" b="0" i="1" smtClean="0">
                          <a:latin typeface="Cambria Math" panose="02040503050406030204" pitchFamily="18" charset="0"/>
                        </a:rPr>
                        <m:t> </m:t>
                      </m:r>
                      <m:r>
                        <m:rPr>
                          <m:sty m:val="p"/>
                        </m:rPr>
                        <a:rPr lang="en-US" b="0" i="0" smtClean="0">
                          <a:latin typeface="Cambria Math" panose="02040503050406030204" pitchFamily="18" charset="0"/>
                        </a:rPr>
                        <m:t>Δ</m:t>
                      </m:r>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𝑦</m:t>
                          </m:r>
                        </m:sub>
                      </m:sSub>
                      <m:r>
                        <a:rPr lang="en-US" b="0" i="1" smtClean="0">
                          <a:latin typeface="Cambria Math" panose="02040503050406030204" pitchFamily="18" charset="0"/>
                        </a:rPr>
                        <m:t> </m:t>
                      </m:r>
                      <m:r>
                        <m:rPr>
                          <m:sty m:val="p"/>
                        </m:rPr>
                        <a:rPr lang="en-US" b="0" i="0" smtClean="0">
                          <a:latin typeface="Cambria Math" panose="02040503050406030204" pitchFamily="18" charset="0"/>
                        </a:rPr>
                        <m:t>Δ</m:t>
                      </m:r>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𝑧</m:t>
                          </m:r>
                        </m:sub>
                      </m:sSub>
                      <m:r>
                        <a:rPr lang="en-US" b="0" i="1" smtClean="0">
                          <a:latin typeface="Cambria Math" panose="02040503050406030204" pitchFamily="18" charset="0"/>
                        </a:rPr>
                        <m:t> </m:t>
                      </m:r>
                      <m:r>
                        <m:rPr>
                          <m:sty m:val="p"/>
                        </m:rPr>
                        <a:rPr lang="en-US" b="0" i="0" smtClean="0">
                          <a:latin typeface="Cambria Math" panose="02040503050406030204" pitchFamily="18" charset="0"/>
                        </a:rPr>
                        <m:t>Δ</m:t>
                      </m:r>
                      <m:r>
                        <a:rPr lang="en-US" b="0" i="1" smtClean="0">
                          <a:latin typeface="Cambria Math" panose="02040503050406030204" pitchFamily="18" charset="0"/>
                        </a:rPr>
                        <m:t>𝑧</m:t>
                      </m:r>
                    </m:oMath>
                  </m:oMathPara>
                </a14:m>
                <a:endParaRPr lang="en-US" dirty="0"/>
              </a:p>
            </p:txBody>
          </p:sp>
        </mc:Choice>
        <mc:Fallback xmlns="">
          <p:sp>
            <p:nvSpPr>
              <p:cNvPr id="7" name="TextBox 6">
                <a:extLst>
                  <a:ext uri="{FF2B5EF4-FFF2-40B4-BE49-F238E27FC236}">
                    <a16:creationId xmlns:a16="http://schemas.microsoft.com/office/drawing/2014/main" id="{2610F99F-634E-1295-4F54-0F1468B964CC}"/>
                  </a:ext>
                </a:extLst>
              </p:cNvPr>
              <p:cNvSpPr txBox="1">
                <a:spLocks noRot="1" noChangeAspect="1" noMove="1" noResize="1" noEditPoints="1" noAdjustHandles="1" noChangeArrowheads="1" noChangeShapeType="1" noTextEdit="1"/>
              </p:cNvSpPr>
              <p:nvPr/>
            </p:nvSpPr>
            <p:spPr>
              <a:xfrm>
                <a:off x="7289666" y="3702243"/>
                <a:ext cx="2892395" cy="391261"/>
              </a:xfrm>
              <a:prstGeom prst="rect">
                <a:avLst/>
              </a:prstGeom>
              <a:blipFill>
                <a:blip r:embed="rId9"/>
                <a:stretch>
                  <a:fillRect b="-1538"/>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4FDBA831-0C79-22C4-C452-77E6A2486EB5}"/>
              </a:ext>
            </a:extLst>
          </p:cNvPr>
          <p:cNvSpPr txBox="1"/>
          <p:nvPr/>
        </p:nvSpPr>
        <p:spPr>
          <a:xfrm>
            <a:off x="6898809" y="2885959"/>
            <a:ext cx="1396985" cy="369332"/>
          </a:xfrm>
          <a:prstGeom prst="rect">
            <a:avLst/>
          </a:prstGeom>
          <a:noFill/>
        </p:spPr>
        <p:txBody>
          <a:bodyPr wrap="none" rtlCol="0">
            <a:spAutoFit/>
          </a:bodyPr>
          <a:lstStyle/>
          <a:p>
            <a:r>
              <a:rPr lang="en-US" dirty="0"/>
              <a:t>For example:</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6B92C20-D98F-6599-E3B2-47746CDE7C53}"/>
                  </a:ext>
                </a:extLst>
              </p:cNvPr>
              <p:cNvSpPr txBox="1"/>
              <p:nvPr/>
            </p:nvSpPr>
            <p:spPr>
              <a:xfrm>
                <a:off x="7289666" y="3280623"/>
                <a:ext cx="3269485" cy="39126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𝑥</m:t>
                          </m:r>
                        </m:sub>
                      </m:sSub>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𝜇</m:t>
                          </m:r>
                        </m:e>
                        <m:sup>
                          <m:r>
                            <a:rPr lang="en-US" b="0" i="1" smtClean="0">
                              <a:latin typeface="Cambria Math" panose="02040503050406030204" pitchFamily="18" charset="0"/>
                            </a:rPr>
                            <m:t>𝑥</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𝑦</m:t>
                          </m:r>
                        </m:sub>
                      </m:sSub>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𝜇</m:t>
                          </m:r>
                        </m:e>
                        <m:sup>
                          <m:r>
                            <a:rPr lang="en-US" b="0" i="1" smtClean="0">
                              <a:latin typeface="Cambria Math" panose="02040503050406030204" pitchFamily="18" charset="0"/>
                            </a:rPr>
                            <m:t>𝑦</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𝑧</m:t>
                          </m:r>
                        </m:sub>
                      </m:sSub>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𝜇</m:t>
                          </m:r>
                        </m:e>
                        <m:sup>
                          <m:r>
                            <a:rPr lang="en-US" b="0" i="1" smtClean="0">
                              <a:latin typeface="Cambria Math" panose="02040503050406030204" pitchFamily="18" charset="0"/>
                            </a:rPr>
                            <m:t>𝑧</m:t>
                          </m:r>
                        </m:sup>
                      </m:sSup>
                      <m:r>
                        <a:rPr lang="en-US" b="0" i="1" smtClean="0">
                          <a:latin typeface="Cambria Math" panose="02040503050406030204" pitchFamily="18" charset="0"/>
                        </a:rPr>
                        <m:t>)</m:t>
                      </m:r>
                    </m:oMath>
                  </m:oMathPara>
                </a14:m>
                <a:endParaRPr lang="en-US" dirty="0"/>
              </a:p>
            </p:txBody>
          </p:sp>
        </mc:Choice>
        <mc:Fallback xmlns="">
          <p:sp>
            <p:nvSpPr>
              <p:cNvPr id="9" name="TextBox 8">
                <a:extLst>
                  <a:ext uri="{FF2B5EF4-FFF2-40B4-BE49-F238E27FC236}">
                    <a16:creationId xmlns:a16="http://schemas.microsoft.com/office/drawing/2014/main" id="{36B92C20-D98F-6599-E3B2-47746CDE7C53}"/>
                  </a:ext>
                </a:extLst>
              </p:cNvPr>
              <p:cNvSpPr txBox="1">
                <a:spLocks noRot="1" noChangeAspect="1" noMove="1" noResize="1" noEditPoints="1" noAdjustHandles="1" noChangeArrowheads="1" noChangeShapeType="1" noTextEdit="1"/>
              </p:cNvSpPr>
              <p:nvPr/>
            </p:nvSpPr>
            <p:spPr>
              <a:xfrm>
                <a:off x="7289666" y="3280623"/>
                <a:ext cx="3269485" cy="391261"/>
              </a:xfrm>
              <a:prstGeom prst="rect">
                <a:avLst/>
              </a:prstGeom>
              <a:blipFill>
                <a:blip r:embed="rId10"/>
                <a:stretch>
                  <a:fillRect b="-9375"/>
                </a:stretch>
              </a:blipFill>
            </p:spPr>
            <p:txBody>
              <a:bodyPr/>
              <a:lstStyle/>
              <a:p>
                <a:r>
                  <a:rPr lang="en-US">
                    <a:noFill/>
                  </a:rPr>
                  <a:t> </a:t>
                </a:r>
              </a:p>
            </p:txBody>
          </p:sp>
        </mc:Fallback>
      </mc:AlternateContent>
    </p:spTree>
    <p:extLst>
      <p:ext uri="{BB962C8B-B14F-4D97-AF65-F5344CB8AC3E}">
        <p14:creationId xmlns:p14="http://schemas.microsoft.com/office/powerpoint/2010/main" val="855169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28851-5EC9-0B7E-4405-71F47D0C026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1745775-4D91-D55F-C505-ACC8F52ABA30}"/>
                  </a:ext>
                </a:extLst>
              </p:cNvPr>
              <p:cNvSpPr txBox="1"/>
              <p:nvPr/>
            </p:nvSpPr>
            <p:spPr>
              <a:xfrm>
                <a:off x="4524849" y="179370"/>
                <a:ext cx="3837974" cy="12559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b="0" i="1" smtClean="0">
                          <a:solidFill>
                            <a:schemeClr val="tx1"/>
                          </a:solidFill>
                          <a:latin typeface="Cambria Math" panose="02040503050406030204" pitchFamily="18" charset="0"/>
                        </a:rPr>
                        <m:t>𝑣</m:t>
                      </m:r>
                      <m:r>
                        <a:rPr lang="en-US" sz="3600" b="0" i="1" smtClean="0">
                          <a:solidFill>
                            <a:schemeClr val="tx1"/>
                          </a:solidFill>
                          <a:latin typeface="Cambria Math" panose="02040503050406030204" pitchFamily="18" charset="0"/>
                        </a:rPr>
                        <m:t>=</m:t>
                      </m:r>
                      <m:f>
                        <m:fPr>
                          <m:ctrlPr>
                            <a:rPr lang="en-US" sz="3600" b="0" i="1" smtClean="0">
                              <a:solidFill>
                                <a:schemeClr val="tx1"/>
                              </a:solidFill>
                              <a:latin typeface="Cambria Math" panose="02040503050406030204" pitchFamily="18" charset="0"/>
                            </a:rPr>
                          </m:ctrlPr>
                        </m:fPr>
                        <m:num>
                          <m:rad>
                            <m:radPr>
                              <m:degHide m:val="on"/>
                              <m:ctrlPr>
                                <a:rPr lang="en-US" sz="3600" b="0" i="1" smtClean="0">
                                  <a:solidFill>
                                    <a:schemeClr val="tx1"/>
                                  </a:solidFill>
                                  <a:latin typeface="Cambria Math" panose="02040503050406030204" pitchFamily="18" charset="0"/>
                                </a:rPr>
                              </m:ctrlPr>
                            </m:radPr>
                            <m:deg/>
                            <m:e>
                              <m:r>
                                <a:rPr lang="en-US" sz="3600" b="0" i="1" smtClean="0">
                                  <a:solidFill>
                                    <a:schemeClr val="tx1"/>
                                  </a:solidFill>
                                  <a:latin typeface="Cambria Math" panose="02040503050406030204" pitchFamily="18" charset="0"/>
                                </a:rPr>
                                <m:t>2</m:t>
                              </m:r>
                            </m:e>
                          </m:rad>
                        </m:num>
                        <m:den>
                          <m:r>
                            <a:rPr lang="en-US" sz="3600" b="0" i="1" smtClean="0">
                              <a:solidFill>
                                <a:schemeClr val="tx1"/>
                              </a:solidFill>
                              <a:latin typeface="Cambria Math" panose="02040503050406030204" pitchFamily="18" charset="0"/>
                            </a:rPr>
                            <m:t>2</m:t>
                          </m:r>
                        </m:den>
                      </m:f>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𝑒</m:t>
                          </m:r>
                        </m:e>
                        <m:sub>
                          <m:r>
                            <a:rPr lang="en-US" sz="3600" b="0" i="1" smtClean="0">
                              <a:solidFill>
                                <a:schemeClr val="tx1"/>
                              </a:solidFill>
                              <a:latin typeface="Cambria Math" panose="02040503050406030204" pitchFamily="18" charset="0"/>
                            </a:rPr>
                            <m:t>𝑥</m:t>
                          </m:r>
                        </m:sub>
                      </m:sSub>
                      <m:r>
                        <a:rPr lang="en-US" sz="3600" i="1">
                          <a:solidFill>
                            <a:schemeClr val="tx1"/>
                          </a:solidFill>
                          <a:latin typeface="Cambria Math" panose="02040503050406030204" pitchFamily="18" charset="0"/>
                        </a:rPr>
                        <m:t>+</m:t>
                      </m:r>
                      <m:f>
                        <m:fPr>
                          <m:ctrlPr>
                            <a:rPr lang="en-US" sz="3600" b="0" i="1" smtClean="0">
                              <a:solidFill>
                                <a:schemeClr val="tx1"/>
                              </a:solidFill>
                              <a:latin typeface="Cambria Math" panose="02040503050406030204" pitchFamily="18" charset="0"/>
                            </a:rPr>
                          </m:ctrlPr>
                        </m:fPr>
                        <m:num>
                          <m:rad>
                            <m:radPr>
                              <m:degHide m:val="on"/>
                              <m:ctrlPr>
                                <a:rPr lang="en-US" sz="3600" b="0" i="1" smtClean="0">
                                  <a:solidFill>
                                    <a:schemeClr val="tx1"/>
                                  </a:solidFill>
                                  <a:latin typeface="Cambria Math" panose="02040503050406030204" pitchFamily="18" charset="0"/>
                                </a:rPr>
                              </m:ctrlPr>
                            </m:radPr>
                            <m:deg/>
                            <m:e>
                              <m:r>
                                <a:rPr lang="en-US" sz="3600" b="0" i="1" smtClean="0">
                                  <a:solidFill>
                                    <a:schemeClr val="tx1"/>
                                  </a:solidFill>
                                  <a:latin typeface="Cambria Math" panose="02040503050406030204" pitchFamily="18" charset="0"/>
                                </a:rPr>
                                <m:t>2</m:t>
                              </m:r>
                            </m:e>
                          </m:rad>
                        </m:num>
                        <m:den>
                          <m:r>
                            <a:rPr lang="en-US" sz="3600" b="0" i="1" smtClean="0">
                              <a:solidFill>
                                <a:schemeClr val="tx1"/>
                              </a:solidFill>
                              <a:latin typeface="Cambria Math" panose="02040503050406030204" pitchFamily="18" charset="0"/>
                            </a:rPr>
                            <m:t>2</m:t>
                          </m:r>
                        </m:den>
                      </m:f>
                      <m:sSub>
                        <m:sSubPr>
                          <m:ctrlPr>
                            <a:rPr lang="en-US" sz="3600" i="1">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𝑒</m:t>
                          </m:r>
                        </m:e>
                        <m:sub>
                          <m:r>
                            <a:rPr lang="en-US" sz="3600" b="0" i="1" smtClean="0">
                              <a:solidFill>
                                <a:schemeClr val="tx1"/>
                              </a:solidFill>
                              <a:latin typeface="Cambria Math" panose="02040503050406030204" pitchFamily="18" charset="0"/>
                            </a:rPr>
                            <m:t>𝑧</m:t>
                          </m:r>
                        </m:sub>
                      </m:sSub>
                    </m:oMath>
                  </m:oMathPara>
                </a14:m>
                <a:endParaRPr lang="en-US" sz="3600" dirty="0">
                  <a:solidFill>
                    <a:schemeClr val="tx1"/>
                  </a:solidFill>
                </a:endParaRPr>
              </a:p>
            </p:txBody>
          </p:sp>
        </mc:Choice>
        <mc:Fallback xmlns="">
          <p:sp>
            <p:nvSpPr>
              <p:cNvPr id="34" name="TextBox 33">
                <a:extLst>
                  <a:ext uri="{FF2B5EF4-FFF2-40B4-BE49-F238E27FC236}">
                    <a16:creationId xmlns:a16="http://schemas.microsoft.com/office/drawing/2014/main" id="{C1745775-4D91-D55F-C505-ACC8F52ABA30}"/>
                  </a:ext>
                </a:extLst>
              </p:cNvPr>
              <p:cNvSpPr txBox="1">
                <a:spLocks noRot="1" noChangeAspect="1" noMove="1" noResize="1" noEditPoints="1" noAdjustHandles="1" noChangeArrowheads="1" noChangeShapeType="1" noTextEdit="1"/>
              </p:cNvSpPr>
              <p:nvPr/>
            </p:nvSpPr>
            <p:spPr>
              <a:xfrm>
                <a:off x="4524849" y="179370"/>
                <a:ext cx="3837974" cy="1255985"/>
              </a:xfrm>
              <a:prstGeom prst="rect">
                <a:avLst/>
              </a:prstGeom>
              <a:blipFill>
                <a:blip r:embed="rId2"/>
                <a:stretch>
                  <a:fillRect/>
                </a:stretch>
              </a:blipFill>
            </p:spPr>
            <p:txBody>
              <a:bodyPr/>
              <a:lstStyle/>
              <a:p>
                <a:r>
                  <a:rPr lang="en-US">
                    <a:noFill/>
                  </a:rPr>
                  <a:t> </a:t>
                </a:r>
              </a:p>
            </p:txBody>
          </p:sp>
        </mc:Fallback>
      </mc:AlternateContent>
      <p:grpSp>
        <p:nvGrpSpPr>
          <p:cNvPr id="63" name="Group 62">
            <a:extLst>
              <a:ext uri="{FF2B5EF4-FFF2-40B4-BE49-F238E27FC236}">
                <a16:creationId xmlns:a16="http://schemas.microsoft.com/office/drawing/2014/main" id="{BE3A55E6-AEDD-9491-83DA-7107F557DDBE}"/>
              </a:ext>
            </a:extLst>
          </p:cNvPr>
          <p:cNvGrpSpPr/>
          <p:nvPr/>
        </p:nvGrpSpPr>
        <p:grpSpPr>
          <a:xfrm>
            <a:off x="182880" y="122660"/>
            <a:ext cx="6262011" cy="5434592"/>
            <a:chOff x="723900" y="102608"/>
            <a:chExt cx="6262011" cy="5434592"/>
          </a:xfrm>
        </p:grpSpPr>
        <p:cxnSp>
          <p:nvCxnSpPr>
            <p:cNvPr id="21" name="Straight Connector 20">
              <a:extLst>
                <a:ext uri="{FF2B5EF4-FFF2-40B4-BE49-F238E27FC236}">
                  <a16:creationId xmlns:a16="http://schemas.microsoft.com/office/drawing/2014/main" id="{E381B225-6109-B604-433B-6DC9A1376B4E}"/>
                </a:ext>
              </a:extLst>
            </p:cNvPr>
            <p:cNvCxnSpPr>
              <a:cxnSpLocks/>
            </p:cNvCxnSpPr>
            <p:nvPr/>
          </p:nvCxnSpPr>
          <p:spPr>
            <a:xfrm>
              <a:off x="723900" y="2745266"/>
              <a:ext cx="6070600" cy="0"/>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B94EA8C-3F7B-5C9C-295A-682B37EAC701}"/>
                </a:ext>
              </a:extLst>
            </p:cNvPr>
            <p:cNvCxnSpPr/>
            <p:nvPr/>
          </p:nvCxnSpPr>
          <p:spPr>
            <a:xfrm>
              <a:off x="3799136" y="393700"/>
              <a:ext cx="0" cy="5143500"/>
            </a:xfrm>
            <a:prstGeom prst="line">
              <a:avLst/>
            </a:prstGeom>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873A6DF-F836-A1D0-7C72-58E6541797E5}"/>
                    </a:ext>
                  </a:extLst>
                </p:cNvPr>
                <p:cNvSpPr txBox="1"/>
                <p:nvPr/>
              </p:nvSpPr>
              <p:spPr>
                <a:xfrm>
                  <a:off x="6517834" y="2701799"/>
                  <a:ext cx="46807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𝑥</m:t>
                        </m:r>
                      </m:oMath>
                    </m:oMathPara>
                  </a14:m>
                  <a:endParaRPr lang="en-US" sz="2800" dirty="0"/>
                </a:p>
              </p:txBody>
            </p:sp>
          </mc:Choice>
          <mc:Fallback xmlns="">
            <p:sp>
              <p:nvSpPr>
                <p:cNvPr id="29" name="TextBox 28">
                  <a:extLst>
                    <a:ext uri="{FF2B5EF4-FFF2-40B4-BE49-F238E27FC236}">
                      <a16:creationId xmlns:a16="http://schemas.microsoft.com/office/drawing/2014/main" id="{5873A6DF-F836-A1D0-7C72-58E6541797E5}"/>
                    </a:ext>
                  </a:extLst>
                </p:cNvPr>
                <p:cNvSpPr txBox="1">
                  <a:spLocks noRot="1" noChangeAspect="1" noMove="1" noResize="1" noEditPoints="1" noAdjustHandles="1" noChangeArrowheads="1" noChangeShapeType="1" noTextEdit="1"/>
                </p:cNvSpPr>
                <p:nvPr/>
              </p:nvSpPr>
              <p:spPr>
                <a:xfrm>
                  <a:off x="6517834" y="2701799"/>
                  <a:ext cx="468077"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B727926-B8EC-6BBD-36AE-0877786845FE}"/>
                    </a:ext>
                  </a:extLst>
                </p:cNvPr>
                <p:cNvSpPr txBox="1"/>
                <p:nvPr/>
              </p:nvSpPr>
              <p:spPr>
                <a:xfrm>
                  <a:off x="3216799" y="102608"/>
                  <a:ext cx="44569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𝑧</m:t>
                        </m:r>
                      </m:oMath>
                    </m:oMathPara>
                  </a14:m>
                  <a:endParaRPr lang="en-US" sz="2800" dirty="0"/>
                </a:p>
              </p:txBody>
            </p:sp>
          </mc:Choice>
          <mc:Fallback xmlns="">
            <p:sp>
              <p:nvSpPr>
                <p:cNvPr id="31" name="TextBox 30">
                  <a:extLst>
                    <a:ext uri="{FF2B5EF4-FFF2-40B4-BE49-F238E27FC236}">
                      <a16:creationId xmlns:a16="http://schemas.microsoft.com/office/drawing/2014/main" id="{9B727926-B8EC-6BBD-36AE-0877786845FE}"/>
                    </a:ext>
                  </a:extLst>
                </p:cNvPr>
                <p:cNvSpPr txBox="1">
                  <a:spLocks noRot="1" noChangeAspect="1" noMove="1" noResize="1" noEditPoints="1" noAdjustHandles="1" noChangeArrowheads="1" noChangeShapeType="1" noTextEdit="1"/>
                </p:cNvSpPr>
                <p:nvPr/>
              </p:nvSpPr>
              <p:spPr>
                <a:xfrm>
                  <a:off x="3216799" y="102608"/>
                  <a:ext cx="445699" cy="523220"/>
                </a:xfrm>
                <a:prstGeom prst="rect">
                  <a:avLst/>
                </a:prstGeom>
                <a:blipFill>
                  <a:blip r:embed="rId4"/>
                  <a:stretch>
                    <a:fillRect/>
                  </a:stretch>
                </a:blipFill>
              </p:spPr>
              <p:txBody>
                <a:bodyPr/>
                <a:lstStyle/>
                <a:p>
                  <a:r>
                    <a:rPr lang="en-US">
                      <a:noFill/>
                    </a:rPr>
                    <a:t> </a:t>
                  </a:r>
                </a:p>
              </p:txBody>
            </p:sp>
          </mc:Fallback>
        </mc:AlternateContent>
        <p:grpSp>
          <p:nvGrpSpPr>
            <p:cNvPr id="37" name="Group 36">
              <a:extLst>
                <a:ext uri="{FF2B5EF4-FFF2-40B4-BE49-F238E27FC236}">
                  <a16:creationId xmlns:a16="http://schemas.microsoft.com/office/drawing/2014/main" id="{8F451230-0980-0C5C-5FBE-C85C9C4AF563}"/>
                </a:ext>
              </a:extLst>
            </p:cNvPr>
            <p:cNvGrpSpPr/>
            <p:nvPr/>
          </p:nvGrpSpPr>
          <p:grpSpPr>
            <a:xfrm>
              <a:off x="2012104" y="948792"/>
              <a:ext cx="3577708" cy="3577703"/>
              <a:chOff x="934944" y="1636949"/>
              <a:chExt cx="2674273" cy="2674270"/>
            </a:xfrm>
          </p:grpSpPr>
          <p:grpSp>
            <p:nvGrpSpPr>
              <p:cNvPr id="38" name="Group 37">
                <a:extLst>
                  <a:ext uri="{FF2B5EF4-FFF2-40B4-BE49-F238E27FC236}">
                    <a16:creationId xmlns:a16="http://schemas.microsoft.com/office/drawing/2014/main" id="{8736F0CC-7F07-23FD-BE87-E1EF862F3D2C}"/>
                  </a:ext>
                </a:extLst>
              </p:cNvPr>
              <p:cNvGrpSpPr/>
              <p:nvPr/>
            </p:nvGrpSpPr>
            <p:grpSpPr>
              <a:xfrm>
                <a:off x="934944" y="1636949"/>
                <a:ext cx="2674273" cy="2674270"/>
                <a:chOff x="2521889" y="2808131"/>
                <a:chExt cx="1916265" cy="1916264"/>
              </a:xfrm>
            </p:grpSpPr>
            <p:sp>
              <p:nvSpPr>
                <p:cNvPr id="48" name="Oval 47">
                  <a:extLst>
                    <a:ext uri="{FF2B5EF4-FFF2-40B4-BE49-F238E27FC236}">
                      <a16:creationId xmlns:a16="http://schemas.microsoft.com/office/drawing/2014/main" id="{1349C1D7-AD58-E815-7A24-6C01AC41C9B9}"/>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Oval 31">
                  <a:extLst>
                    <a:ext uri="{FF2B5EF4-FFF2-40B4-BE49-F238E27FC236}">
                      <a16:creationId xmlns:a16="http://schemas.microsoft.com/office/drawing/2014/main" id="{BC715CE1-7387-EFC4-3D44-ACD83780988C}"/>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60479E74-3FA3-8EA6-CF24-8E0336D139DA}"/>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44" name="Straight Arrow Connector 43">
                <a:extLst>
                  <a:ext uri="{FF2B5EF4-FFF2-40B4-BE49-F238E27FC236}">
                    <a16:creationId xmlns:a16="http://schemas.microsoft.com/office/drawing/2014/main" id="{FFEE335A-40B1-56D1-396F-DD91B1728088}"/>
                  </a:ext>
                </a:extLst>
              </p:cNvPr>
              <p:cNvCxnSpPr>
                <a:cxnSpLocks/>
                <a:endCxn id="50" idx="7"/>
              </p:cNvCxnSpPr>
              <p:nvPr/>
            </p:nvCxnSpPr>
            <p:spPr>
              <a:xfrm flipV="1">
                <a:off x="2272076" y="2028586"/>
                <a:ext cx="945503" cy="945496"/>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E4D9EA7-26C6-2977-C845-1BF7931F4CBD}"/>
                  </a:ext>
                </a:extLst>
              </p:cNvPr>
              <p:cNvSpPr txBox="1"/>
              <p:nvPr/>
            </p:nvSpPr>
            <p:spPr>
              <a:xfrm>
                <a:off x="6646669" y="1718492"/>
                <a:ext cx="5111849" cy="1200329"/>
              </a:xfrm>
              <a:prstGeom prst="rect">
                <a:avLst/>
              </a:prstGeom>
              <a:noFill/>
            </p:spPr>
            <p:txBody>
              <a:bodyPr wrap="none" rtlCol="0">
                <a:spAutoFit/>
              </a:bodyPr>
              <a:lstStyle/>
              <a:p>
                <a:pPr algn="ctr"/>
                <a14:m>
                  <m:oMath xmlns:m="http://schemas.openxmlformats.org/officeDocument/2006/math">
                    <m:r>
                      <a:rPr lang="en-US" sz="3600" b="0" i="1" smtClean="0">
                        <a:latin typeface="Cambria Math" panose="02040503050406030204" pitchFamily="18" charset="0"/>
                      </a:rPr>
                      <m:t>𝑣</m:t>
                    </m:r>
                  </m:oMath>
                </a14:m>
                <a:r>
                  <a:rPr lang="en-US" sz="3600" dirty="0"/>
                  <a:t> is vertical and horizontal</a:t>
                </a:r>
                <a:br>
                  <a:rPr lang="en-US" sz="3600" dirty="0"/>
                </a:br>
                <a:r>
                  <a:rPr lang="en-US" sz="3600" dirty="0"/>
                  <a:t>at the same time!</a:t>
                </a:r>
              </a:p>
            </p:txBody>
          </p:sp>
        </mc:Choice>
        <mc:Fallback xmlns="">
          <p:sp>
            <p:nvSpPr>
              <p:cNvPr id="3" name="TextBox 2">
                <a:extLst>
                  <a:ext uri="{FF2B5EF4-FFF2-40B4-BE49-F238E27FC236}">
                    <a16:creationId xmlns:a16="http://schemas.microsoft.com/office/drawing/2014/main" id="{BE4D9EA7-26C6-2977-C845-1BF7931F4CBD}"/>
                  </a:ext>
                </a:extLst>
              </p:cNvPr>
              <p:cNvSpPr txBox="1">
                <a:spLocks noRot="1" noChangeAspect="1" noMove="1" noResize="1" noEditPoints="1" noAdjustHandles="1" noChangeArrowheads="1" noChangeShapeType="1" noTextEdit="1"/>
              </p:cNvSpPr>
              <p:nvPr/>
            </p:nvSpPr>
            <p:spPr>
              <a:xfrm>
                <a:off x="6646669" y="1718492"/>
                <a:ext cx="5111849" cy="1200329"/>
              </a:xfrm>
              <a:prstGeom prst="rect">
                <a:avLst/>
              </a:prstGeom>
              <a:blipFill>
                <a:blip r:embed="rId5"/>
                <a:stretch>
                  <a:fillRect t="-8122" r="-3099" b="-18274"/>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878A164E-644D-2DA0-CFED-07B3C2596E3D}"/>
              </a:ext>
            </a:extLst>
          </p:cNvPr>
          <p:cNvGrpSpPr/>
          <p:nvPr/>
        </p:nvGrpSpPr>
        <p:grpSpPr>
          <a:xfrm>
            <a:off x="7705263" y="1707241"/>
            <a:ext cx="2994660" cy="1211580"/>
            <a:chOff x="5783580" y="3901440"/>
            <a:chExt cx="2994660" cy="1211580"/>
          </a:xfrm>
        </p:grpSpPr>
        <p:cxnSp>
          <p:nvCxnSpPr>
            <p:cNvPr id="11" name="Straight Connector 10">
              <a:extLst>
                <a:ext uri="{FF2B5EF4-FFF2-40B4-BE49-F238E27FC236}">
                  <a16:creationId xmlns:a16="http://schemas.microsoft.com/office/drawing/2014/main" id="{52C73F4E-C8DA-E38F-7330-5593F22F6CEF}"/>
                </a:ext>
              </a:extLst>
            </p:cNvPr>
            <p:cNvCxnSpPr>
              <a:cxnSpLocks/>
            </p:cNvCxnSpPr>
            <p:nvPr/>
          </p:nvCxnSpPr>
          <p:spPr>
            <a:xfrm flipH="1">
              <a:off x="5783580" y="3901440"/>
              <a:ext cx="2994660" cy="121158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1746A7D-8238-08D7-09AB-FB693399B460}"/>
                </a:ext>
              </a:extLst>
            </p:cNvPr>
            <p:cNvCxnSpPr>
              <a:cxnSpLocks/>
            </p:cNvCxnSpPr>
            <p:nvPr/>
          </p:nvCxnSpPr>
          <p:spPr>
            <a:xfrm>
              <a:off x="5783580" y="3901440"/>
              <a:ext cx="2994660" cy="121158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C1DB48B-43C5-5BD8-A5F0-E58AB473D481}"/>
                  </a:ext>
                </a:extLst>
              </p:cNvPr>
              <p:cNvSpPr txBox="1"/>
              <p:nvPr/>
            </p:nvSpPr>
            <p:spPr>
              <a:xfrm>
                <a:off x="7931668" y="3105834"/>
                <a:ext cx="2541851" cy="646331"/>
              </a:xfrm>
              <a:prstGeom prst="rect">
                <a:avLst/>
              </a:prstGeom>
              <a:noFill/>
            </p:spPr>
            <p:txBody>
              <a:bodyPr wrap="none" rtlCol="0">
                <a:spAutoFit/>
              </a:bodyPr>
              <a:lstStyle/>
              <a:p>
                <a:pPr algn="ctr"/>
                <a14:m>
                  <m:oMath xmlns:m="http://schemas.openxmlformats.org/officeDocument/2006/math">
                    <m:r>
                      <a:rPr lang="en-US" sz="3600" b="0" i="1" smtClean="0">
                        <a:latin typeface="Cambria Math" panose="02040503050406030204" pitchFamily="18" charset="0"/>
                      </a:rPr>
                      <m:t>𝑣</m:t>
                    </m:r>
                  </m:oMath>
                </a14:m>
                <a:r>
                  <a:rPr lang="en-US" sz="3600" dirty="0"/>
                  <a:t> is diagonal</a:t>
                </a:r>
              </a:p>
            </p:txBody>
          </p:sp>
        </mc:Choice>
        <mc:Fallback xmlns="">
          <p:sp>
            <p:nvSpPr>
              <p:cNvPr id="15" name="TextBox 14">
                <a:extLst>
                  <a:ext uri="{FF2B5EF4-FFF2-40B4-BE49-F238E27FC236}">
                    <a16:creationId xmlns:a16="http://schemas.microsoft.com/office/drawing/2014/main" id="{3C1DB48B-43C5-5BD8-A5F0-E58AB473D481}"/>
                  </a:ext>
                </a:extLst>
              </p:cNvPr>
              <p:cNvSpPr txBox="1">
                <a:spLocks noRot="1" noChangeAspect="1" noMove="1" noResize="1" noEditPoints="1" noAdjustHandles="1" noChangeArrowheads="1" noChangeShapeType="1" noTextEdit="1"/>
              </p:cNvSpPr>
              <p:nvPr/>
            </p:nvSpPr>
            <p:spPr>
              <a:xfrm>
                <a:off x="7931668" y="3105834"/>
                <a:ext cx="2541851" cy="646331"/>
              </a:xfrm>
              <a:prstGeom prst="rect">
                <a:avLst/>
              </a:prstGeom>
              <a:blipFill>
                <a:blip r:embed="rId6"/>
                <a:stretch>
                  <a:fillRect t="-14019" r="-6715" b="-33645"/>
                </a:stretch>
              </a:blipFill>
            </p:spPr>
            <p:txBody>
              <a:bodyPr/>
              <a:lstStyle/>
              <a:p>
                <a:r>
                  <a:rPr lang="en-US">
                    <a:noFill/>
                  </a:rPr>
                  <a:t> </a:t>
                </a:r>
              </a:p>
            </p:txBody>
          </p:sp>
        </mc:Fallback>
      </mc:AlternateContent>
    </p:spTree>
    <p:extLst>
      <p:ext uri="{BB962C8B-B14F-4D97-AF65-F5344CB8AC3E}">
        <p14:creationId xmlns:p14="http://schemas.microsoft.com/office/powerpoint/2010/main" val="2174466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82CE3-BEB1-E4F8-A9E5-DEC06ADA204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6B75F90-86E9-EB3A-35E5-14D882855CB3}"/>
                  </a:ext>
                </a:extLst>
              </p:cNvPr>
              <p:cNvSpPr txBox="1"/>
              <p:nvPr/>
            </p:nvSpPr>
            <p:spPr>
              <a:xfrm>
                <a:off x="4524849" y="179370"/>
                <a:ext cx="3837974" cy="12559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b="0" i="1" smtClean="0">
                          <a:solidFill>
                            <a:schemeClr val="tx1"/>
                          </a:solidFill>
                          <a:latin typeface="Cambria Math" panose="02040503050406030204" pitchFamily="18" charset="0"/>
                        </a:rPr>
                        <m:t>𝑣</m:t>
                      </m:r>
                      <m:r>
                        <a:rPr lang="en-US" sz="3600" b="0" i="1" smtClean="0">
                          <a:solidFill>
                            <a:schemeClr val="tx1"/>
                          </a:solidFill>
                          <a:latin typeface="Cambria Math" panose="02040503050406030204" pitchFamily="18" charset="0"/>
                        </a:rPr>
                        <m:t>=</m:t>
                      </m:r>
                      <m:f>
                        <m:fPr>
                          <m:ctrlPr>
                            <a:rPr lang="en-US" sz="3600" b="0" i="1" smtClean="0">
                              <a:solidFill>
                                <a:schemeClr val="tx1"/>
                              </a:solidFill>
                              <a:latin typeface="Cambria Math" panose="02040503050406030204" pitchFamily="18" charset="0"/>
                            </a:rPr>
                          </m:ctrlPr>
                        </m:fPr>
                        <m:num>
                          <m:rad>
                            <m:radPr>
                              <m:degHide m:val="on"/>
                              <m:ctrlPr>
                                <a:rPr lang="en-US" sz="3600" b="0" i="1" smtClean="0">
                                  <a:solidFill>
                                    <a:schemeClr val="tx1"/>
                                  </a:solidFill>
                                  <a:latin typeface="Cambria Math" panose="02040503050406030204" pitchFamily="18" charset="0"/>
                                </a:rPr>
                              </m:ctrlPr>
                            </m:radPr>
                            <m:deg/>
                            <m:e>
                              <m:r>
                                <a:rPr lang="en-US" sz="3600" b="0" i="1" smtClean="0">
                                  <a:solidFill>
                                    <a:schemeClr val="tx1"/>
                                  </a:solidFill>
                                  <a:latin typeface="Cambria Math" panose="02040503050406030204" pitchFamily="18" charset="0"/>
                                </a:rPr>
                                <m:t>2</m:t>
                              </m:r>
                            </m:e>
                          </m:rad>
                        </m:num>
                        <m:den>
                          <m:r>
                            <a:rPr lang="en-US" sz="3600" b="0" i="1" smtClean="0">
                              <a:solidFill>
                                <a:schemeClr val="tx1"/>
                              </a:solidFill>
                              <a:latin typeface="Cambria Math" panose="02040503050406030204" pitchFamily="18" charset="0"/>
                            </a:rPr>
                            <m:t>2</m:t>
                          </m:r>
                        </m:den>
                      </m:f>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𝑒</m:t>
                          </m:r>
                        </m:e>
                        <m:sub>
                          <m:r>
                            <a:rPr lang="en-US" sz="3600" b="0" i="1" smtClean="0">
                              <a:solidFill>
                                <a:schemeClr val="tx1"/>
                              </a:solidFill>
                              <a:latin typeface="Cambria Math" panose="02040503050406030204" pitchFamily="18" charset="0"/>
                            </a:rPr>
                            <m:t>𝑥</m:t>
                          </m:r>
                        </m:sub>
                      </m:sSub>
                      <m:r>
                        <a:rPr lang="en-US" sz="3600" i="1">
                          <a:solidFill>
                            <a:schemeClr val="tx1"/>
                          </a:solidFill>
                          <a:latin typeface="Cambria Math" panose="02040503050406030204" pitchFamily="18" charset="0"/>
                        </a:rPr>
                        <m:t>+</m:t>
                      </m:r>
                      <m:f>
                        <m:fPr>
                          <m:ctrlPr>
                            <a:rPr lang="en-US" sz="3600" b="0" i="1" smtClean="0">
                              <a:solidFill>
                                <a:schemeClr val="tx1"/>
                              </a:solidFill>
                              <a:latin typeface="Cambria Math" panose="02040503050406030204" pitchFamily="18" charset="0"/>
                            </a:rPr>
                          </m:ctrlPr>
                        </m:fPr>
                        <m:num>
                          <m:rad>
                            <m:radPr>
                              <m:degHide m:val="on"/>
                              <m:ctrlPr>
                                <a:rPr lang="en-US" sz="3600" b="0" i="1" smtClean="0">
                                  <a:solidFill>
                                    <a:schemeClr val="tx1"/>
                                  </a:solidFill>
                                  <a:latin typeface="Cambria Math" panose="02040503050406030204" pitchFamily="18" charset="0"/>
                                </a:rPr>
                              </m:ctrlPr>
                            </m:radPr>
                            <m:deg/>
                            <m:e>
                              <m:r>
                                <a:rPr lang="en-US" sz="3600" b="0" i="1" smtClean="0">
                                  <a:solidFill>
                                    <a:schemeClr val="tx1"/>
                                  </a:solidFill>
                                  <a:latin typeface="Cambria Math" panose="02040503050406030204" pitchFamily="18" charset="0"/>
                                </a:rPr>
                                <m:t>2</m:t>
                              </m:r>
                            </m:e>
                          </m:rad>
                        </m:num>
                        <m:den>
                          <m:r>
                            <a:rPr lang="en-US" sz="3600" b="0" i="1" smtClean="0">
                              <a:solidFill>
                                <a:schemeClr val="tx1"/>
                              </a:solidFill>
                              <a:latin typeface="Cambria Math" panose="02040503050406030204" pitchFamily="18" charset="0"/>
                            </a:rPr>
                            <m:t>2</m:t>
                          </m:r>
                        </m:den>
                      </m:f>
                      <m:sSub>
                        <m:sSubPr>
                          <m:ctrlPr>
                            <a:rPr lang="en-US" sz="3600" i="1">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𝑒</m:t>
                          </m:r>
                        </m:e>
                        <m:sub>
                          <m:r>
                            <a:rPr lang="en-US" sz="3600" b="0" i="1" smtClean="0">
                              <a:solidFill>
                                <a:schemeClr val="tx1"/>
                              </a:solidFill>
                              <a:latin typeface="Cambria Math" panose="02040503050406030204" pitchFamily="18" charset="0"/>
                            </a:rPr>
                            <m:t>𝑧</m:t>
                          </m:r>
                        </m:sub>
                      </m:sSub>
                    </m:oMath>
                  </m:oMathPara>
                </a14:m>
                <a:endParaRPr lang="en-US" sz="3600" dirty="0">
                  <a:solidFill>
                    <a:schemeClr val="tx1"/>
                  </a:solidFill>
                </a:endParaRPr>
              </a:p>
            </p:txBody>
          </p:sp>
        </mc:Choice>
        <mc:Fallback xmlns="">
          <p:sp>
            <p:nvSpPr>
              <p:cNvPr id="34" name="TextBox 33">
                <a:extLst>
                  <a:ext uri="{FF2B5EF4-FFF2-40B4-BE49-F238E27FC236}">
                    <a16:creationId xmlns:a16="http://schemas.microsoft.com/office/drawing/2014/main" id="{E6B75F90-86E9-EB3A-35E5-14D882855CB3}"/>
                  </a:ext>
                </a:extLst>
              </p:cNvPr>
              <p:cNvSpPr txBox="1">
                <a:spLocks noRot="1" noChangeAspect="1" noMove="1" noResize="1" noEditPoints="1" noAdjustHandles="1" noChangeArrowheads="1" noChangeShapeType="1" noTextEdit="1"/>
              </p:cNvSpPr>
              <p:nvPr/>
            </p:nvSpPr>
            <p:spPr>
              <a:xfrm>
                <a:off x="4524849" y="179370"/>
                <a:ext cx="3837974" cy="1255985"/>
              </a:xfrm>
              <a:prstGeom prst="rect">
                <a:avLst/>
              </a:prstGeom>
              <a:blipFill>
                <a:blip r:embed="rId2"/>
                <a:stretch>
                  <a:fillRect/>
                </a:stretch>
              </a:blipFill>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5F6328E5-5AA6-7F17-46DB-370AE11A316F}"/>
              </a:ext>
            </a:extLst>
          </p:cNvPr>
          <p:cNvCxnSpPr>
            <a:cxnSpLocks/>
          </p:cNvCxnSpPr>
          <p:nvPr/>
        </p:nvCxnSpPr>
        <p:spPr>
          <a:xfrm>
            <a:off x="182880" y="2765318"/>
            <a:ext cx="6070600" cy="0"/>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E15ED15-2732-C425-ECED-03B3E706FA3C}"/>
              </a:ext>
            </a:extLst>
          </p:cNvPr>
          <p:cNvCxnSpPr/>
          <p:nvPr/>
        </p:nvCxnSpPr>
        <p:spPr>
          <a:xfrm>
            <a:off x="3258116" y="413752"/>
            <a:ext cx="0" cy="5143500"/>
          </a:xfrm>
          <a:prstGeom prst="line">
            <a:avLst/>
          </a:prstGeom>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48C5179-9B4F-E109-278A-3CE39942E53C}"/>
                  </a:ext>
                </a:extLst>
              </p:cNvPr>
              <p:cNvSpPr txBox="1"/>
              <p:nvPr/>
            </p:nvSpPr>
            <p:spPr>
              <a:xfrm>
                <a:off x="5976814" y="2721851"/>
                <a:ext cx="46807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𝑥</m:t>
                      </m:r>
                    </m:oMath>
                  </m:oMathPara>
                </a14:m>
                <a:endParaRPr lang="en-US" sz="2800" dirty="0"/>
              </a:p>
            </p:txBody>
          </p:sp>
        </mc:Choice>
        <mc:Fallback xmlns="">
          <p:sp>
            <p:nvSpPr>
              <p:cNvPr id="29" name="TextBox 28">
                <a:extLst>
                  <a:ext uri="{FF2B5EF4-FFF2-40B4-BE49-F238E27FC236}">
                    <a16:creationId xmlns:a16="http://schemas.microsoft.com/office/drawing/2014/main" id="{948C5179-9B4F-E109-278A-3CE39942E53C}"/>
                  </a:ext>
                </a:extLst>
              </p:cNvPr>
              <p:cNvSpPr txBox="1">
                <a:spLocks noRot="1" noChangeAspect="1" noMove="1" noResize="1" noEditPoints="1" noAdjustHandles="1" noChangeArrowheads="1" noChangeShapeType="1" noTextEdit="1"/>
              </p:cNvSpPr>
              <p:nvPr/>
            </p:nvSpPr>
            <p:spPr>
              <a:xfrm>
                <a:off x="5976814" y="2721851"/>
                <a:ext cx="468077"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8CC6393-C6F5-5D50-E06F-86F0C69A9667}"/>
                  </a:ext>
                </a:extLst>
              </p:cNvPr>
              <p:cNvSpPr txBox="1"/>
              <p:nvPr/>
            </p:nvSpPr>
            <p:spPr>
              <a:xfrm>
                <a:off x="2675779" y="122660"/>
                <a:ext cx="44569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𝑧</m:t>
                      </m:r>
                    </m:oMath>
                  </m:oMathPara>
                </a14:m>
                <a:endParaRPr lang="en-US" sz="2800" dirty="0"/>
              </a:p>
            </p:txBody>
          </p:sp>
        </mc:Choice>
        <mc:Fallback xmlns="">
          <p:sp>
            <p:nvSpPr>
              <p:cNvPr id="31" name="TextBox 30">
                <a:extLst>
                  <a:ext uri="{FF2B5EF4-FFF2-40B4-BE49-F238E27FC236}">
                    <a16:creationId xmlns:a16="http://schemas.microsoft.com/office/drawing/2014/main" id="{A8CC6393-C6F5-5D50-E06F-86F0C69A9667}"/>
                  </a:ext>
                </a:extLst>
              </p:cNvPr>
              <p:cNvSpPr txBox="1">
                <a:spLocks noRot="1" noChangeAspect="1" noMove="1" noResize="1" noEditPoints="1" noAdjustHandles="1" noChangeArrowheads="1" noChangeShapeType="1" noTextEdit="1"/>
              </p:cNvSpPr>
              <p:nvPr/>
            </p:nvSpPr>
            <p:spPr>
              <a:xfrm>
                <a:off x="2675779" y="122660"/>
                <a:ext cx="445699" cy="523220"/>
              </a:xfrm>
              <a:prstGeom prst="rect">
                <a:avLst/>
              </a:prstGeom>
              <a:blipFill>
                <a:blip r:embed="rId4"/>
                <a:stretch>
                  <a:fillRect/>
                </a:stretch>
              </a:blipFill>
            </p:spPr>
            <p:txBody>
              <a:bodyPr/>
              <a:lstStyle/>
              <a:p>
                <a:r>
                  <a:rPr lang="en-US">
                    <a:noFill/>
                  </a:rPr>
                  <a:t> </a:t>
                </a:r>
              </a:p>
            </p:txBody>
          </p:sp>
        </mc:Fallback>
      </mc:AlternateContent>
      <p:grpSp>
        <p:nvGrpSpPr>
          <p:cNvPr id="37" name="Group 36">
            <a:extLst>
              <a:ext uri="{FF2B5EF4-FFF2-40B4-BE49-F238E27FC236}">
                <a16:creationId xmlns:a16="http://schemas.microsoft.com/office/drawing/2014/main" id="{14E362E3-8BF7-0DB2-9EDB-2674CE15DF20}"/>
              </a:ext>
            </a:extLst>
          </p:cNvPr>
          <p:cNvGrpSpPr/>
          <p:nvPr/>
        </p:nvGrpSpPr>
        <p:grpSpPr>
          <a:xfrm>
            <a:off x="1471084" y="968844"/>
            <a:ext cx="3577708" cy="3577703"/>
            <a:chOff x="934944" y="1636949"/>
            <a:chExt cx="2674273" cy="2674270"/>
          </a:xfrm>
        </p:grpSpPr>
        <p:grpSp>
          <p:nvGrpSpPr>
            <p:cNvPr id="38" name="Group 37">
              <a:extLst>
                <a:ext uri="{FF2B5EF4-FFF2-40B4-BE49-F238E27FC236}">
                  <a16:creationId xmlns:a16="http://schemas.microsoft.com/office/drawing/2014/main" id="{3A5289AC-1BB5-D09F-62B0-BE5F2C27081C}"/>
                </a:ext>
              </a:extLst>
            </p:cNvPr>
            <p:cNvGrpSpPr/>
            <p:nvPr/>
          </p:nvGrpSpPr>
          <p:grpSpPr>
            <a:xfrm>
              <a:off x="934944" y="1636949"/>
              <a:ext cx="2674273" cy="2674270"/>
              <a:chOff x="2521889" y="2808131"/>
              <a:chExt cx="1916265" cy="1916264"/>
            </a:xfrm>
          </p:grpSpPr>
          <p:sp>
            <p:nvSpPr>
              <p:cNvPr id="48" name="Oval 47">
                <a:extLst>
                  <a:ext uri="{FF2B5EF4-FFF2-40B4-BE49-F238E27FC236}">
                    <a16:creationId xmlns:a16="http://schemas.microsoft.com/office/drawing/2014/main" id="{C6322B80-A168-269D-1EC4-A31288AC63A5}"/>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Oval 31">
                <a:extLst>
                  <a:ext uri="{FF2B5EF4-FFF2-40B4-BE49-F238E27FC236}">
                    <a16:creationId xmlns:a16="http://schemas.microsoft.com/office/drawing/2014/main" id="{55F27A03-4544-387B-D0F5-7B75EF20AB5A}"/>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569BCAC-9421-7CDC-AB0C-24E24D88DA9B}"/>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2" name="Straight Arrow Connector 1">
              <a:extLst>
                <a:ext uri="{FF2B5EF4-FFF2-40B4-BE49-F238E27FC236}">
                  <a16:creationId xmlns:a16="http://schemas.microsoft.com/office/drawing/2014/main" id="{A1A2D5EF-3951-3507-6B97-8ADC945248E9}"/>
                </a:ext>
              </a:extLst>
            </p:cNvPr>
            <p:cNvCxnSpPr>
              <a:cxnSpLocks/>
              <a:endCxn id="50" idx="6"/>
            </p:cNvCxnSpPr>
            <p:nvPr/>
          </p:nvCxnSpPr>
          <p:spPr>
            <a:xfrm flipV="1">
              <a:off x="2270719" y="2974084"/>
              <a:ext cx="1338498" cy="5697"/>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046100D-45F8-7055-B563-E8BCE0EA2A02}"/>
                  </a:ext>
                </a:extLst>
              </p:cNvPr>
              <p:cNvSpPr txBox="1"/>
              <p:nvPr/>
            </p:nvSpPr>
            <p:spPr>
              <a:xfrm>
                <a:off x="6344226" y="1718492"/>
                <a:ext cx="5716758" cy="1200329"/>
              </a:xfrm>
              <a:prstGeom prst="rect">
                <a:avLst/>
              </a:prstGeom>
              <a:noFill/>
            </p:spPr>
            <p:txBody>
              <a:bodyPr wrap="none" rtlCol="0">
                <a:spAutoFit/>
              </a:bodyPr>
              <a:lstStyle/>
              <a:p>
                <a:pPr algn="ctr"/>
                <a14:m>
                  <m:oMath xmlns:m="http://schemas.openxmlformats.org/officeDocument/2006/math">
                    <m:r>
                      <a:rPr lang="en-US" sz="3600" b="0" i="1" smtClean="0">
                        <a:latin typeface="Cambria Math" panose="02040503050406030204" pitchFamily="18" charset="0"/>
                      </a:rPr>
                      <m:t>𝑣</m:t>
                    </m:r>
                  </m:oMath>
                </a14:m>
                <a:r>
                  <a:rPr lang="en-US" sz="3600" dirty="0"/>
                  <a:t> is a linear combination</a:t>
                </a:r>
                <a:br>
                  <a:rPr lang="en-US" sz="3600" dirty="0"/>
                </a:br>
                <a14:m>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𝑒</m:t>
                        </m:r>
                      </m:e>
                      <m:sub>
                        <m:r>
                          <a:rPr lang="en-US" sz="3600" b="0" i="1" smtClean="0">
                            <a:latin typeface="Cambria Math" panose="02040503050406030204" pitchFamily="18" charset="0"/>
                          </a:rPr>
                          <m:t>𝑥</m:t>
                        </m:r>
                      </m:sub>
                    </m:sSub>
                  </m:oMath>
                </a14:m>
                <a:r>
                  <a:rPr lang="en-US" sz="3600" dirty="0"/>
                  <a:t> is not a linear combination</a:t>
                </a:r>
              </a:p>
            </p:txBody>
          </p:sp>
        </mc:Choice>
        <mc:Fallback xmlns="">
          <p:sp>
            <p:nvSpPr>
              <p:cNvPr id="3" name="TextBox 2">
                <a:extLst>
                  <a:ext uri="{FF2B5EF4-FFF2-40B4-BE49-F238E27FC236}">
                    <a16:creationId xmlns:a16="http://schemas.microsoft.com/office/drawing/2014/main" id="{F046100D-45F8-7055-B563-E8BCE0EA2A02}"/>
                  </a:ext>
                </a:extLst>
              </p:cNvPr>
              <p:cNvSpPr txBox="1">
                <a:spLocks noRot="1" noChangeAspect="1" noMove="1" noResize="1" noEditPoints="1" noAdjustHandles="1" noChangeArrowheads="1" noChangeShapeType="1" noTextEdit="1"/>
              </p:cNvSpPr>
              <p:nvPr/>
            </p:nvSpPr>
            <p:spPr>
              <a:xfrm>
                <a:off x="6344226" y="1718492"/>
                <a:ext cx="5716758" cy="1200329"/>
              </a:xfrm>
              <a:prstGeom prst="rect">
                <a:avLst/>
              </a:prstGeom>
              <a:blipFill>
                <a:blip r:embed="rId5"/>
                <a:stretch>
                  <a:fillRect t="-8122" r="-2665" b="-18274"/>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FF5F9B71-C9CE-D3F5-A68D-BCFE3186BF9D}"/>
              </a:ext>
            </a:extLst>
          </p:cNvPr>
          <p:cNvGrpSpPr/>
          <p:nvPr/>
        </p:nvGrpSpPr>
        <p:grpSpPr>
          <a:xfrm>
            <a:off x="7705263" y="1707241"/>
            <a:ext cx="2994660" cy="1211580"/>
            <a:chOff x="5783580" y="3901440"/>
            <a:chExt cx="2994660" cy="1211580"/>
          </a:xfrm>
        </p:grpSpPr>
        <p:cxnSp>
          <p:nvCxnSpPr>
            <p:cNvPr id="11" name="Straight Connector 10">
              <a:extLst>
                <a:ext uri="{FF2B5EF4-FFF2-40B4-BE49-F238E27FC236}">
                  <a16:creationId xmlns:a16="http://schemas.microsoft.com/office/drawing/2014/main" id="{2710396A-80B1-5E88-1E72-1DE7BFED7468}"/>
                </a:ext>
              </a:extLst>
            </p:cNvPr>
            <p:cNvCxnSpPr>
              <a:cxnSpLocks/>
            </p:cNvCxnSpPr>
            <p:nvPr/>
          </p:nvCxnSpPr>
          <p:spPr>
            <a:xfrm flipH="1">
              <a:off x="5783580" y="3901440"/>
              <a:ext cx="2994660" cy="121158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FA6FFD1-C8A5-CD20-72C6-F50C0A111C3D}"/>
                </a:ext>
              </a:extLst>
            </p:cNvPr>
            <p:cNvCxnSpPr>
              <a:cxnSpLocks/>
            </p:cNvCxnSpPr>
            <p:nvPr/>
          </p:nvCxnSpPr>
          <p:spPr>
            <a:xfrm>
              <a:off x="5783580" y="3901440"/>
              <a:ext cx="2994660" cy="121158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7B274D0-E7FF-9D4D-AE1A-A0D4C550D862}"/>
                  </a:ext>
                </a:extLst>
              </p:cNvPr>
              <p:cNvSpPr txBox="1"/>
              <p:nvPr/>
            </p:nvSpPr>
            <p:spPr>
              <a:xfrm>
                <a:off x="5876033" y="3181442"/>
                <a:ext cx="3772763" cy="1255985"/>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𝑒</m:t>
                          </m:r>
                        </m:e>
                        <m:sub>
                          <m:r>
                            <a:rPr lang="en-US" sz="3600" b="0" i="1" smtClean="0">
                              <a:latin typeface="Cambria Math" panose="02040503050406030204" pitchFamily="18" charset="0"/>
                            </a:rPr>
                            <m:t>𝑥</m:t>
                          </m:r>
                        </m:sub>
                      </m:sSub>
                      <m:r>
                        <a:rPr lang="en-US" sz="3600" b="0" i="1" smtClean="0">
                          <a:latin typeface="Cambria Math" panose="02040503050406030204" pitchFamily="18" charset="0"/>
                        </a:rPr>
                        <m:t>=</m:t>
                      </m:r>
                      <m:f>
                        <m:fPr>
                          <m:ctrlPr>
                            <a:rPr lang="en-US" sz="3600" i="1">
                              <a:latin typeface="Cambria Math" panose="02040503050406030204" pitchFamily="18" charset="0"/>
                            </a:rPr>
                          </m:ctrlPr>
                        </m:fPr>
                        <m:num>
                          <m:rad>
                            <m:radPr>
                              <m:degHide m:val="on"/>
                              <m:ctrlPr>
                                <a:rPr lang="en-US" sz="3600" i="1">
                                  <a:latin typeface="Cambria Math" panose="02040503050406030204" pitchFamily="18" charset="0"/>
                                </a:rPr>
                              </m:ctrlPr>
                            </m:radPr>
                            <m:deg/>
                            <m:e>
                              <m:r>
                                <a:rPr lang="en-US" sz="3600" i="1">
                                  <a:latin typeface="Cambria Math" panose="02040503050406030204" pitchFamily="18" charset="0"/>
                                </a:rPr>
                                <m:t>2</m:t>
                              </m:r>
                            </m:e>
                          </m:rad>
                        </m:num>
                        <m:den>
                          <m:r>
                            <a:rPr lang="en-US" sz="3600" i="1">
                              <a:latin typeface="Cambria Math" panose="02040503050406030204" pitchFamily="18" charset="0"/>
                            </a:rPr>
                            <m:t>2</m:t>
                          </m:r>
                        </m:den>
                      </m:f>
                      <m:r>
                        <a:rPr lang="en-US" sz="3600" b="0" i="1" smtClean="0">
                          <a:latin typeface="Cambria Math" panose="02040503050406030204" pitchFamily="18" charset="0"/>
                        </a:rPr>
                        <m:t>𝑣</m:t>
                      </m:r>
                      <m:r>
                        <a:rPr lang="en-US" sz="3600" i="1">
                          <a:latin typeface="Cambria Math" panose="02040503050406030204" pitchFamily="18" charset="0"/>
                        </a:rPr>
                        <m:t>+</m:t>
                      </m:r>
                      <m:f>
                        <m:fPr>
                          <m:ctrlPr>
                            <a:rPr lang="en-US" sz="3600" i="1">
                              <a:latin typeface="Cambria Math" panose="02040503050406030204" pitchFamily="18" charset="0"/>
                            </a:rPr>
                          </m:ctrlPr>
                        </m:fPr>
                        <m:num>
                          <m:rad>
                            <m:radPr>
                              <m:degHide m:val="on"/>
                              <m:ctrlPr>
                                <a:rPr lang="en-US" sz="3600" i="1">
                                  <a:latin typeface="Cambria Math" panose="02040503050406030204" pitchFamily="18" charset="0"/>
                                </a:rPr>
                              </m:ctrlPr>
                            </m:radPr>
                            <m:deg/>
                            <m:e>
                              <m:r>
                                <a:rPr lang="en-US" sz="3600" i="1">
                                  <a:latin typeface="Cambria Math" panose="02040503050406030204" pitchFamily="18" charset="0"/>
                                </a:rPr>
                                <m:t>2</m:t>
                              </m:r>
                            </m:e>
                          </m:rad>
                        </m:num>
                        <m:den>
                          <m:r>
                            <a:rPr lang="en-US" sz="3600" i="1">
                              <a:latin typeface="Cambria Math" panose="02040503050406030204" pitchFamily="18" charset="0"/>
                            </a:rPr>
                            <m:t>2</m:t>
                          </m:r>
                        </m:den>
                      </m:f>
                      <m:r>
                        <a:rPr lang="en-US" sz="3600" b="0" i="1" smtClean="0">
                          <a:latin typeface="Cambria Math" panose="02040503050406030204" pitchFamily="18" charset="0"/>
                        </a:rPr>
                        <m:t>𝑤</m:t>
                      </m:r>
                    </m:oMath>
                  </m:oMathPara>
                </a14:m>
                <a:endParaRPr lang="en-US" sz="3600" dirty="0"/>
              </a:p>
            </p:txBody>
          </p:sp>
        </mc:Choice>
        <mc:Fallback xmlns="">
          <p:sp>
            <p:nvSpPr>
              <p:cNvPr id="15" name="TextBox 14">
                <a:extLst>
                  <a:ext uri="{FF2B5EF4-FFF2-40B4-BE49-F238E27FC236}">
                    <a16:creationId xmlns:a16="http://schemas.microsoft.com/office/drawing/2014/main" id="{87B274D0-E7FF-9D4D-AE1A-A0D4C550D862}"/>
                  </a:ext>
                </a:extLst>
              </p:cNvPr>
              <p:cNvSpPr txBox="1">
                <a:spLocks noRot="1" noChangeAspect="1" noMove="1" noResize="1" noEditPoints="1" noAdjustHandles="1" noChangeArrowheads="1" noChangeShapeType="1" noTextEdit="1"/>
              </p:cNvSpPr>
              <p:nvPr/>
            </p:nvSpPr>
            <p:spPr>
              <a:xfrm>
                <a:off x="5876033" y="3181442"/>
                <a:ext cx="3772763" cy="125598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9CC82EF-D783-66B9-6F10-219116A58050}"/>
                  </a:ext>
                </a:extLst>
              </p:cNvPr>
              <p:cNvSpPr txBox="1"/>
              <p:nvPr/>
            </p:nvSpPr>
            <p:spPr>
              <a:xfrm>
                <a:off x="3814774" y="2616713"/>
                <a:ext cx="731547"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𝑒</m:t>
                          </m:r>
                        </m:e>
                        <m:sub>
                          <m:r>
                            <a:rPr lang="en-US" sz="3600" b="0" i="1" smtClean="0">
                              <a:solidFill>
                                <a:schemeClr val="tx1"/>
                              </a:solidFill>
                              <a:latin typeface="Cambria Math" panose="02040503050406030204" pitchFamily="18" charset="0"/>
                            </a:rPr>
                            <m:t>𝑥</m:t>
                          </m:r>
                        </m:sub>
                      </m:sSub>
                    </m:oMath>
                  </m:oMathPara>
                </a14:m>
                <a:endParaRPr lang="en-US" sz="3600" dirty="0">
                  <a:solidFill>
                    <a:schemeClr val="tx1"/>
                  </a:solidFill>
                </a:endParaRPr>
              </a:p>
            </p:txBody>
          </p:sp>
        </mc:Choice>
        <mc:Fallback xmlns="">
          <p:sp>
            <p:nvSpPr>
              <p:cNvPr id="6" name="TextBox 5">
                <a:extLst>
                  <a:ext uri="{FF2B5EF4-FFF2-40B4-BE49-F238E27FC236}">
                    <a16:creationId xmlns:a16="http://schemas.microsoft.com/office/drawing/2014/main" id="{49CC82EF-D783-66B9-6F10-219116A58050}"/>
                  </a:ext>
                </a:extLst>
              </p:cNvPr>
              <p:cNvSpPr txBox="1">
                <a:spLocks noRot="1" noChangeAspect="1" noMove="1" noResize="1" noEditPoints="1" noAdjustHandles="1" noChangeArrowheads="1" noChangeShapeType="1" noTextEdit="1"/>
              </p:cNvSpPr>
              <p:nvPr/>
            </p:nvSpPr>
            <p:spPr>
              <a:xfrm>
                <a:off x="3814774" y="2616713"/>
                <a:ext cx="731547" cy="64633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AA7684D-E6F0-A2B5-D81A-1825033DCB36}"/>
                  </a:ext>
                </a:extLst>
              </p:cNvPr>
              <p:cNvSpPr txBox="1"/>
              <p:nvPr/>
            </p:nvSpPr>
            <p:spPr>
              <a:xfrm>
                <a:off x="3487971" y="1485735"/>
                <a:ext cx="554062"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b="0" i="1" smtClean="0">
                          <a:solidFill>
                            <a:schemeClr val="tx1"/>
                          </a:solidFill>
                          <a:latin typeface="Cambria Math" panose="02040503050406030204" pitchFamily="18" charset="0"/>
                        </a:rPr>
                        <m:t>𝑣</m:t>
                      </m:r>
                    </m:oMath>
                  </m:oMathPara>
                </a14:m>
                <a:endParaRPr lang="en-US" sz="3600" dirty="0">
                  <a:solidFill>
                    <a:schemeClr val="tx1"/>
                  </a:solidFill>
                </a:endParaRPr>
              </a:p>
            </p:txBody>
          </p:sp>
        </mc:Choice>
        <mc:Fallback xmlns="">
          <p:sp>
            <p:nvSpPr>
              <p:cNvPr id="7" name="TextBox 6">
                <a:extLst>
                  <a:ext uri="{FF2B5EF4-FFF2-40B4-BE49-F238E27FC236}">
                    <a16:creationId xmlns:a16="http://schemas.microsoft.com/office/drawing/2014/main" id="{DAA7684D-E6F0-A2B5-D81A-1825033DCB36}"/>
                  </a:ext>
                </a:extLst>
              </p:cNvPr>
              <p:cNvSpPr txBox="1">
                <a:spLocks noRot="1" noChangeAspect="1" noMove="1" noResize="1" noEditPoints="1" noAdjustHandles="1" noChangeArrowheads="1" noChangeShapeType="1" noTextEdit="1"/>
              </p:cNvSpPr>
              <p:nvPr/>
            </p:nvSpPr>
            <p:spPr>
              <a:xfrm>
                <a:off x="3487971" y="1485735"/>
                <a:ext cx="554062" cy="646331"/>
              </a:xfrm>
              <a:prstGeom prst="rect">
                <a:avLst/>
              </a:prstGeom>
              <a:blipFill>
                <a:blip r:embed="rId8"/>
                <a:stretch>
                  <a:fillRect/>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07C844A1-93A2-2D33-53C9-F4CBEDE9E8D0}"/>
              </a:ext>
            </a:extLst>
          </p:cNvPr>
          <p:cNvCxnSpPr>
            <a:cxnSpLocks/>
          </p:cNvCxnSpPr>
          <p:nvPr/>
        </p:nvCxnSpPr>
        <p:spPr>
          <a:xfrm flipV="1">
            <a:off x="3259932" y="1492785"/>
            <a:ext cx="1264917" cy="1264907"/>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848A00A-6E7D-ED13-33C5-2D74121DD790}"/>
                  </a:ext>
                </a:extLst>
              </p:cNvPr>
              <p:cNvSpPr txBox="1"/>
              <p:nvPr/>
            </p:nvSpPr>
            <p:spPr>
              <a:xfrm>
                <a:off x="3368634" y="3274584"/>
                <a:ext cx="643831"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b="0" i="1" smtClean="0">
                          <a:solidFill>
                            <a:schemeClr val="tx1"/>
                          </a:solidFill>
                          <a:latin typeface="Cambria Math" panose="02040503050406030204" pitchFamily="18" charset="0"/>
                        </a:rPr>
                        <m:t>𝑤</m:t>
                      </m:r>
                    </m:oMath>
                  </m:oMathPara>
                </a14:m>
                <a:endParaRPr lang="en-US" sz="3600" dirty="0">
                  <a:solidFill>
                    <a:schemeClr val="tx1"/>
                  </a:solidFill>
                </a:endParaRPr>
              </a:p>
            </p:txBody>
          </p:sp>
        </mc:Choice>
        <mc:Fallback xmlns="">
          <p:sp>
            <p:nvSpPr>
              <p:cNvPr id="10" name="TextBox 9">
                <a:extLst>
                  <a:ext uri="{FF2B5EF4-FFF2-40B4-BE49-F238E27FC236}">
                    <a16:creationId xmlns:a16="http://schemas.microsoft.com/office/drawing/2014/main" id="{F848A00A-6E7D-ED13-33C5-2D74121DD790}"/>
                  </a:ext>
                </a:extLst>
              </p:cNvPr>
              <p:cNvSpPr txBox="1">
                <a:spLocks noRot="1" noChangeAspect="1" noMove="1" noResize="1" noEditPoints="1" noAdjustHandles="1" noChangeArrowheads="1" noChangeShapeType="1" noTextEdit="1"/>
              </p:cNvSpPr>
              <p:nvPr/>
            </p:nvSpPr>
            <p:spPr>
              <a:xfrm>
                <a:off x="3368634" y="3274584"/>
                <a:ext cx="643831" cy="646331"/>
              </a:xfrm>
              <a:prstGeom prst="rect">
                <a:avLst/>
              </a:prstGeom>
              <a:blipFill>
                <a:blip r:embed="rId9"/>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796D9337-A354-D425-E8F3-860A5FBE0C8A}"/>
              </a:ext>
            </a:extLst>
          </p:cNvPr>
          <p:cNvSpPr txBox="1"/>
          <p:nvPr/>
        </p:nvSpPr>
        <p:spPr>
          <a:xfrm>
            <a:off x="277926" y="4989993"/>
            <a:ext cx="8969571" cy="461665"/>
          </a:xfrm>
          <a:prstGeom prst="rect">
            <a:avLst/>
          </a:prstGeom>
          <a:noFill/>
        </p:spPr>
        <p:txBody>
          <a:bodyPr wrap="none" rtlCol="0">
            <a:spAutoFit/>
          </a:bodyPr>
          <a:lstStyle/>
          <a:p>
            <a:r>
              <a:rPr lang="en-US" sz="2400" dirty="0">
                <a:solidFill>
                  <a:schemeClr val="accent6">
                    <a:lumMod val="75000"/>
                  </a:schemeClr>
                </a:solidFill>
              </a:rPr>
              <a:t>Every vector can be expressed as a linear combination of other vectors</a:t>
            </a:r>
          </a:p>
        </p:txBody>
      </p:sp>
      <p:sp>
        <p:nvSpPr>
          <p:cNvPr id="16" name="TextBox 15">
            <a:extLst>
              <a:ext uri="{FF2B5EF4-FFF2-40B4-BE49-F238E27FC236}">
                <a16:creationId xmlns:a16="http://schemas.microsoft.com/office/drawing/2014/main" id="{33C032FD-1220-9D1B-3A2C-9BF3C635B6B8}"/>
              </a:ext>
            </a:extLst>
          </p:cNvPr>
          <p:cNvSpPr txBox="1"/>
          <p:nvPr/>
        </p:nvSpPr>
        <p:spPr>
          <a:xfrm>
            <a:off x="277926" y="5451658"/>
            <a:ext cx="8844344" cy="461665"/>
          </a:xfrm>
          <a:prstGeom prst="rect">
            <a:avLst/>
          </a:prstGeom>
          <a:noFill/>
        </p:spPr>
        <p:txBody>
          <a:bodyPr wrap="none" rtlCol="0">
            <a:spAutoFit/>
          </a:bodyPr>
          <a:lstStyle/>
          <a:p>
            <a:r>
              <a:rPr lang="en-US" sz="2400" dirty="0">
                <a:solidFill>
                  <a:schemeClr val="accent6">
                    <a:lumMod val="75000"/>
                  </a:schemeClr>
                </a:solidFill>
              </a:rPr>
              <a:t>We can always choose a basis that includes or excludes a given vector</a:t>
            </a:r>
          </a:p>
        </p:txBody>
      </p:sp>
      <p:cxnSp>
        <p:nvCxnSpPr>
          <p:cNvPr id="4" name="Straight Arrow Connector 3">
            <a:extLst>
              <a:ext uri="{FF2B5EF4-FFF2-40B4-BE49-F238E27FC236}">
                <a16:creationId xmlns:a16="http://schemas.microsoft.com/office/drawing/2014/main" id="{56C6AC50-02F5-D2C3-34DC-E1DEE841EFB5}"/>
              </a:ext>
            </a:extLst>
          </p:cNvPr>
          <p:cNvCxnSpPr>
            <a:cxnSpLocks/>
          </p:cNvCxnSpPr>
          <p:nvPr/>
        </p:nvCxnSpPr>
        <p:spPr>
          <a:xfrm>
            <a:off x="3259932" y="2772945"/>
            <a:ext cx="1264917" cy="1264907"/>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1830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5" grpId="0"/>
      <p:bldP spid="10" grpId="0"/>
      <p:bldP spid="12"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07EB9-AF64-9660-6789-0E2A53B3E904}"/>
            </a:ext>
          </a:extLst>
        </p:cNvPr>
        <p:cNvGrpSpPr/>
        <p:nvPr/>
      </p:nvGrpSpPr>
      <p:grpSpPr>
        <a:xfrm>
          <a:off x="0" y="0"/>
          <a:ext cx="0" cy="0"/>
          <a:chOff x="0" y="0"/>
          <a:chExt cx="0" cy="0"/>
        </a:xfrm>
      </p:grpSpPr>
      <p:grpSp>
        <p:nvGrpSpPr>
          <p:cNvPr id="64" name="Group 63">
            <a:extLst>
              <a:ext uri="{FF2B5EF4-FFF2-40B4-BE49-F238E27FC236}">
                <a16:creationId xmlns:a16="http://schemas.microsoft.com/office/drawing/2014/main" id="{38C023C7-07EA-0C34-8D54-11E3B9032C26}"/>
              </a:ext>
            </a:extLst>
          </p:cNvPr>
          <p:cNvGrpSpPr/>
          <p:nvPr/>
        </p:nvGrpSpPr>
        <p:grpSpPr>
          <a:xfrm>
            <a:off x="792903" y="755484"/>
            <a:ext cx="3578015" cy="3577707"/>
            <a:chOff x="2012103" y="948792"/>
            <a:chExt cx="3578015" cy="3577707"/>
          </a:xfrm>
        </p:grpSpPr>
        <p:cxnSp>
          <p:nvCxnSpPr>
            <p:cNvPr id="65" name="Straight Connector 64">
              <a:extLst>
                <a:ext uri="{FF2B5EF4-FFF2-40B4-BE49-F238E27FC236}">
                  <a16:creationId xmlns:a16="http://schemas.microsoft.com/office/drawing/2014/main" id="{BFAE536B-5DCA-6BEE-80A2-A4D07CA32CB8}"/>
                </a:ext>
              </a:extLst>
            </p:cNvPr>
            <p:cNvCxnSpPr>
              <a:cxnSpLocks/>
              <a:stCxn id="86" idx="0"/>
            </p:cNvCxnSpPr>
            <p:nvPr/>
          </p:nvCxnSpPr>
          <p:spPr>
            <a:xfrm>
              <a:off x="2012410" y="2741294"/>
              <a:ext cx="3577398" cy="3972"/>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BFE5A30-D0F7-CF13-5503-40B5B12722FA}"/>
                </a:ext>
              </a:extLst>
            </p:cNvPr>
            <p:cNvCxnSpPr>
              <a:cxnSpLocks/>
              <a:stCxn id="87" idx="0"/>
              <a:endCxn id="87" idx="4"/>
            </p:cNvCxnSpPr>
            <p:nvPr/>
          </p:nvCxnSpPr>
          <p:spPr>
            <a:xfrm>
              <a:off x="3800953" y="948792"/>
              <a:ext cx="0" cy="3577703"/>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666665E-D50B-02B4-7B2F-B15ADD84785F}"/>
                </a:ext>
              </a:extLst>
            </p:cNvPr>
            <p:cNvCxnSpPr>
              <a:cxnSpLocks/>
              <a:stCxn id="82" idx="3"/>
              <a:endCxn id="82" idx="7"/>
            </p:cNvCxnSpPr>
            <p:nvPr/>
          </p:nvCxnSpPr>
          <p:spPr>
            <a:xfrm flipV="1">
              <a:off x="2536046" y="1472734"/>
              <a:ext cx="2529821" cy="2529819"/>
            </a:xfrm>
            <a:prstGeom prst="line">
              <a:avLst/>
            </a:prstGeom>
            <a:ln/>
          </p:spPr>
          <p:style>
            <a:lnRef idx="1">
              <a:schemeClr val="accent1"/>
            </a:lnRef>
            <a:fillRef idx="0">
              <a:schemeClr val="accent1"/>
            </a:fillRef>
            <a:effectRef idx="0">
              <a:schemeClr val="accent1"/>
            </a:effectRef>
            <a:fontRef idx="minor">
              <a:schemeClr val="tx1"/>
            </a:fontRef>
          </p:style>
        </p:cxnSp>
        <p:grpSp>
          <p:nvGrpSpPr>
            <p:cNvPr id="71" name="Group 70">
              <a:extLst>
                <a:ext uri="{FF2B5EF4-FFF2-40B4-BE49-F238E27FC236}">
                  <a16:creationId xmlns:a16="http://schemas.microsoft.com/office/drawing/2014/main" id="{511C965B-BDFF-967C-72DB-02C2575E409E}"/>
                </a:ext>
              </a:extLst>
            </p:cNvPr>
            <p:cNvGrpSpPr/>
            <p:nvPr/>
          </p:nvGrpSpPr>
          <p:grpSpPr>
            <a:xfrm>
              <a:off x="2012103" y="948792"/>
              <a:ext cx="3578015" cy="3577707"/>
              <a:chOff x="934943" y="1636949"/>
              <a:chExt cx="2674503" cy="2674273"/>
            </a:xfrm>
          </p:grpSpPr>
          <p:grpSp>
            <p:nvGrpSpPr>
              <p:cNvPr id="72" name="Group 71">
                <a:extLst>
                  <a:ext uri="{FF2B5EF4-FFF2-40B4-BE49-F238E27FC236}">
                    <a16:creationId xmlns:a16="http://schemas.microsoft.com/office/drawing/2014/main" id="{A8A7080E-01C2-EFC3-EE72-982060EA03FB}"/>
                  </a:ext>
                </a:extLst>
              </p:cNvPr>
              <p:cNvGrpSpPr/>
              <p:nvPr/>
            </p:nvGrpSpPr>
            <p:grpSpPr>
              <a:xfrm>
                <a:off x="934943" y="1636949"/>
                <a:ext cx="2674503" cy="2674273"/>
                <a:chOff x="2521889" y="2808131"/>
                <a:chExt cx="1916430" cy="1916266"/>
              </a:xfrm>
            </p:grpSpPr>
            <p:sp>
              <p:nvSpPr>
                <p:cNvPr id="80" name="Oval 79">
                  <a:extLst>
                    <a:ext uri="{FF2B5EF4-FFF2-40B4-BE49-F238E27FC236}">
                      <a16:creationId xmlns:a16="http://schemas.microsoft.com/office/drawing/2014/main" id="{13342A91-4631-2B17-74E6-C387A3D91CB0}"/>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1" name="Oval 31">
                  <a:extLst>
                    <a:ext uri="{FF2B5EF4-FFF2-40B4-BE49-F238E27FC236}">
                      <a16:creationId xmlns:a16="http://schemas.microsoft.com/office/drawing/2014/main" id="{5B93586F-BECA-AC51-623D-ECD26590271B}"/>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25869636-3D44-17F4-1E25-F026D710A5B9}"/>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83" name="Group 82">
                  <a:extLst>
                    <a:ext uri="{FF2B5EF4-FFF2-40B4-BE49-F238E27FC236}">
                      <a16:creationId xmlns:a16="http://schemas.microsoft.com/office/drawing/2014/main" id="{B2F9FB04-446A-23F6-4399-2BE89B4AC447}"/>
                    </a:ext>
                  </a:extLst>
                </p:cNvPr>
                <p:cNvGrpSpPr/>
                <p:nvPr/>
              </p:nvGrpSpPr>
              <p:grpSpPr>
                <a:xfrm>
                  <a:off x="2923755" y="2808131"/>
                  <a:ext cx="1112528" cy="1916266"/>
                  <a:chOff x="2734489" y="2655731"/>
                  <a:chExt cx="1186260" cy="1916266"/>
                </a:xfrm>
              </p:grpSpPr>
              <p:sp>
                <p:nvSpPr>
                  <p:cNvPr id="87" name="Oval 86">
                    <a:extLst>
                      <a:ext uri="{FF2B5EF4-FFF2-40B4-BE49-F238E27FC236}">
                        <a16:creationId xmlns:a16="http://schemas.microsoft.com/office/drawing/2014/main" id="{0C67A132-8E3F-E28C-A057-E8E9C5BE8B48}"/>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88" name="Oval 9">
                    <a:extLst>
                      <a:ext uri="{FF2B5EF4-FFF2-40B4-BE49-F238E27FC236}">
                        <a16:creationId xmlns:a16="http://schemas.microsoft.com/office/drawing/2014/main" id="{D7BE677D-BE3B-A56E-025C-B4B88FA64C46}"/>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84" name="Group 83">
                  <a:extLst>
                    <a:ext uri="{FF2B5EF4-FFF2-40B4-BE49-F238E27FC236}">
                      <a16:creationId xmlns:a16="http://schemas.microsoft.com/office/drawing/2014/main" id="{78ED5AF9-36E8-3B7B-C993-010718588A05}"/>
                    </a:ext>
                  </a:extLst>
                </p:cNvPr>
                <p:cNvGrpSpPr/>
                <p:nvPr/>
              </p:nvGrpSpPr>
              <p:grpSpPr>
                <a:xfrm rot="16200000">
                  <a:off x="2923922" y="2810085"/>
                  <a:ext cx="1112528" cy="1916266"/>
                  <a:chOff x="2734489" y="2655731"/>
                  <a:chExt cx="1186260" cy="1916266"/>
                </a:xfrm>
              </p:grpSpPr>
              <p:sp>
                <p:nvSpPr>
                  <p:cNvPr id="85" name="Oval 84">
                    <a:extLst>
                      <a:ext uri="{FF2B5EF4-FFF2-40B4-BE49-F238E27FC236}">
                        <a16:creationId xmlns:a16="http://schemas.microsoft.com/office/drawing/2014/main" id="{F4D22D7A-8344-733D-264C-74F84149774F}"/>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86" name="Oval 9">
                    <a:extLst>
                      <a:ext uri="{FF2B5EF4-FFF2-40B4-BE49-F238E27FC236}">
                        <a16:creationId xmlns:a16="http://schemas.microsoft.com/office/drawing/2014/main" id="{20BA46DD-D8C6-96A5-28E2-0F5166D44BC2}"/>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cxnSp>
            <p:nvCxnSpPr>
              <p:cNvPr id="73" name="Straight Connector 72">
                <a:extLst>
                  <a:ext uri="{FF2B5EF4-FFF2-40B4-BE49-F238E27FC236}">
                    <a16:creationId xmlns:a16="http://schemas.microsoft.com/office/drawing/2014/main" id="{B726B142-81F0-48CA-AD49-72D47397A91F}"/>
                  </a:ext>
                </a:extLst>
              </p:cNvPr>
              <p:cNvCxnSpPr/>
              <p:nvPr/>
            </p:nvCxnSpPr>
            <p:spPr>
              <a:xfrm>
                <a:off x="2271845" y="2974084"/>
                <a:ext cx="999675" cy="525009"/>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F5545E4B-7A08-53C2-6348-A7BC597B8EC9}"/>
                  </a:ext>
                </a:extLst>
              </p:cNvPr>
              <p:cNvCxnSpPr>
                <a:cxnSpLocks/>
              </p:cNvCxnSpPr>
              <p:nvPr/>
            </p:nvCxnSpPr>
            <p:spPr>
              <a:xfrm>
                <a:off x="3113096" y="2200506"/>
                <a:ext cx="0" cy="1214853"/>
              </a:xfrm>
              <a:prstGeom prst="line">
                <a:avLst/>
              </a:prstGeom>
            </p:spPr>
            <p:style>
              <a:lnRef idx="1">
                <a:schemeClr val="accent1"/>
              </a:lnRef>
              <a:fillRef idx="0">
                <a:schemeClr val="accent1"/>
              </a:fillRef>
              <a:effectRef idx="0">
                <a:schemeClr val="accent1"/>
              </a:effectRef>
              <a:fontRef idx="minor">
                <a:schemeClr val="tx1"/>
              </a:fontRef>
            </p:style>
          </p:cxnSp>
          <p:sp>
            <p:nvSpPr>
              <p:cNvPr id="75" name="Arc 74">
                <a:extLst>
                  <a:ext uri="{FF2B5EF4-FFF2-40B4-BE49-F238E27FC236}">
                    <a16:creationId xmlns:a16="http://schemas.microsoft.com/office/drawing/2014/main" id="{1DBF51A0-7164-B1AC-9A0B-28F757D47388}"/>
                  </a:ext>
                </a:extLst>
              </p:cNvPr>
              <p:cNvSpPr/>
              <p:nvPr/>
            </p:nvSpPr>
            <p:spPr>
              <a:xfrm>
                <a:off x="2014778" y="2642873"/>
                <a:ext cx="521176" cy="413772"/>
              </a:xfrm>
              <a:prstGeom prst="arc">
                <a:avLst>
                  <a:gd name="adj1" fmla="val 16200000"/>
                  <a:gd name="adj2" fmla="val 2046445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6" name="Straight Arrow Connector 75">
                <a:extLst>
                  <a:ext uri="{FF2B5EF4-FFF2-40B4-BE49-F238E27FC236}">
                    <a16:creationId xmlns:a16="http://schemas.microsoft.com/office/drawing/2014/main" id="{469DD538-68EE-AD14-C282-14BC437851CB}"/>
                  </a:ext>
                </a:extLst>
              </p:cNvPr>
              <p:cNvCxnSpPr>
                <a:cxnSpLocks/>
              </p:cNvCxnSpPr>
              <p:nvPr/>
            </p:nvCxnSpPr>
            <p:spPr>
              <a:xfrm flipV="1">
                <a:off x="2272076" y="2200506"/>
                <a:ext cx="839906" cy="77357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80CA2AD6-7A3D-6D0E-12A1-D9F57B73493F}"/>
                      </a:ext>
                    </a:extLst>
                  </p:cNvPr>
                  <p:cNvSpPr txBox="1"/>
                  <p:nvPr/>
                </p:nvSpPr>
                <p:spPr>
                  <a:xfrm>
                    <a:off x="2286085" y="2329788"/>
                    <a:ext cx="37414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oMath>
                      </m:oMathPara>
                    </a14:m>
                    <a:endParaRPr lang="en-US" dirty="0"/>
                  </a:p>
                </p:txBody>
              </p:sp>
            </mc:Choice>
            <mc:Fallback xmlns="">
              <p:sp>
                <p:nvSpPr>
                  <p:cNvPr id="37" name="TextBox 36">
                    <a:extLst>
                      <a:ext uri="{FF2B5EF4-FFF2-40B4-BE49-F238E27FC236}">
                        <a16:creationId xmlns:a16="http://schemas.microsoft.com/office/drawing/2014/main" id="{4923AE05-E995-F3EB-37BA-056D5E0F6A35}"/>
                      </a:ext>
                    </a:extLst>
                  </p:cNvPr>
                  <p:cNvSpPr txBox="1">
                    <a:spLocks noRot="1" noChangeAspect="1" noMove="1" noResize="1" noEditPoints="1" noAdjustHandles="1" noChangeArrowheads="1" noChangeShapeType="1" noTextEdit="1"/>
                  </p:cNvSpPr>
                  <p:nvPr/>
                </p:nvSpPr>
                <p:spPr>
                  <a:xfrm>
                    <a:off x="2286085" y="2329788"/>
                    <a:ext cx="374141" cy="369332"/>
                  </a:xfrm>
                  <a:prstGeom prst="rect">
                    <a:avLst/>
                  </a:prstGeom>
                  <a:blipFill>
                    <a:blip r:embed="rId2"/>
                    <a:stretch>
                      <a:fillRect/>
                    </a:stretch>
                  </a:blipFill>
                </p:spPr>
                <p:txBody>
                  <a:bodyPr/>
                  <a:lstStyle/>
                  <a:p>
                    <a:r>
                      <a:rPr lang="en-US">
                        <a:noFill/>
                      </a:rPr>
                      <a:t> </a:t>
                    </a:r>
                  </a:p>
                </p:txBody>
              </p:sp>
            </mc:Fallback>
          </mc:AlternateContent>
          <p:sp>
            <p:nvSpPr>
              <p:cNvPr id="78" name="Arc 77">
                <a:extLst>
                  <a:ext uri="{FF2B5EF4-FFF2-40B4-BE49-F238E27FC236}">
                    <a16:creationId xmlns:a16="http://schemas.microsoft.com/office/drawing/2014/main" id="{FEE6246F-4557-C694-4226-ECD0310FA3A6}"/>
                  </a:ext>
                </a:extLst>
              </p:cNvPr>
              <p:cNvSpPr/>
              <p:nvPr/>
            </p:nvSpPr>
            <p:spPr>
              <a:xfrm>
                <a:off x="1840894" y="2723583"/>
                <a:ext cx="861908" cy="500546"/>
              </a:xfrm>
              <a:prstGeom prst="arc">
                <a:avLst>
                  <a:gd name="adj1" fmla="val 75082"/>
                  <a:gd name="adj2" fmla="val 159574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AF84C01C-67D2-1771-F64F-30C37175AAAB}"/>
                      </a:ext>
                    </a:extLst>
                  </p:cNvPr>
                  <p:cNvSpPr txBox="1"/>
                  <p:nvPr/>
                </p:nvSpPr>
                <p:spPr>
                  <a:xfrm>
                    <a:off x="2613151" y="2879260"/>
                    <a:ext cx="3995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𝜑</m:t>
                          </m:r>
                        </m:oMath>
                      </m:oMathPara>
                    </a14:m>
                    <a:endParaRPr lang="en-US" dirty="0"/>
                  </a:p>
                </p:txBody>
              </p:sp>
            </mc:Choice>
            <mc:Fallback xmlns="">
              <p:sp>
                <p:nvSpPr>
                  <p:cNvPr id="40" name="TextBox 39">
                    <a:extLst>
                      <a:ext uri="{FF2B5EF4-FFF2-40B4-BE49-F238E27FC236}">
                        <a16:creationId xmlns:a16="http://schemas.microsoft.com/office/drawing/2014/main" id="{90AFA723-236E-926F-51C8-FFE12408AB16}"/>
                      </a:ext>
                    </a:extLst>
                  </p:cNvPr>
                  <p:cNvSpPr txBox="1">
                    <a:spLocks noRot="1" noChangeAspect="1" noMove="1" noResize="1" noEditPoints="1" noAdjustHandles="1" noChangeArrowheads="1" noChangeShapeType="1" noTextEdit="1"/>
                  </p:cNvSpPr>
                  <p:nvPr/>
                </p:nvSpPr>
                <p:spPr>
                  <a:xfrm>
                    <a:off x="2613151" y="2879260"/>
                    <a:ext cx="399597" cy="369332"/>
                  </a:xfrm>
                  <a:prstGeom prst="rect">
                    <a:avLst/>
                  </a:prstGeom>
                  <a:blipFill>
                    <a:blip r:embed="rId3"/>
                    <a:stretch>
                      <a:fillRect/>
                    </a:stretch>
                  </a:blipFill>
                </p:spPr>
                <p:txBody>
                  <a:bodyPr/>
                  <a:lstStyle/>
                  <a:p>
                    <a:r>
                      <a:rPr lang="en-US">
                        <a:noFill/>
                      </a:rPr>
                      <a:t> </a:t>
                    </a:r>
                  </a:p>
                </p:txBody>
              </p:sp>
            </mc:Fallback>
          </mc:AlternateContent>
        </p:grpSp>
      </p:grpSp>
      <p:sp>
        <p:nvSpPr>
          <p:cNvPr id="9" name="TextBox 8">
            <a:extLst>
              <a:ext uri="{FF2B5EF4-FFF2-40B4-BE49-F238E27FC236}">
                <a16:creationId xmlns:a16="http://schemas.microsoft.com/office/drawing/2014/main" id="{10CDC166-E49C-1911-6DED-82BAFDB2AB71}"/>
              </a:ext>
            </a:extLst>
          </p:cNvPr>
          <p:cNvSpPr txBox="1"/>
          <p:nvPr/>
        </p:nvSpPr>
        <p:spPr>
          <a:xfrm>
            <a:off x="4791916" y="161815"/>
            <a:ext cx="7082901" cy="646331"/>
          </a:xfrm>
          <a:prstGeom prst="rect">
            <a:avLst/>
          </a:prstGeom>
          <a:noFill/>
        </p:spPr>
        <p:txBody>
          <a:bodyPr wrap="none" rtlCol="0">
            <a:spAutoFit/>
          </a:bodyPr>
          <a:lstStyle/>
          <a:p>
            <a:r>
              <a:rPr lang="en-US" sz="3600" dirty="0"/>
              <a:t>Same thing in quantum mechanics!!!</a:t>
            </a:r>
          </a:p>
        </p:txBody>
      </p:sp>
      <p:sp>
        <p:nvSpPr>
          <p:cNvPr id="10" name="TextBox 9">
            <a:extLst>
              <a:ext uri="{FF2B5EF4-FFF2-40B4-BE49-F238E27FC236}">
                <a16:creationId xmlns:a16="http://schemas.microsoft.com/office/drawing/2014/main" id="{09A62D64-ABE5-D9AE-1F6A-814DC1290667}"/>
              </a:ext>
            </a:extLst>
          </p:cNvPr>
          <p:cNvSpPr txBox="1"/>
          <p:nvPr/>
        </p:nvSpPr>
        <p:spPr>
          <a:xfrm>
            <a:off x="5120900" y="869022"/>
            <a:ext cx="2883097" cy="461665"/>
          </a:xfrm>
          <a:prstGeom prst="rect">
            <a:avLst/>
          </a:prstGeom>
          <a:noFill/>
        </p:spPr>
        <p:txBody>
          <a:bodyPr wrap="none" rtlCol="0">
            <a:spAutoFit/>
          </a:bodyPr>
          <a:lstStyle/>
          <a:p>
            <a:r>
              <a:rPr lang="en-US" sz="2400" dirty="0"/>
              <a:t>Every state is a vector</a:t>
            </a:r>
          </a:p>
        </p:txBody>
      </p:sp>
      <p:sp>
        <p:nvSpPr>
          <p:cNvPr id="11" name="TextBox 10">
            <a:extLst>
              <a:ext uri="{FF2B5EF4-FFF2-40B4-BE49-F238E27FC236}">
                <a16:creationId xmlns:a16="http://schemas.microsoft.com/office/drawing/2014/main" id="{B5886C87-37D5-4AF1-E8C8-92B42C6877CB}"/>
              </a:ext>
            </a:extLst>
          </p:cNvPr>
          <p:cNvSpPr txBox="1"/>
          <p:nvPr/>
        </p:nvSpPr>
        <p:spPr>
          <a:xfrm>
            <a:off x="5120900" y="1284107"/>
            <a:ext cx="6943824" cy="830997"/>
          </a:xfrm>
          <a:prstGeom prst="rect">
            <a:avLst/>
          </a:prstGeom>
          <a:noFill/>
        </p:spPr>
        <p:txBody>
          <a:bodyPr wrap="none" rtlCol="0">
            <a:spAutoFit/>
          </a:bodyPr>
          <a:lstStyle/>
          <a:p>
            <a:r>
              <a:rPr lang="en-US" sz="2400" dirty="0"/>
              <a:t>For spin ½ system, or any qubit (i.e. two-state system),</a:t>
            </a:r>
            <a:br>
              <a:rPr lang="en-US" sz="2400" dirty="0"/>
            </a:br>
            <a:r>
              <a:rPr lang="en-US" sz="2400" dirty="0"/>
              <a:t>the state is identified by a direction in 3 dimensions</a:t>
            </a:r>
          </a:p>
        </p:txBody>
      </p:sp>
      <p:sp>
        <p:nvSpPr>
          <p:cNvPr id="12" name="TextBox 11">
            <a:extLst>
              <a:ext uri="{FF2B5EF4-FFF2-40B4-BE49-F238E27FC236}">
                <a16:creationId xmlns:a16="http://schemas.microsoft.com/office/drawing/2014/main" id="{D2DC7D35-CE38-1D63-C9AF-04E65E2EDE77}"/>
              </a:ext>
            </a:extLst>
          </p:cNvPr>
          <p:cNvSpPr txBox="1"/>
          <p:nvPr/>
        </p:nvSpPr>
        <p:spPr>
          <a:xfrm>
            <a:off x="5120900" y="2707373"/>
            <a:ext cx="6879447" cy="830997"/>
          </a:xfrm>
          <a:prstGeom prst="rect">
            <a:avLst/>
          </a:prstGeom>
          <a:noFill/>
        </p:spPr>
        <p:txBody>
          <a:bodyPr wrap="none" rtlCol="0">
            <a:spAutoFit/>
          </a:bodyPr>
          <a:lstStyle/>
          <a:p>
            <a:r>
              <a:rPr lang="en-US" sz="2400" dirty="0"/>
              <a:t>A superposition (i.e. linear combination) of two states</a:t>
            </a:r>
            <a:br>
              <a:rPr lang="en-US" sz="2400" dirty="0"/>
            </a:br>
            <a:r>
              <a:rPr lang="en-US" sz="2400" dirty="0"/>
              <a:t>just gives another state</a:t>
            </a:r>
          </a:p>
        </p:txBody>
      </p:sp>
      <p:sp>
        <p:nvSpPr>
          <p:cNvPr id="13" name="TextBox 12">
            <a:extLst>
              <a:ext uri="{FF2B5EF4-FFF2-40B4-BE49-F238E27FC236}">
                <a16:creationId xmlns:a16="http://schemas.microsoft.com/office/drawing/2014/main" id="{5C29B57D-7C29-A3C7-1537-9655E7DDE642}"/>
              </a:ext>
            </a:extLst>
          </p:cNvPr>
          <p:cNvSpPr txBox="1"/>
          <p:nvPr/>
        </p:nvSpPr>
        <p:spPr>
          <a:xfrm>
            <a:off x="5498324" y="2155868"/>
            <a:ext cx="6165855" cy="523220"/>
          </a:xfrm>
          <a:prstGeom prst="rect">
            <a:avLst/>
          </a:prstGeom>
          <a:noFill/>
        </p:spPr>
        <p:txBody>
          <a:bodyPr wrap="none" rtlCol="0">
            <a:spAutoFit/>
          </a:bodyPr>
          <a:lstStyle/>
          <a:p>
            <a:r>
              <a:rPr lang="en-US" sz="2800" dirty="0">
                <a:solidFill>
                  <a:srgbClr val="C00000"/>
                </a:solidFill>
              </a:rPr>
              <a:t>The system can’t be in two states at once</a:t>
            </a:r>
          </a:p>
        </p:txBody>
      </p:sp>
      <p:sp>
        <p:nvSpPr>
          <p:cNvPr id="14" name="TextBox 13">
            <a:extLst>
              <a:ext uri="{FF2B5EF4-FFF2-40B4-BE49-F238E27FC236}">
                <a16:creationId xmlns:a16="http://schemas.microsoft.com/office/drawing/2014/main" id="{307271DC-0EC5-CCDA-68B2-2A1C2616980F}"/>
              </a:ext>
            </a:extLst>
          </p:cNvPr>
          <p:cNvSpPr txBox="1"/>
          <p:nvPr/>
        </p:nvSpPr>
        <p:spPr>
          <a:xfrm>
            <a:off x="5916278" y="3607419"/>
            <a:ext cx="5353068" cy="523220"/>
          </a:xfrm>
          <a:prstGeom prst="rect">
            <a:avLst/>
          </a:prstGeom>
          <a:noFill/>
        </p:spPr>
        <p:txBody>
          <a:bodyPr wrap="none" rtlCol="0">
            <a:spAutoFit/>
          </a:bodyPr>
          <a:lstStyle/>
          <a:p>
            <a:r>
              <a:rPr lang="en-US" sz="2800" dirty="0">
                <a:solidFill>
                  <a:srgbClr val="C00000"/>
                </a:solidFill>
              </a:rPr>
              <a:t>There are no “superposition states”</a:t>
            </a:r>
          </a:p>
        </p:txBody>
      </p:sp>
      <p:sp>
        <p:nvSpPr>
          <p:cNvPr id="15" name="TextBox 14">
            <a:extLst>
              <a:ext uri="{FF2B5EF4-FFF2-40B4-BE49-F238E27FC236}">
                <a16:creationId xmlns:a16="http://schemas.microsoft.com/office/drawing/2014/main" id="{41DB3364-47B9-7832-6604-B72EE67BE3BF}"/>
              </a:ext>
            </a:extLst>
          </p:cNvPr>
          <p:cNvSpPr txBox="1"/>
          <p:nvPr/>
        </p:nvSpPr>
        <p:spPr>
          <a:xfrm>
            <a:off x="5120900" y="4199688"/>
            <a:ext cx="3765903" cy="1200329"/>
          </a:xfrm>
          <a:prstGeom prst="rect">
            <a:avLst/>
          </a:prstGeom>
          <a:noFill/>
        </p:spPr>
        <p:txBody>
          <a:bodyPr wrap="none" rtlCol="0">
            <a:spAutoFit/>
          </a:bodyPr>
          <a:lstStyle/>
          <a:p>
            <a:r>
              <a:rPr lang="en-US" sz="2400" dirty="0"/>
              <a:t>Every state can be expressed</a:t>
            </a:r>
            <a:br>
              <a:rPr lang="en-US" sz="2400" dirty="0"/>
            </a:br>
            <a:r>
              <a:rPr lang="en-US" sz="2400" dirty="0"/>
              <a:t>as a linear combination</a:t>
            </a:r>
            <a:br>
              <a:rPr lang="en-US" sz="2400" dirty="0"/>
            </a:br>
            <a:r>
              <a:rPr lang="en-US" sz="2400" dirty="0"/>
              <a:t>of other states</a:t>
            </a:r>
          </a:p>
        </p:txBody>
      </p:sp>
      <p:sp>
        <p:nvSpPr>
          <p:cNvPr id="16" name="TextBox 15">
            <a:extLst>
              <a:ext uri="{FF2B5EF4-FFF2-40B4-BE49-F238E27FC236}">
                <a16:creationId xmlns:a16="http://schemas.microsoft.com/office/drawing/2014/main" id="{5452E751-40F4-DBFA-D018-BC0CC1DB3773}"/>
              </a:ext>
            </a:extLst>
          </p:cNvPr>
          <p:cNvSpPr txBox="1"/>
          <p:nvPr/>
        </p:nvSpPr>
        <p:spPr>
          <a:xfrm>
            <a:off x="952579" y="5707392"/>
            <a:ext cx="6051272" cy="707886"/>
          </a:xfrm>
          <a:prstGeom prst="rect">
            <a:avLst/>
          </a:prstGeom>
          <a:noFill/>
        </p:spPr>
        <p:txBody>
          <a:bodyPr wrap="none" rtlCol="0">
            <a:spAutoFit/>
          </a:bodyPr>
          <a:lstStyle/>
          <a:p>
            <a:r>
              <a:rPr lang="en-US" sz="4000" dirty="0">
                <a:solidFill>
                  <a:schemeClr val="accent6">
                    <a:lumMod val="75000"/>
                  </a:schemeClr>
                </a:solidFill>
              </a:rPr>
              <a:t>But the linearity is different!</a:t>
            </a:r>
          </a:p>
        </p:txBody>
      </p:sp>
      <p:sp>
        <p:nvSpPr>
          <p:cNvPr id="2" name="TextBox 1">
            <a:extLst>
              <a:ext uri="{FF2B5EF4-FFF2-40B4-BE49-F238E27FC236}">
                <a16:creationId xmlns:a16="http://schemas.microsoft.com/office/drawing/2014/main" id="{8C9D93CC-4FBC-6F39-3F86-87EFE3B2AE24}"/>
              </a:ext>
            </a:extLst>
          </p:cNvPr>
          <p:cNvSpPr txBox="1"/>
          <p:nvPr/>
        </p:nvSpPr>
        <p:spPr>
          <a:xfrm>
            <a:off x="7938575" y="971649"/>
            <a:ext cx="1285352" cy="307777"/>
          </a:xfrm>
          <a:prstGeom prst="rect">
            <a:avLst/>
          </a:prstGeom>
          <a:noFill/>
        </p:spPr>
        <p:txBody>
          <a:bodyPr wrap="none" rtlCol="0">
            <a:spAutoFit/>
          </a:bodyPr>
          <a:lstStyle/>
          <a:p>
            <a:r>
              <a:rPr lang="en-US" sz="1400" dirty="0"/>
              <a:t>(actually, a ray)</a:t>
            </a:r>
          </a:p>
        </p:txBody>
      </p:sp>
    </p:spTree>
    <p:extLst>
      <p:ext uri="{BB962C8B-B14F-4D97-AF65-F5344CB8AC3E}">
        <p14:creationId xmlns:p14="http://schemas.microsoft.com/office/powerpoint/2010/main" val="595257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257A9-B668-2D15-8877-9C84A663086E}"/>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E12AF02F-381C-950A-FBAF-E6103FA9D976}"/>
              </a:ext>
            </a:extLst>
          </p:cNvPr>
          <p:cNvSpPr txBox="1"/>
          <p:nvPr/>
        </p:nvSpPr>
        <p:spPr>
          <a:xfrm>
            <a:off x="5816600" y="462422"/>
            <a:ext cx="4594143" cy="369332"/>
          </a:xfrm>
          <a:prstGeom prst="rect">
            <a:avLst/>
          </a:prstGeom>
          <a:noFill/>
        </p:spPr>
        <p:txBody>
          <a:bodyPr wrap="none" rtlCol="0">
            <a:spAutoFit/>
          </a:bodyPr>
          <a:lstStyle/>
          <a:p>
            <a:r>
              <a:rPr lang="en-US" dirty="0"/>
              <a:t>With directions, the linearity is about distances</a:t>
            </a:r>
          </a:p>
        </p:txBody>
      </p:sp>
      <p:grpSp>
        <p:nvGrpSpPr>
          <p:cNvPr id="22" name="Group 21">
            <a:extLst>
              <a:ext uri="{FF2B5EF4-FFF2-40B4-BE49-F238E27FC236}">
                <a16:creationId xmlns:a16="http://schemas.microsoft.com/office/drawing/2014/main" id="{308CF361-7EF5-FCD1-6570-FFEAB4D2C81C}"/>
              </a:ext>
            </a:extLst>
          </p:cNvPr>
          <p:cNvGrpSpPr/>
          <p:nvPr/>
        </p:nvGrpSpPr>
        <p:grpSpPr>
          <a:xfrm>
            <a:off x="6958291" y="1055438"/>
            <a:ext cx="2880276" cy="1069800"/>
            <a:chOff x="7885176" y="1232160"/>
            <a:chExt cx="2880276" cy="1069800"/>
          </a:xfrm>
        </p:grpSpPr>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960C5410-B3EA-D0AF-A80D-A858D71ED144}"/>
                    </a:ext>
                  </a:extLst>
                </p:cNvPr>
                <p:cNvSpPr txBox="1"/>
                <p:nvPr/>
              </p:nvSpPr>
              <p:spPr>
                <a:xfrm>
                  <a:off x="7919897" y="1232160"/>
                  <a:ext cx="2810834"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4000" b="0" i="1" smtClean="0">
                                <a:solidFill>
                                  <a:schemeClr val="tx1"/>
                                </a:solidFill>
                                <a:latin typeface="Cambria Math" panose="02040503050406030204" pitchFamily="18" charset="0"/>
                              </a:rPr>
                            </m:ctrlPr>
                          </m:dPr>
                          <m:e>
                            <m:sSup>
                              <m:sSupPr>
                                <m:ctrlPr>
                                  <a:rPr lang="en-US" sz="4000" b="0" i="1" smtClean="0">
                                    <a:solidFill>
                                      <a:schemeClr val="tx1"/>
                                    </a:solidFill>
                                    <a:latin typeface="Cambria Math" panose="02040503050406030204" pitchFamily="18" charset="0"/>
                                  </a:rPr>
                                </m:ctrlPr>
                              </m:sSupPr>
                              <m:e>
                                <m:r>
                                  <a:rPr lang="en-US" sz="4000" b="0" i="1" smtClean="0">
                                    <a:solidFill>
                                      <a:schemeClr val="tx1"/>
                                    </a:solidFill>
                                    <a:latin typeface="Cambria Math" panose="02040503050406030204" pitchFamily="18" charset="0"/>
                                  </a:rPr>
                                  <m:t>𝑣</m:t>
                                </m:r>
                              </m:e>
                              <m:sup>
                                <m:r>
                                  <a:rPr lang="en-US" sz="4000" b="0" i="1" smtClean="0">
                                    <a:solidFill>
                                      <a:schemeClr val="tx1"/>
                                    </a:solidFill>
                                    <a:latin typeface="Cambria Math" panose="02040503050406030204" pitchFamily="18" charset="0"/>
                                  </a:rPr>
                                  <m:t>𝑥</m:t>
                                </m:r>
                              </m:sup>
                            </m:sSup>
                            <m:r>
                              <a:rPr lang="en-US" sz="4000" b="0" i="1" smtClean="0">
                                <a:solidFill>
                                  <a:schemeClr val="tx1"/>
                                </a:solidFill>
                                <a:latin typeface="Cambria Math" panose="02040503050406030204" pitchFamily="18" charset="0"/>
                              </a:rPr>
                              <m:t>,</m:t>
                            </m:r>
                            <m:sSup>
                              <m:sSupPr>
                                <m:ctrlPr>
                                  <a:rPr lang="en-US" sz="4000" b="0" i="1" smtClean="0">
                                    <a:solidFill>
                                      <a:schemeClr val="tx1"/>
                                    </a:solidFill>
                                    <a:latin typeface="Cambria Math" panose="02040503050406030204" pitchFamily="18" charset="0"/>
                                  </a:rPr>
                                </m:ctrlPr>
                              </m:sSupPr>
                              <m:e>
                                <m:r>
                                  <a:rPr lang="en-US" sz="4000" b="0" i="1" smtClean="0">
                                    <a:solidFill>
                                      <a:schemeClr val="tx1"/>
                                    </a:solidFill>
                                    <a:latin typeface="Cambria Math" panose="02040503050406030204" pitchFamily="18" charset="0"/>
                                  </a:rPr>
                                  <m:t>𝑣</m:t>
                                </m:r>
                              </m:e>
                              <m:sup>
                                <m:r>
                                  <a:rPr lang="en-US" sz="4000" b="0" i="1" smtClean="0">
                                    <a:solidFill>
                                      <a:schemeClr val="tx1"/>
                                    </a:solidFill>
                                    <a:latin typeface="Cambria Math" panose="02040503050406030204" pitchFamily="18" charset="0"/>
                                  </a:rPr>
                                  <m:t>𝑦</m:t>
                                </m:r>
                              </m:sup>
                            </m:sSup>
                            <m:r>
                              <a:rPr lang="en-US" sz="4000" b="0" i="1" smtClean="0">
                                <a:solidFill>
                                  <a:schemeClr val="tx1"/>
                                </a:solidFill>
                                <a:latin typeface="Cambria Math" panose="02040503050406030204" pitchFamily="18" charset="0"/>
                              </a:rPr>
                              <m:t>,</m:t>
                            </m:r>
                            <m:sSup>
                              <m:sSupPr>
                                <m:ctrlPr>
                                  <a:rPr lang="en-US" sz="4000" b="0" i="1" smtClean="0">
                                    <a:solidFill>
                                      <a:schemeClr val="tx1"/>
                                    </a:solidFill>
                                    <a:latin typeface="Cambria Math" panose="02040503050406030204" pitchFamily="18" charset="0"/>
                                  </a:rPr>
                                </m:ctrlPr>
                              </m:sSupPr>
                              <m:e>
                                <m:r>
                                  <a:rPr lang="en-US" sz="4000" b="0" i="1" smtClean="0">
                                    <a:solidFill>
                                      <a:schemeClr val="tx1"/>
                                    </a:solidFill>
                                    <a:latin typeface="Cambria Math" panose="02040503050406030204" pitchFamily="18" charset="0"/>
                                  </a:rPr>
                                  <m:t>𝑣</m:t>
                                </m:r>
                              </m:e>
                              <m:sup>
                                <m:r>
                                  <a:rPr lang="en-US" sz="4000" b="0" i="1" smtClean="0">
                                    <a:solidFill>
                                      <a:schemeClr val="tx1"/>
                                    </a:solidFill>
                                    <a:latin typeface="Cambria Math" panose="02040503050406030204" pitchFamily="18" charset="0"/>
                                  </a:rPr>
                                  <m:t>𝑧</m:t>
                                </m:r>
                              </m:sup>
                            </m:sSup>
                          </m:e>
                        </m:d>
                      </m:oMath>
                    </m:oMathPara>
                  </a14:m>
                  <a:endParaRPr lang="en-US" sz="4000" dirty="0">
                    <a:solidFill>
                      <a:schemeClr val="tx1"/>
                    </a:solidFill>
                  </a:endParaRPr>
                </a:p>
              </p:txBody>
            </p:sp>
          </mc:Choice>
          <mc:Fallback xmlns="">
            <p:sp>
              <p:nvSpPr>
                <p:cNvPr id="25" name="TextBox 24">
                  <a:extLst>
                    <a:ext uri="{FF2B5EF4-FFF2-40B4-BE49-F238E27FC236}">
                      <a16:creationId xmlns:a16="http://schemas.microsoft.com/office/drawing/2014/main" id="{960C5410-B3EA-D0AF-A80D-A858D71ED144}"/>
                    </a:ext>
                  </a:extLst>
                </p:cNvPr>
                <p:cNvSpPr txBox="1">
                  <a:spLocks noRot="1" noChangeAspect="1" noMove="1" noResize="1" noEditPoints="1" noAdjustHandles="1" noChangeArrowheads="1" noChangeShapeType="1" noTextEdit="1"/>
                </p:cNvSpPr>
                <p:nvPr/>
              </p:nvSpPr>
              <p:spPr>
                <a:xfrm>
                  <a:off x="7919897" y="1232160"/>
                  <a:ext cx="2810834" cy="70788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E91C3A0-54B0-1BD6-5241-4520F3C3EC49}"/>
                    </a:ext>
                  </a:extLst>
                </p:cNvPr>
                <p:cNvSpPr txBox="1"/>
                <p:nvPr/>
              </p:nvSpPr>
              <p:spPr>
                <a:xfrm>
                  <a:off x="7885176" y="1932628"/>
                  <a:ext cx="28802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𝑣</m:t>
                                    </m:r>
                                  </m:e>
                                  <m:sup>
                                    <m:r>
                                      <a:rPr lang="en-US" i="1">
                                        <a:latin typeface="Cambria Math" panose="02040503050406030204" pitchFamily="18" charset="0"/>
                                      </a:rPr>
                                      <m:t>𝑥</m:t>
                                    </m:r>
                                  </m:sup>
                                </m:sSup>
                              </m:e>
                            </m:d>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𝑣</m:t>
                                    </m:r>
                                  </m:e>
                                  <m:sup>
                                    <m:r>
                                      <a:rPr lang="en-US" b="0" i="1" smtClean="0">
                                        <a:latin typeface="Cambria Math" panose="02040503050406030204" pitchFamily="18" charset="0"/>
                                      </a:rPr>
                                      <m:t>𝑦</m:t>
                                    </m:r>
                                  </m:sup>
                                </m:sSup>
                              </m:e>
                            </m:d>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𝑣</m:t>
                                    </m:r>
                                  </m:e>
                                  <m:sup>
                                    <m:r>
                                      <a:rPr lang="en-US" b="0" i="1" smtClean="0">
                                        <a:latin typeface="Cambria Math" panose="02040503050406030204" pitchFamily="18" charset="0"/>
                                      </a:rPr>
                                      <m:t>𝑧</m:t>
                                    </m:r>
                                  </m:sup>
                                </m:sSup>
                              </m:e>
                            </m:d>
                          </m:e>
                          <m:sup>
                            <m:r>
                              <a:rPr lang="en-US" i="1">
                                <a:latin typeface="Cambria Math" panose="02040503050406030204" pitchFamily="18" charset="0"/>
                              </a:rPr>
                              <m:t>2</m:t>
                            </m:r>
                          </m:sup>
                        </m:sSup>
                        <m:r>
                          <a:rPr lang="en-US" b="0" i="1" smtClean="0">
                            <a:latin typeface="Cambria Math" panose="02040503050406030204" pitchFamily="18" charset="0"/>
                          </a:rPr>
                          <m:t>=1</m:t>
                        </m:r>
                      </m:oMath>
                    </m:oMathPara>
                  </a14:m>
                  <a:endParaRPr lang="en-US" dirty="0">
                    <a:solidFill>
                      <a:schemeClr val="tx1"/>
                    </a:solidFill>
                  </a:endParaRPr>
                </a:p>
              </p:txBody>
            </p:sp>
          </mc:Choice>
          <mc:Fallback xmlns="">
            <p:sp>
              <p:nvSpPr>
                <p:cNvPr id="26" name="TextBox 25">
                  <a:extLst>
                    <a:ext uri="{FF2B5EF4-FFF2-40B4-BE49-F238E27FC236}">
                      <a16:creationId xmlns:a16="http://schemas.microsoft.com/office/drawing/2014/main" id="{4E91C3A0-54B0-1BD6-5241-4520F3C3EC49}"/>
                    </a:ext>
                  </a:extLst>
                </p:cNvPr>
                <p:cNvSpPr txBox="1">
                  <a:spLocks noRot="1" noChangeAspect="1" noMove="1" noResize="1" noEditPoints="1" noAdjustHandles="1" noChangeArrowheads="1" noChangeShapeType="1" noTextEdit="1"/>
                </p:cNvSpPr>
                <p:nvPr/>
              </p:nvSpPr>
              <p:spPr>
                <a:xfrm>
                  <a:off x="7885176" y="1932628"/>
                  <a:ext cx="2880276" cy="369332"/>
                </a:xfrm>
                <a:prstGeom prst="rect">
                  <a:avLst/>
                </a:prstGeom>
                <a:blipFill>
                  <a:blip r:embed="rId4"/>
                  <a:stretch>
                    <a:fillRect/>
                  </a:stretch>
                </a:blipFill>
              </p:spPr>
              <p:txBody>
                <a:bodyPr/>
                <a:lstStyle/>
                <a:p>
                  <a:r>
                    <a:rPr lang="en-US">
                      <a:noFill/>
                    </a:rPr>
                    <a:t> </a:t>
                  </a:r>
                </a:p>
              </p:txBody>
            </p:sp>
          </mc:Fallback>
        </mc:AlternateContent>
      </p:grpSp>
      <p:grpSp>
        <p:nvGrpSpPr>
          <p:cNvPr id="27" name="Group 26">
            <a:extLst>
              <a:ext uri="{FF2B5EF4-FFF2-40B4-BE49-F238E27FC236}">
                <a16:creationId xmlns:a16="http://schemas.microsoft.com/office/drawing/2014/main" id="{DA99036D-36F1-77B3-34B1-303940EBD22D}"/>
              </a:ext>
            </a:extLst>
          </p:cNvPr>
          <p:cNvGrpSpPr/>
          <p:nvPr/>
        </p:nvGrpSpPr>
        <p:grpSpPr>
          <a:xfrm>
            <a:off x="6764412" y="2965475"/>
            <a:ext cx="3521669" cy="1179185"/>
            <a:chOff x="7919897" y="1232160"/>
            <a:chExt cx="3521669" cy="1179185"/>
          </a:xfrm>
        </p:grpSpPr>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1F84A30-1BC0-BE3B-F371-E82AC965D514}"/>
                    </a:ext>
                  </a:extLst>
                </p:cNvPr>
                <p:cNvSpPr txBox="1"/>
                <p:nvPr/>
              </p:nvSpPr>
              <p:spPr>
                <a:xfrm>
                  <a:off x="7919897" y="1232160"/>
                  <a:ext cx="3521669" cy="7871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4000" b="0" i="1" smtClean="0">
                                <a:solidFill>
                                  <a:schemeClr val="tx1"/>
                                </a:solidFill>
                                <a:latin typeface="Cambria Math" panose="02040503050406030204" pitchFamily="18" charset="0"/>
                              </a:rPr>
                            </m:ctrlPr>
                          </m:dPr>
                          <m:e>
                            <m:r>
                              <a:rPr lang="en-US" sz="4000" b="0" i="1" smtClean="0">
                                <a:solidFill>
                                  <a:schemeClr val="tx1"/>
                                </a:solidFill>
                                <a:latin typeface="Cambria Math" panose="02040503050406030204" pitchFamily="18" charset="0"/>
                              </a:rPr>
                              <m:t>𝑝</m:t>
                            </m:r>
                            <m:d>
                              <m:dPr>
                                <m:ctrlPr>
                                  <a:rPr lang="en-US" sz="4000" b="0" i="1" smtClean="0">
                                    <a:solidFill>
                                      <a:schemeClr val="tx1"/>
                                    </a:solidFill>
                                    <a:latin typeface="Cambria Math" panose="02040503050406030204" pitchFamily="18" charset="0"/>
                                  </a:rPr>
                                </m:ctrlPr>
                              </m:dPr>
                              <m:e>
                                <m:sSup>
                                  <m:sSupPr>
                                    <m:ctrlPr>
                                      <a:rPr lang="en-US" sz="4000" b="0" i="1" smtClean="0">
                                        <a:solidFill>
                                          <a:schemeClr val="tx1"/>
                                        </a:solidFill>
                                        <a:latin typeface="Cambria Math" panose="02040503050406030204" pitchFamily="18" charset="0"/>
                                      </a:rPr>
                                    </m:ctrlPr>
                                  </m:sSupPr>
                                  <m:e>
                                    <m:r>
                                      <a:rPr lang="en-US" sz="4000" b="0" i="1" smtClean="0">
                                        <a:solidFill>
                                          <a:schemeClr val="tx1"/>
                                        </a:solidFill>
                                        <a:latin typeface="Cambria Math" panose="02040503050406030204" pitchFamily="18" charset="0"/>
                                      </a:rPr>
                                      <m:t>𝑧</m:t>
                                    </m:r>
                                  </m:e>
                                  <m:sup>
                                    <m:r>
                                      <a:rPr lang="en-US" sz="4000" b="0" i="1" smtClean="0">
                                        <a:solidFill>
                                          <a:schemeClr val="tx1"/>
                                        </a:solidFill>
                                        <a:latin typeface="Cambria Math" panose="02040503050406030204" pitchFamily="18" charset="0"/>
                                      </a:rPr>
                                      <m:t>+</m:t>
                                    </m:r>
                                  </m:sup>
                                </m:sSup>
                              </m:e>
                            </m:d>
                            <m:r>
                              <a:rPr lang="en-US" sz="4000" b="0" i="1" smtClean="0">
                                <a:solidFill>
                                  <a:schemeClr val="tx1"/>
                                </a:solidFill>
                                <a:latin typeface="Cambria Math" panose="02040503050406030204" pitchFamily="18" charset="0"/>
                              </a:rPr>
                              <m:t>,</m:t>
                            </m:r>
                            <m:r>
                              <a:rPr lang="en-US" sz="4000" i="1">
                                <a:latin typeface="Cambria Math" panose="02040503050406030204" pitchFamily="18" charset="0"/>
                              </a:rPr>
                              <m:t>𝑝</m:t>
                            </m:r>
                            <m:d>
                              <m:dPr>
                                <m:ctrlPr>
                                  <a:rPr lang="en-US" sz="4000" i="1">
                                    <a:latin typeface="Cambria Math" panose="02040503050406030204" pitchFamily="18" charset="0"/>
                                  </a:rPr>
                                </m:ctrlPr>
                              </m:dPr>
                              <m:e>
                                <m:sSup>
                                  <m:sSupPr>
                                    <m:ctrlPr>
                                      <a:rPr lang="en-US" sz="4000" i="1">
                                        <a:latin typeface="Cambria Math" panose="02040503050406030204" pitchFamily="18" charset="0"/>
                                      </a:rPr>
                                    </m:ctrlPr>
                                  </m:sSupPr>
                                  <m:e>
                                    <m:r>
                                      <a:rPr lang="en-US" sz="4000" i="1">
                                        <a:latin typeface="Cambria Math" panose="02040503050406030204" pitchFamily="18" charset="0"/>
                                      </a:rPr>
                                      <m:t>𝑧</m:t>
                                    </m:r>
                                  </m:e>
                                  <m:sup>
                                    <m:r>
                                      <a:rPr lang="en-US" sz="4000" b="0" i="1" smtClean="0">
                                        <a:latin typeface="Cambria Math" panose="02040503050406030204" pitchFamily="18" charset="0"/>
                                      </a:rPr>
                                      <m:t>−</m:t>
                                    </m:r>
                                  </m:sup>
                                </m:sSup>
                              </m:e>
                            </m:d>
                          </m:e>
                        </m:d>
                      </m:oMath>
                    </m:oMathPara>
                  </a14:m>
                  <a:endParaRPr lang="en-US" sz="4000" dirty="0">
                    <a:solidFill>
                      <a:schemeClr val="tx1"/>
                    </a:solidFill>
                  </a:endParaRPr>
                </a:p>
              </p:txBody>
            </p:sp>
          </mc:Choice>
          <mc:Fallback xmlns="">
            <p:sp>
              <p:nvSpPr>
                <p:cNvPr id="28" name="TextBox 27">
                  <a:extLst>
                    <a:ext uri="{FF2B5EF4-FFF2-40B4-BE49-F238E27FC236}">
                      <a16:creationId xmlns:a16="http://schemas.microsoft.com/office/drawing/2014/main" id="{C1F84A30-1BC0-BE3B-F371-E82AC965D514}"/>
                    </a:ext>
                  </a:extLst>
                </p:cNvPr>
                <p:cNvSpPr txBox="1">
                  <a:spLocks noRot="1" noChangeAspect="1" noMove="1" noResize="1" noEditPoints="1" noAdjustHandles="1" noChangeArrowheads="1" noChangeShapeType="1" noTextEdit="1"/>
                </p:cNvSpPr>
                <p:nvPr/>
              </p:nvSpPr>
              <p:spPr>
                <a:xfrm>
                  <a:off x="7919897" y="1232160"/>
                  <a:ext cx="3521669" cy="78713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D260B26-F273-937F-DE31-ADD7997DB2AB}"/>
                    </a:ext>
                  </a:extLst>
                </p:cNvPr>
                <p:cNvSpPr txBox="1"/>
                <p:nvPr/>
              </p:nvSpPr>
              <p:spPr>
                <a:xfrm>
                  <a:off x="8631757" y="2042013"/>
                  <a:ext cx="20979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𝑝</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𝑧</m:t>
                                </m:r>
                              </m:e>
                              <m:sup>
                                <m:r>
                                  <a:rPr lang="en-US" i="1">
                                    <a:latin typeface="Cambria Math" panose="02040503050406030204" pitchFamily="18" charset="0"/>
                                  </a:rPr>
                                  <m:t>+</m:t>
                                </m:r>
                              </m:sup>
                            </m:sSup>
                          </m:e>
                        </m:d>
                        <m:r>
                          <a:rPr lang="en-US" b="0" i="1" smtClean="0">
                            <a:latin typeface="Cambria Math" panose="02040503050406030204" pitchFamily="18" charset="0"/>
                          </a:rPr>
                          <m:t>+</m:t>
                        </m:r>
                        <m:r>
                          <a:rPr lang="en-US" i="1">
                            <a:latin typeface="Cambria Math" panose="02040503050406030204" pitchFamily="18" charset="0"/>
                          </a:rPr>
                          <m:t>𝑝</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𝑧</m:t>
                                </m:r>
                              </m:e>
                              <m:sup>
                                <m:r>
                                  <a:rPr lang="en-US" i="1">
                                    <a:latin typeface="Cambria Math" panose="02040503050406030204" pitchFamily="18" charset="0"/>
                                  </a:rPr>
                                  <m:t>−</m:t>
                                </m:r>
                              </m:sup>
                            </m:sSup>
                          </m:e>
                        </m:d>
                        <m:r>
                          <a:rPr lang="en-US" b="0" i="1" smtClean="0">
                            <a:latin typeface="Cambria Math" panose="02040503050406030204" pitchFamily="18" charset="0"/>
                          </a:rPr>
                          <m:t>=1</m:t>
                        </m:r>
                      </m:oMath>
                    </m:oMathPara>
                  </a14:m>
                  <a:endParaRPr lang="en-US" dirty="0">
                    <a:solidFill>
                      <a:schemeClr val="tx1"/>
                    </a:solidFill>
                  </a:endParaRPr>
                </a:p>
              </p:txBody>
            </p:sp>
          </mc:Choice>
          <mc:Fallback xmlns="">
            <p:sp>
              <p:nvSpPr>
                <p:cNvPr id="30" name="TextBox 29">
                  <a:extLst>
                    <a:ext uri="{FF2B5EF4-FFF2-40B4-BE49-F238E27FC236}">
                      <a16:creationId xmlns:a16="http://schemas.microsoft.com/office/drawing/2014/main" id="{0D260B26-F273-937F-DE31-ADD7997DB2AB}"/>
                    </a:ext>
                  </a:extLst>
                </p:cNvPr>
                <p:cNvSpPr txBox="1">
                  <a:spLocks noRot="1" noChangeAspect="1" noMove="1" noResize="1" noEditPoints="1" noAdjustHandles="1" noChangeArrowheads="1" noChangeShapeType="1" noTextEdit="1"/>
                </p:cNvSpPr>
                <p:nvPr/>
              </p:nvSpPr>
              <p:spPr>
                <a:xfrm>
                  <a:off x="8631757" y="2042013"/>
                  <a:ext cx="2097947" cy="369332"/>
                </a:xfrm>
                <a:prstGeom prst="rect">
                  <a:avLst/>
                </a:prstGeom>
                <a:blipFill>
                  <a:blip r:embed="rId6"/>
                  <a:stretch>
                    <a:fillRect b="-6557"/>
                  </a:stretch>
                </a:blipFill>
              </p:spPr>
              <p:txBody>
                <a:bodyPr/>
                <a:lstStyle/>
                <a:p>
                  <a:r>
                    <a:rPr lang="en-US">
                      <a:noFill/>
                    </a:rPr>
                    <a:t> </a:t>
                  </a:r>
                </a:p>
              </p:txBody>
            </p:sp>
          </mc:Fallback>
        </mc:AlternateContent>
      </p:grpSp>
      <p:sp>
        <p:nvSpPr>
          <p:cNvPr id="32" name="TextBox 31">
            <a:extLst>
              <a:ext uri="{FF2B5EF4-FFF2-40B4-BE49-F238E27FC236}">
                <a16:creationId xmlns:a16="http://schemas.microsoft.com/office/drawing/2014/main" id="{05E44478-28F7-F248-FDAA-9120A11B885B}"/>
              </a:ext>
            </a:extLst>
          </p:cNvPr>
          <p:cNvSpPr txBox="1"/>
          <p:nvPr/>
        </p:nvSpPr>
        <p:spPr>
          <a:xfrm>
            <a:off x="5918200" y="2456374"/>
            <a:ext cx="5115759" cy="369332"/>
          </a:xfrm>
          <a:prstGeom prst="rect">
            <a:avLst/>
          </a:prstGeom>
          <a:noFill/>
        </p:spPr>
        <p:txBody>
          <a:bodyPr wrap="none" rtlCol="0">
            <a:spAutoFit/>
          </a:bodyPr>
          <a:lstStyle/>
          <a:p>
            <a:r>
              <a:rPr lang="en-US" dirty="0"/>
              <a:t>For quantum states, the linearity is about probability</a:t>
            </a:r>
          </a:p>
        </p:txBody>
      </p:sp>
      <p:cxnSp>
        <p:nvCxnSpPr>
          <p:cNvPr id="11" name="Straight Arrow Connector 10">
            <a:extLst>
              <a:ext uri="{FF2B5EF4-FFF2-40B4-BE49-F238E27FC236}">
                <a16:creationId xmlns:a16="http://schemas.microsoft.com/office/drawing/2014/main" id="{9D16220C-A9EF-D552-AD6A-371D2566C9B9}"/>
              </a:ext>
            </a:extLst>
          </p:cNvPr>
          <p:cNvCxnSpPr/>
          <p:nvPr/>
        </p:nvCxnSpPr>
        <p:spPr>
          <a:xfrm flipH="1">
            <a:off x="9838567" y="1292626"/>
            <a:ext cx="651633" cy="4632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3999433-5C61-6A08-CE21-3DE2DB45DFC7}"/>
              </a:ext>
            </a:extLst>
          </p:cNvPr>
          <p:cNvSpPr txBox="1"/>
          <p:nvPr/>
        </p:nvSpPr>
        <p:spPr>
          <a:xfrm>
            <a:off x="10642600" y="968844"/>
            <a:ext cx="1605119" cy="646331"/>
          </a:xfrm>
          <a:prstGeom prst="rect">
            <a:avLst/>
          </a:prstGeom>
          <a:noFill/>
        </p:spPr>
        <p:txBody>
          <a:bodyPr wrap="none" rtlCol="0">
            <a:spAutoFit/>
          </a:bodyPr>
          <a:lstStyle/>
          <a:p>
            <a:r>
              <a:rPr lang="en-US" dirty="0"/>
              <a:t>Constraint on</a:t>
            </a:r>
            <a:br>
              <a:rPr lang="en-US" dirty="0"/>
            </a:br>
            <a:r>
              <a:rPr lang="en-US" dirty="0"/>
              <a:t>sum of squares</a:t>
            </a:r>
          </a:p>
        </p:txBody>
      </p:sp>
      <p:sp>
        <p:nvSpPr>
          <p:cNvPr id="13" name="TextBox 12">
            <a:extLst>
              <a:ext uri="{FF2B5EF4-FFF2-40B4-BE49-F238E27FC236}">
                <a16:creationId xmlns:a16="http://schemas.microsoft.com/office/drawing/2014/main" id="{E1A0FA16-7506-524D-D714-00A2800B2DFE}"/>
              </a:ext>
            </a:extLst>
          </p:cNvPr>
          <p:cNvSpPr txBox="1"/>
          <p:nvPr/>
        </p:nvSpPr>
        <p:spPr>
          <a:xfrm>
            <a:off x="10410743" y="3105834"/>
            <a:ext cx="1448025" cy="646331"/>
          </a:xfrm>
          <a:prstGeom prst="rect">
            <a:avLst/>
          </a:prstGeom>
          <a:noFill/>
        </p:spPr>
        <p:txBody>
          <a:bodyPr wrap="none" rtlCol="0">
            <a:spAutoFit/>
          </a:bodyPr>
          <a:lstStyle/>
          <a:p>
            <a:r>
              <a:rPr lang="en-US" dirty="0"/>
              <a:t>Constraint on</a:t>
            </a:r>
            <a:br>
              <a:rPr lang="en-US" dirty="0"/>
            </a:br>
            <a:r>
              <a:rPr lang="en-US" dirty="0"/>
              <a:t>simple sum</a:t>
            </a:r>
          </a:p>
        </p:txBody>
      </p:sp>
      <p:cxnSp>
        <p:nvCxnSpPr>
          <p:cNvPr id="14" name="Straight Arrow Connector 13">
            <a:extLst>
              <a:ext uri="{FF2B5EF4-FFF2-40B4-BE49-F238E27FC236}">
                <a16:creationId xmlns:a16="http://schemas.microsoft.com/office/drawing/2014/main" id="{C554D38A-2824-FA44-665F-BB534089BBA4}"/>
              </a:ext>
            </a:extLst>
          </p:cNvPr>
          <p:cNvCxnSpPr>
            <a:cxnSpLocks/>
            <a:endCxn id="30" idx="3"/>
          </p:cNvCxnSpPr>
          <p:nvPr/>
        </p:nvCxnSpPr>
        <p:spPr>
          <a:xfrm flipH="1">
            <a:off x="9574219" y="3549650"/>
            <a:ext cx="836524" cy="410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Arc 34">
            <a:extLst>
              <a:ext uri="{FF2B5EF4-FFF2-40B4-BE49-F238E27FC236}">
                <a16:creationId xmlns:a16="http://schemas.microsoft.com/office/drawing/2014/main" id="{8F48405F-1B59-30E9-37A6-3EFA74E045A9}"/>
              </a:ext>
            </a:extLst>
          </p:cNvPr>
          <p:cNvSpPr/>
          <p:nvPr/>
        </p:nvSpPr>
        <p:spPr>
          <a:xfrm>
            <a:off x="2598212" y="2085993"/>
            <a:ext cx="697242" cy="553554"/>
          </a:xfrm>
          <a:prstGeom prst="arc">
            <a:avLst>
              <a:gd name="adj1" fmla="val 16200000"/>
              <a:gd name="adj2" fmla="val 2012949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36" name="Group 35">
            <a:extLst>
              <a:ext uri="{FF2B5EF4-FFF2-40B4-BE49-F238E27FC236}">
                <a16:creationId xmlns:a16="http://schemas.microsoft.com/office/drawing/2014/main" id="{1FC04307-74CB-CBFA-FB83-B8292F237A41}"/>
              </a:ext>
            </a:extLst>
          </p:cNvPr>
          <p:cNvGrpSpPr/>
          <p:nvPr/>
        </p:nvGrpSpPr>
        <p:grpSpPr>
          <a:xfrm>
            <a:off x="1153584" y="740244"/>
            <a:ext cx="3577708" cy="3577703"/>
            <a:chOff x="2012104" y="948792"/>
            <a:chExt cx="3577708" cy="3577703"/>
          </a:xfrm>
        </p:grpSpPr>
        <p:cxnSp>
          <p:nvCxnSpPr>
            <p:cNvPr id="39" name="Straight Connector 38">
              <a:extLst>
                <a:ext uri="{FF2B5EF4-FFF2-40B4-BE49-F238E27FC236}">
                  <a16:creationId xmlns:a16="http://schemas.microsoft.com/office/drawing/2014/main" id="{92EAAA4A-1228-3995-92F8-1EEB2DB41F4C}"/>
                </a:ext>
              </a:extLst>
            </p:cNvPr>
            <p:cNvCxnSpPr>
              <a:cxnSpLocks/>
              <a:stCxn id="47" idx="2"/>
            </p:cNvCxnSpPr>
            <p:nvPr/>
          </p:nvCxnSpPr>
          <p:spPr>
            <a:xfrm>
              <a:off x="2012104" y="2737644"/>
              <a:ext cx="3577706" cy="7622"/>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1D4F4AE-E6A7-9CE3-E22F-7D9D89AFF814}"/>
                </a:ext>
              </a:extLst>
            </p:cNvPr>
            <p:cNvCxnSpPr>
              <a:cxnSpLocks/>
              <a:stCxn id="47" idx="0"/>
              <a:endCxn id="47" idx="4"/>
            </p:cNvCxnSpPr>
            <p:nvPr/>
          </p:nvCxnSpPr>
          <p:spPr>
            <a:xfrm>
              <a:off x="3800958" y="948792"/>
              <a:ext cx="0" cy="3577703"/>
            </a:xfrm>
            <a:prstGeom prst="line">
              <a:avLst/>
            </a:prstGeom>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0FDE44F0-07B2-25B5-05E6-2A41DE7EA94E}"/>
                </a:ext>
              </a:extLst>
            </p:cNvPr>
            <p:cNvGrpSpPr/>
            <p:nvPr/>
          </p:nvGrpSpPr>
          <p:grpSpPr>
            <a:xfrm>
              <a:off x="2012104" y="948792"/>
              <a:ext cx="3577708" cy="3577703"/>
              <a:chOff x="934944" y="1636949"/>
              <a:chExt cx="2674273" cy="2674270"/>
            </a:xfrm>
          </p:grpSpPr>
          <p:grpSp>
            <p:nvGrpSpPr>
              <p:cNvPr id="42" name="Group 41">
                <a:extLst>
                  <a:ext uri="{FF2B5EF4-FFF2-40B4-BE49-F238E27FC236}">
                    <a16:creationId xmlns:a16="http://schemas.microsoft.com/office/drawing/2014/main" id="{A3E1CF4C-3825-CA94-88EF-B85E2CA4AD94}"/>
                  </a:ext>
                </a:extLst>
              </p:cNvPr>
              <p:cNvGrpSpPr/>
              <p:nvPr/>
            </p:nvGrpSpPr>
            <p:grpSpPr>
              <a:xfrm>
                <a:off x="934944" y="1636949"/>
                <a:ext cx="2674273" cy="2674270"/>
                <a:chOff x="2521889" y="2808131"/>
                <a:chExt cx="1916265" cy="1916264"/>
              </a:xfrm>
            </p:grpSpPr>
            <p:sp>
              <p:nvSpPr>
                <p:cNvPr id="45" name="Oval 44">
                  <a:extLst>
                    <a:ext uri="{FF2B5EF4-FFF2-40B4-BE49-F238E27FC236}">
                      <a16:creationId xmlns:a16="http://schemas.microsoft.com/office/drawing/2014/main" id="{6FFE49F2-9FA0-A5F5-57B1-24852AC9F2EE}"/>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Oval 31">
                  <a:extLst>
                    <a:ext uri="{FF2B5EF4-FFF2-40B4-BE49-F238E27FC236}">
                      <a16:creationId xmlns:a16="http://schemas.microsoft.com/office/drawing/2014/main" id="{7D5632F1-B6F9-0375-376B-D51FC0992EBA}"/>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92886F3C-C9AD-FD0A-D5FB-41BD7DA3753C}"/>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43" name="Straight Arrow Connector 42">
                <a:extLst>
                  <a:ext uri="{FF2B5EF4-FFF2-40B4-BE49-F238E27FC236}">
                    <a16:creationId xmlns:a16="http://schemas.microsoft.com/office/drawing/2014/main" id="{1DE6B60A-D1CB-138C-AB81-EA0F8D1F6140}"/>
                  </a:ext>
                </a:extLst>
              </p:cNvPr>
              <p:cNvCxnSpPr>
                <a:cxnSpLocks/>
                <a:endCxn id="47" idx="7"/>
              </p:cNvCxnSpPr>
              <p:nvPr/>
            </p:nvCxnSpPr>
            <p:spPr>
              <a:xfrm flipV="1">
                <a:off x="2272076" y="2028586"/>
                <a:ext cx="945503" cy="945496"/>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384B945-5B1B-F3BD-1914-A1952D1CEA47}"/>
                  </a:ext>
                </a:extLst>
              </p:cNvPr>
              <p:cNvSpPr txBox="1"/>
              <p:nvPr/>
            </p:nvSpPr>
            <p:spPr>
              <a:xfrm>
                <a:off x="2920848" y="1799377"/>
                <a:ext cx="500535" cy="49410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oMath>
                  </m:oMathPara>
                </a14:m>
                <a:endParaRPr lang="en-US" dirty="0"/>
              </a:p>
            </p:txBody>
          </p:sp>
        </mc:Choice>
        <mc:Fallback xmlns="">
          <p:sp>
            <p:nvSpPr>
              <p:cNvPr id="51" name="TextBox 50">
                <a:extLst>
                  <a:ext uri="{FF2B5EF4-FFF2-40B4-BE49-F238E27FC236}">
                    <a16:creationId xmlns:a16="http://schemas.microsoft.com/office/drawing/2014/main" id="{C384B945-5B1B-F3BD-1914-A1952D1CEA47}"/>
                  </a:ext>
                </a:extLst>
              </p:cNvPr>
              <p:cNvSpPr txBox="1">
                <a:spLocks noRot="1" noChangeAspect="1" noMove="1" noResize="1" noEditPoints="1" noAdjustHandles="1" noChangeArrowheads="1" noChangeShapeType="1" noTextEdit="1"/>
              </p:cNvSpPr>
              <p:nvPr/>
            </p:nvSpPr>
            <p:spPr>
              <a:xfrm>
                <a:off x="2920848" y="1799377"/>
                <a:ext cx="500535" cy="49410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B68B9763-FC9D-1936-7581-B43D64CDA359}"/>
                  </a:ext>
                </a:extLst>
              </p:cNvPr>
              <p:cNvSpPr txBox="1"/>
              <p:nvPr/>
            </p:nvSpPr>
            <p:spPr>
              <a:xfrm>
                <a:off x="2541264" y="233822"/>
                <a:ext cx="8023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r>
                        <a:rPr lang="en-US" sz="2400" i="1" dirty="0">
                          <a:latin typeface="Cambria Math" panose="02040503050406030204" pitchFamily="18" charset="0"/>
                        </a:rPr>
                        <m:t>⟩</m:t>
                      </m:r>
                    </m:oMath>
                  </m:oMathPara>
                </a14:m>
                <a:endParaRPr lang="en-US" sz="2400" dirty="0"/>
              </a:p>
            </p:txBody>
          </p:sp>
        </mc:Choice>
        <mc:Fallback xmlns="">
          <p:sp>
            <p:nvSpPr>
              <p:cNvPr id="52" name="TextBox 51">
                <a:extLst>
                  <a:ext uri="{FF2B5EF4-FFF2-40B4-BE49-F238E27FC236}">
                    <a16:creationId xmlns:a16="http://schemas.microsoft.com/office/drawing/2014/main" id="{B68B9763-FC9D-1936-7581-B43D64CDA359}"/>
                  </a:ext>
                </a:extLst>
              </p:cNvPr>
              <p:cNvSpPr txBox="1">
                <a:spLocks noRot="1" noChangeAspect="1" noMove="1" noResize="1" noEditPoints="1" noAdjustHandles="1" noChangeArrowheads="1" noChangeShapeType="1" noTextEdit="1"/>
              </p:cNvSpPr>
              <p:nvPr/>
            </p:nvSpPr>
            <p:spPr>
              <a:xfrm>
                <a:off x="2541264" y="233822"/>
                <a:ext cx="802336" cy="461665"/>
              </a:xfrm>
              <a:prstGeom prst="rect">
                <a:avLst/>
              </a:prstGeom>
              <a:blipFill>
                <a:blip r:embed="rId8"/>
                <a:stretch>
                  <a:fillRect l="-2290" r="-229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13B29E5-3D25-A7BF-5BE9-36518F8BEC44}"/>
                  </a:ext>
                </a:extLst>
              </p:cNvPr>
              <p:cNvSpPr txBox="1"/>
              <p:nvPr/>
            </p:nvSpPr>
            <p:spPr>
              <a:xfrm>
                <a:off x="2541264" y="4380221"/>
                <a:ext cx="8023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r>
                        <a:rPr lang="en-US" sz="2400" i="1" dirty="0">
                          <a:latin typeface="Cambria Math" panose="02040503050406030204" pitchFamily="18" charset="0"/>
                        </a:rPr>
                        <m:t>⟩</m:t>
                      </m:r>
                    </m:oMath>
                  </m:oMathPara>
                </a14:m>
                <a:endParaRPr lang="en-US" sz="2400" dirty="0"/>
              </a:p>
            </p:txBody>
          </p:sp>
        </mc:Choice>
        <mc:Fallback xmlns="">
          <p:sp>
            <p:nvSpPr>
              <p:cNvPr id="53" name="TextBox 52">
                <a:extLst>
                  <a:ext uri="{FF2B5EF4-FFF2-40B4-BE49-F238E27FC236}">
                    <a16:creationId xmlns:a16="http://schemas.microsoft.com/office/drawing/2014/main" id="{513B29E5-3D25-A7BF-5BE9-36518F8BEC44}"/>
                  </a:ext>
                </a:extLst>
              </p:cNvPr>
              <p:cNvSpPr txBox="1">
                <a:spLocks noRot="1" noChangeAspect="1" noMove="1" noResize="1" noEditPoints="1" noAdjustHandles="1" noChangeArrowheads="1" noChangeShapeType="1" noTextEdit="1"/>
              </p:cNvSpPr>
              <p:nvPr/>
            </p:nvSpPr>
            <p:spPr>
              <a:xfrm>
                <a:off x="2541264" y="4380221"/>
                <a:ext cx="802336" cy="461665"/>
              </a:xfrm>
              <a:prstGeom prst="rect">
                <a:avLst/>
              </a:prstGeom>
              <a:blipFill>
                <a:blip r:embed="rId9"/>
                <a:stretch>
                  <a:fillRect l="-2290" r="-2290" b="-18667"/>
                </a:stretch>
              </a:blipFill>
            </p:spPr>
            <p:txBody>
              <a:bodyPr/>
              <a:lstStyle/>
              <a:p>
                <a:r>
                  <a:rPr lang="en-US">
                    <a:noFill/>
                  </a:rPr>
                  <a:t> </a:t>
                </a:r>
              </a:p>
            </p:txBody>
          </p:sp>
        </mc:Fallback>
      </mc:AlternateContent>
      <p:cxnSp>
        <p:nvCxnSpPr>
          <p:cNvPr id="54" name="Straight Connector 53">
            <a:extLst>
              <a:ext uri="{FF2B5EF4-FFF2-40B4-BE49-F238E27FC236}">
                <a16:creationId xmlns:a16="http://schemas.microsoft.com/office/drawing/2014/main" id="{3C142574-62E6-D9F5-333A-8A464BA1AF9B}"/>
              </a:ext>
            </a:extLst>
          </p:cNvPr>
          <p:cNvCxnSpPr>
            <a:cxnSpLocks/>
            <a:endCxn id="47" idx="7"/>
          </p:cNvCxnSpPr>
          <p:nvPr/>
        </p:nvCxnSpPr>
        <p:spPr>
          <a:xfrm flipV="1">
            <a:off x="4207349" y="1264186"/>
            <a:ext cx="0" cy="1272532"/>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6DE740C3-6695-4B60-659B-AFF5489ACD28}"/>
              </a:ext>
            </a:extLst>
          </p:cNvPr>
          <p:cNvCxnSpPr/>
          <p:nvPr/>
        </p:nvCxnSpPr>
        <p:spPr>
          <a:xfrm>
            <a:off x="2942432" y="1264185"/>
            <a:ext cx="1264917" cy="1"/>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4137A927-F002-866C-DB30-FD89A8643FDB}"/>
                  </a:ext>
                </a:extLst>
              </p:cNvPr>
              <p:cNvSpPr txBox="1"/>
              <p:nvPr/>
            </p:nvSpPr>
            <p:spPr>
              <a:xfrm>
                <a:off x="3515484" y="1748127"/>
                <a:ext cx="4293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𝑣</m:t>
                      </m:r>
                    </m:oMath>
                  </m:oMathPara>
                </a14:m>
                <a:endParaRPr lang="en-US" sz="2400" dirty="0"/>
              </a:p>
            </p:txBody>
          </p:sp>
        </mc:Choice>
        <mc:Fallback xmlns="">
          <p:sp>
            <p:nvSpPr>
              <p:cNvPr id="56" name="TextBox 55">
                <a:extLst>
                  <a:ext uri="{FF2B5EF4-FFF2-40B4-BE49-F238E27FC236}">
                    <a16:creationId xmlns:a16="http://schemas.microsoft.com/office/drawing/2014/main" id="{4137A927-F002-866C-DB30-FD89A8643FDB}"/>
                  </a:ext>
                </a:extLst>
              </p:cNvPr>
              <p:cNvSpPr txBox="1">
                <a:spLocks noRot="1" noChangeAspect="1" noMove="1" noResize="1" noEditPoints="1" noAdjustHandles="1" noChangeArrowheads="1" noChangeShapeType="1" noTextEdit="1"/>
              </p:cNvSpPr>
              <p:nvPr/>
            </p:nvSpPr>
            <p:spPr>
              <a:xfrm>
                <a:off x="3515484" y="1748127"/>
                <a:ext cx="429348"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B81E380-42AF-0695-38AD-49CEA380A8F6}"/>
                  </a:ext>
                </a:extLst>
              </p:cNvPr>
              <p:cNvSpPr txBox="1"/>
              <p:nvPr/>
            </p:nvSpPr>
            <p:spPr>
              <a:xfrm>
                <a:off x="4181393" y="1717461"/>
                <a:ext cx="73481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𝜃</m:t>
                          </m:r>
                        </m:e>
                      </m:func>
                    </m:oMath>
                  </m:oMathPara>
                </a14:m>
                <a:endParaRPr lang="en-US" dirty="0"/>
              </a:p>
            </p:txBody>
          </p:sp>
        </mc:Choice>
        <mc:Fallback xmlns="">
          <p:sp>
            <p:nvSpPr>
              <p:cNvPr id="57" name="TextBox 56">
                <a:extLst>
                  <a:ext uri="{FF2B5EF4-FFF2-40B4-BE49-F238E27FC236}">
                    <a16:creationId xmlns:a16="http://schemas.microsoft.com/office/drawing/2014/main" id="{AB81E380-42AF-0695-38AD-49CEA380A8F6}"/>
                  </a:ext>
                </a:extLst>
              </p:cNvPr>
              <p:cNvSpPr txBox="1">
                <a:spLocks noRot="1" noChangeAspect="1" noMove="1" noResize="1" noEditPoints="1" noAdjustHandles="1" noChangeArrowheads="1" noChangeShapeType="1" noTextEdit="1"/>
              </p:cNvSpPr>
              <p:nvPr/>
            </p:nvSpPr>
            <p:spPr>
              <a:xfrm>
                <a:off x="4181393" y="1717461"/>
                <a:ext cx="734817"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23193671-7480-D121-68F9-99AF6B18F852}"/>
                  </a:ext>
                </a:extLst>
              </p:cNvPr>
              <p:cNvSpPr txBox="1"/>
              <p:nvPr/>
            </p:nvSpPr>
            <p:spPr>
              <a:xfrm>
                <a:off x="2001030" y="2577939"/>
                <a:ext cx="81509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m:t>
                              </m:r>
                            </m:sup>
                          </m:sSup>
                        </m:e>
                      </m:d>
                    </m:oMath>
                  </m:oMathPara>
                </a14:m>
                <a:endParaRPr lang="en-US" dirty="0"/>
              </a:p>
            </p:txBody>
          </p:sp>
        </mc:Choice>
        <mc:Fallback xmlns="">
          <p:sp>
            <p:nvSpPr>
              <p:cNvPr id="58" name="TextBox 57">
                <a:extLst>
                  <a:ext uri="{FF2B5EF4-FFF2-40B4-BE49-F238E27FC236}">
                    <a16:creationId xmlns:a16="http://schemas.microsoft.com/office/drawing/2014/main" id="{23193671-7480-D121-68F9-99AF6B18F852}"/>
                  </a:ext>
                </a:extLst>
              </p:cNvPr>
              <p:cNvSpPr txBox="1">
                <a:spLocks noRot="1" noChangeAspect="1" noMove="1" noResize="1" noEditPoints="1" noAdjustHandles="1" noChangeArrowheads="1" noChangeShapeType="1" noTextEdit="1"/>
              </p:cNvSpPr>
              <p:nvPr/>
            </p:nvSpPr>
            <p:spPr>
              <a:xfrm>
                <a:off x="2001030" y="2577939"/>
                <a:ext cx="815095" cy="369332"/>
              </a:xfrm>
              <a:prstGeom prst="rect">
                <a:avLst/>
              </a:prstGeom>
              <a:blipFill>
                <a:blip r:embed="rId12"/>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A88EA149-B87F-2102-2224-277BF4B475A8}"/>
                  </a:ext>
                </a:extLst>
              </p:cNvPr>
              <p:cNvSpPr txBox="1"/>
              <p:nvPr/>
            </p:nvSpPr>
            <p:spPr>
              <a:xfrm>
                <a:off x="2001031" y="814752"/>
                <a:ext cx="81509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m:t>
                              </m:r>
                            </m:sup>
                          </m:sSup>
                        </m:e>
                      </m:d>
                    </m:oMath>
                  </m:oMathPara>
                </a14:m>
                <a:endParaRPr lang="en-US" dirty="0"/>
              </a:p>
            </p:txBody>
          </p:sp>
        </mc:Choice>
        <mc:Fallback xmlns="">
          <p:sp>
            <p:nvSpPr>
              <p:cNvPr id="59" name="TextBox 58">
                <a:extLst>
                  <a:ext uri="{FF2B5EF4-FFF2-40B4-BE49-F238E27FC236}">
                    <a16:creationId xmlns:a16="http://schemas.microsoft.com/office/drawing/2014/main" id="{A88EA149-B87F-2102-2224-277BF4B475A8}"/>
                  </a:ext>
                </a:extLst>
              </p:cNvPr>
              <p:cNvSpPr txBox="1">
                <a:spLocks noRot="1" noChangeAspect="1" noMove="1" noResize="1" noEditPoints="1" noAdjustHandles="1" noChangeArrowheads="1" noChangeShapeType="1" noTextEdit="1"/>
              </p:cNvSpPr>
              <p:nvPr/>
            </p:nvSpPr>
            <p:spPr>
              <a:xfrm>
                <a:off x="2001031" y="814752"/>
                <a:ext cx="815095" cy="369332"/>
              </a:xfrm>
              <a:prstGeom prst="rect">
                <a:avLst/>
              </a:prstGeom>
              <a:blipFill>
                <a:blip r:embed="rId13"/>
                <a:stretch>
                  <a:fillRect b="-6667"/>
                </a:stretch>
              </a:blipFill>
            </p:spPr>
            <p:txBody>
              <a:bodyPr/>
              <a:lstStyle/>
              <a:p>
                <a:r>
                  <a:rPr lang="en-US">
                    <a:noFill/>
                  </a:rPr>
                  <a:t> </a:t>
                </a:r>
              </a:p>
            </p:txBody>
          </p:sp>
        </mc:Fallback>
      </mc:AlternateContent>
      <p:sp>
        <p:nvSpPr>
          <p:cNvPr id="60" name="Right Brace 59">
            <a:extLst>
              <a:ext uri="{FF2B5EF4-FFF2-40B4-BE49-F238E27FC236}">
                <a16:creationId xmlns:a16="http://schemas.microsoft.com/office/drawing/2014/main" id="{C727914C-6F4C-1B3B-0A64-0FC15903415B}"/>
              </a:ext>
            </a:extLst>
          </p:cNvPr>
          <p:cNvSpPr/>
          <p:nvPr/>
        </p:nvSpPr>
        <p:spPr>
          <a:xfrm flipH="1">
            <a:off x="2751185" y="759208"/>
            <a:ext cx="169816" cy="49410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Right Brace 60">
            <a:extLst>
              <a:ext uri="{FF2B5EF4-FFF2-40B4-BE49-F238E27FC236}">
                <a16:creationId xmlns:a16="http://schemas.microsoft.com/office/drawing/2014/main" id="{01244299-2D74-5242-2806-97D4AC3C26AC}"/>
              </a:ext>
            </a:extLst>
          </p:cNvPr>
          <p:cNvSpPr/>
          <p:nvPr/>
        </p:nvSpPr>
        <p:spPr>
          <a:xfrm flipH="1">
            <a:off x="2751185" y="1273558"/>
            <a:ext cx="169816" cy="301747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458827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13" grpId="0"/>
      <p:bldP spid="52" grpId="0"/>
      <p:bldP spid="53" grpId="0"/>
      <p:bldP spid="58" grpId="0"/>
      <p:bldP spid="59" grpId="0"/>
      <p:bldP spid="60" grpId="0" animBg="1"/>
      <p:bldP spid="6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A1268-0E61-8417-57F9-2E8823CE884F}"/>
            </a:ext>
          </a:extLst>
        </p:cNvPr>
        <p:cNvGrpSpPr/>
        <p:nvPr/>
      </p:nvGrpSpPr>
      <p:grpSpPr>
        <a:xfrm>
          <a:off x="0" y="0"/>
          <a:ext cx="0" cy="0"/>
          <a:chOff x="0" y="0"/>
          <a:chExt cx="0" cy="0"/>
        </a:xfrm>
      </p:grpSpPr>
      <p:sp>
        <p:nvSpPr>
          <p:cNvPr id="17" name="Arc 16">
            <a:extLst>
              <a:ext uri="{FF2B5EF4-FFF2-40B4-BE49-F238E27FC236}">
                <a16:creationId xmlns:a16="http://schemas.microsoft.com/office/drawing/2014/main" id="{83415836-B006-DD1E-D899-B664B7148FE8}"/>
              </a:ext>
            </a:extLst>
          </p:cNvPr>
          <p:cNvSpPr/>
          <p:nvPr/>
        </p:nvSpPr>
        <p:spPr>
          <a:xfrm>
            <a:off x="2598212" y="2085993"/>
            <a:ext cx="697242" cy="553554"/>
          </a:xfrm>
          <a:prstGeom prst="arc">
            <a:avLst>
              <a:gd name="adj1" fmla="val 16200000"/>
              <a:gd name="adj2" fmla="val 2012949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3" name="Group 62">
            <a:extLst>
              <a:ext uri="{FF2B5EF4-FFF2-40B4-BE49-F238E27FC236}">
                <a16:creationId xmlns:a16="http://schemas.microsoft.com/office/drawing/2014/main" id="{1341F0DE-86AA-A906-FA7E-19C26716EE9D}"/>
              </a:ext>
            </a:extLst>
          </p:cNvPr>
          <p:cNvGrpSpPr/>
          <p:nvPr/>
        </p:nvGrpSpPr>
        <p:grpSpPr>
          <a:xfrm>
            <a:off x="1153584" y="740244"/>
            <a:ext cx="3577708" cy="3577703"/>
            <a:chOff x="2012104" y="948792"/>
            <a:chExt cx="3577708" cy="3577703"/>
          </a:xfrm>
        </p:grpSpPr>
        <p:cxnSp>
          <p:nvCxnSpPr>
            <p:cNvPr id="21" name="Straight Connector 20">
              <a:extLst>
                <a:ext uri="{FF2B5EF4-FFF2-40B4-BE49-F238E27FC236}">
                  <a16:creationId xmlns:a16="http://schemas.microsoft.com/office/drawing/2014/main" id="{8FD5A9AB-1F38-B0B8-F507-20C81D3EF6C1}"/>
                </a:ext>
              </a:extLst>
            </p:cNvPr>
            <p:cNvCxnSpPr>
              <a:cxnSpLocks/>
              <a:stCxn id="50" idx="2"/>
            </p:cNvCxnSpPr>
            <p:nvPr/>
          </p:nvCxnSpPr>
          <p:spPr>
            <a:xfrm>
              <a:off x="2012104" y="2737644"/>
              <a:ext cx="3577706" cy="7622"/>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9541BD6-E7BA-ABA8-90F6-C535E46F0C2E}"/>
                </a:ext>
              </a:extLst>
            </p:cNvPr>
            <p:cNvCxnSpPr>
              <a:cxnSpLocks/>
              <a:stCxn id="50" idx="0"/>
              <a:endCxn id="50" idx="4"/>
            </p:cNvCxnSpPr>
            <p:nvPr/>
          </p:nvCxnSpPr>
          <p:spPr>
            <a:xfrm>
              <a:off x="3800958" y="948792"/>
              <a:ext cx="0" cy="3577703"/>
            </a:xfrm>
            <a:prstGeom prst="line">
              <a:avLst/>
            </a:prstGeom>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AA8D5439-E9BA-736F-71ED-598E3F9F6A7E}"/>
                </a:ext>
              </a:extLst>
            </p:cNvPr>
            <p:cNvGrpSpPr/>
            <p:nvPr/>
          </p:nvGrpSpPr>
          <p:grpSpPr>
            <a:xfrm>
              <a:off x="2012104" y="948792"/>
              <a:ext cx="3577708" cy="3577703"/>
              <a:chOff x="934944" y="1636949"/>
              <a:chExt cx="2674273" cy="2674270"/>
            </a:xfrm>
          </p:grpSpPr>
          <p:grpSp>
            <p:nvGrpSpPr>
              <p:cNvPr id="38" name="Group 37">
                <a:extLst>
                  <a:ext uri="{FF2B5EF4-FFF2-40B4-BE49-F238E27FC236}">
                    <a16:creationId xmlns:a16="http://schemas.microsoft.com/office/drawing/2014/main" id="{10405834-F776-7626-3988-A124AA1D78A2}"/>
                  </a:ext>
                </a:extLst>
              </p:cNvPr>
              <p:cNvGrpSpPr/>
              <p:nvPr/>
            </p:nvGrpSpPr>
            <p:grpSpPr>
              <a:xfrm>
                <a:off x="934944" y="1636949"/>
                <a:ext cx="2674273" cy="2674270"/>
                <a:chOff x="2521889" y="2808131"/>
                <a:chExt cx="1916265" cy="1916264"/>
              </a:xfrm>
            </p:grpSpPr>
            <p:sp>
              <p:nvSpPr>
                <p:cNvPr id="48" name="Oval 47">
                  <a:extLst>
                    <a:ext uri="{FF2B5EF4-FFF2-40B4-BE49-F238E27FC236}">
                      <a16:creationId xmlns:a16="http://schemas.microsoft.com/office/drawing/2014/main" id="{7AEFCB68-9D69-8004-2FF5-39BA2D6CB373}"/>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Oval 31">
                  <a:extLst>
                    <a:ext uri="{FF2B5EF4-FFF2-40B4-BE49-F238E27FC236}">
                      <a16:creationId xmlns:a16="http://schemas.microsoft.com/office/drawing/2014/main" id="{A866AE9D-95E6-C6FB-BE25-08D293010B69}"/>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0B793D5B-770D-0EE7-EE98-8C621C974B6B}"/>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44" name="Straight Arrow Connector 43">
                <a:extLst>
                  <a:ext uri="{FF2B5EF4-FFF2-40B4-BE49-F238E27FC236}">
                    <a16:creationId xmlns:a16="http://schemas.microsoft.com/office/drawing/2014/main" id="{EBC16239-6B39-BF99-E97B-6D1B514B3B01}"/>
                  </a:ext>
                </a:extLst>
              </p:cNvPr>
              <p:cNvCxnSpPr>
                <a:cxnSpLocks/>
                <a:endCxn id="50" idx="7"/>
              </p:cNvCxnSpPr>
              <p:nvPr/>
            </p:nvCxnSpPr>
            <p:spPr>
              <a:xfrm flipV="1">
                <a:off x="2272076" y="2028586"/>
                <a:ext cx="945503" cy="945496"/>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8BF2B28-D3C4-D781-3D09-7E6121364735}"/>
                  </a:ext>
                </a:extLst>
              </p:cNvPr>
              <p:cNvSpPr txBox="1"/>
              <p:nvPr/>
            </p:nvSpPr>
            <p:spPr>
              <a:xfrm>
                <a:off x="2920848" y="1799377"/>
                <a:ext cx="500535" cy="49410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oMath>
                  </m:oMathPara>
                </a14:m>
                <a:endParaRPr lang="en-US" dirty="0"/>
              </a:p>
            </p:txBody>
          </p:sp>
        </mc:Choice>
        <mc:Fallback xmlns="">
          <p:sp>
            <p:nvSpPr>
              <p:cNvPr id="4" name="TextBox 3">
                <a:extLst>
                  <a:ext uri="{FF2B5EF4-FFF2-40B4-BE49-F238E27FC236}">
                    <a16:creationId xmlns:a16="http://schemas.microsoft.com/office/drawing/2014/main" id="{48BF2B28-D3C4-D781-3D09-7E6121364735}"/>
                  </a:ext>
                </a:extLst>
              </p:cNvPr>
              <p:cNvSpPr txBox="1">
                <a:spLocks noRot="1" noChangeAspect="1" noMove="1" noResize="1" noEditPoints="1" noAdjustHandles="1" noChangeArrowheads="1" noChangeShapeType="1" noTextEdit="1"/>
              </p:cNvSpPr>
              <p:nvPr/>
            </p:nvSpPr>
            <p:spPr>
              <a:xfrm>
                <a:off x="2920848" y="1799377"/>
                <a:ext cx="500535" cy="49410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2EAC27D-F4C1-3268-923D-A3FF0D5F420D}"/>
                  </a:ext>
                </a:extLst>
              </p:cNvPr>
              <p:cNvSpPr txBox="1"/>
              <p:nvPr/>
            </p:nvSpPr>
            <p:spPr>
              <a:xfrm>
                <a:off x="2541264" y="233822"/>
                <a:ext cx="8023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r>
                        <a:rPr lang="en-US" sz="2400" i="1" dirty="0">
                          <a:latin typeface="Cambria Math" panose="02040503050406030204" pitchFamily="18" charset="0"/>
                        </a:rPr>
                        <m:t>⟩</m:t>
                      </m:r>
                    </m:oMath>
                  </m:oMathPara>
                </a14:m>
                <a:endParaRPr lang="en-US" sz="2400" dirty="0"/>
              </a:p>
            </p:txBody>
          </p:sp>
        </mc:Choice>
        <mc:Fallback xmlns="">
          <p:sp>
            <p:nvSpPr>
              <p:cNvPr id="9" name="TextBox 8">
                <a:extLst>
                  <a:ext uri="{FF2B5EF4-FFF2-40B4-BE49-F238E27FC236}">
                    <a16:creationId xmlns:a16="http://schemas.microsoft.com/office/drawing/2014/main" id="{D2EAC27D-F4C1-3268-923D-A3FF0D5F420D}"/>
                  </a:ext>
                </a:extLst>
              </p:cNvPr>
              <p:cNvSpPr txBox="1">
                <a:spLocks noRot="1" noChangeAspect="1" noMove="1" noResize="1" noEditPoints="1" noAdjustHandles="1" noChangeArrowheads="1" noChangeShapeType="1" noTextEdit="1"/>
              </p:cNvSpPr>
              <p:nvPr/>
            </p:nvSpPr>
            <p:spPr>
              <a:xfrm>
                <a:off x="2541264" y="233822"/>
                <a:ext cx="802336" cy="461665"/>
              </a:xfrm>
              <a:prstGeom prst="rect">
                <a:avLst/>
              </a:prstGeom>
              <a:blipFill>
                <a:blip r:embed="rId3"/>
                <a:stretch>
                  <a:fillRect l="-2290" r="-229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D51E70D-3A96-5C36-5AD8-A8E71662018A}"/>
                  </a:ext>
                </a:extLst>
              </p:cNvPr>
              <p:cNvSpPr txBox="1"/>
              <p:nvPr/>
            </p:nvSpPr>
            <p:spPr>
              <a:xfrm>
                <a:off x="2541264" y="4380221"/>
                <a:ext cx="8023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r>
                        <a:rPr lang="en-US" sz="2400" i="1" dirty="0">
                          <a:latin typeface="Cambria Math" panose="02040503050406030204" pitchFamily="18" charset="0"/>
                        </a:rPr>
                        <m:t>⟩</m:t>
                      </m:r>
                    </m:oMath>
                  </m:oMathPara>
                </a14:m>
                <a:endParaRPr lang="en-US" sz="2400" dirty="0"/>
              </a:p>
            </p:txBody>
          </p:sp>
        </mc:Choice>
        <mc:Fallback xmlns="">
          <p:sp>
            <p:nvSpPr>
              <p:cNvPr id="10" name="TextBox 9">
                <a:extLst>
                  <a:ext uri="{FF2B5EF4-FFF2-40B4-BE49-F238E27FC236}">
                    <a16:creationId xmlns:a16="http://schemas.microsoft.com/office/drawing/2014/main" id="{0D51E70D-3A96-5C36-5AD8-A8E71662018A}"/>
                  </a:ext>
                </a:extLst>
              </p:cNvPr>
              <p:cNvSpPr txBox="1">
                <a:spLocks noRot="1" noChangeAspect="1" noMove="1" noResize="1" noEditPoints="1" noAdjustHandles="1" noChangeArrowheads="1" noChangeShapeType="1" noTextEdit="1"/>
              </p:cNvSpPr>
              <p:nvPr/>
            </p:nvSpPr>
            <p:spPr>
              <a:xfrm>
                <a:off x="2541264" y="4380221"/>
                <a:ext cx="802336" cy="461665"/>
              </a:xfrm>
              <a:prstGeom prst="rect">
                <a:avLst/>
              </a:prstGeom>
              <a:blipFill>
                <a:blip r:embed="rId4"/>
                <a:stretch>
                  <a:fillRect l="-2290" r="-2290" b="-18667"/>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A809365B-D659-F140-1856-6DEAD569BD32}"/>
              </a:ext>
            </a:extLst>
          </p:cNvPr>
          <p:cNvCxnSpPr>
            <a:cxnSpLocks/>
            <a:endCxn id="50" idx="7"/>
          </p:cNvCxnSpPr>
          <p:nvPr/>
        </p:nvCxnSpPr>
        <p:spPr>
          <a:xfrm flipV="1">
            <a:off x="4207349" y="1264186"/>
            <a:ext cx="0" cy="12725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246AB489-83D7-1AB7-DC11-9ED944C05DF2}"/>
              </a:ext>
            </a:extLst>
          </p:cNvPr>
          <p:cNvCxnSpPr/>
          <p:nvPr/>
        </p:nvCxnSpPr>
        <p:spPr>
          <a:xfrm>
            <a:off x="2942432" y="1264185"/>
            <a:ext cx="1264917" cy="1"/>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12517A3-14C0-FE6A-4C43-0C31E658D5D2}"/>
                  </a:ext>
                </a:extLst>
              </p:cNvPr>
              <p:cNvSpPr txBox="1"/>
              <p:nvPr/>
            </p:nvSpPr>
            <p:spPr>
              <a:xfrm>
                <a:off x="3515484" y="1748127"/>
                <a:ext cx="4293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𝑣</m:t>
                      </m:r>
                    </m:oMath>
                  </m:oMathPara>
                </a14:m>
                <a:endParaRPr lang="en-US" sz="2400" dirty="0"/>
              </a:p>
            </p:txBody>
          </p:sp>
        </mc:Choice>
        <mc:Fallback xmlns="">
          <p:sp>
            <p:nvSpPr>
              <p:cNvPr id="5" name="TextBox 4">
                <a:extLst>
                  <a:ext uri="{FF2B5EF4-FFF2-40B4-BE49-F238E27FC236}">
                    <a16:creationId xmlns:a16="http://schemas.microsoft.com/office/drawing/2014/main" id="{412517A3-14C0-FE6A-4C43-0C31E658D5D2}"/>
                  </a:ext>
                </a:extLst>
              </p:cNvPr>
              <p:cNvSpPr txBox="1">
                <a:spLocks noRot="1" noChangeAspect="1" noMove="1" noResize="1" noEditPoints="1" noAdjustHandles="1" noChangeArrowheads="1" noChangeShapeType="1" noTextEdit="1"/>
              </p:cNvSpPr>
              <p:nvPr/>
            </p:nvSpPr>
            <p:spPr>
              <a:xfrm>
                <a:off x="3515484" y="1748127"/>
                <a:ext cx="429348"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06E5402-6BBF-4B28-0728-02D0AC32E59E}"/>
                  </a:ext>
                </a:extLst>
              </p:cNvPr>
              <p:cNvSpPr txBox="1"/>
              <p:nvPr/>
            </p:nvSpPr>
            <p:spPr>
              <a:xfrm>
                <a:off x="4181393" y="1717461"/>
                <a:ext cx="73481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𝜃</m:t>
                          </m:r>
                        </m:e>
                      </m:func>
                    </m:oMath>
                  </m:oMathPara>
                </a14:m>
                <a:endParaRPr lang="en-US" dirty="0"/>
              </a:p>
            </p:txBody>
          </p:sp>
        </mc:Choice>
        <mc:Fallback xmlns="">
          <p:sp>
            <p:nvSpPr>
              <p:cNvPr id="7" name="TextBox 6">
                <a:extLst>
                  <a:ext uri="{FF2B5EF4-FFF2-40B4-BE49-F238E27FC236}">
                    <a16:creationId xmlns:a16="http://schemas.microsoft.com/office/drawing/2014/main" id="{206E5402-6BBF-4B28-0728-02D0AC32E59E}"/>
                  </a:ext>
                </a:extLst>
              </p:cNvPr>
              <p:cNvSpPr txBox="1">
                <a:spLocks noRot="1" noChangeAspect="1" noMove="1" noResize="1" noEditPoints="1" noAdjustHandles="1" noChangeArrowheads="1" noChangeShapeType="1" noTextEdit="1"/>
              </p:cNvSpPr>
              <p:nvPr/>
            </p:nvSpPr>
            <p:spPr>
              <a:xfrm>
                <a:off x="4181393" y="1717461"/>
                <a:ext cx="734817"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526D941-3B56-9CA6-A438-3460926C16E1}"/>
                  </a:ext>
                </a:extLst>
              </p:cNvPr>
              <p:cNvSpPr txBox="1"/>
              <p:nvPr/>
            </p:nvSpPr>
            <p:spPr>
              <a:xfrm>
                <a:off x="2001030" y="2577939"/>
                <a:ext cx="81509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m:t>
                              </m:r>
                            </m:sup>
                          </m:sSup>
                        </m:e>
                      </m:d>
                    </m:oMath>
                  </m:oMathPara>
                </a14:m>
                <a:endParaRPr lang="en-US" dirty="0"/>
              </a:p>
            </p:txBody>
          </p:sp>
        </mc:Choice>
        <mc:Fallback xmlns="">
          <p:sp>
            <p:nvSpPr>
              <p:cNvPr id="24" name="TextBox 23">
                <a:extLst>
                  <a:ext uri="{FF2B5EF4-FFF2-40B4-BE49-F238E27FC236}">
                    <a16:creationId xmlns:a16="http://schemas.microsoft.com/office/drawing/2014/main" id="{7526D941-3B56-9CA6-A438-3460926C16E1}"/>
                  </a:ext>
                </a:extLst>
              </p:cNvPr>
              <p:cNvSpPr txBox="1">
                <a:spLocks noRot="1" noChangeAspect="1" noMove="1" noResize="1" noEditPoints="1" noAdjustHandles="1" noChangeArrowheads="1" noChangeShapeType="1" noTextEdit="1"/>
              </p:cNvSpPr>
              <p:nvPr/>
            </p:nvSpPr>
            <p:spPr>
              <a:xfrm>
                <a:off x="2001030" y="2577939"/>
                <a:ext cx="815095" cy="369332"/>
              </a:xfrm>
              <a:prstGeom prst="rect">
                <a:avLst/>
              </a:prstGeom>
              <a:blipFill>
                <a:blip r:embed="rId7"/>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029B7EF-9812-415F-4175-A22DB8EA55F3}"/>
                  </a:ext>
                </a:extLst>
              </p:cNvPr>
              <p:cNvSpPr txBox="1"/>
              <p:nvPr/>
            </p:nvSpPr>
            <p:spPr>
              <a:xfrm>
                <a:off x="2001031" y="814752"/>
                <a:ext cx="81509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m:t>
                              </m:r>
                            </m:sup>
                          </m:sSup>
                        </m:e>
                      </m:d>
                    </m:oMath>
                  </m:oMathPara>
                </a14:m>
                <a:endParaRPr lang="en-US" dirty="0"/>
              </a:p>
            </p:txBody>
          </p:sp>
        </mc:Choice>
        <mc:Fallback xmlns="">
          <p:sp>
            <p:nvSpPr>
              <p:cNvPr id="29" name="TextBox 28">
                <a:extLst>
                  <a:ext uri="{FF2B5EF4-FFF2-40B4-BE49-F238E27FC236}">
                    <a16:creationId xmlns:a16="http://schemas.microsoft.com/office/drawing/2014/main" id="{3029B7EF-9812-415F-4175-A22DB8EA55F3}"/>
                  </a:ext>
                </a:extLst>
              </p:cNvPr>
              <p:cNvSpPr txBox="1">
                <a:spLocks noRot="1" noChangeAspect="1" noMove="1" noResize="1" noEditPoints="1" noAdjustHandles="1" noChangeArrowheads="1" noChangeShapeType="1" noTextEdit="1"/>
              </p:cNvSpPr>
              <p:nvPr/>
            </p:nvSpPr>
            <p:spPr>
              <a:xfrm>
                <a:off x="2001031" y="814752"/>
                <a:ext cx="815095" cy="369332"/>
              </a:xfrm>
              <a:prstGeom prst="rect">
                <a:avLst/>
              </a:prstGeom>
              <a:blipFill>
                <a:blip r:embed="rId8"/>
                <a:stretch>
                  <a:fillRect b="-6667"/>
                </a:stretch>
              </a:blipFill>
            </p:spPr>
            <p:txBody>
              <a:bodyPr/>
              <a:lstStyle/>
              <a:p>
                <a:r>
                  <a:rPr lang="en-US">
                    <a:noFill/>
                  </a:rPr>
                  <a:t> </a:t>
                </a:r>
              </a:p>
            </p:txBody>
          </p:sp>
        </mc:Fallback>
      </mc:AlternateContent>
      <p:sp>
        <p:nvSpPr>
          <p:cNvPr id="31" name="Right Brace 30">
            <a:extLst>
              <a:ext uri="{FF2B5EF4-FFF2-40B4-BE49-F238E27FC236}">
                <a16:creationId xmlns:a16="http://schemas.microsoft.com/office/drawing/2014/main" id="{1A30856B-1146-5C11-03EE-B327E8BC786B}"/>
              </a:ext>
            </a:extLst>
          </p:cNvPr>
          <p:cNvSpPr/>
          <p:nvPr/>
        </p:nvSpPr>
        <p:spPr>
          <a:xfrm flipH="1">
            <a:off x="2751185" y="759208"/>
            <a:ext cx="169816" cy="49410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Right Brace 32">
            <a:extLst>
              <a:ext uri="{FF2B5EF4-FFF2-40B4-BE49-F238E27FC236}">
                <a16:creationId xmlns:a16="http://schemas.microsoft.com/office/drawing/2014/main" id="{D15CA3FB-CA0A-DF5C-D903-831963A15076}"/>
              </a:ext>
            </a:extLst>
          </p:cNvPr>
          <p:cNvSpPr/>
          <p:nvPr/>
        </p:nvSpPr>
        <p:spPr>
          <a:xfrm flipH="1">
            <a:off x="2751185" y="1273558"/>
            <a:ext cx="169816" cy="301747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48F0598-B147-AFCE-730A-4DB397205056}"/>
                  </a:ext>
                </a:extLst>
              </p:cNvPr>
              <p:cNvSpPr txBox="1"/>
              <p:nvPr/>
            </p:nvSpPr>
            <p:spPr>
              <a:xfrm>
                <a:off x="5689600" y="614195"/>
                <a:ext cx="4294317" cy="10876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𝑝</m:t>
                      </m:r>
                      <m:d>
                        <m:dPr>
                          <m:ctrlPr>
                            <a:rPr lang="en-US" sz="2800" b="0" i="1" smtClean="0">
                              <a:solidFill>
                                <a:schemeClr val="tx1"/>
                              </a:solidFill>
                              <a:latin typeface="Cambria Math" panose="02040503050406030204" pitchFamily="18" charset="0"/>
                            </a:rPr>
                          </m:ctrlPr>
                        </m:dPr>
                        <m:e>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𝑧</m:t>
                              </m:r>
                            </m:e>
                            <m:sup>
                              <m:r>
                                <a:rPr lang="en-US" sz="2800" b="0" i="1" smtClean="0">
                                  <a:solidFill>
                                    <a:schemeClr val="tx1"/>
                                  </a:solidFill>
                                  <a:latin typeface="Cambria Math" panose="02040503050406030204" pitchFamily="18" charset="0"/>
                                </a:rPr>
                                <m:t>+</m:t>
                              </m:r>
                            </m:sup>
                          </m:sSup>
                        </m:e>
                      </m:d>
                      <m:r>
                        <a:rPr lang="en-US" sz="2800" b="0" i="1" smtClean="0">
                          <a:solidFill>
                            <a:schemeClr val="tx1"/>
                          </a:solidFill>
                          <a:latin typeface="Cambria Math" panose="02040503050406030204" pitchFamily="18" charset="0"/>
                        </a:rPr>
                        <m:t>=</m:t>
                      </m:r>
                      <m:f>
                        <m:fPr>
                          <m:ctrlPr>
                            <a:rPr lang="en-US" sz="2800" b="0" i="1" smtClean="0">
                              <a:solidFill>
                                <a:schemeClr val="tx1"/>
                              </a:solidFill>
                              <a:latin typeface="Cambria Math" panose="02040503050406030204" pitchFamily="18" charset="0"/>
                            </a:rPr>
                          </m:ctrlPr>
                        </m:fPr>
                        <m:num>
                          <m:bar>
                            <m:barPr>
                              <m:pos m:val="top"/>
                              <m:ctrlPr>
                                <a:rPr lang="en-US" sz="2800" b="0" i="1" smtClean="0">
                                  <a:solidFill>
                                    <a:schemeClr val="tx1"/>
                                  </a:solidFill>
                                  <a:latin typeface="Cambria Math" panose="02040503050406030204" pitchFamily="18" charset="0"/>
                                </a:rPr>
                              </m:ctrlPr>
                            </m:barPr>
                            <m:e>
                              <m:r>
                                <a:rPr lang="en-US" sz="2800" b="0" i="1" smtClean="0">
                                  <a:latin typeface="Cambria Math" panose="02040503050406030204" pitchFamily="18" charset="0"/>
                                </a:rPr>
                                <m:t>𝐴</m:t>
                              </m:r>
                              <m:sSup>
                                <m:sSupPr>
                                  <m:ctrlPr>
                                    <a:rPr lang="en-US" sz="2800" i="1">
                                      <a:latin typeface="Cambria Math" panose="02040503050406030204" pitchFamily="18" charset="0"/>
                                    </a:rPr>
                                  </m:ctrlPr>
                                </m:sSupPr>
                                <m:e>
                                  <m:r>
                                    <a:rPr lang="en-US" sz="2800" i="1">
                                      <a:latin typeface="Cambria Math" panose="02040503050406030204" pitchFamily="18" charset="0"/>
                                    </a:rPr>
                                    <m:t>𝑧</m:t>
                                  </m:r>
                                </m:e>
                                <m:sup>
                                  <m:r>
                                    <a:rPr lang="en-US" sz="2800" i="1">
                                      <a:latin typeface="Cambria Math" panose="02040503050406030204" pitchFamily="18" charset="0"/>
                                    </a:rPr>
                                    <m:t>−</m:t>
                                  </m:r>
                                </m:sup>
                              </m:sSup>
                            </m:e>
                          </m:bar>
                        </m:num>
                        <m:den>
                          <m:bar>
                            <m:barPr>
                              <m:pos m:val="top"/>
                              <m:ctrlPr>
                                <a:rPr lang="en-US" sz="2800" b="0" i="1" smtClean="0">
                                  <a:solidFill>
                                    <a:schemeClr val="tx1"/>
                                  </a:solidFill>
                                  <a:latin typeface="Cambria Math" panose="02040503050406030204" pitchFamily="18" charset="0"/>
                                </a:rPr>
                              </m:ctrlPr>
                            </m:barPr>
                            <m:e>
                              <m:sSup>
                                <m:sSupPr>
                                  <m:ctrlPr>
                                    <a:rPr lang="en-US" sz="2800" i="1">
                                      <a:latin typeface="Cambria Math" panose="02040503050406030204" pitchFamily="18" charset="0"/>
                                    </a:rPr>
                                  </m:ctrlPr>
                                </m:sSupPr>
                                <m:e>
                                  <m:r>
                                    <a:rPr lang="en-US" sz="2800" i="1">
                                      <a:latin typeface="Cambria Math" panose="02040503050406030204" pitchFamily="18" charset="0"/>
                                    </a:rPr>
                                    <m:t>𝑧</m:t>
                                  </m:r>
                                </m:e>
                                <m:sup>
                                  <m:r>
                                    <a:rPr lang="en-US" sz="2800" i="1">
                                      <a:latin typeface="Cambria Math" panose="02040503050406030204" pitchFamily="18" charset="0"/>
                                    </a:rPr>
                                    <m:t>+</m:t>
                                  </m:r>
                                </m:sup>
                              </m:sSup>
                              <m:sSup>
                                <m:sSupPr>
                                  <m:ctrlPr>
                                    <a:rPr lang="en-US" sz="2800" i="1">
                                      <a:latin typeface="Cambria Math" panose="02040503050406030204" pitchFamily="18" charset="0"/>
                                    </a:rPr>
                                  </m:ctrlPr>
                                </m:sSupPr>
                                <m:e>
                                  <m:r>
                                    <a:rPr lang="en-US" sz="2800" i="1">
                                      <a:latin typeface="Cambria Math" panose="02040503050406030204" pitchFamily="18" charset="0"/>
                                    </a:rPr>
                                    <m:t>𝑧</m:t>
                                  </m:r>
                                </m:e>
                                <m:sup>
                                  <m:r>
                                    <a:rPr lang="en-US" sz="2800" i="1">
                                      <a:latin typeface="Cambria Math" panose="02040503050406030204" pitchFamily="18" charset="0"/>
                                    </a:rPr>
                                    <m:t>−</m:t>
                                  </m:r>
                                </m:sup>
                              </m:sSup>
                            </m:e>
                          </m:bar>
                        </m:den>
                      </m:f>
                      <m:r>
                        <a:rPr lang="en-US" sz="2800" b="0" i="1" smtClean="0">
                          <a:solidFill>
                            <a:schemeClr val="tx1"/>
                          </a:solidFill>
                          <a:latin typeface="Cambria Math" panose="02040503050406030204" pitchFamily="18" charset="0"/>
                        </a:rPr>
                        <m:t>=</m:t>
                      </m:r>
                      <m:f>
                        <m:fPr>
                          <m:ctrlPr>
                            <a:rPr lang="en-US" sz="2800" b="0" i="1" smtClean="0">
                              <a:solidFill>
                                <a:schemeClr val="tx1"/>
                              </a:solidFill>
                              <a:latin typeface="Cambria Math" panose="02040503050406030204" pitchFamily="18" charset="0"/>
                            </a:rPr>
                          </m:ctrlPr>
                        </m:fPr>
                        <m:num>
                          <m:r>
                            <a:rPr lang="en-US" sz="2800" i="1">
                              <a:latin typeface="Cambria Math" panose="02040503050406030204" pitchFamily="18" charset="0"/>
                            </a:rPr>
                            <m:t>1+</m:t>
                          </m:r>
                          <m:func>
                            <m:funcPr>
                              <m:ctrlPr>
                                <a:rPr lang="en-US" sz="2800" b="0" i="1" smtClean="0">
                                  <a:solidFill>
                                    <a:schemeClr val="tx1"/>
                                  </a:solidFill>
                                  <a:latin typeface="Cambria Math" panose="02040503050406030204" pitchFamily="18" charset="0"/>
                                </a:rPr>
                              </m:ctrlPr>
                            </m:funcPr>
                            <m:fName>
                              <m:r>
                                <m:rPr>
                                  <m:sty m:val="p"/>
                                </m:rPr>
                                <a:rPr lang="en-US" sz="2800" b="0" i="0" smtClean="0">
                                  <a:solidFill>
                                    <a:schemeClr val="tx1"/>
                                  </a:solidFill>
                                  <a:latin typeface="Cambria Math" panose="02040503050406030204" pitchFamily="18" charset="0"/>
                                </a:rPr>
                                <m:t>cos</m:t>
                              </m:r>
                            </m:fName>
                            <m:e>
                              <m:r>
                                <a:rPr lang="en-US" sz="2800" b="0" i="1" smtClean="0">
                                  <a:solidFill>
                                    <a:schemeClr val="tx1"/>
                                  </a:solidFill>
                                  <a:latin typeface="Cambria Math" panose="02040503050406030204" pitchFamily="18" charset="0"/>
                                </a:rPr>
                                <m:t>𝜃</m:t>
                              </m:r>
                            </m:e>
                          </m:func>
                        </m:num>
                        <m:den>
                          <m:r>
                            <a:rPr lang="en-US" sz="2800" b="0" i="1" smtClean="0">
                              <a:solidFill>
                                <a:schemeClr val="tx1"/>
                              </a:solidFill>
                              <a:latin typeface="Cambria Math" panose="02040503050406030204" pitchFamily="18" charset="0"/>
                            </a:rPr>
                            <m:t>2</m:t>
                          </m:r>
                        </m:den>
                      </m:f>
                    </m:oMath>
                  </m:oMathPara>
                </a14:m>
                <a:endParaRPr lang="en-US" sz="2800" dirty="0">
                  <a:solidFill>
                    <a:schemeClr val="tx1"/>
                  </a:solidFill>
                </a:endParaRPr>
              </a:p>
            </p:txBody>
          </p:sp>
        </mc:Choice>
        <mc:Fallback xmlns="">
          <p:sp>
            <p:nvSpPr>
              <p:cNvPr id="2" name="TextBox 1">
                <a:extLst>
                  <a:ext uri="{FF2B5EF4-FFF2-40B4-BE49-F238E27FC236}">
                    <a16:creationId xmlns:a16="http://schemas.microsoft.com/office/drawing/2014/main" id="{248F0598-B147-AFCE-730A-4DB397205056}"/>
                  </a:ext>
                </a:extLst>
              </p:cNvPr>
              <p:cNvSpPr txBox="1">
                <a:spLocks noRot="1" noChangeAspect="1" noMove="1" noResize="1" noEditPoints="1" noAdjustHandles="1" noChangeArrowheads="1" noChangeShapeType="1" noTextEdit="1"/>
              </p:cNvSpPr>
              <p:nvPr/>
            </p:nvSpPr>
            <p:spPr>
              <a:xfrm>
                <a:off x="5689600" y="614195"/>
                <a:ext cx="4294317" cy="108760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723618E-ACFF-4A77-50C4-EAB0FEC100A2}"/>
                  </a:ext>
                </a:extLst>
              </p:cNvPr>
              <p:cNvSpPr txBox="1"/>
              <p:nvPr/>
            </p:nvSpPr>
            <p:spPr>
              <a:xfrm>
                <a:off x="2107027" y="1294560"/>
                <a:ext cx="38568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oMath>
                  </m:oMathPara>
                </a14:m>
                <a:endParaRPr lang="en-US" dirty="0"/>
              </a:p>
            </p:txBody>
          </p:sp>
        </mc:Choice>
        <mc:Fallback xmlns="">
          <p:sp>
            <p:nvSpPr>
              <p:cNvPr id="8" name="TextBox 7">
                <a:extLst>
                  <a:ext uri="{FF2B5EF4-FFF2-40B4-BE49-F238E27FC236}">
                    <a16:creationId xmlns:a16="http://schemas.microsoft.com/office/drawing/2014/main" id="{B723618E-ACFF-4A77-50C4-EAB0FEC100A2}"/>
                  </a:ext>
                </a:extLst>
              </p:cNvPr>
              <p:cNvSpPr txBox="1">
                <a:spLocks noRot="1" noChangeAspect="1" noMove="1" noResize="1" noEditPoints="1" noAdjustHandles="1" noChangeArrowheads="1" noChangeShapeType="1" noTextEdit="1"/>
              </p:cNvSpPr>
              <p:nvPr/>
            </p:nvSpPr>
            <p:spPr>
              <a:xfrm>
                <a:off x="2107027" y="1294560"/>
                <a:ext cx="385683" cy="369332"/>
              </a:xfrm>
              <a:prstGeom prst="rect">
                <a:avLst/>
              </a:prstGeom>
              <a:blipFill>
                <a:blip r:embed="rId10"/>
                <a:stretch>
                  <a:fillRect/>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E9D7238B-560E-9760-E455-7D156D3443E6}"/>
              </a:ext>
            </a:extLst>
          </p:cNvPr>
          <p:cNvCxnSpPr>
            <a:endCxn id="33" idx="0"/>
          </p:cNvCxnSpPr>
          <p:nvPr/>
        </p:nvCxnSpPr>
        <p:spPr>
          <a:xfrm flipV="1">
            <a:off x="2408577" y="1273558"/>
            <a:ext cx="512424" cy="199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E6F984F-FD11-9758-93E1-2C838D45EFA9}"/>
                  </a:ext>
                </a:extLst>
              </p:cNvPr>
              <p:cNvSpPr txBox="1"/>
              <p:nvPr/>
            </p:nvSpPr>
            <p:spPr>
              <a:xfrm>
                <a:off x="5689600" y="2350054"/>
                <a:ext cx="4294317" cy="110536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𝑝</m:t>
                      </m:r>
                      <m:d>
                        <m:dPr>
                          <m:ctrlPr>
                            <a:rPr lang="en-US" sz="2800" b="0" i="1" smtClean="0">
                              <a:solidFill>
                                <a:schemeClr val="tx1"/>
                              </a:solidFill>
                              <a:latin typeface="Cambria Math" panose="02040503050406030204" pitchFamily="18" charset="0"/>
                            </a:rPr>
                          </m:ctrlPr>
                        </m:dPr>
                        <m:e>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𝑧</m:t>
                              </m:r>
                            </m:e>
                            <m:sup>
                              <m:r>
                                <a:rPr lang="en-US" sz="2800" b="0" i="1" smtClean="0">
                                  <a:solidFill>
                                    <a:schemeClr val="tx1"/>
                                  </a:solidFill>
                                  <a:latin typeface="Cambria Math" panose="02040503050406030204" pitchFamily="18" charset="0"/>
                                </a:rPr>
                                <m:t>−</m:t>
                              </m:r>
                            </m:sup>
                          </m:sSup>
                        </m:e>
                      </m:d>
                      <m:r>
                        <a:rPr lang="en-US" sz="2800" b="0" i="1" smtClean="0">
                          <a:solidFill>
                            <a:schemeClr val="tx1"/>
                          </a:solidFill>
                          <a:latin typeface="Cambria Math" panose="02040503050406030204" pitchFamily="18" charset="0"/>
                        </a:rPr>
                        <m:t>=</m:t>
                      </m:r>
                      <m:f>
                        <m:fPr>
                          <m:ctrlPr>
                            <a:rPr lang="en-US" sz="2800" b="0" i="1" smtClean="0">
                              <a:solidFill>
                                <a:schemeClr val="tx1"/>
                              </a:solidFill>
                              <a:latin typeface="Cambria Math" panose="02040503050406030204" pitchFamily="18" charset="0"/>
                            </a:rPr>
                          </m:ctrlPr>
                        </m:fPr>
                        <m:num>
                          <m:bar>
                            <m:barPr>
                              <m:pos m:val="top"/>
                              <m:ctrlPr>
                                <a:rPr lang="en-US" sz="2800" b="0" i="1" smtClean="0">
                                  <a:solidFill>
                                    <a:schemeClr val="tx1"/>
                                  </a:solidFill>
                                  <a:latin typeface="Cambria Math" panose="02040503050406030204" pitchFamily="18" charset="0"/>
                                </a:rPr>
                              </m:ctrlPr>
                            </m:barPr>
                            <m:e>
                              <m:sSup>
                                <m:sSupPr>
                                  <m:ctrlPr>
                                    <a:rPr lang="en-US" sz="2800" i="1">
                                      <a:latin typeface="Cambria Math" panose="02040503050406030204" pitchFamily="18" charset="0"/>
                                    </a:rPr>
                                  </m:ctrlPr>
                                </m:sSupPr>
                                <m:e>
                                  <m:r>
                                    <a:rPr lang="en-US" sz="2800" i="1">
                                      <a:latin typeface="Cambria Math" panose="02040503050406030204" pitchFamily="18" charset="0"/>
                                    </a:rPr>
                                    <m:t>𝑧</m:t>
                                  </m:r>
                                </m:e>
                                <m:sup>
                                  <m:r>
                                    <a:rPr lang="en-US" sz="2800" b="0" i="1" smtClean="0">
                                      <a:latin typeface="Cambria Math" panose="02040503050406030204" pitchFamily="18" charset="0"/>
                                    </a:rPr>
                                    <m:t>+</m:t>
                                  </m:r>
                                </m:sup>
                              </m:sSup>
                              <m:r>
                                <a:rPr lang="en-US" sz="2800" b="0" i="1" smtClean="0">
                                  <a:latin typeface="Cambria Math" panose="02040503050406030204" pitchFamily="18" charset="0"/>
                                </a:rPr>
                                <m:t>𝐴</m:t>
                              </m:r>
                            </m:e>
                          </m:bar>
                        </m:num>
                        <m:den>
                          <m:bar>
                            <m:barPr>
                              <m:pos m:val="top"/>
                              <m:ctrlPr>
                                <a:rPr lang="en-US" sz="2800" b="0" i="1" smtClean="0">
                                  <a:solidFill>
                                    <a:schemeClr val="tx1"/>
                                  </a:solidFill>
                                  <a:latin typeface="Cambria Math" panose="02040503050406030204" pitchFamily="18" charset="0"/>
                                </a:rPr>
                              </m:ctrlPr>
                            </m:barPr>
                            <m:e>
                              <m:sSup>
                                <m:sSupPr>
                                  <m:ctrlPr>
                                    <a:rPr lang="en-US" sz="2800" i="1">
                                      <a:latin typeface="Cambria Math" panose="02040503050406030204" pitchFamily="18" charset="0"/>
                                    </a:rPr>
                                  </m:ctrlPr>
                                </m:sSupPr>
                                <m:e>
                                  <m:r>
                                    <a:rPr lang="en-US" sz="2800" i="1">
                                      <a:latin typeface="Cambria Math" panose="02040503050406030204" pitchFamily="18" charset="0"/>
                                    </a:rPr>
                                    <m:t>𝑧</m:t>
                                  </m:r>
                                </m:e>
                                <m:sup>
                                  <m:r>
                                    <a:rPr lang="en-US" sz="2800" i="1">
                                      <a:latin typeface="Cambria Math" panose="02040503050406030204" pitchFamily="18" charset="0"/>
                                    </a:rPr>
                                    <m:t>+</m:t>
                                  </m:r>
                                </m:sup>
                              </m:sSup>
                              <m:sSup>
                                <m:sSupPr>
                                  <m:ctrlPr>
                                    <a:rPr lang="en-US" sz="2800" i="1">
                                      <a:latin typeface="Cambria Math" panose="02040503050406030204" pitchFamily="18" charset="0"/>
                                    </a:rPr>
                                  </m:ctrlPr>
                                </m:sSupPr>
                                <m:e>
                                  <m:r>
                                    <a:rPr lang="en-US" sz="2800" i="1">
                                      <a:latin typeface="Cambria Math" panose="02040503050406030204" pitchFamily="18" charset="0"/>
                                    </a:rPr>
                                    <m:t>𝑧</m:t>
                                  </m:r>
                                </m:e>
                                <m:sup>
                                  <m:r>
                                    <a:rPr lang="en-US" sz="2800" i="1">
                                      <a:latin typeface="Cambria Math" panose="02040503050406030204" pitchFamily="18" charset="0"/>
                                    </a:rPr>
                                    <m:t>−</m:t>
                                  </m:r>
                                </m:sup>
                              </m:sSup>
                            </m:e>
                          </m:bar>
                        </m:den>
                      </m:f>
                      <m:r>
                        <a:rPr lang="en-US" sz="2800" b="0" i="1" smtClean="0">
                          <a:solidFill>
                            <a:schemeClr val="tx1"/>
                          </a:solidFill>
                          <a:latin typeface="Cambria Math" panose="02040503050406030204" pitchFamily="18" charset="0"/>
                        </a:rPr>
                        <m:t>=</m:t>
                      </m:r>
                      <m:f>
                        <m:fPr>
                          <m:ctrlPr>
                            <a:rPr lang="en-US" sz="2800" b="0" i="1" smtClean="0">
                              <a:solidFill>
                                <a:schemeClr val="tx1"/>
                              </a:solidFill>
                              <a:latin typeface="Cambria Math" panose="02040503050406030204" pitchFamily="18" charset="0"/>
                            </a:rPr>
                          </m:ctrlPr>
                        </m:fPr>
                        <m:num>
                          <m:r>
                            <a:rPr lang="en-US" sz="2800" i="1">
                              <a:latin typeface="Cambria Math" panose="02040503050406030204" pitchFamily="18" charset="0"/>
                            </a:rPr>
                            <m:t>1</m:t>
                          </m:r>
                          <m:r>
                            <a:rPr lang="en-US" sz="2800" b="0" i="1" smtClean="0">
                              <a:latin typeface="Cambria Math" panose="02040503050406030204" pitchFamily="18" charset="0"/>
                            </a:rPr>
                            <m:t>−</m:t>
                          </m:r>
                          <m:func>
                            <m:funcPr>
                              <m:ctrlPr>
                                <a:rPr lang="en-US" sz="2800" b="0" i="1" smtClean="0">
                                  <a:solidFill>
                                    <a:schemeClr val="tx1"/>
                                  </a:solidFill>
                                  <a:latin typeface="Cambria Math" panose="02040503050406030204" pitchFamily="18" charset="0"/>
                                </a:rPr>
                              </m:ctrlPr>
                            </m:funcPr>
                            <m:fName>
                              <m:r>
                                <m:rPr>
                                  <m:sty m:val="p"/>
                                </m:rPr>
                                <a:rPr lang="en-US" sz="2800" b="0" i="0" smtClean="0">
                                  <a:solidFill>
                                    <a:schemeClr val="tx1"/>
                                  </a:solidFill>
                                  <a:latin typeface="Cambria Math" panose="02040503050406030204" pitchFamily="18" charset="0"/>
                                </a:rPr>
                                <m:t>cos</m:t>
                              </m:r>
                            </m:fName>
                            <m:e>
                              <m:r>
                                <a:rPr lang="en-US" sz="2800" b="0" i="1" smtClean="0">
                                  <a:solidFill>
                                    <a:schemeClr val="tx1"/>
                                  </a:solidFill>
                                  <a:latin typeface="Cambria Math" panose="02040503050406030204" pitchFamily="18" charset="0"/>
                                </a:rPr>
                                <m:t>𝜃</m:t>
                              </m:r>
                            </m:e>
                          </m:func>
                        </m:num>
                        <m:den>
                          <m:r>
                            <a:rPr lang="en-US" sz="2800" b="0" i="1" smtClean="0">
                              <a:solidFill>
                                <a:schemeClr val="tx1"/>
                              </a:solidFill>
                              <a:latin typeface="Cambria Math" panose="02040503050406030204" pitchFamily="18" charset="0"/>
                            </a:rPr>
                            <m:t>2</m:t>
                          </m:r>
                        </m:den>
                      </m:f>
                    </m:oMath>
                  </m:oMathPara>
                </a14:m>
                <a:endParaRPr lang="en-US" sz="2800" dirty="0">
                  <a:solidFill>
                    <a:schemeClr val="tx1"/>
                  </a:solidFill>
                </a:endParaRPr>
              </a:p>
            </p:txBody>
          </p:sp>
        </mc:Choice>
        <mc:Fallback xmlns="">
          <p:sp>
            <p:nvSpPr>
              <p:cNvPr id="20" name="TextBox 19">
                <a:extLst>
                  <a:ext uri="{FF2B5EF4-FFF2-40B4-BE49-F238E27FC236}">
                    <a16:creationId xmlns:a16="http://schemas.microsoft.com/office/drawing/2014/main" id="{EE6F984F-FD11-9758-93E1-2C838D45EFA9}"/>
                  </a:ext>
                </a:extLst>
              </p:cNvPr>
              <p:cNvSpPr txBox="1">
                <a:spLocks noRot="1" noChangeAspect="1" noMove="1" noResize="1" noEditPoints="1" noAdjustHandles="1" noChangeArrowheads="1" noChangeShapeType="1" noTextEdit="1"/>
              </p:cNvSpPr>
              <p:nvPr/>
            </p:nvSpPr>
            <p:spPr>
              <a:xfrm>
                <a:off x="5689600" y="2350054"/>
                <a:ext cx="4294317" cy="1105367"/>
              </a:xfrm>
              <a:prstGeom prst="rect">
                <a:avLst/>
              </a:prstGeom>
              <a:blipFill>
                <a:blip r:embed="rId11"/>
                <a:stretch>
                  <a:fillRect/>
                </a:stretch>
              </a:blipFill>
            </p:spPr>
            <p:txBody>
              <a:bodyPr/>
              <a:lstStyle/>
              <a:p>
                <a:r>
                  <a:rPr lang="en-US">
                    <a:noFill/>
                  </a:rPr>
                  <a:t> </a:t>
                </a:r>
              </a:p>
            </p:txBody>
          </p:sp>
        </mc:Fallback>
      </mc:AlternateContent>
      <p:sp>
        <p:nvSpPr>
          <p:cNvPr id="35" name="TextBox 34">
            <a:extLst>
              <a:ext uri="{FF2B5EF4-FFF2-40B4-BE49-F238E27FC236}">
                <a16:creationId xmlns:a16="http://schemas.microsoft.com/office/drawing/2014/main" id="{370ADA66-F8FC-FE70-1D69-C53E4F62193D}"/>
              </a:ext>
            </a:extLst>
          </p:cNvPr>
          <p:cNvSpPr txBox="1"/>
          <p:nvPr/>
        </p:nvSpPr>
        <p:spPr>
          <a:xfrm>
            <a:off x="6952900" y="3852965"/>
            <a:ext cx="1208279" cy="707886"/>
          </a:xfrm>
          <a:prstGeom prst="rect">
            <a:avLst/>
          </a:prstGeom>
          <a:noFill/>
        </p:spPr>
        <p:txBody>
          <a:bodyPr wrap="none" rtlCol="0">
            <a:spAutoFit/>
          </a:bodyPr>
          <a:lstStyle/>
          <a:p>
            <a:r>
              <a:rPr lang="en-US" sz="4000" dirty="0"/>
              <a:t>Note</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5C0A216-0D77-33B5-E5E9-653A0AA1120B}"/>
                  </a:ext>
                </a:extLst>
              </p:cNvPr>
              <p:cNvSpPr txBox="1"/>
              <p:nvPr/>
            </p:nvSpPr>
            <p:spPr>
              <a:xfrm>
                <a:off x="9873469" y="706655"/>
                <a:ext cx="1588127" cy="9026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m:t>
                      </m:r>
                      <m:func>
                        <m:funcPr>
                          <m:ctrlPr>
                            <a:rPr lang="en-US" sz="2800" b="0" i="1" smtClean="0">
                              <a:solidFill>
                                <a:schemeClr val="tx1"/>
                              </a:solidFill>
                              <a:latin typeface="Cambria Math" panose="02040503050406030204" pitchFamily="18" charset="0"/>
                            </a:rPr>
                          </m:ctrlPr>
                        </m:funcPr>
                        <m:fName>
                          <m:sSup>
                            <m:sSupPr>
                              <m:ctrlPr>
                                <a:rPr lang="en-US" sz="2800" b="0" i="1" smtClean="0">
                                  <a:solidFill>
                                    <a:schemeClr val="tx1"/>
                                  </a:solidFill>
                                  <a:latin typeface="Cambria Math" panose="02040503050406030204" pitchFamily="18" charset="0"/>
                                </a:rPr>
                              </m:ctrlPr>
                            </m:sSupPr>
                            <m:e>
                              <m:r>
                                <m:rPr>
                                  <m:sty m:val="p"/>
                                </m:rPr>
                                <a:rPr lang="en-US" sz="2800" b="0" i="0" smtClean="0">
                                  <a:solidFill>
                                    <a:schemeClr val="tx1"/>
                                  </a:solidFill>
                                  <a:latin typeface="Cambria Math" panose="02040503050406030204" pitchFamily="18" charset="0"/>
                                </a:rPr>
                                <m:t>cos</m:t>
                              </m:r>
                            </m:e>
                            <m:sup>
                              <m:r>
                                <a:rPr lang="en-US" sz="2800" b="0" i="1" smtClean="0">
                                  <a:solidFill>
                                    <a:schemeClr val="tx1"/>
                                  </a:solidFill>
                                  <a:latin typeface="Cambria Math" panose="02040503050406030204" pitchFamily="18" charset="0"/>
                                </a:rPr>
                                <m:t>2</m:t>
                              </m:r>
                            </m:sup>
                          </m:sSup>
                        </m:fName>
                        <m:e>
                          <m:f>
                            <m:fPr>
                              <m:ctrlPr>
                                <a:rPr lang="en-US" sz="2800" b="0" i="1" smtClean="0">
                                  <a:solidFill>
                                    <a:schemeClr val="tx1"/>
                                  </a:solidFill>
                                  <a:latin typeface="Cambria Math" panose="02040503050406030204" pitchFamily="18" charset="0"/>
                                </a:rPr>
                              </m:ctrlPr>
                            </m:fPr>
                            <m:num>
                              <m:r>
                                <a:rPr lang="en-US" sz="2800" b="0" i="1" smtClean="0">
                                  <a:solidFill>
                                    <a:schemeClr val="tx1"/>
                                  </a:solidFill>
                                  <a:latin typeface="Cambria Math" panose="02040503050406030204" pitchFamily="18" charset="0"/>
                                </a:rPr>
                                <m:t>𝜃</m:t>
                              </m:r>
                            </m:num>
                            <m:den>
                              <m:r>
                                <a:rPr lang="en-US" sz="2800" b="0" i="1" smtClean="0">
                                  <a:solidFill>
                                    <a:schemeClr val="tx1"/>
                                  </a:solidFill>
                                  <a:latin typeface="Cambria Math" panose="02040503050406030204" pitchFamily="18" charset="0"/>
                                </a:rPr>
                                <m:t>2</m:t>
                              </m:r>
                            </m:den>
                          </m:f>
                        </m:e>
                      </m:func>
                    </m:oMath>
                  </m:oMathPara>
                </a14:m>
                <a:endParaRPr lang="en-US" sz="2800" dirty="0">
                  <a:solidFill>
                    <a:schemeClr val="tx1"/>
                  </a:solidFill>
                </a:endParaRPr>
              </a:p>
            </p:txBody>
          </p:sp>
        </mc:Choice>
        <mc:Fallback xmlns="">
          <p:sp>
            <p:nvSpPr>
              <p:cNvPr id="39" name="TextBox 38">
                <a:extLst>
                  <a:ext uri="{FF2B5EF4-FFF2-40B4-BE49-F238E27FC236}">
                    <a16:creationId xmlns:a16="http://schemas.microsoft.com/office/drawing/2014/main" id="{05C0A216-0D77-33B5-E5E9-653A0AA1120B}"/>
                  </a:ext>
                </a:extLst>
              </p:cNvPr>
              <p:cNvSpPr txBox="1">
                <a:spLocks noRot="1" noChangeAspect="1" noMove="1" noResize="1" noEditPoints="1" noAdjustHandles="1" noChangeArrowheads="1" noChangeShapeType="1" noTextEdit="1"/>
              </p:cNvSpPr>
              <p:nvPr/>
            </p:nvSpPr>
            <p:spPr>
              <a:xfrm>
                <a:off x="9873469" y="706655"/>
                <a:ext cx="1588127" cy="902683"/>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0EA1862-E0F9-518F-233D-921B4C2FCBB7}"/>
                  </a:ext>
                </a:extLst>
              </p:cNvPr>
              <p:cNvSpPr txBox="1"/>
              <p:nvPr/>
            </p:nvSpPr>
            <p:spPr>
              <a:xfrm>
                <a:off x="9830661" y="2438392"/>
                <a:ext cx="1527020" cy="9026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m:t>
                      </m:r>
                      <m:func>
                        <m:funcPr>
                          <m:ctrlPr>
                            <a:rPr lang="en-US" sz="2800" b="0" i="1" smtClean="0">
                              <a:solidFill>
                                <a:schemeClr val="tx1"/>
                              </a:solidFill>
                              <a:latin typeface="Cambria Math" panose="02040503050406030204" pitchFamily="18" charset="0"/>
                            </a:rPr>
                          </m:ctrlPr>
                        </m:funcPr>
                        <m:fName>
                          <m:sSup>
                            <m:sSupPr>
                              <m:ctrlPr>
                                <a:rPr lang="en-US" sz="2800" b="0" i="1" smtClean="0">
                                  <a:solidFill>
                                    <a:schemeClr val="tx1"/>
                                  </a:solidFill>
                                  <a:latin typeface="Cambria Math" panose="02040503050406030204" pitchFamily="18" charset="0"/>
                                </a:rPr>
                              </m:ctrlPr>
                            </m:sSupPr>
                            <m:e>
                              <m:r>
                                <m:rPr>
                                  <m:sty m:val="p"/>
                                </m:rPr>
                                <a:rPr lang="en-US" sz="2800" b="0" i="0" smtClean="0">
                                  <a:solidFill>
                                    <a:schemeClr val="tx1"/>
                                  </a:solidFill>
                                  <a:latin typeface="Cambria Math" panose="02040503050406030204" pitchFamily="18" charset="0"/>
                                </a:rPr>
                                <m:t>sin</m:t>
                              </m:r>
                            </m:e>
                            <m:sup>
                              <m:r>
                                <a:rPr lang="en-US" sz="2800" b="0" i="1" smtClean="0">
                                  <a:solidFill>
                                    <a:schemeClr val="tx1"/>
                                  </a:solidFill>
                                  <a:latin typeface="Cambria Math" panose="02040503050406030204" pitchFamily="18" charset="0"/>
                                </a:rPr>
                                <m:t>2</m:t>
                              </m:r>
                            </m:sup>
                          </m:sSup>
                        </m:fName>
                        <m:e>
                          <m:f>
                            <m:fPr>
                              <m:ctrlPr>
                                <a:rPr lang="en-US" sz="2800" b="0" i="1" smtClean="0">
                                  <a:solidFill>
                                    <a:schemeClr val="tx1"/>
                                  </a:solidFill>
                                  <a:latin typeface="Cambria Math" panose="02040503050406030204" pitchFamily="18" charset="0"/>
                                </a:rPr>
                              </m:ctrlPr>
                            </m:fPr>
                            <m:num>
                              <m:r>
                                <a:rPr lang="en-US" sz="2800" b="0" i="1" smtClean="0">
                                  <a:solidFill>
                                    <a:schemeClr val="tx1"/>
                                  </a:solidFill>
                                  <a:latin typeface="Cambria Math" panose="02040503050406030204" pitchFamily="18" charset="0"/>
                                </a:rPr>
                                <m:t>𝜃</m:t>
                              </m:r>
                            </m:num>
                            <m:den>
                              <m:r>
                                <a:rPr lang="en-US" sz="2800" b="0" i="1" smtClean="0">
                                  <a:solidFill>
                                    <a:schemeClr val="tx1"/>
                                  </a:solidFill>
                                  <a:latin typeface="Cambria Math" panose="02040503050406030204" pitchFamily="18" charset="0"/>
                                </a:rPr>
                                <m:t>2</m:t>
                              </m:r>
                            </m:den>
                          </m:f>
                        </m:e>
                      </m:func>
                    </m:oMath>
                  </m:oMathPara>
                </a14:m>
                <a:endParaRPr lang="en-US" sz="2800" dirty="0">
                  <a:solidFill>
                    <a:schemeClr val="tx1"/>
                  </a:solidFill>
                </a:endParaRPr>
              </a:p>
            </p:txBody>
          </p:sp>
        </mc:Choice>
        <mc:Fallback xmlns="">
          <p:sp>
            <p:nvSpPr>
              <p:cNvPr id="40" name="TextBox 39">
                <a:extLst>
                  <a:ext uri="{FF2B5EF4-FFF2-40B4-BE49-F238E27FC236}">
                    <a16:creationId xmlns:a16="http://schemas.microsoft.com/office/drawing/2014/main" id="{C0EA1862-E0F9-518F-233D-921B4C2FCBB7}"/>
                  </a:ext>
                </a:extLst>
              </p:cNvPr>
              <p:cNvSpPr txBox="1">
                <a:spLocks noRot="1" noChangeAspect="1" noMove="1" noResize="1" noEditPoints="1" noAdjustHandles="1" noChangeArrowheads="1" noChangeShapeType="1" noTextEdit="1"/>
              </p:cNvSpPr>
              <p:nvPr/>
            </p:nvSpPr>
            <p:spPr>
              <a:xfrm>
                <a:off x="9830661" y="2438392"/>
                <a:ext cx="1527020" cy="902683"/>
              </a:xfrm>
              <a:prstGeom prst="rect">
                <a:avLst/>
              </a:prstGeom>
              <a:blipFill>
                <a:blip r:embed="rId13"/>
                <a:stretch>
                  <a:fillRect/>
                </a:stretch>
              </a:blipFill>
            </p:spPr>
            <p:txBody>
              <a:bodyPr/>
              <a:lstStyle/>
              <a:p>
                <a:r>
                  <a:rPr lang="en-US">
                    <a:noFill/>
                  </a:rPr>
                  <a:t> </a:t>
                </a:r>
              </a:p>
            </p:txBody>
          </p:sp>
        </mc:Fallback>
      </mc:AlternateContent>
      <p:cxnSp>
        <p:nvCxnSpPr>
          <p:cNvPr id="42" name="Straight Arrow Connector 41">
            <a:extLst>
              <a:ext uri="{FF2B5EF4-FFF2-40B4-BE49-F238E27FC236}">
                <a16:creationId xmlns:a16="http://schemas.microsoft.com/office/drawing/2014/main" id="{2EC61EB8-26E7-B7B1-DFE8-FF44581C82EC}"/>
              </a:ext>
            </a:extLst>
          </p:cNvPr>
          <p:cNvCxnSpPr/>
          <p:nvPr/>
        </p:nvCxnSpPr>
        <p:spPr>
          <a:xfrm flipV="1">
            <a:off x="8178800" y="3175871"/>
            <a:ext cx="2184400" cy="1173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51119600-E9F2-9A28-0EB7-88462E65A029}"/>
              </a:ext>
            </a:extLst>
          </p:cNvPr>
          <p:cNvCxnSpPr>
            <a:endCxn id="39" idx="2"/>
          </p:cNvCxnSpPr>
          <p:nvPr/>
        </p:nvCxnSpPr>
        <p:spPr>
          <a:xfrm flipV="1">
            <a:off x="8197850" y="1609338"/>
            <a:ext cx="2469683" cy="2583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0B0C7BDC-3CBA-80DD-BCE5-C036D117AB8A}"/>
                  </a:ext>
                </a:extLst>
              </p:cNvPr>
              <p:cNvSpPr txBox="1"/>
              <p:nvPr/>
            </p:nvSpPr>
            <p:spPr>
              <a:xfrm>
                <a:off x="4382316" y="4246644"/>
                <a:ext cx="5103769" cy="1001300"/>
              </a:xfrm>
              <a:prstGeom prst="rect">
                <a:avLst/>
              </a:prstGeom>
              <a:noFill/>
            </p:spPr>
            <p:txBody>
              <a:bodyPr wrap="none" rtlCol="0">
                <a:spAutoFit/>
              </a:bodyPr>
              <a:lstStyle/>
              <a:p>
                <a:r>
                  <a:rPr lang="en-US" sz="2400" dirty="0"/>
                  <a:t>If we set </a:t>
                </a:r>
                <a14:m>
                  <m:oMath xmlns:m="http://schemas.openxmlformats.org/officeDocument/2006/math">
                    <m:r>
                      <a:rPr lang="en-US" sz="2400" b="0" i="1" smtClean="0">
                        <a:latin typeface="Cambria Math" panose="02040503050406030204" pitchFamily="18" charset="0"/>
                      </a:rPr>
                      <m:t>𝛼</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𝜃</m:t>
                        </m:r>
                      </m:num>
                      <m:den>
                        <m:r>
                          <a:rPr lang="en-US" sz="2400" b="0" i="1" smtClean="0">
                            <a:latin typeface="Cambria Math" panose="02040503050406030204" pitchFamily="18" charset="0"/>
                          </a:rPr>
                          <m:t>2</m:t>
                        </m:r>
                      </m:den>
                    </m:f>
                  </m:oMath>
                </a14:m>
                <a:r>
                  <a:rPr lang="en-US" sz="2400" dirty="0"/>
                  <a:t>,</a:t>
                </a:r>
                <a:br>
                  <a:rPr lang="en-US" sz="2400" dirty="0"/>
                </a:br>
                <a:r>
                  <a:rPr lang="en-US" sz="2400" dirty="0"/>
                  <a:t>we get back a constraint on the square!</a:t>
                </a:r>
              </a:p>
            </p:txBody>
          </p:sp>
        </mc:Choice>
        <mc:Fallback xmlns="">
          <p:sp>
            <p:nvSpPr>
              <p:cNvPr id="46" name="TextBox 45">
                <a:extLst>
                  <a:ext uri="{FF2B5EF4-FFF2-40B4-BE49-F238E27FC236}">
                    <a16:creationId xmlns:a16="http://schemas.microsoft.com/office/drawing/2014/main" id="{0B0C7BDC-3CBA-80DD-BCE5-C036D117AB8A}"/>
                  </a:ext>
                </a:extLst>
              </p:cNvPr>
              <p:cNvSpPr txBox="1">
                <a:spLocks noRot="1" noChangeAspect="1" noMove="1" noResize="1" noEditPoints="1" noAdjustHandles="1" noChangeArrowheads="1" noChangeShapeType="1" noTextEdit="1"/>
              </p:cNvSpPr>
              <p:nvPr/>
            </p:nvSpPr>
            <p:spPr>
              <a:xfrm>
                <a:off x="4382316" y="4246644"/>
                <a:ext cx="5103769" cy="1001300"/>
              </a:xfrm>
              <a:prstGeom prst="rect">
                <a:avLst/>
              </a:prstGeom>
              <a:blipFill>
                <a:blip r:embed="rId14"/>
                <a:stretch>
                  <a:fillRect l="-1912" r="-717" b="-128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656D7CE-5314-0C8B-8961-2A812462D638}"/>
                  </a:ext>
                </a:extLst>
              </p:cNvPr>
              <p:cNvSpPr txBox="1"/>
              <p:nvPr/>
            </p:nvSpPr>
            <p:spPr>
              <a:xfrm>
                <a:off x="1691027" y="5346924"/>
                <a:ext cx="7497822" cy="8222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US" sz="2800" b="0" i="1" smtClean="0">
                              <a:latin typeface="Cambria Math" panose="02040503050406030204" pitchFamily="18" charset="0"/>
                            </a:rPr>
                          </m:ctrlPr>
                        </m:funcPr>
                        <m:fName>
                          <m:sSup>
                            <m:sSupPr>
                              <m:ctrlPr>
                                <a:rPr lang="en-US" sz="2800" b="0" i="1" smtClean="0">
                                  <a:latin typeface="Cambria Math" panose="02040503050406030204" pitchFamily="18" charset="0"/>
                                </a:rPr>
                              </m:ctrlPr>
                            </m:sSupPr>
                            <m:e>
                              <m:r>
                                <m:rPr>
                                  <m:sty m:val="p"/>
                                </m:rPr>
                                <a:rPr lang="en-US" sz="2800" b="0" i="0" smtClean="0">
                                  <a:latin typeface="Cambria Math" panose="02040503050406030204" pitchFamily="18" charset="0"/>
                                </a:rPr>
                                <m:t>cos</m:t>
                              </m:r>
                            </m:e>
                            <m:sup>
                              <m:r>
                                <a:rPr lang="en-US" sz="2800" b="0" i="1" smtClean="0">
                                  <a:latin typeface="Cambria Math" panose="02040503050406030204" pitchFamily="18" charset="0"/>
                                </a:rPr>
                                <m:t>2</m:t>
                              </m:r>
                            </m:sup>
                          </m:sSup>
                        </m:fName>
                        <m:e>
                          <m:r>
                            <a:rPr lang="en-US" sz="2800" b="0" i="1" smtClean="0">
                              <a:latin typeface="Cambria Math" panose="02040503050406030204" pitchFamily="18" charset="0"/>
                            </a:rPr>
                            <m:t>𝛼</m:t>
                          </m:r>
                        </m:e>
                      </m:func>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sSup>
                            <m:sSupPr>
                              <m:ctrlPr>
                                <a:rPr lang="en-US" sz="2800" b="0" i="1" smtClean="0">
                                  <a:latin typeface="Cambria Math" panose="02040503050406030204" pitchFamily="18" charset="0"/>
                                </a:rPr>
                              </m:ctrlPr>
                            </m:sSupPr>
                            <m:e>
                              <m:r>
                                <m:rPr>
                                  <m:sty m:val="p"/>
                                </m:rPr>
                                <a:rPr lang="en-US" sz="2800" b="0" i="0" smtClean="0">
                                  <a:latin typeface="Cambria Math" panose="02040503050406030204" pitchFamily="18" charset="0"/>
                                </a:rPr>
                                <m:t>sin</m:t>
                              </m:r>
                            </m:e>
                            <m:sup>
                              <m:r>
                                <a:rPr lang="en-US" sz="2800" b="0" i="1" smtClean="0">
                                  <a:latin typeface="Cambria Math" panose="02040503050406030204" pitchFamily="18" charset="0"/>
                                </a:rPr>
                                <m:t>2</m:t>
                              </m:r>
                            </m:sup>
                          </m:sSup>
                        </m:fName>
                        <m:e>
                          <m:r>
                            <a:rPr lang="en-US" sz="2800" b="0" i="1" smtClean="0">
                              <a:latin typeface="Cambria Math" panose="02040503050406030204" pitchFamily="18" charset="0"/>
                            </a:rPr>
                            <m:t>𝛼</m:t>
                          </m:r>
                        </m:e>
                      </m:func>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d>
                            <m:dPr>
                              <m:ctrlPr>
                                <a:rPr lang="en-US" sz="2800" b="0" i="1" smtClean="0">
                                  <a:latin typeface="Cambria Math" panose="02040503050406030204" pitchFamily="18" charset="0"/>
                                </a:rPr>
                              </m:ctrlPr>
                            </m:dPr>
                            <m:e>
                              <m:rad>
                                <m:radPr>
                                  <m:degHide m:val="on"/>
                                  <m:ctrlPr>
                                    <a:rPr lang="en-US" sz="2800" b="0" i="1" smtClean="0">
                                      <a:latin typeface="Cambria Math" panose="02040503050406030204" pitchFamily="18" charset="0"/>
                                    </a:rPr>
                                  </m:ctrlPr>
                                </m:radPr>
                                <m:deg/>
                                <m:e>
                                  <m:r>
                                    <a:rPr lang="en-US" sz="2800" b="0" i="1" smtClean="0">
                                      <a:latin typeface="Cambria Math" panose="02040503050406030204" pitchFamily="18" charset="0"/>
                                    </a:rPr>
                                    <m:t>𝑝</m:t>
                                  </m:r>
                                  <m:d>
                                    <m:dPr>
                                      <m:ctrlPr>
                                        <a:rPr lang="en-US" sz="2800" b="0" i="1" smtClean="0">
                                          <a:latin typeface="Cambria Math" panose="02040503050406030204" pitchFamily="18" charset="0"/>
                                        </a:rPr>
                                      </m:ctrlPr>
                                    </m:dPr>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𝑧</m:t>
                                          </m:r>
                                        </m:e>
                                        <m:sup>
                                          <m:r>
                                            <a:rPr lang="en-US" sz="2800" b="0" i="1" smtClean="0">
                                              <a:latin typeface="Cambria Math" panose="02040503050406030204" pitchFamily="18" charset="0"/>
                                            </a:rPr>
                                            <m:t>+</m:t>
                                          </m:r>
                                        </m:sup>
                                      </m:sSup>
                                    </m:e>
                                  </m:d>
                                </m:e>
                              </m:rad>
                            </m:e>
                          </m:d>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rad>
                                <m:radPr>
                                  <m:degHide m:val="on"/>
                                  <m:ctrlPr>
                                    <a:rPr lang="en-US" sz="2800" i="1">
                                      <a:latin typeface="Cambria Math" panose="02040503050406030204" pitchFamily="18" charset="0"/>
                                    </a:rPr>
                                  </m:ctrlPr>
                                </m:radPr>
                                <m:deg/>
                                <m:e>
                                  <m:r>
                                    <a:rPr lang="en-US" sz="2800" i="1">
                                      <a:latin typeface="Cambria Math" panose="02040503050406030204" pitchFamily="18" charset="0"/>
                                    </a:rPr>
                                    <m:t>𝑝</m:t>
                                  </m:r>
                                  <m:d>
                                    <m:dPr>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r>
                                            <a:rPr lang="en-US" sz="2800" i="1">
                                              <a:latin typeface="Cambria Math" panose="02040503050406030204" pitchFamily="18" charset="0"/>
                                            </a:rPr>
                                            <m:t>𝑧</m:t>
                                          </m:r>
                                        </m:e>
                                        <m:sup>
                                          <m:r>
                                            <a:rPr lang="en-US" sz="2800" b="0" i="1" smtClean="0">
                                              <a:latin typeface="Cambria Math" panose="02040503050406030204" pitchFamily="18" charset="0"/>
                                            </a:rPr>
                                            <m:t>−</m:t>
                                          </m:r>
                                        </m:sup>
                                      </m:sSup>
                                    </m:e>
                                  </m:d>
                                </m:e>
                              </m:rad>
                            </m:e>
                          </m:d>
                        </m:e>
                        <m:sup>
                          <m:r>
                            <a:rPr lang="en-US" sz="2800" i="1">
                              <a:latin typeface="Cambria Math" panose="02040503050406030204" pitchFamily="18" charset="0"/>
                            </a:rPr>
                            <m:t>2</m:t>
                          </m:r>
                        </m:sup>
                      </m:sSup>
                      <m:r>
                        <a:rPr lang="en-US" sz="2800" b="0" i="1" smtClean="0">
                          <a:latin typeface="Cambria Math" panose="02040503050406030204" pitchFamily="18" charset="0"/>
                        </a:rPr>
                        <m:t>=1</m:t>
                      </m:r>
                    </m:oMath>
                  </m:oMathPara>
                </a14:m>
                <a:endParaRPr lang="en-US" sz="2800" dirty="0"/>
              </a:p>
            </p:txBody>
          </p:sp>
        </mc:Choice>
        <mc:Fallback xmlns="">
          <p:sp>
            <p:nvSpPr>
              <p:cNvPr id="47" name="TextBox 46">
                <a:extLst>
                  <a:ext uri="{FF2B5EF4-FFF2-40B4-BE49-F238E27FC236}">
                    <a16:creationId xmlns:a16="http://schemas.microsoft.com/office/drawing/2014/main" id="{8656D7CE-5314-0C8B-8961-2A812462D638}"/>
                  </a:ext>
                </a:extLst>
              </p:cNvPr>
              <p:cNvSpPr txBox="1">
                <a:spLocks noRot="1" noChangeAspect="1" noMove="1" noResize="1" noEditPoints="1" noAdjustHandles="1" noChangeArrowheads="1" noChangeShapeType="1" noTextEdit="1"/>
              </p:cNvSpPr>
              <p:nvPr/>
            </p:nvSpPr>
            <p:spPr>
              <a:xfrm>
                <a:off x="1691027" y="5346924"/>
                <a:ext cx="7497822" cy="822276"/>
              </a:xfrm>
              <a:prstGeom prst="rect">
                <a:avLst/>
              </a:prstGeom>
              <a:blipFill>
                <a:blip r:embed="rId1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74445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9" grpId="0"/>
      <p:bldP spid="40" grpId="0"/>
      <p:bldP spid="46" grpId="0"/>
      <p:bldP spid="4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CE496-EA0B-B28A-27B9-53C8FB9A0A04}"/>
            </a:ext>
          </a:extLst>
        </p:cNvPr>
        <p:cNvGrpSpPr/>
        <p:nvPr/>
      </p:nvGrpSpPr>
      <p:grpSpPr>
        <a:xfrm>
          <a:off x="0" y="0"/>
          <a:ext cx="0" cy="0"/>
          <a:chOff x="0" y="0"/>
          <a:chExt cx="0" cy="0"/>
        </a:xfrm>
      </p:grpSpPr>
      <p:sp>
        <p:nvSpPr>
          <p:cNvPr id="17" name="Arc 16">
            <a:extLst>
              <a:ext uri="{FF2B5EF4-FFF2-40B4-BE49-F238E27FC236}">
                <a16:creationId xmlns:a16="http://schemas.microsoft.com/office/drawing/2014/main" id="{F2D38776-41CD-67CD-DBE9-544A29CFD5A5}"/>
              </a:ext>
            </a:extLst>
          </p:cNvPr>
          <p:cNvSpPr/>
          <p:nvPr/>
        </p:nvSpPr>
        <p:spPr>
          <a:xfrm>
            <a:off x="7932212" y="2085993"/>
            <a:ext cx="697242" cy="553554"/>
          </a:xfrm>
          <a:prstGeom prst="arc">
            <a:avLst>
              <a:gd name="adj1" fmla="val 16200000"/>
              <a:gd name="adj2" fmla="val 1806320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3" name="Group 62">
            <a:extLst>
              <a:ext uri="{FF2B5EF4-FFF2-40B4-BE49-F238E27FC236}">
                <a16:creationId xmlns:a16="http://schemas.microsoft.com/office/drawing/2014/main" id="{6CC8BA9D-921F-63B6-5D7D-F5586B41EA2F}"/>
              </a:ext>
            </a:extLst>
          </p:cNvPr>
          <p:cNvGrpSpPr/>
          <p:nvPr/>
        </p:nvGrpSpPr>
        <p:grpSpPr>
          <a:xfrm>
            <a:off x="6487584" y="740244"/>
            <a:ext cx="3577708" cy="3577703"/>
            <a:chOff x="2012104" y="948792"/>
            <a:chExt cx="3577708" cy="3577703"/>
          </a:xfrm>
        </p:grpSpPr>
        <p:cxnSp>
          <p:nvCxnSpPr>
            <p:cNvPr id="21" name="Straight Connector 20">
              <a:extLst>
                <a:ext uri="{FF2B5EF4-FFF2-40B4-BE49-F238E27FC236}">
                  <a16:creationId xmlns:a16="http://schemas.microsoft.com/office/drawing/2014/main" id="{C5DEEB4B-1F4B-CE72-6B8A-888E4F4D126F}"/>
                </a:ext>
              </a:extLst>
            </p:cNvPr>
            <p:cNvCxnSpPr>
              <a:cxnSpLocks/>
              <a:stCxn id="50" idx="2"/>
            </p:cNvCxnSpPr>
            <p:nvPr/>
          </p:nvCxnSpPr>
          <p:spPr>
            <a:xfrm>
              <a:off x="2012104" y="2737644"/>
              <a:ext cx="3577706" cy="7622"/>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BCE7F48-5C04-555D-FCB8-E17A5F892EEC}"/>
                </a:ext>
              </a:extLst>
            </p:cNvPr>
            <p:cNvCxnSpPr>
              <a:cxnSpLocks/>
              <a:stCxn id="50" idx="0"/>
              <a:endCxn id="50" idx="4"/>
            </p:cNvCxnSpPr>
            <p:nvPr/>
          </p:nvCxnSpPr>
          <p:spPr>
            <a:xfrm>
              <a:off x="3800958" y="948792"/>
              <a:ext cx="0" cy="3577703"/>
            </a:xfrm>
            <a:prstGeom prst="line">
              <a:avLst/>
            </a:prstGeom>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45A7142B-7EC8-BC34-D266-D114F168CD01}"/>
                </a:ext>
              </a:extLst>
            </p:cNvPr>
            <p:cNvGrpSpPr/>
            <p:nvPr/>
          </p:nvGrpSpPr>
          <p:grpSpPr>
            <a:xfrm>
              <a:off x="2012104" y="948792"/>
              <a:ext cx="3577708" cy="3577703"/>
              <a:chOff x="2521889" y="2808131"/>
              <a:chExt cx="1916265" cy="1916264"/>
            </a:xfrm>
          </p:grpSpPr>
          <p:sp>
            <p:nvSpPr>
              <p:cNvPr id="48" name="Oval 47">
                <a:extLst>
                  <a:ext uri="{FF2B5EF4-FFF2-40B4-BE49-F238E27FC236}">
                    <a16:creationId xmlns:a16="http://schemas.microsoft.com/office/drawing/2014/main" id="{5C66B32E-4F40-1814-651B-CBF6E2B2D71D}"/>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Oval 31">
                <a:extLst>
                  <a:ext uri="{FF2B5EF4-FFF2-40B4-BE49-F238E27FC236}">
                    <a16:creationId xmlns:a16="http://schemas.microsoft.com/office/drawing/2014/main" id="{603C85CE-AF70-2160-BAED-F7590F0E5800}"/>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9B86660A-2E71-B7E6-DDE5-A54B849E4C79}"/>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6ACBA49-FA99-CCA4-95D6-50D7EE0F26A1}"/>
                  </a:ext>
                </a:extLst>
              </p:cNvPr>
              <p:cNvSpPr txBox="1"/>
              <p:nvPr/>
            </p:nvSpPr>
            <p:spPr>
              <a:xfrm>
                <a:off x="8158089" y="1642397"/>
                <a:ext cx="5005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𝛼</m:t>
                      </m:r>
                    </m:oMath>
                  </m:oMathPara>
                </a14:m>
                <a:endParaRPr lang="en-US" dirty="0"/>
              </a:p>
            </p:txBody>
          </p:sp>
        </mc:Choice>
        <mc:Fallback xmlns="">
          <p:sp>
            <p:nvSpPr>
              <p:cNvPr id="4" name="TextBox 3">
                <a:extLst>
                  <a:ext uri="{FF2B5EF4-FFF2-40B4-BE49-F238E27FC236}">
                    <a16:creationId xmlns:a16="http://schemas.microsoft.com/office/drawing/2014/main" id="{A6ACBA49-FA99-CCA4-95D6-50D7EE0F26A1}"/>
                  </a:ext>
                </a:extLst>
              </p:cNvPr>
              <p:cNvSpPr txBox="1">
                <a:spLocks noRot="1" noChangeAspect="1" noMove="1" noResize="1" noEditPoints="1" noAdjustHandles="1" noChangeArrowheads="1" noChangeShapeType="1" noTextEdit="1"/>
              </p:cNvSpPr>
              <p:nvPr/>
            </p:nvSpPr>
            <p:spPr>
              <a:xfrm>
                <a:off x="8158089" y="1642397"/>
                <a:ext cx="500535"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0ABC025-CB2B-DA0C-EEDC-1592CA043937}"/>
                  </a:ext>
                </a:extLst>
              </p:cNvPr>
              <p:cNvSpPr txBox="1"/>
              <p:nvPr/>
            </p:nvSpPr>
            <p:spPr>
              <a:xfrm>
                <a:off x="7875264" y="233822"/>
                <a:ext cx="8023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r>
                        <a:rPr lang="en-US" sz="2400" i="1" dirty="0">
                          <a:latin typeface="Cambria Math" panose="02040503050406030204" pitchFamily="18" charset="0"/>
                        </a:rPr>
                        <m:t>⟩</m:t>
                      </m:r>
                    </m:oMath>
                  </m:oMathPara>
                </a14:m>
                <a:endParaRPr lang="en-US" sz="2400" dirty="0"/>
              </a:p>
            </p:txBody>
          </p:sp>
        </mc:Choice>
        <mc:Fallback xmlns="">
          <p:sp>
            <p:nvSpPr>
              <p:cNvPr id="9" name="TextBox 8">
                <a:extLst>
                  <a:ext uri="{FF2B5EF4-FFF2-40B4-BE49-F238E27FC236}">
                    <a16:creationId xmlns:a16="http://schemas.microsoft.com/office/drawing/2014/main" id="{C0ABC025-CB2B-DA0C-EEDC-1592CA043937}"/>
                  </a:ext>
                </a:extLst>
              </p:cNvPr>
              <p:cNvSpPr txBox="1">
                <a:spLocks noRot="1" noChangeAspect="1" noMove="1" noResize="1" noEditPoints="1" noAdjustHandles="1" noChangeArrowheads="1" noChangeShapeType="1" noTextEdit="1"/>
              </p:cNvSpPr>
              <p:nvPr/>
            </p:nvSpPr>
            <p:spPr>
              <a:xfrm>
                <a:off x="7875264" y="233822"/>
                <a:ext cx="802336" cy="461665"/>
              </a:xfrm>
              <a:prstGeom prst="rect">
                <a:avLst/>
              </a:prstGeom>
              <a:blipFill>
                <a:blip r:embed="rId3"/>
                <a:stretch>
                  <a:fillRect l="-2290" r="-229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D65DBF7-AAB3-6313-FEF5-8F6DAD1527FB}"/>
                  </a:ext>
                </a:extLst>
              </p:cNvPr>
              <p:cNvSpPr txBox="1"/>
              <p:nvPr/>
            </p:nvSpPr>
            <p:spPr>
              <a:xfrm>
                <a:off x="7875264" y="4380221"/>
                <a:ext cx="80233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b="0" i="1" dirty="0" smtClean="0">
                              <a:latin typeface="Cambria Math" panose="02040503050406030204" pitchFamily="18" charset="0"/>
                            </a:rPr>
                            <m:t>+</m:t>
                          </m:r>
                        </m:sup>
                      </m:sSup>
                      <m:r>
                        <a:rPr lang="en-US" sz="2400" i="1" dirty="0">
                          <a:latin typeface="Cambria Math" panose="02040503050406030204" pitchFamily="18" charset="0"/>
                        </a:rPr>
                        <m:t>⟩</m:t>
                      </m:r>
                    </m:oMath>
                  </m:oMathPara>
                </a14:m>
                <a:endParaRPr lang="en-US" sz="2400" dirty="0"/>
              </a:p>
            </p:txBody>
          </p:sp>
        </mc:Choice>
        <mc:Fallback xmlns="">
          <p:sp>
            <p:nvSpPr>
              <p:cNvPr id="10" name="TextBox 9">
                <a:extLst>
                  <a:ext uri="{FF2B5EF4-FFF2-40B4-BE49-F238E27FC236}">
                    <a16:creationId xmlns:a16="http://schemas.microsoft.com/office/drawing/2014/main" id="{FD65DBF7-AAB3-6313-FEF5-8F6DAD1527FB}"/>
                  </a:ext>
                </a:extLst>
              </p:cNvPr>
              <p:cNvSpPr txBox="1">
                <a:spLocks noRot="1" noChangeAspect="1" noMove="1" noResize="1" noEditPoints="1" noAdjustHandles="1" noChangeArrowheads="1" noChangeShapeType="1" noTextEdit="1"/>
              </p:cNvSpPr>
              <p:nvPr/>
            </p:nvSpPr>
            <p:spPr>
              <a:xfrm>
                <a:off x="7875264" y="4380221"/>
                <a:ext cx="802335" cy="461665"/>
              </a:xfrm>
              <a:prstGeom prst="rect">
                <a:avLst/>
              </a:prstGeom>
              <a:blipFill>
                <a:blip r:embed="rId4"/>
                <a:stretch>
                  <a:fillRect l="-2290" r="-2290" b="-18667"/>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60BF136B-F4F0-274B-5B56-0073974BBF40}"/>
              </a:ext>
            </a:extLst>
          </p:cNvPr>
          <p:cNvCxnSpPr>
            <a:cxnSpLocks/>
          </p:cNvCxnSpPr>
          <p:nvPr/>
        </p:nvCxnSpPr>
        <p:spPr>
          <a:xfrm flipV="1">
            <a:off x="8908888" y="868891"/>
            <a:ext cx="0" cy="1667827"/>
          </a:xfrm>
          <a:prstGeom prst="line">
            <a:avLst/>
          </a:prstGeom>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443D451-D264-42AD-8870-3A890DB82EDC}"/>
              </a:ext>
            </a:extLst>
          </p:cNvPr>
          <p:cNvCxnSpPr>
            <a:cxnSpLocks/>
          </p:cNvCxnSpPr>
          <p:nvPr/>
        </p:nvCxnSpPr>
        <p:spPr>
          <a:xfrm>
            <a:off x="8276432" y="868891"/>
            <a:ext cx="637475"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FF84BBA-83F7-2757-8753-D56EDC0FFD6E}"/>
                  </a:ext>
                </a:extLst>
              </p:cNvPr>
              <p:cNvSpPr txBox="1"/>
              <p:nvPr/>
            </p:nvSpPr>
            <p:spPr>
              <a:xfrm>
                <a:off x="8849484" y="1748127"/>
                <a:ext cx="4293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𝑣</m:t>
                      </m:r>
                    </m:oMath>
                  </m:oMathPara>
                </a14:m>
                <a:endParaRPr lang="en-US" sz="2400" dirty="0"/>
              </a:p>
            </p:txBody>
          </p:sp>
        </mc:Choice>
        <mc:Fallback xmlns="">
          <p:sp>
            <p:nvSpPr>
              <p:cNvPr id="5" name="TextBox 4">
                <a:extLst>
                  <a:ext uri="{FF2B5EF4-FFF2-40B4-BE49-F238E27FC236}">
                    <a16:creationId xmlns:a16="http://schemas.microsoft.com/office/drawing/2014/main" id="{DFF84BBA-83F7-2757-8753-D56EDC0FFD6E}"/>
                  </a:ext>
                </a:extLst>
              </p:cNvPr>
              <p:cNvSpPr txBox="1">
                <a:spLocks noRot="1" noChangeAspect="1" noMove="1" noResize="1" noEditPoints="1" noAdjustHandles="1" noChangeArrowheads="1" noChangeShapeType="1" noTextEdit="1"/>
              </p:cNvSpPr>
              <p:nvPr/>
            </p:nvSpPr>
            <p:spPr>
              <a:xfrm>
                <a:off x="8849484" y="1748127"/>
                <a:ext cx="429348"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BF38EA8-5525-CC29-E935-049D32DD704B}"/>
                  </a:ext>
                </a:extLst>
              </p:cNvPr>
              <p:cNvSpPr txBox="1"/>
              <p:nvPr/>
            </p:nvSpPr>
            <p:spPr>
              <a:xfrm>
                <a:off x="7369889" y="1412699"/>
                <a:ext cx="986552" cy="4277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𝑝</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m:t>
                                  </m:r>
                                </m:sup>
                              </m:sSup>
                            </m:e>
                          </m:d>
                        </m:e>
                      </m:rad>
                    </m:oMath>
                  </m:oMathPara>
                </a14:m>
                <a:endParaRPr lang="en-US" dirty="0"/>
              </a:p>
            </p:txBody>
          </p:sp>
        </mc:Choice>
        <mc:Fallback xmlns="">
          <p:sp>
            <p:nvSpPr>
              <p:cNvPr id="24" name="TextBox 23">
                <a:extLst>
                  <a:ext uri="{FF2B5EF4-FFF2-40B4-BE49-F238E27FC236}">
                    <a16:creationId xmlns:a16="http://schemas.microsoft.com/office/drawing/2014/main" id="{BBF38EA8-5525-CC29-E935-049D32DD704B}"/>
                  </a:ext>
                </a:extLst>
              </p:cNvPr>
              <p:cNvSpPr txBox="1">
                <a:spLocks noRot="1" noChangeAspect="1" noMove="1" noResize="1" noEditPoints="1" noAdjustHandles="1" noChangeArrowheads="1" noChangeShapeType="1" noTextEdit="1"/>
              </p:cNvSpPr>
              <p:nvPr/>
            </p:nvSpPr>
            <p:spPr>
              <a:xfrm>
                <a:off x="7369889" y="1412699"/>
                <a:ext cx="986552" cy="427746"/>
              </a:xfrm>
              <a:prstGeom prst="rect">
                <a:avLst/>
              </a:prstGeom>
              <a:blipFill>
                <a:blip r:embed="rId6"/>
                <a:stretch>
                  <a:fillRect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0F06FE9-A6D6-5AC9-5AC1-D07E3D07A448}"/>
                  </a:ext>
                </a:extLst>
              </p:cNvPr>
              <p:cNvSpPr txBox="1"/>
              <p:nvPr/>
            </p:nvSpPr>
            <p:spPr>
              <a:xfrm>
                <a:off x="8136178" y="2542473"/>
                <a:ext cx="986552" cy="4277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𝑝</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m:t>
                                  </m:r>
                                </m:sup>
                              </m:sSup>
                            </m:e>
                          </m:d>
                        </m:e>
                      </m:rad>
                    </m:oMath>
                  </m:oMathPara>
                </a14:m>
                <a:endParaRPr lang="en-US" dirty="0"/>
              </a:p>
            </p:txBody>
          </p:sp>
        </mc:Choice>
        <mc:Fallback xmlns="">
          <p:sp>
            <p:nvSpPr>
              <p:cNvPr id="29" name="TextBox 28">
                <a:extLst>
                  <a:ext uri="{FF2B5EF4-FFF2-40B4-BE49-F238E27FC236}">
                    <a16:creationId xmlns:a16="http://schemas.microsoft.com/office/drawing/2014/main" id="{80F06FE9-A6D6-5AC9-5AC1-D07E3D07A448}"/>
                  </a:ext>
                </a:extLst>
              </p:cNvPr>
              <p:cNvSpPr txBox="1">
                <a:spLocks noRot="1" noChangeAspect="1" noMove="1" noResize="1" noEditPoints="1" noAdjustHandles="1" noChangeArrowheads="1" noChangeShapeType="1" noTextEdit="1"/>
              </p:cNvSpPr>
              <p:nvPr/>
            </p:nvSpPr>
            <p:spPr>
              <a:xfrm>
                <a:off x="8136178" y="2542473"/>
                <a:ext cx="986552" cy="427746"/>
              </a:xfrm>
              <a:prstGeom prst="rect">
                <a:avLst/>
              </a:prstGeom>
              <a:blipFill>
                <a:blip r:embed="rId7"/>
                <a:stretch>
                  <a:fillRect b="-7143"/>
                </a:stretch>
              </a:blipFill>
            </p:spPr>
            <p:txBody>
              <a:bodyPr/>
              <a:lstStyle/>
              <a:p>
                <a:r>
                  <a:rPr lang="en-US">
                    <a:noFill/>
                  </a:rPr>
                  <a:t> </a:t>
                </a:r>
              </a:p>
            </p:txBody>
          </p:sp>
        </mc:Fallback>
      </mc:AlternateContent>
      <p:sp>
        <p:nvSpPr>
          <p:cNvPr id="6" name="Arc 5">
            <a:extLst>
              <a:ext uri="{FF2B5EF4-FFF2-40B4-BE49-F238E27FC236}">
                <a16:creationId xmlns:a16="http://schemas.microsoft.com/office/drawing/2014/main" id="{97023658-6783-35BF-A01D-A7CAA2FEE8EC}"/>
              </a:ext>
            </a:extLst>
          </p:cNvPr>
          <p:cNvSpPr/>
          <p:nvPr/>
        </p:nvSpPr>
        <p:spPr>
          <a:xfrm>
            <a:off x="2598212" y="2085993"/>
            <a:ext cx="697242" cy="553554"/>
          </a:xfrm>
          <a:prstGeom prst="arc">
            <a:avLst>
              <a:gd name="adj1" fmla="val 16200000"/>
              <a:gd name="adj2" fmla="val 2012949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1" name="Group 10">
            <a:extLst>
              <a:ext uri="{FF2B5EF4-FFF2-40B4-BE49-F238E27FC236}">
                <a16:creationId xmlns:a16="http://schemas.microsoft.com/office/drawing/2014/main" id="{0B618856-CA54-85E6-1911-5DE0208E1B1C}"/>
              </a:ext>
            </a:extLst>
          </p:cNvPr>
          <p:cNvGrpSpPr/>
          <p:nvPr/>
        </p:nvGrpSpPr>
        <p:grpSpPr>
          <a:xfrm>
            <a:off x="1153584" y="740244"/>
            <a:ext cx="3577708" cy="3577703"/>
            <a:chOff x="2012104" y="948792"/>
            <a:chExt cx="3577708" cy="3577703"/>
          </a:xfrm>
        </p:grpSpPr>
        <p:cxnSp>
          <p:nvCxnSpPr>
            <p:cNvPr id="12" name="Straight Connector 11">
              <a:extLst>
                <a:ext uri="{FF2B5EF4-FFF2-40B4-BE49-F238E27FC236}">
                  <a16:creationId xmlns:a16="http://schemas.microsoft.com/office/drawing/2014/main" id="{1506F547-C3FB-92F2-21EF-497B92AEC73D}"/>
                </a:ext>
              </a:extLst>
            </p:cNvPr>
            <p:cNvCxnSpPr>
              <a:cxnSpLocks/>
              <a:stCxn id="26" idx="2"/>
            </p:cNvCxnSpPr>
            <p:nvPr/>
          </p:nvCxnSpPr>
          <p:spPr>
            <a:xfrm>
              <a:off x="2012104" y="2737644"/>
              <a:ext cx="3577706" cy="7622"/>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ED68C54-F75A-7004-9315-2D654930E8CF}"/>
                </a:ext>
              </a:extLst>
            </p:cNvPr>
            <p:cNvCxnSpPr>
              <a:cxnSpLocks/>
              <a:stCxn id="26" idx="0"/>
              <a:endCxn id="26" idx="4"/>
            </p:cNvCxnSpPr>
            <p:nvPr/>
          </p:nvCxnSpPr>
          <p:spPr>
            <a:xfrm>
              <a:off x="3800958" y="948792"/>
              <a:ext cx="0" cy="3577703"/>
            </a:xfrm>
            <a:prstGeom prst="line">
              <a:avLst/>
            </a:prstGeom>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ACF91306-36BA-F9E3-3F99-18FFB251A0F4}"/>
                </a:ext>
              </a:extLst>
            </p:cNvPr>
            <p:cNvGrpSpPr/>
            <p:nvPr/>
          </p:nvGrpSpPr>
          <p:grpSpPr>
            <a:xfrm>
              <a:off x="2012104" y="948792"/>
              <a:ext cx="3577708" cy="3577703"/>
              <a:chOff x="934944" y="1636949"/>
              <a:chExt cx="2674273" cy="2674270"/>
            </a:xfrm>
          </p:grpSpPr>
          <p:grpSp>
            <p:nvGrpSpPr>
              <p:cNvPr id="15" name="Group 14">
                <a:extLst>
                  <a:ext uri="{FF2B5EF4-FFF2-40B4-BE49-F238E27FC236}">
                    <a16:creationId xmlns:a16="http://schemas.microsoft.com/office/drawing/2014/main" id="{9DEF1E01-A284-496C-1285-574A7527013E}"/>
                  </a:ext>
                </a:extLst>
              </p:cNvPr>
              <p:cNvGrpSpPr/>
              <p:nvPr/>
            </p:nvGrpSpPr>
            <p:grpSpPr>
              <a:xfrm>
                <a:off x="934944" y="1636949"/>
                <a:ext cx="2674273" cy="2674270"/>
                <a:chOff x="2521889" y="2808131"/>
                <a:chExt cx="1916265" cy="1916264"/>
              </a:xfrm>
            </p:grpSpPr>
            <p:sp>
              <p:nvSpPr>
                <p:cNvPr id="22" name="Oval 21">
                  <a:extLst>
                    <a:ext uri="{FF2B5EF4-FFF2-40B4-BE49-F238E27FC236}">
                      <a16:creationId xmlns:a16="http://schemas.microsoft.com/office/drawing/2014/main" id="{E9B73BC4-7B43-8A05-5ED0-1D2442B45B7D}"/>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Oval 31">
                  <a:extLst>
                    <a:ext uri="{FF2B5EF4-FFF2-40B4-BE49-F238E27FC236}">
                      <a16:creationId xmlns:a16="http://schemas.microsoft.com/office/drawing/2014/main" id="{32E2D836-6D1D-D6AB-6776-4528738F7689}"/>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62DCF1F-CAE5-D660-C4C2-7EEFCE8A90D6}"/>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19" name="Straight Arrow Connector 18">
                <a:extLst>
                  <a:ext uri="{FF2B5EF4-FFF2-40B4-BE49-F238E27FC236}">
                    <a16:creationId xmlns:a16="http://schemas.microsoft.com/office/drawing/2014/main" id="{59388D02-22F5-84A4-A481-9722CEAE69C7}"/>
                  </a:ext>
                </a:extLst>
              </p:cNvPr>
              <p:cNvCxnSpPr>
                <a:cxnSpLocks/>
                <a:endCxn id="26" idx="7"/>
              </p:cNvCxnSpPr>
              <p:nvPr/>
            </p:nvCxnSpPr>
            <p:spPr>
              <a:xfrm flipV="1">
                <a:off x="2272076" y="2028586"/>
                <a:ext cx="945503" cy="945496"/>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E13D543-C8C0-A9D0-3454-0C0C9A1A3CCA}"/>
                  </a:ext>
                </a:extLst>
              </p:cNvPr>
              <p:cNvSpPr txBox="1"/>
              <p:nvPr/>
            </p:nvSpPr>
            <p:spPr>
              <a:xfrm>
                <a:off x="2920848" y="1799377"/>
                <a:ext cx="500535" cy="49410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oMath>
                  </m:oMathPara>
                </a14:m>
                <a:endParaRPr lang="en-US" dirty="0"/>
              </a:p>
            </p:txBody>
          </p:sp>
        </mc:Choice>
        <mc:Fallback xmlns="">
          <p:sp>
            <p:nvSpPr>
              <p:cNvPr id="27" name="TextBox 26">
                <a:extLst>
                  <a:ext uri="{FF2B5EF4-FFF2-40B4-BE49-F238E27FC236}">
                    <a16:creationId xmlns:a16="http://schemas.microsoft.com/office/drawing/2014/main" id="{BE13D543-C8C0-A9D0-3454-0C0C9A1A3CCA}"/>
                  </a:ext>
                </a:extLst>
              </p:cNvPr>
              <p:cNvSpPr txBox="1">
                <a:spLocks noRot="1" noChangeAspect="1" noMove="1" noResize="1" noEditPoints="1" noAdjustHandles="1" noChangeArrowheads="1" noChangeShapeType="1" noTextEdit="1"/>
              </p:cNvSpPr>
              <p:nvPr/>
            </p:nvSpPr>
            <p:spPr>
              <a:xfrm>
                <a:off x="2920848" y="1799377"/>
                <a:ext cx="500535" cy="49410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0175989-3481-4BE4-6130-3CD1AF688022}"/>
                  </a:ext>
                </a:extLst>
              </p:cNvPr>
              <p:cNvSpPr txBox="1"/>
              <p:nvPr/>
            </p:nvSpPr>
            <p:spPr>
              <a:xfrm>
                <a:off x="2541264" y="233822"/>
                <a:ext cx="8023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r>
                        <a:rPr lang="en-US" sz="2400" i="1" dirty="0">
                          <a:latin typeface="Cambria Math" panose="02040503050406030204" pitchFamily="18" charset="0"/>
                        </a:rPr>
                        <m:t>⟩</m:t>
                      </m:r>
                    </m:oMath>
                  </m:oMathPara>
                </a14:m>
                <a:endParaRPr lang="en-US" sz="2400" dirty="0"/>
              </a:p>
            </p:txBody>
          </p:sp>
        </mc:Choice>
        <mc:Fallback xmlns="">
          <p:sp>
            <p:nvSpPr>
              <p:cNvPr id="28" name="TextBox 27">
                <a:extLst>
                  <a:ext uri="{FF2B5EF4-FFF2-40B4-BE49-F238E27FC236}">
                    <a16:creationId xmlns:a16="http://schemas.microsoft.com/office/drawing/2014/main" id="{70175989-3481-4BE4-6130-3CD1AF688022}"/>
                  </a:ext>
                </a:extLst>
              </p:cNvPr>
              <p:cNvSpPr txBox="1">
                <a:spLocks noRot="1" noChangeAspect="1" noMove="1" noResize="1" noEditPoints="1" noAdjustHandles="1" noChangeArrowheads="1" noChangeShapeType="1" noTextEdit="1"/>
              </p:cNvSpPr>
              <p:nvPr/>
            </p:nvSpPr>
            <p:spPr>
              <a:xfrm>
                <a:off x="2541264" y="233822"/>
                <a:ext cx="802336" cy="461665"/>
              </a:xfrm>
              <a:prstGeom prst="rect">
                <a:avLst/>
              </a:prstGeom>
              <a:blipFill>
                <a:blip r:embed="rId3"/>
                <a:stretch>
                  <a:fillRect l="-2290" r="-229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A8E608D-1187-105D-67C8-37A6992BC29B}"/>
                  </a:ext>
                </a:extLst>
              </p:cNvPr>
              <p:cNvSpPr txBox="1"/>
              <p:nvPr/>
            </p:nvSpPr>
            <p:spPr>
              <a:xfrm>
                <a:off x="2541264" y="4380221"/>
                <a:ext cx="8023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r>
                        <a:rPr lang="en-US" sz="2400" i="1" dirty="0">
                          <a:latin typeface="Cambria Math" panose="02040503050406030204" pitchFamily="18" charset="0"/>
                        </a:rPr>
                        <m:t>⟩</m:t>
                      </m:r>
                    </m:oMath>
                  </m:oMathPara>
                </a14:m>
                <a:endParaRPr lang="en-US" sz="2400" dirty="0"/>
              </a:p>
            </p:txBody>
          </p:sp>
        </mc:Choice>
        <mc:Fallback xmlns="">
          <p:sp>
            <p:nvSpPr>
              <p:cNvPr id="30" name="TextBox 29">
                <a:extLst>
                  <a:ext uri="{FF2B5EF4-FFF2-40B4-BE49-F238E27FC236}">
                    <a16:creationId xmlns:a16="http://schemas.microsoft.com/office/drawing/2014/main" id="{2A8E608D-1187-105D-67C8-37A6992BC29B}"/>
                  </a:ext>
                </a:extLst>
              </p:cNvPr>
              <p:cNvSpPr txBox="1">
                <a:spLocks noRot="1" noChangeAspect="1" noMove="1" noResize="1" noEditPoints="1" noAdjustHandles="1" noChangeArrowheads="1" noChangeShapeType="1" noTextEdit="1"/>
              </p:cNvSpPr>
              <p:nvPr/>
            </p:nvSpPr>
            <p:spPr>
              <a:xfrm>
                <a:off x="2541264" y="4380221"/>
                <a:ext cx="802336" cy="461665"/>
              </a:xfrm>
              <a:prstGeom prst="rect">
                <a:avLst/>
              </a:prstGeom>
              <a:blipFill>
                <a:blip r:embed="rId9"/>
                <a:stretch>
                  <a:fillRect l="-2290" r="-2290" b="-18667"/>
                </a:stretch>
              </a:blipFill>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5400B67B-0388-B848-8329-F8F4FBB9EA1F}"/>
              </a:ext>
            </a:extLst>
          </p:cNvPr>
          <p:cNvCxnSpPr>
            <a:cxnSpLocks/>
            <a:endCxn id="26" idx="7"/>
          </p:cNvCxnSpPr>
          <p:nvPr/>
        </p:nvCxnSpPr>
        <p:spPr>
          <a:xfrm flipV="1">
            <a:off x="4207349" y="1264186"/>
            <a:ext cx="0" cy="12725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21CD9C7-9619-67C0-6D9C-A1895D95C11D}"/>
              </a:ext>
            </a:extLst>
          </p:cNvPr>
          <p:cNvCxnSpPr/>
          <p:nvPr/>
        </p:nvCxnSpPr>
        <p:spPr>
          <a:xfrm>
            <a:off x="2942432" y="1264185"/>
            <a:ext cx="1264917" cy="1"/>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7D77F42-6BBB-2A06-D9AB-A75DB125D017}"/>
                  </a:ext>
                </a:extLst>
              </p:cNvPr>
              <p:cNvSpPr txBox="1"/>
              <p:nvPr/>
            </p:nvSpPr>
            <p:spPr>
              <a:xfrm>
                <a:off x="3515484" y="1748127"/>
                <a:ext cx="4293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𝑣</m:t>
                      </m:r>
                    </m:oMath>
                  </m:oMathPara>
                </a14:m>
                <a:endParaRPr lang="en-US" sz="2400" dirty="0"/>
              </a:p>
            </p:txBody>
          </p:sp>
        </mc:Choice>
        <mc:Fallback xmlns="">
          <p:sp>
            <p:nvSpPr>
              <p:cNvPr id="36" name="TextBox 35">
                <a:extLst>
                  <a:ext uri="{FF2B5EF4-FFF2-40B4-BE49-F238E27FC236}">
                    <a16:creationId xmlns:a16="http://schemas.microsoft.com/office/drawing/2014/main" id="{37D77F42-6BBB-2A06-D9AB-A75DB125D017}"/>
                  </a:ext>
                </a:extLst>
              </p:cNvPr>
              <p:cNvSpPr txBox="1">
                <a:spLocks noRot="1" noChangeAspect="1" noMove="1" noResize="1" noEditPoints="1" noAdjustHandles="1" noChangeArrowheads="1" noChangeShapeType="1" noTextEdit="1"/>
              </p:cNvSpPr>
              <p:nvPr/>
            </p:nvSpPr>
            <p:spPr>
              <a:xfrm>
                <a:off x="3515484" y="1748127"/>
                <a:ext cx="429348"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A676F74-C45D-9D9E-BDAC-40F149DE101D}"/>
                  </a:ext>
                </a:extLst>
              </p:cNvPr>
              <p:cNvSpPr txBox="1"/>
              <p:nvPr/>
            </p:nvSpPr>
            <p:spPr>
              <a:xfrm>
                <a:off x="4181393" y="1717461"/>
                <a:ext cx="73481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𝜃</m:t>
                          </m:r>
                        </m:e>
                      </m:func>
                    </m:oMath>
                  </m:oMathPara>
                </a14:m>
                <a:endParaRPr lang="en-US" dirty="0"/>
              </a:p>
            </p:txBody>
          </p:sp>
        </mc:Choice>
        <mc:Fallback xmlns="">
          <p:sp>
            <p:nvSpPr>
              <p:cNvPr id="41" name="TextBox 40">
                <a:extLst>
                  <a:ext uri="{FF2B5EF4-FFF2-40B4-BE49-F238E27FC236}">
                    <a16:creationId xmlns:a16="http://schemas.microsoft.com/office/drawing/2014/main" id="{BA676F74-C45D-9D9E-BDAC-40F149DE101D}"/>
                  </a:ext>
                </a:extLst>
              </p:cNvPr>
              <p:cNvSpPr txBox="1">
                <a:spLocks noRot="1" noChangeAspect="1" noMove="1" noResize="1" noEditPoints="1" noAdjustHandles="1" noChangeArrowheads="1" noChangeShapeType="1" noTextEdit="1"/>
              </p:cNvSpPr>
              <p:nvPr/>
            </p:nvSpPr>
            <p:spPr>
              <a:xfrm>
                <a:off x="4181393" y="1717461"/>
                <a:ext cx="734817"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FBFC93F8-CEEF-B3F9-D149-AD71185FF553}"/>
                  </a:ext>
                </a:extLst>
              </p:cNvPr>
              <p:cNvSpPr txBox="1"/>
              <p:nvPr/>
            </p:nvSpPr>
            <p:spPr>
              <a:xfrm>
                <a:off x="2001030" y="2577939"/>
                <a:ext cx="81509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m:t>
                              </m:r>
                            </m:sup>
                          </m:sSup>
                        </m:e>
                      </m:d>
                    </m:oMath>
                  </m:oMathPara>
                </a14:m>
                <a:endParaRPr lang="en-US" dirty="0"/>
              </a:p>
            </p:txBody>
          </p:sp>
        </mc:Choice>
        <mc:Fallback xmlns="">
          <p:sp>
            <p:nvSpPr>
              <p:cNvPr id="43" name="TextBox 42">
                <a:extLst>
                  <a:ext uri="{FF2B5EF4-FFF2-40B4-BE49-F238E27FC236}">
                    <a16:creationId xmlns:a16="http://schemas.microsoft.com/office/drawing/2014/main" id="{FBFC93F8-CEEF-B3F9-D149-AD71185FF553}"/>
                  </a:ext>
                </a:extLst>
              </p:cNvPr>
              <p:cNvSpPr txBox="1">
                <a:spLocks noRot="1" noChangeAspect="1" noMove="1" noResize="1" noEditPoints="1" noAdjustHandles="1" noChangeArrowheads="1" noChangeShapeType="1" noTextEdit="1"/>
              </p:cNvSpPr>
              <p:nvPr/>
            </p:nvSpPr>
            <p:spPr>
              <a:xfrm>
                <a:off x="2001030" y="2577939"/>
                <a:ext cx="815095" cy="369332"/>
              </a:xfrm>
              <a:prstGeom prst="rect">
                <a:avLst/>
              </a:prstGeom>
              <a:blipFill>
                <a:blip r:embed="rId11"/>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3CEBBF1C-BAF3-4FD7-1EA8-B3A68B786961}"/>
                  </a:ext>
                </a:extLst>
              </p:cNvPr>
              <p:cNvSpPr txBox="1"/>
              <p:nvPr/>
            </p:nvSpPr>
            <p:spPr>
              <a:xfrm>
                <a:off x="2001031" y="814752"/>
                <a:ext cx="81509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m:t>
                              </m:r>
                            </m:sup>
                          </m:sSup>
                        </m:e>
                      </m:d>
                    </m:oMath>
                  </m:oMathPara>
                </a14:m>
                <a:endParaRPr lang="en-US" dirty="0"/>
              </a:p>
            </p:txBody>
          </p:sp>
        </mc:Choice>
        <mc:Fallback xmlns="">
          <p:sp>
            <p:nvSpPr>
              <p:cNvPr id="51" name="TextBox 50">
                <a:extLst>
                  <a:ext uri="{FF2B5EF4-FFF2-40B4-BE49-F238E27FC236}">
                    <a16:creationId xmlns:a16="http://schemas.microsoft.com/office/drawing/2014/main" id="{3CEBBF1C-BAF3-4FD7-1EA8-B3A68B786961}"/>
                  </a:ext>
                </a:extLst>
              </p:cNvPr>
              <p:cNvSpPr txBox="1">
                <a:spLocks noRot="1" noChangeAspect="1" noMove="1" noResize="1" noEditPoints="1" noAdjustHandles="1" noChangeArrowheads="1" noChangeShapeType="1" noTextEdit="1"/>
              </p:cNvSpPr>
              <p:nvPr/>
            </p:nvSpPr>
            <p:spPr>
              <a:xfrm>
                <a:off x="2001031" y="814752"/>
                <a:ext cx="815095" cy="369332"/>
              </a:xfrm>
              <a:prstGeom prst="rect">
                <a:avLst/>
              </a:prstGeom>
              <a:blipFill>
                <a:blip r:embed="rId12"/>
                <a:stretch>
                  <a:fillRect b="-6667"/>
                </a:stretch>
              </a:blipFill>
            </p:spPr>
            <p:txBody>
              <a:bodyPr/>
              <a:lstStyle/>
              <a:p>
                <a:r>
                  <a:rPr lang="en-US">
                    <a:noFill/>
                  </a:rPr>
                  <a:t> </a:t>
                </a:r>
              </a:p>
            </p:txBody>
          </p:sp>
        </mc:Fallback>
      </mc:AlternateContent>
      <p:sp>
        <p:nvSpPr>
          <p:cNvPr id="52" name="Right Brace 51">
            <a:extLst>
              <a:ext uri="{FF2B5EF4-FFF2-40B4-BE49-F238E27FC236}">
                <a16:creationId xmlns:a16="http://schemas.microsoft.com/office/drawing/2014/main" id="{5B748D51-C52F-4BCA-00FA-890CCC1324A9}"/>
              </a:ext>
            </a:extLst>
          </p:cNvPr>
          <p:cNvSpPr/>
          <p:nvPr/>
        </p:nvSpPr>
        <p:spPr>
          <a:xfrm flipH="1">
            <a:off x="2751185" y="759208"/>
            <a:ext cx="169816" cy="49410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Right Brace 52">
            <a:extLst>
              <a:ext uri="{FF2B5EF4-FFF2-40B4-BE49-F238E27FC236}">
                <a16:creationId xmlns:a16="http://schemas.microsoft.com/office/drawing/2014/main" id="{49AA815D-2A9F-9995-EA04-F3E4A307F95A}"/>
              </a:ext>
            </a:extLst>
          </p:cNvPr>
          <p:cNvSpPr/>
          <p:nvPr/>
        </p:nvSpPr>
        <p:spPr>
          <a:xfrm flipH="1">
            <a:off x="2751185" y="1273558"/>
            <a:ext cx="169816" cy="301747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3FFFAB9-AC2A-C617-8A93-EB4E8E8D8233}"/>
                  </a:ext>
                </a:extLst>
              </p:cNvPr>
              <p:cNvSpPr txBox="1"/>
              <p:nvPr/>
            </p:nvSpPr>
            <p:spPr>
              <a:xfrm>
                <a:off x="5734590" y="2280778"/>
                <a:ext cx="8023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r>
                        <a:rPr lang="en-US" sz="2400" i="1" dirty="0">
                          <a:latin typeface="Cambria Math" panose="02040503050406030204" pitchFamily="18" charset="0"/>
                        </a:rPr>
                        <m:t>⟩</m:t>
                      </m:r>
                    </m:oMath>
                  </m:oMathPara>
                </a14:m>
                <a:endParaRPr lang="en-US" sz="2400" dirty="0"/>
              </a:p>
            </p:txBody>
          </p:sp>
        </mc:Choice>
        <mc:Fallback xmlns="">
          <p:sp>
            <p:nvSpPr>
              <p:cNvPr id="56" name="TextBox 55">
                <a:extLst>
                  <a:ext uri="{FF2B5EF4-FFF2-40B4-BE49-F238E27FC236}">
                    <a16:creationId xmlns:a16="http://schemas.microsoft.com/office/drawing/2014/main" id="{F3FFFAB9-AC2A-C617-8A93-EB4E8E8D8233}"/>
                  </a:ext>
                </a:extLst>
              </p:cNvPr>
              <p:cNvSpPr txBox="1">
                <a:spLocks noRot="1" noChangeAspect="1" noMove="1" noResize="1" noEditPoints="1" noAdjustHandles="1" noChangeArrowheads="1" noChangeShapeType="1" noTextEdit="1"/>
              </p:cNvSpPr>
              <p:nvPr/>
            </p:nvSpPr>
            <p:spPr>
              <a:xfrm>
                <a:off x="5734590" y="2280778"/>
                <a:ext cx="802336" cy="461665"/>
              </a:xfrm>
              <a:prstGeom prst="rect">
                <a:avLst/>
              </a:prstGeom>
              <a:blipFill>
                <a:blip r:embed="rId13"/>
                <a:stretch>
                  <a:fillRect l="-2290" r="-229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C37F0172-45AE-6716-11B3-A3411747BF4B}"/>
                  </a:ext>
                </a:extLst>
              </p:cNvPr>
              <p:cNvSpPr txBox="1"/>
              <p:nvPr/>
            </p:nvSpPr>
            <p:spPr>
              <a:xfrm>
                <a:off x="10020840" y="2280778"/>
                <a:ext cx="8023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r>
                        <a:rPr lang="en-US" sz="2400" i="1" dirty="0">
                          <a:latin typeface="Cambria Math" panose="02040503050406030204" pitchFamily="18" charset="0"/>
                        </a:rPr>
                        <m:t>⟩</m:t>
                      </m:r>
                    </m:oMath>
                  </m:oMathPara>
                </a14:m>
                <a:endParaRPr lang="en-US" sz="2400" dirty="0"/>
              </a:p>
            </p:txBody>
          </p:sp>
        </mc:Choice>
        <mc:Fallback xmlns="">
          <p:sp>
            <p:nvSpPr>
              <p:cNvPr id="58" name="TextBox 57">
                <a:extLst>
                  <a:ext uri="{FF2B5EF4-FFF2-40B4-BE49-F238E27FC236}">
                    <a16:creationId xmlns:a16="http://schemas.microsoft.com/office/drawing/2014/main" id="{C37F0172-45AE-6716-11B3-A3411747BF4B}"/>
                  </a:ext>
                </a:extLst>
              </p:cNvPr>
              <p:cNvSpPr txBox="1">
                <a:spLocks noRot="1" noChangeAspect="1" noMove="1" noResize="1" noEditPoints="1" noAdjustHandles="1" noChangeArrowheads="1" noChangeShapeType="1" noTextEdit="1"/>
              </p:cNvSpPr>
              <p:nvPr/>
            </p:nvSpPr>
            <p:spPr>
              <a:xfrm>
                <a:off x="10020840" y="2280778"/>
                <a:ext cx="802336" cy="461665"/>
              </a:xfrm>
              <a:prstGeom prst="rect">
                <a:avLst/>
              </a:prstGeom>
              <a:blipFill>
                <a:blip r:embed="rId14"/>
                <a:stretch>
                  <a:fillRect l="-2290" r="-2290" b="-17105"/>
                </a:stretch>
              </a:blipFill>
            </p:spPr>
            <p:txBody>
              <a:bodyPr/>
              <a:lstStyle/>
              <a:p>
                <a:r>
                  <a:rPr lang="en-US">
                    <a:noFill/>
                  </a:rPr>
                  <a:t> </a:t>
                </a:r>
              </a:p>
            </p:txBody>
          </p:sp>
        </mc:Fallback>
      </mc:AlternateContent>
      <p:cxnSp>
        <p:nvCxnSpPr>
          <p:cNvPr id="66" name="Straight Arrow Connector 65">
            <a:extLst>
              <a:ext uri="{FF2B5EF4-FFF2-40B4-BE49-F238E27FC236}">
                <a16:creationId xmlns:a16="http://schemas.microsoft.com/office/drawing/2014/main" id="{EA1B35AE-664E-5776-E3FC-DE76E87B62C7}"/>
              </a:ext>
            </a:extLst>
          </p:cNvPr>
          <p:cNvCxnSpPr>
            <a:cxnSpLocks/>
          </p:cNvCxnSpPr>
          <p:nvPr/>
        </p:nvCxnSpPr>
        <p:spPr>
          <a:xfrm flipV="1">
            <a:off x="8276432" y="868891"/>
            <a:ext cx="637475" cy="1660201"/>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67" name="Arrow: Right 66">
            <a:extLst>
              <a:ext uri="{FF2B5EF4-FFF2-40B4-BE49-F238E27FC236}">
                <a16:creationId xmlns:a16="http://schemas.microsoft.com/office/drawing/2014/main" id="{6371ADC8-4C23-C097-3608-05C70EFEFC54}"/>
              </a:ext>
            </a:extLst>
          </p:cNvPr>
          <p:cNvSpPr/>
          <p:nvPr/>
        </p:nvSpPr>
        <p:spPr>
          <a:xfrm flipH="1">
            <a:off x="5139328" y="3640299"/>
            <a:ext cx="1134415" cy="4532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D3903659-1502-9AC8-9E7D-2866C4013D8E}"/>
                  </a:ext>
                </a:extLst>
              </p:cNvPr>
              <p:cNvSpPr txBox="1"/>
              <p:nvPr/>
            </p:nvSpPr>
            <p:spPr>
              <a:xfrm>
                <a:off x="5238188" y="3270491"/>
                <a:ext cx="948593" cy="369332"/>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=2</m:t>
                      </m:r>
                      <m:r>
                        <a:rPr lang="en-US" b="0" i="1" smtClean="0">
                          <a:latin typeface="Cambria Math" panose="02040503050406030204" pitchFamily="18" charset="0"/>
                        </a:rPr>
                        <m:t>𝛼</m:t>
                      </m:r>
                    </m:oMath>
                  </m:oMathPara>
                </a14:m>
                <a:endParaRPr lang="en-US" dirty="0"/>
              </a:p>
            </p:txBody>
          </p:sp>
        </mc:Choice>
        <mc:Fallback xmlns="">
          <p:sp>
            <p:nvSpPr>
              <p:cNvPr id="68" name="TextBox 67">
                <a:extLst>
                  <a:ext uri="{FF2B5EF4-FFF2-40B4-BE49-F238E27FC236}">
                    <a16:creationId xmlns:a16="http://schemas.microsoft.com/office/drawing/2014/main" id="{D3903659-1502-9AC8-9E7D-2866C4013D8E}"/>
                  </a:ext>
                </a:extLst>
              </p:cNvPr>
              <p:cNvSpPr txBox="1">
                <a:spLocks noRot="1" noChangeAspect="1" noMove="1" noResize="1" noEditPoints="1" noAdjustHandles="1" noChangeArrowheads="1" noChangeShapeType="1" noTextEdit="1"/>
              </p:cNvSpPr>
              <p:nvPr/>
            </p:nvSpPr>
            <p:spPr>
              <a:xfrm>
                <a:off x="5238188" y="3270491"/>
                <a:ext cx="948593" cy="369332"/>
              </a:xfrm>
              <a:prstGeom prst="rect">
                <a:avLst/>
              </a:prstGeom>
              <a:blipFill>
                <a:blip r:embed="rId15"/>
                <a:stretch>
                  <a:fillRect/>
                </a:stretch>
              </a:blipFill>
            </p:spPr>
            <p:txBody>
              <a:bodyPr/>
              <a:lstStyle/>
              <a:p>
                <a:r>
                  <a:rPr lang="en-US">
                    <a:noFill/>
                  </a:rPr>
                  <a:t> </a:t>
                </a:r>
              </a:p>
            </p:txBody>
          </p:sp>
        </mc:Fallback>
      </mc:AlternateContent>
      <p:sp>
        <p:nvSpPr>
          <p:cNvPr id="71" name="Arrow: Right 70">
            <a:extLst>
              <a:ext uri="{FF2B5EF4-FFF2-40B4-BE49-F238E27FC236}">
                <a16:creationId xmlns:a16="http://schemas.microsoft.com/office/drawing/2014/main" id="{57D8480A-90D5-57D6-D656-4B7217F1AF63}"/>
              </a:ext>
            </a:extLst>
          </p:cNvPr>
          <p:cNvSpPr/>
          <p:nvPr/>
        </p:nvSpPr>
        <p:spPr>
          <a:xfrm>
            <a:off x="5139328" y="1264185"/>
            <a:ext cx="1134415" cy="4532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CDDBF28F-7ED9-2BD9-E600-97674DBF9B67}"/>
                  </a:ext>
                </a:extLst>
              </p:cNvPr>
              <p:cNvSpPr txBox="1"/>
              <p:nvPr/>
            </p:nvSpPr>
            <p:spPr>
              <a:xfrm>
                <a:off x="5302306" y="627399"/>
                <a:ext cx="820353" cy="613245"/>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𝜃</m:t>
                          </m:r>
                        </m:num>
                        <m:den>
                          <m:r>
                            <a:rPr lang="en-US" b="0" i="1" smtClean="0">
                              <a:latin typeface="Cambria Math" panose="02040503050406030204" pitchFamily="18" charset="0"/>
                            </a:rPr>
                            <m:t>2</m:t>
                          </m:r>
                        </m:den>
                      </m:f>
                    </m:oMath>
                  </m:oMathPara>
                </a14:m>
                <a:endParaRPr lang="en-US" dirty="0"/>
              </a:p>
            </p:txBody>
          </p:sp>
        </mc:Choice>
        <mc:Fallback xmlns="">
          <p:sp>
            <p:nvSpPr>
              <p:cNvPr id="72" name="TextBox 71">
                <a:extLst>
                  <a:ext uri="{FF2B5EF4-FFF2-40B4-BE49-F238E27FC236}">
                    <a16:creationId xmlns:a16="http://schemas.microsoft.com/office/drawing/2014/main" id="{CDDBF28F-7ED9-2BD9-E600-97674DBF9B67}"/>
                  </a:ext>
                </a:extLst>
              </p:cNvPr>
              <p:cNvSpPr txBox="1">
                <a:spLocks noRot="1" noChangeAspect="1" noMove="1" noResize="1" noEditPoints="1" noAdjustHandles="1" noChangeArrowheads="1" noChangeShapeType="1" noTextEdit="1"/>
              </p:cNvSpPr>
              <p:nvPr/>
            </p:nvSpPr>
            <p:spPr>
              <a:xfrm>
                <a:off x="5302306" y="627399"/>
                <a:ext cx="820353" cy="613245"/>
              </a:xfrm>
              <a:prstGeom prst="rect">
                <a:avLst/>
              </a:prstGeom>
              <a:blipFill>
                <a:blip r:embed="rId16"/>
                <a:stretch>
                  <a:fillRect/>
                </a:stretch>
              </a:blipFill>
            </p:spPr>
            <p:txBody>
              <a:bodyPr/>
              <a:lstStyle/>
              <a:p>
                <a:r>
                  <a:rPr lang="en-US">
                    <a:noFill/>
                  </a:rPr>
                  <a:t> </a:t>
                </a:r>
              </a:p>
            </p:txBody>
          </p:sp>
        </mc:Fallback>
      </mc:AlternateContent>
      <p:cxnSp>
        <p:nvCxnSpPr>
          <p:cNvPr id="74" name="Straight Arrow Connector 73">
            <a:extLst>
              <a:ext uri="{FF2B5EF4-FFF2-40B4-BE49-F238E27FC236}">
                <a16:creationId xmlns:a16="http://schemas.microsoft.com/office/drawing/2014/main" id="{1EA0E1FF-591E-03C5-9DEA-530EB43DE91F}"/>
              </a:ext>
            </a:extLst>
          </p:cNvPr>
          <p:cNvCxnSpPr>
            <a:cxnSpLocks/>
          </p:cNvCxnSpPr>
          <p:nvPr/>
        </p:nvCxnSpPr>
        <p:spPr>
          <a:xfrm flipH="1" flipV="1">
            <a:off x="3730158" y="4311277"/>
            <a:ext cx="881390" cy="787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31EF75B1-7AD9-91D1-C392-44876ECF5C33}"/>
              </a:ext>
            </a:extLst>
          </p:cNvPr>
          <p:cNvSpPr txBox="1"/>
          <p:nvPr/>
        </p:nvSpPr>
        <p:spPr>
          <a:xfrm>
            <a:off x="143149" y="216305"/>
            <a:ext cx="2265428" cy="461665"/>
          </a:xfrm>
          <a:prstGeom prst="rect">
            <a:avLst/>
          </a:prstGeom>
          <a:noFill/>
        </p:spPr>
        <p:txBody>
          <a:bodyPr wrap="none" rtlCol="0">
            <a:spAutoFit/>
          </a:bodyPr>
          <a:lstStyle/>
          <a:p>
            <a:r>
              <a:rPr lang="en-US" sz="2400" dirty="0"/>
              <a:t>In physical space</a:t>
            </a:r>
          </a:p>
        </p:txBody>
      </p:sp>
      <p:sp>
        <p:nvSpPr>
          <p:cNvPr id="77" name="TextBox 76">
            <a:extLst>
              <a:ext uri="{FF2B5EF4-FFF2-40B4-BE49-F238E27FC236}">
                <a16:creationId xmlns:a16="http://schemas.microsoft.com/office/drawing/2014/main" id="{D136EF84-3E4E-C9CA-CE98-7E7294EF34A1}"/>
              </a:ext>
            </a:extLst>
          </p:cNvPr>
          <p:cNvSpPr txBox="1"/>
          <p:nvPr/>
        </p:nvSpPr>
        <p:spPr>
          <a:xfrm>
            <a:off x="9497768" y="353087"/>
            <a:ext cx="2551083" cy="461665"/>
          </a:xfrm>
          <a:prstGeom prst="rect">
            <a:avLst/>
          </a:prstGeom>
          <a:noFill/>
        </p:spPr>
        <p:txBody>
          <a:bodyPr wrap="none" rtlCol="0">
            <a:spAutoFit/>
          </a:bodyPr>
          <a:lstStyle/>
          <a:p>
            <a:r>
              <a:rPr lang="en-US" sz="2400" dirty="0"/>
              <a:t>In the vector space</a:t>
            </a:r>
          </a:p>
        </p:txBody>
      </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E5489390-D689-B742-A99A-ABC2C789A3B4}"/>
                  </a:ext>
                </a:extLst>
              </p:cNvPr>
              <p:cNvSpPr txBox="1"/>
              <p:nvPr/>
            </p:nvSpPr>
            <p:spPr>
              <a:xfrm>
                <a:off x="4788946" y="4566435"/>
                <a:ext cx="1891287" cy="461665"/>
              </a:xfrm>
              <a:prstGeom prst="rect">
                <a:avLst/>
              </a:prstGeom>
              <a:noFill/>
            </p:spPr>
            <p:txBody>
              <a:bodyPr wrap="none" rtlCol="0">
                <a:spAutoFit/>
              </a:bodyPr>
              <a:lstStyle/>
              <a:p>
                <a14:m>
                  <m:oMath xmlns:m="http://schemas.openxmlformats.org/officeDocument/2006/math">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r>
                      <a:rPr lang="en-US" sz="2400" i="1" dirty="0">
                        <a:latin typeface="Cambria Math" panose="02040503050406030204" pitchFamily="18" charset="0"/>
                      </a:rPr>
                      <m:t>⟩</m:t>
                    </m:r>
                  </m:oMath>
                </a14:m>
                <a:r>
                  <a:rPr lang="en-US" sz="2400" dirty="0"/>
                  <a:t> and </a:t>
                </a:r>
                <a14:m>
                  <m:oMath xmlns:m="http://schemas.openxmlformats.org/officeDocument/2006/math">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r>
                      <a:rPr lang="en-US" sz="2400" i="1" dirty="0">
                        <a:latin typeface="Cambria Math" panose="02040503050406030204" pitchFamily="18" charset="0"/>
                      </a:rPr>
                      <m:t>⟩</m:t>
                    </m:r>
                  </m:oMath>
                </a14:m>
                <a:endParaRPr lang="en-US" sz="2400" dirty="0"/>
              </a:p>
            </p:txBody>
          </p:sp>
        </mc:Choice>
        <mc:Fallback xmlns="">
          <p:sp>
            <p:nvSpPr>
              <p:cNvPr id="79" name="TextBox 78">
                <a:extLst>
                  <a:ext uri="{FF2B5EF4-FFF2-40B4-BE49-F238E27FC236}">
                    <a16:creationId xmlns:a16="http://schemas.microsoft.com/office/drawing/2014/main" id="{E5489390-D689-B742-A99A-ABC2C789A3B4}"/>
                  </a:ext>
                </a:extLst>
              </p:cNvPr>
              <p:cNvSpPr txBox="1">
                <a:spLocks noRot="1" noChangeAspect="1" noMove="1" noResize="1" noEditPoints="1" noAdjustHandles="1" noChangeArrowheads="1" noChangeShapeType="1" noTextEdit="1"/>
              </p:cNvSpPr>
              <p:nvPr/>
            </p:nvSpPr>
            <p:spPr>
              <a:xfrm>
                <a:off x="4788946" y="4566435"/>
                <a:ext cx="1891287" cy="461665"/>
              </a:xfrm>
              <a:prstGeom prst="rect">
                <a:avLst/>
              </a:prstGeom>
              <a:blipFill>
                <a:blip r:embed="rId17"/>
                <a:stretch>
                  <a:fillRect l="-2903" t="-10526" r="-1935" b="-28947"/>
                </a:stretch>
              </a:blipFill>
            </p:spPr>
            <p:txBody>
              <a:bodyPr/>
              <a:lstStyle/>
              <a:p>
                <a:r>
                  <a:rPr lang="en-US">
                    <a:noFill/>
                  </a:rPr>
                  <a:t> </a:t>
                </a:r>
              </a:p>
            </p:txBody>
          </p:sp>
        </mc:Fallback>
      </mc:AlternateContent>
      <p:sp>
        <p:nvSpPr>
          <p:cNvPr id="82" name="TextBox 81">
            <a:extLst>
              <a:ext uri="{FF2B5EF4-FFF2-40B4-BE49-F238E27FC236}">
                <a16:creationId xmlns:a16="http://schemas.microsoft.com/office/drawing/2014/main" id="{894F53DD-8F07-D73A-9A86-6BA918BDB10E}"/>
              </a:ext>
            </a:extLst>
          </p:cNvPr>
          <p:cNvSpPr txBox="1"/>
          <p:nvPr/>
        </p:nvSpPr>
        <p:spPr>
          <a:xfrm>
            <a:off x="4455680" y="5094700"/>
            <a:ext cx="2501710" cy="369332"/>
          </a:xfrm>
          <a:prstGeom prst="rect">
            <a:avLst/>
          </a:prstGeom>
          <a:noFill/>
        </p:spPr>
        <p:txBody>
          <a:bodyPr wrap="none" rtlCol="0">
            <a:spAutoFit/>
          </a:bodyPr>
          <a:lstStyle/>
          <a:p>
            <a:r>
              <a:rPr lang="en-US" dirty="0"/>
              <a:t>opposite and orthogonal</a:t>
            </a:r>
          </a:p>
        </p:txBody>
      </p:sp>
      <p:cxnSp>
        <p:nvCxnSpPr>
          <p:cNvPr id="85" name="Straight Arrow Connector 84">
            <a:extLst>
              <a:ext uri="{FF2B5EF4-FFF2-40B4-BE49-F238E27FC236}">
                <a16:creationId xmlns:a16="http://schemas.microsoft.com/office/drawing/2014/main" id="{3EBC8588-D51D-B46A-0B47-FC89D7D430E1}"/>
              </a:ext>
            </a:extLst>
          </p:cNvPr>
          <p:cNvCxnSpPr/>
          <p:nvPr/>
        </p:nvCxnSpPr>
        <p:spPr>
          <a:xfrm flipV="1">
            <a:off x="6854663" y="4380221"/>
            <a:ext cx="707492" cy="7183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6BEC70B5-D291-CEFF-6CC3-F8B5CC74A472}"/>
              </a:ext>
            </a:extLst>
          </p:cNvPr>
          <p:cNvSpPr txBox="1"/>
          <p:nvPr/>
        </p:nvSpPr>
        <p:spPr>
          <a:xfrm rot="16200000">
            <a:off x="5843630" y="2188444"/>
            <a:ext cx="2812821" cy="646331"/>
          </a:xfrm>
          <a:prstGeom prst="rect">
            <a:avLst/>
          </a:prstGeom>
          <a:noFill/>
        </p:spPr>
        <p:txBody>
          <a:bodyPr wrap="none" rtlCol="0">
            <a:spAutoFit/>
          </a:bodyPr>
          <a:lstStyle/>
          <a:p>
            <a:r>
              <a:rPr lang="en-US" sz="3600" dirty="0">
                <a:solidFill>
                  <a:schemeClr val="accent6">
                    <a:lumMod val="75000"/>
                  </a:schemeClr>
                </a:solidFill>
              </a:rPr>
              <a:t>Double cover!</a:t>
            </a:r>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0FF1B634-D71C-D3FA-F3AE-3702F06D9D1A}"/>
                  </a:ext>
                </a:extLst>
              </p:cNvPr>
              <p:cNvSpPr txBox="1"/>
              <p:nvPr/>
            </p:nvSpPr>
            <p:spPr>
              <a:xfrm>
                <a:off x="867697" y="5488521"/>
                <a:ext cx="8097025" cy="9026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sz="2800" i="1" smtClean="0">
                              <a:latin typeface="Cambria Math" panose="02040503050406030204" pitchFamily="18" charset="0"/>
                            </a:rPr>
                          </m:ctrlPr>
                        </m:radPr>
                        <m:deg/>
                        <m:e>
                          <m:r>
                            <a:rPr lang="en-US" sz="2800" i="1">
                              <a:latin typeface="Cambria Math" panose="02040503050406030204" pitchFamily="18" charset="0"/>
                            </a:rPr>
                            <m:t>𝑝</m:t>
                          </m:r>
                          <m:d>
                            <m:dPr>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r>
                                    <a:rPr lang="en-US" sz="2800" i="1">
                                      <a:latin typeface="Cambria Math" panose="02040503050406030204" pitchFamily="18" charset="0"/>
                                    </a:rPr>
                                    <m:t>𝑧</m:t>
                                  </m:r>
                                </m:e>
                                <m:sup>
                                  <m:r>
                                    <a:rPr lang="en-US" sz="2800" i="1">
                                      <a:latin typeface="Cambria Math" panose="02040503050406030204" pitchFamily="18" charset="0"/>
                                    </a:rPr>
                                    <m:t>+</m:t>
                                  </m:r>
                                </m:sup>
                              </m:sSup>
                            </m:e>
                          </m:d>
                        </m:e>
                      </m:rad>
                      <m:d>
                        <m:dPr>
                          <m:begChr m:val="|"/>
                          <m:endChr m:val="⟩"/>
                          <m:ctrlPr>
                            <a:rPr lang="en-US" sz="2800" i="1" dirty="0">
                              <a:latin typeface="Cambria Math" panose="02040503050406030204" pitchFamily="18" charset="0"/>
                            </a:rPr>
                          </m:ctrlPr>
                        </m:dPr>
                        <m:e>
                          <m:sSup>
                            <m:sSupPr>
                              <m:ctrlPr>
                                <a:rPr lang="en-US" sz="2800" i="1" dirty="0">
                                  <a:latin typeface="Cambria Math" panose="02040503050406030204" pitchFamily="18" charset="0"/>
                                </a:rPr>
                              </m:ctrlPr>
                            </m:sSupPr>
                            <m:e>
                              <m:r>
                                <a:rPr lang="en-US" sz="2800" i="1" dirty="0">
                                  <a:latin typeface="Cambria Math" panose="02040503050406030204" pitchFamily="18" charset="0"/>
                                </a:rPr>
                                <m:t>𝑧</m:t>
                              </m:r>
                            </m:e>
                            <m:sup>
                              <m:r>
                                <a:rPr lang="en-US" sz="2800" i="1" dirty="0">
                                  <a:latin typeface="Cambria Math" panose="02040503050406030204" pitchFamily="18" charset="0"/>
                                </a:rPr>
                                <m:t>+</m:t>
                              </m:r>
                            </m:sup>
                          </m:sSup>
                        </m:e>
                      </m:d>
                      <m:r>
                        <a:rPr lang="en-US" sz="2800" b="0" i="1" dirty="0" smtClean="0">
                          <a:latin typeface="Cambria Math" panose="02040503050406030204" pitchFamily="18" charset="0"/>
                        </a:rPr>
                        <m:t>+</m:t>
                      </m:r>
                      <m:rad>
                        <m:radPr>
                          <m:degHide m:val="on"/>
                          <m:ctrlPr>
                            <a:rPr lang="en-US" sz="2800" i="1">
                              <a:latin typeface="Cambria Math" panose="02040503050406030204" pitchFamily="18" charset="0"/>
                            </a:rPr>
                          </m:ctrlPr>
                        </m:radPr>
                        <m:deg/>
                        <m:e>
                          <m:r>
                            <a:rPr lang="en-US" sz="2800" i="1">
                              <a:latin typeface="Cambria Math" panose="02040503050406030204" pitchFamily="18" charset="0"/>
                            </a:rPr>
                            <m:t>𝑝</m:t>
                          </m:r>
                          <m:d>
                            <m:dPr>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r>
                                    <a:rPr lang="en-US" sz="2800" i="1">
                                      <a:latin typeface="Cambria Math" panose="02040503050406030204" pitchFamily="18" charset="0"/>
                                    </a:rPr>
                                    <m:t>𝑧</m:t>
                                  </m:r>
                                </m:e>
                                <m:sup>
                                  <m:r>
                                    <a:rPr lang="en-US" sz="2800" b="0" i="1" smtClean="0">
                                      <a:latin typeface="Cambria Math" panose="02040503050406030204" pitchFamily="18" charset="0"/>
                                    </a:rPr>
                                    <m:t>−</m:t>
                                  </m:r>
                                </m:sup>
                              </m:sSup>
                            </m:e>
                          </m:d>
                        </m:e>
                      </m:rad>
                      <m:d>
                        <m:dPr>
                          <m:begChr m:val="|"/>
                          <m:endChr m:val="⟩"/>
                          <m:ctrlPr>
                            <a:rPr lang="en-US" sz="2800" i="1" dirty="0">
                              <a:latin typeface="Cambria Math" panose="02040503050406030204" pitchFamily="18" charset="0"/>
                            </a:rPr>
                          </m:ctrlPr>
                        </m:dPr>
                        <m:e>
                          <m:sSup>
                            <m:sSupPr>
                              <m:ctrlPr>
                                <a:rPr lang="en-US" sz="2800" i="1" dirty="0">
                                  <a:latin typeface="Cambria Math" panose="02040503050406030204" pitchFamily="18" charset="0"/>
                                </a:rPr>
                              </m:ctrlPr>
                            </m:sSupPr>
                            <m:e>
                              <m:r>
                                <a:rPr lang="en-US" sz="2800" i="1" dirty="0">
                                  <a:latin typeface="Cambria Math" panose="02040503050406030204" pitchFamily="18" charset="0"/>
                                </a:rPr>
                                <m:t>𝑧</m:t>
                              </m:r>
                            </m:e>
                            <m:sup>
                              <m:r>
                                <a:rPr lang="en-US" sz="2800" i="1" dirty="0">
                                  <a:latin typeface="Cambria Math" panose="02040503050406030204" pitchFamily="18" charset="0"/>
                                </a:rPr>
                                <m:t>−</m:t>
                              </m:r>
                            </m:sup>
                          </m:sSup>
                        </m:e>
                      </m:d>
                      <m:r>
                        <a:rPr lang="en-US" sz="2800" b="0" i="1" dirty="0" smtClean="0">
                          <a:latin typeface="Cambria Math" panose="02040503050406030204" pitchFamily="18" charset="0"/>
                        </a:rPr>
                        <m:t>=</m:t>
                      </m:r>
                      <m:func>
                        <m:funcPr>
                          <m:ctrlPr>
                            <a:rPr lang="en-US" sz="2800" b="0" i="1" dirty="0" smtClean="0">
                              <a:latin typeface="Cambria Math" panose="02040503050406030204" pitchFamily="18" charset="0"/>
                            </a:rPr>
                          </m:ctrlPr>
                        </m:funcPr>
                        <m:fName>
                          <m:r>
                            <m:rPr>
                              <m:sty m:val="p"/>
                            </m:rPr>
                            <a:rPr lang="en-US" sz="2800" b="0" i="0" dirty="0" smtClean="0">
                              <a:latin typeface="Cambria Math" panose="02040503050406030204" pitchFamily="18" charset="0"/>
                            </a:rPr>
                            <m:t>cos</m:t>
                          </m:r>
                        </m:fName>
                        <m:e>
                          <m:f>
                            <m:fPr>
                              <m:ctrlPr>
                                <a:rPr lang="en-US" sz="2800" b="0" i="1" dirty="0" smtClean="0">
                                  <a:latin typeface="Cambria Math" panose="02040503050406030204" pitchFamily="18" charset="0"/>
                                </a:rPr>
                              </m:ctrlPr>
                            </m:fPr>
                            <m:num>
                              <m:r>
                                <a:rPr lang="en-US" sz="2800" b="0" i="1" dirty="0" smtClean="0">
                                  <a:latin typeface="Cambria Math" panose="02040503050406030204" pitchFamily="18" charset="0"/>
                                </a:rPr>
                                <m:t>𝜃</m:t>
                              </m:r>
                            </m:num>
                            <m:den>
                              <m:r>
                                <a:rPr lang="en-US" sz="2800" b="0" i="1" dirty="0" smtClean="0">
                                  <a:latin typeface="Cambria Math" panose="02040503050406030204" pitchFamily="18" charset="0"/>
                                </a:rPr>
                                <m:t>2</m:t>
                              </m:r>
                            </m:den>
                          </m:f>
                        </m:e>
                      </m:func>
                      <m:d>
                        <m:dPr>
                          <m:begChr m:val="|"/>
                          <m:endChr m:val="⟩"/>
                          <m:ctrlPr>
                            <a:rPr lang="en-US" sz="2800" i="1" dirty="0">
                              <a:latin typeface="Cambria Math" panose="02040503050406030204" pitchFamily="18" charset="0"/>
                            </a:rPr>
                          </m:ctrlPr>
                        </m:dPr>
                        <m:e>
                          <m:sSup>
                            <m:sSupPr>
                              <m:ctrlPr>
                                <a:rPr lang="en-US" sz="2800" i="1" dirty="0">
                                  <a:latin typeface="Cambria Math" panose="02040503050406030204" pitchFamily="18" charset="0"/>
                                </a:rPr>
                              </m:ctrlPr>
                            </m:sSupPr>
                            <m:e>
                              <m:r>
                                <a:rPr lang="en-US" sz="2800" i="1" dirty="0">
                                  <a:latin typeface="Cambria Math" panose="02040503050406030204" pitchFamily="18" charset="0"/>
                                </a:rPr>
                                <m:t>𝑧</m:t>
                              </m:r>
                            </m:e>
                            <m:sup>
                              <m:r>
                                <a:rPr lang="en-US" sz="2800" i="1" dirty="0">
                                  <a:latin typeface="Cambria Math" panose="02040503050406030204" pitchFamily="18" charset="0"/>
                                </a:rPr>
                                <m:t>+</m:t>
                              </m:r>
                            </m:sup>
                          </m:sSup>
                        </m:e>
                      </m:d>
                      <m:r>
                        <a:rPr lang="en-US" sz="2800" b="0" i="1" dirty="0" smtClean="0">
                          <a:latin typeface="Cambria Math" panose="02040503050406030204" pitchFamily="18" charset="0"/>
                        </a:rPr>
                        <m:t>+</m:t>
                      </m:r>
                      <m:func>
                        <m:funcPr>
                          <m:ctrlPr>
                            <a:rPr lang="en-US" sz="2800" b="0" i="1" dirty="0" smtClean="0">
                              <a:latin typeface="Cambria Math" panose="02040503050406030204" pitchFamily="18" charset="0"/>
                            </a:rPr>
                          </m:ctrlPr>
                        </m:funcPr>
                        <m:fName>
                          <m:r>
                            <m:rPr>
                              <m:sty m:val="p"/>
                            </m:rPr>
                            <a:rPr lang="en-US" sz="2800" b="0" i="0" dirty="0" smtClean="0">
                              <a:latin typeface="Cambria Math" panose="02040503050406030204" pitchFamily="18" charset="0"/>
                            </a:rPr>
                            <m:t>sin</m:t>
                          </m:r>
                        </m:fName>
                        <m:e>
                          <m:f>
                            <m:fPr>
                              <m:ctrlPr>
                                <a:rPr lang="en-US" sz="2800" b="0" i="1" dirty="0" smtClean="0">
                                  <a:latin typeface="Cambria Math" panose="02040503050406030204" pitchFamily="18" charset="0"/>
                                </a:rPr>
                              </m:ctrlPr>
                            </m:fPr>
                            <m:num>
                              <m:r>
                                <a:rPr lang="en-US" sz="2800" b="0" i="1" dirty="0" smtClean="0">
                                  <a:latin typeface="Cambria Math" panose="02040503050406030204" pitchFamily="18" charset="0"/>
                                </a:rPr>
                                <m:t>𝜃</m:t>
                              </m:r>
                            </m:num>
                            <m:den>
                              <m:r>
                                <a:rPr lang="en-US" sz="2800" b="0" i="1" dirty="0" smtClean="0">
                                  <a:latin typeface="Cambria Math" panose="02040503050406030204" pitchFamily="18" charset="0"/>
                                </a:rPr>
                                <m:t>2</m:t>
                              </m:r>
                            </m:den>
                          </m:f>
                        </m:e>
                      </m:func>
                      <m:d>
                        <m:dPr>
                          <m:begChr m:val="|"/>
                          <m:endChr m:val="⟩"/>
                          <m:ctrlPr>
                            <a:rPr lang="en-US" sz="2800" i="1" dirty="0">
                              <a:latin typeface="Cambria Math" panose="02040503050406030204" pitchFamily="18" charset="0"/>
                            </a:rPr>
                          </m:ctrlPr>
                        </m:dPr>
                        <m:e>
                          <m:sSup>
                            <m:sSupPr>
                              <m:ctrlPr>
                                <a:rPr lang="en-US" sz="2800" i="1" dirty="0">
                                  <a:latin typeface="Cambria Math" panose="02040503050406030204" pitchFamily="18" charset="0"/>
                                </a:rPr>
                              </m:ctrlPr>
                            </m:sSupPr>
                            <m:e>
                              <m:r>
                                <a:rPr lang="en-US" sz="2800" i="1" dirty="0">
                                  <a:latin typeface="Cambria Math" panose="02040503050406030204" pitchFamily="18" charset="0"/>
                                </a:rPr>
                                <m:t>𝑧</m:t>
                              </m:r>
                            </m:e>
                            <m:sup>
                              <m:r>
                                <a:rPr lang="en-US" sz="2800" i="1" dirty="0">
                                  <a:latin typeface="Cambria Math" panose="02040503050406030204" pitchFamily="18" charset="0"/>
                                </a:rPr>
                                <m:t>−</m:t>
                              </m:r>
                            </m:sup>
                          </m:sSup>
                        </m:e>
                      </m:d>
                    </m:oMath>
                  </m:oMathPara>
                </a14:m>
                <a:endParaRPr lang="en-US" sz="2800" dirty="0"/>
              </a:p>
            </p:txBody>
          </p:sp>
        </mc:Choice>
        <mc:Fallback xmlns="">
          <p:sp>
            <p:nvSpPr>
              <p:cNvPr id="87" name="TextBox 86">
                <a:extLst>
                  <a:ext uri="{FF2B5EF4-FFF2-40B4-BE49-F238E27FC236}">
                    <a16:creationId xmlns:a16="http://schemas.microsoft.com/office/drawing/2014/main" id="{0FF1B634-D71C-D3FA-F3AE-3702F06D9D1A}"/>
                  </a:ext>
                </a:extLst>
              </p:cNvPr>
              <p:cNvSpPr txBox="1">
                <a:spLocks noRot="1" noChangeAspect="1" noMove="1" noResize="1" noEditPoints="1" noAdjustHandles="1" noChangeArrowheads="1" noChangeShapeType="1" noTextEdit="1"/>
              </p:cNvSpPr>
              <p:nvPr/>
            </p:nvSpPr>
            <p:spPr>
              <a:xfrm>
                <a:off x="867697" y="5488521"/>
                <a:ext cx="8097025" cy="902683"/>
              </a:xfrm>
              <a:prstGeom prst="rect">
                <a:avLst/>
              </a:prstGeom>
              <a:blipFill>
                <a:blip r:embed="rId1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99945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F6721-512E-ECA8-57BF-416B1FA043B1}"/>
            </a:ext>
          </a:extLst>
        </p:cNvPr>
        <p:cNvGrpSpPr/>
        <p:nvPr/>
      </p:nvGrpSpPr>
      <p:grpSpPr>
        <a:xfrm>
          <a:off x="0" y="0"/>
          <a:ext cx="0" cy="0"/>
          <a:chOff x="0" y="0"/>
          <a:chExt cx="0" cy="0"/>
        </a:xfrm>
      </p:grpSpPr>
      <p:sp>
        <p:nvSpPr>
          <p:cNvPr id="6" name="Arc 5">
            <a:extLst>
              <a:ext uri="{FF2B5EF4-FFF2-40B4-BE49-F238E27FC236}">
                <a16:creationId xmlns:a16="http://schemas.microsoft.com/office/drawing/2014/main" id="{D8F23B0E-3AF3-9140-4D97-CAE474ABB3FA}"/>
              </a:ext>
            </a:extLst>
          </p:cNvPr>
          <p:cNvSpPr/>
          <p:nvPr/>
        </p:nvSpPr>
        <p:spPr>
          <a:xfrm>
            <a:off x="2598212" y="2085993"/>
            <a:ext cx="697242" cy="553554"/>
          </a:xfrm>
          <a:prstGeom prst="arc">
            <a:avLst>
              <a:gd name="adj1" fmla="val 14089287"/>
              <a:gd name="adj2" fmla="val 2012949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A4EA812-5AEF-BB3D-E0A5-9CBD8BE56CE8}"/>
                  </a:ext>
                </a:extLst>
              </p:cNvPr>
              <p:cNvSpPr txBox="1"/>
              <p:nvPr/>
            </p:nvSpPr>
            <p:spPr>
              <a:xfrm>
                <a:off x="2813633" y="1793731"/>
                <a:ext cx="60016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𝑤𝑣</m:t>
                          </m:r>
                        </m:sub>
                      </m:sSub>
                    </m:oMath>
                  </m:oMathPara>
                </a14:m>
                <a:endParaRPr lang="en-US" dirty="0"/>
              </a:p>
            </p:txBody>
          </p:sp>
        </mc:Choice>
        <mc:Fallback xmlns="">
          <p:sp>
            <p:nvSpPr>
              <p:cNvPr id="27" name="TextBox 26">
                <a:extLst>
                  <a:ext uri="{FF2B5EF4-FFF2-40B4-BE49-F238E27FC236}">
                    <a16:creationId xmlns:a16="http://schemas.microsoft.com/office/drawing/2014/main" id="{9A4EA812-5AEF-BB3D-E0A5-9CBD8BE56CE8}"/>
                  </a:ext>
                </a:extLst>
              </p:cNvPr>
              <p:cNvSpPr txBox="1">
                <a:spLocks noRot="1" noChangeAspect="1" noMove="1" noResize="1" noEditPoints="1" noAdjustHandles="1" noChangeArrowheads="1" noChangeShapeType="1" noTextEdit="1"/>
              </p:cNvSpPr>
              <p:nvPr/>
            </p:nvSpPr>
            <p:spPr>
              <a:xfrm>
                <a:off x="2813633" y="1793731"/>
                <a:ext cx="600164"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6F2B574-EF74-9F05-1C07-47749E1E8CA3}"/>
                  </a:ext>
                </a:extLst>
              </p:cNvPr>
              <p:cNvSpPr txBox="1"/>
              <p:nvPr/>
            </p:nvSpPr>
            <p:spPr>
              <a:xfrm>
                <a:off x="2541264" y="233822"/>
                <a:ext cx="8023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r>
                        <a:rPr lang="en-US" sz="2400" i="1" dirty="0">
                          <a:latin typeface="Cambria Math" panose="02040503050406030204" pitchFamily="18" charset="0"/>
                        </a:rPr>
                        <m:t>⟩</m:t>
                      </m:r>
                    </m:oMath>
                  </m:oMathPara>
                </a14:m>
                <a:endParaRPr lang="en-US" sz="2400" dirty="0"/>
              </a:p>
            </p:txBody>
          </p:sp>
        </mc:Choice>
        <mc:Fallback xmlns="">
          <p:sp>
            <p:nvSpPr>
              <p:cNvPr id="28" name="TextBox 27">
                <a:extLst>
                  <a:ext uri="{FF2B5EF4-FFF2-40B4-BE49-F238E27FC236}">
                    <a16:creationId xmlns:a16="http://schemas.microsoft.com/office/drawing/2014/main" id="{76F2B574-EF74-9F05-1C07-47749E1E8CA3}"/>
                  </a:ext>
                </a:extLst>
              </p:cNvPr>
              <p:cNvSpPr txBox="1">
                <a:spLocks noRot="1" noChangeAspect="1" noMove="1" noResize="1" noEditPoints="1" noAdjustHandles="1" noChangeArrowheads="1" noChangeShapeType="1" noTextEdit="1"/>
              </p:cNvSpPr>
              <p:nvPr/>
            </p:nvSpPr>
            <p:spPr>
              <a:xfrm>
                <a:off x="2541264" y="233822"/>
                <a:ext cx="802336" cy="461665"/>
              </a:xfrm>
              <a:prstGeom prst="rect">
                <a:avLst/>
              </a:prstGeom>
              <a:blipFill>
                <a:blip r:embed="rId3"/>
                <a:stretch>
                  <a:fillRect l="-2290" r="-229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7C6A6FD-348F-E8BA-4347-AF6C6A58C2E2}"/>
                  </a:ext>
                </a:extLst>
              </p:cNvPr>
              <p:cNvSpPr txBox="1"/>
              <p:nvPr/>
            </p:nvSpPr>
            <p:spPr>
              <a:xfrm>
                <a:off x="2541264" y="4380221"/>
                <a:ext cx="8023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r>
                        <a:rPr lang="en-US" sz="2400" i="1" dirty="0">
                          <a:latin typeface="Cambria Math" panose="02040503050406030204" pitchFamily="18" charset="0"/>
                        </a:rPr>
                        <m:t>⟩</m:t>
                      </m:r>
                    </m:oMath>
                  </m:oMathPara>
                </a14:m>
                <a:endParaRPr lang="en-US" sz="2400" dirty="0"/>
              </a:p>
            </p:txBody>
          </p:sp>
        </mc:Choice>
        <mc:Fallback xmlns="">
          <p:sp>
            <p:nvSpPr>
              <p:cNvPr id="30" name="TextBox 29">
                <a:extLst>
                  <a:ext uri="{FF2B5EF4-FFF2-40B4-BE49-F238E27FC236}">
                    <a16:creationId xmlns:a16="http://schemas.microsoft.com/office/drawing/2014/main" id="{B7C6A6FD-348F-E8BA-4347-AF6C6A58C2E2}"/>
                  </a:ext>
                </a:extLst>
              </p:cNvPr>
              <p:cNvSpPr txBox="1">
                <a:spLocks noRot="1" noChangeAspect="1" noMove="1" noResize="1" noEditPoints="1" noAdjustHandles="1" noChangeArrowheads="1" noChangeShapeType="1" noTextEdit="1"/>
              </p:cNvSpPr>
              <p:nvPr/>
            </p:nvSpPr>
            <p:spPr>
              <a:xfrm>
                <a:off x="2541264" y="4380221"/>
                <a:ext cx="802336" cy="461665"/>
              </a:xfrm>
              <a:prstGeom prst="rect">
                <a:avLst/>
              </a:prstGeom>
              <a:blipFill>
                <a:blip r:embed="rId4"/>
                <a:stretch>
                  <a:fillRect l="-2290" r="-2290" b="-18667"/>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0D240E55-C7E9-5B35-98EB-ACDFCC6BBAA5}"/>
              </a:ext>
            </a:extLst>
          </p:cNvPr>
          <p:cNvCxnSpPr>
            <a:cxnSpLocks/>
          </p:cNvCxnSpPr>
          <p:nvPr/>
        </p:nvCxnSpPr>
        <p:spPr>
          <a:xfrm flipV="1">
            <a:off x="2683130" y="1264186"/>
            <a:ext cx="1524219" cy="691429"/>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5336286-A941-0799-60D6-BEB58DAB0FD4}"/>
                  </a:ext>
                </a:extLst>
              </p:cNvPr>
              <p:cNvSpPr txBox="1"/>
              <p:nvPr/>
            </p:nvSpPr>
            <p:spPr>
              <a:xfrm>
                <a:off x="3515484" y="1748127"/>
                <a:ext cx="4293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𝑣</m:t>
                      </m:r>
                    </m:oMath>
                  </m:oMathPara>
                </a14:m>
                <a:endParaRPr lang="en-US" sz="2400" dirty="0"/>
              </a:p>
            </p:txBody>
          </p:sp>
        </mc:Choice>
        <mc:Fallback xmlns="">
          <p:sp>
            <p:nvSpPr>
              <p:cNvPr id="36" name="TextBox 35">
                <a:extLst>
                  <a:ext uri="{FF2B5EF4-FFF2-40B4-BE49-F238E27FC236}">
                    <a16:creationId xmlns:a16="http://schemas.microsoft.com/office/drawing/2014/main" id="{B5336286-A941-0799-60D6-BEB58DAB0FD4}"/>
                  </a:ext>
                </a:extLst>
              </p:cNvPr>
              <p:cNvSpPr txBox="1">
                <a:spLocks noRot="1" noChangeAspect="1" noMove="1" noResize="1" noEditPoints="1" noAdjustHandles="1" noChangeArrowheads="1" noChangeShapeType="1" noTextEdit="1"/>
              </p:cNvSpPr>
              <p:nvPr/>
            </p:nvSpPr>
            <p:spPr>
              <a:xfrm>
                <a:off x="3515484" y="1748127"/>
                <a:ext cx="429348" cy="461665"/>
              </a:xfrm>
              <a:prstGeom prst="rect">
                <a:avLst/>
              </a:prstGeom>
              <a:blipFill>
                <a:blip r:embed="rId5"/>
                <a:stretch>
                  <a:fillRect/>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5319C123-E23E-C24F-8BCD-6610A658F004}"/>
              </a:ext>
            </a:extLst>
          </p:cNvPr>
          <p:cNvCxnSpPr>
            <a:cxnSpLocks/>
            <a:stCxn id="26" idx="2"/>
          </p:cNvCxnSpPr>
          <p:nvPr/>
        </p:nvCxnSpPr>
        <p:spPr>
          <a:xfrm>
            <a:off x="1153584" y="2529096"/>
            <a:ext cx="3577706" cy="7622"/>
          </a:xfrm>
          <a:prstGeom prst="line">
            <a:avLst/>
          </a:prstGeom>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25C47EF2-EE0A-CBFD-4372-DACC688CEB2C}"/>
              </a:ext>
            </a:extLst>
          </p:cNvPr>
          <p:cNvGrpSpPr/>
          <p:nvPr/>
        </p:nvGrpSpPr>
        <p:grpSpPr>
          <a:xfrm>
            <a:off x="1153584" y="740244"/>
            <a:ext cx="3577708" cy="3577703"/>
            <a:chOff x="934944" y="1636949"/>
            <a:chExt cx="2674273" cy="2674270"/>
          </a:xfrm>
        </p:grpSpPr>
        <p:grpSp>
          <p:nvGrpSpPr>
            <p:cNvPr id="15" name="Group 14">
              <a:extLst>
                <a:ext uri="{FF2B5EF4-FFF2-40B4-BE49-F238E27FC236}">
                  <a16:creationId xmlns:a16="http://schemas.microsoft.com/office/drawing/2014/main" id="{4D45E28D-5426-0194-E3F0-C6FDF4731A11}"/>
                </a:ext>
              </a:extLst>
            </p:cNvPr>
            <p:cNvGrpSpPr/>
            <p:nvPr/>
          </p:nvGrpSpPr>
          <p:grpSpPr>
            <a:xfrm>
              <a:off x="934944" y="1636949"/>
              <a:ext cx="2674273" cy="2674270"/>
              <a:chOff x="2521889" y="2808131"/>
              <a:chExt cx="1916265" cy="1916264"/>
            </a:xfrm>
          </p:grpSpPr>
          <p:sp>
            <p:nvSpPr>
              <p:cNvPr id="22" name="Oval 21">
                <a:extLst>
                  <a:ext uri="{FF2B5EF4-FFF2-40B4-BE49-F238E27FC236}">
                    <a16:creationId xmlns:a16="http://schemas.microsoft.com/office/drawing/2014/main" id="{A9DEE00E-CE9D-5276-EBD0-7EF49D484F74}"/>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Oval 31">
                <a:extLst>
                  <a:ext uri="{FF2B5EF4-FFF2-40B4-BE49-F238E27FC236}">
                    <a16:creationId xmlns:a16="http://schemas.microsoft.com/office/drawing/2014/main" id="{E742C175-5995-21E7-1ABB-83545DC137FB}"/>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982AD47B-6A4E-7C62-7738-E356DF5D2FC4}"/>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19" name="Straight Arrow Connector 18">
              <a:extLst>
                <a:ext uri="{FF2B5EF4-FFF2-40B4-BE49-F238E27FC236}">
                  <a16:creationId xmlns:a16="http://schemas.microsoft.com/office/drawing/2014/main" id="{0E4B3BB4-05A1-3671-D7F2-823DFADCE0FC}"/>
                </a:ext>
              </a:extLst>
            </p:cNvPr>
            <p:cNvCxnSpPr>
              <a:cxnSpLocks/>
            </p:cNvCxnSpPr>
            <p:nvPr/>
          </p:nvCxnSpPr>
          <p:spPr>
            <a:xfrm flipH="1" flipV="1">
              <a:off x="1724031" y="1772116"/>
              <a:ext cx="548045" cy="120196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887DFAFC-2656-2719-6DAC-543ADDAF02EE}"/>
              </a:ext>
            </a:extLst>
          </p:cNvPr>
          <p:cNvGrpSpPr/>
          <p:nvPr/>
        </p:nvGrpSpPr>
        <p:grpSpPr>
          <a:xfrm rot="20129251">
            <a:off x="1930906" y="964407"/>
            <a:ext cx="1056774" cy="3577703"/>
            <a:chOff x="1885664" y="740244"/>
            <a:chExt cx="1056774" cy="3577703"/>
          </a:xfrm>
        </p:grpSpPr>
        <p:cxnSp>
          <p:nvCxnSpPr>
            <p:cNvPr id="13" name="Straight Connector 12">
              <a:extLst>
                <a:ext uri="{FF2B5EF4-FFF2-40B4-BE49-F238E27FC236}">
                  <a16:creationId xmlns:a16="http://schemas.microsoft.com/office/drawing/2014/main" id="{85DBA4E6-332F-5BA0-2C0E-A56CDEDAD535}"/>
                </a:ext>
              </a:extLst>
            </p:cNvPr>
            <p:cNvCxnSpPr>
              <a:cxnSpLocks/>
              <a:stCxn id="26" idx="0"/>
              <a:endCxn id="26" idx="4"/>
            </p:cNvCxnSpPr>
            <p:nvPr/>
          </p:nvCxnSpPr>
          <p:spPr>
            <a:xfrm>
              <a:off x="2942438" y="740244"/>
              <a:ext cx="0" cy="3577703"/>
            </a:xfrm>
            <a:prstGeom prst="line">
              <a:avLst/>
            </a:prstGeom>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F79B941-98A2-532C-7FF7-4D1058F125B1}"/>
                    </a:ext>
                  </a:extLst>
                </p:cNvPr>
                <p:cNvSpPr txBox="1"/>
                <p:nvPr/>
              </p:nvSpPr>
              <p:spPr>
                <a:xfrm>
                  <a:off x="1885664" y="2921225"/>
                  <a:ext cx="94237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𝑣</m:t>
                            </m:r>
                          </m:e>
                        </m:d>
                      </m:oMath>
                    </m:oMathPara>
                  </a14:m>
                  <a:endParaRPr lang="en-US" dirty="0"/>
                </a:p>
              </p:txBody>
            </p:sp>
          </mc:Choice>
          <mc:Fallback xmlns="">
            <p:sp>
              <p:nvSpPr>
                <p:cNvPr id="43" name="TextBox 42">
                  <a:extLst>
                    <a:ext uri="{FF2B5EF4-FFF2-40B4-BE49-F238E27FC236}">
                      <a16:creationId xmlns:a16="http://schemas.microsoft.com/office/drawing/2014/main" id="{6F79B941-98A2-532C-7FF7-4D1058F125B1}"/>
                    </a:ext>
                  </a:extLst>
                </p:cNvPr>
                <p:cNvSpPr txBox="1">
                  <a:spLocks noRot="1" noChangeAspect="1" noMove="1" noResize="1" noEditPoints="1" noAdjustHandles="1" noChangeArrowheads="1" noChangeShapeType="1" noTextEdit="1"/>
                </p:cNvSpPr>
                <p:nvPr/>
              </p:nvSpPr>
              <p:spPr>
                <a:xfrm>
                  <a:off x="1885664" y="2921225"/>
                  <a:ext cx="942373" cy="369332"/>
                </a:xfrm>
                <a:prstGeom prst="rect">
                  <a:avLst/>
                </a:prstGeom>
                <a:blipFill>
                  <a:blip r:embed="rId6"/>
                  <a:stretch>
                    <a:fillRect/>
                  </a:stretch>
                </a:blipFill>
              </p:spPr>
              <p:txBody>
                <a:bodyPr/>
                <a:lstStyle/>
                <a:p>
                  <a:r>
                    <a:rPr lang="en-US">
                      <a:noFill/>
                    </a:rPr>
                    <a:t> </a:t>
                  </a:r>
                </a:p>
              </p:txBody>
            </p:sp>
          </mc:Fallback>
        </mc:AlternateContent>
        <p:sp>
          <p:nvSpPr>
            <p:cNvPr id="53" name="Right Brace 52">
              <a:extLst>
                <a:ext uri="{FF2B5EF4-FFF2-40B4-BE49-F238E27FC236}">
                  <a16:creationId xmlns:a16="http://schemas.microsoft.com/office/drawing/2014/main" id="{4402921B-8E8B-CB0D-6E9C-000704DA4F35}"/>
                </a:ext>
              </a:extLst>
            </p:cNvPr>
            <p:cNvSpPr/>
            <p:nvPr/>
          </p:nvSpPr>
          <p:spPr>
            <a:xfrm flipH="1">
              <a:off x="2751185" y="1888408"/>
              <a:ext cx="169816" cy="240261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76" name="TextBox 75">
            <a:extLst>
              <a:ext uri="{FF2B5EF4-FFF2-40B4-BE49-F238E27FC236}">
                <a16:creationId xmlns:a16="http://schemas.microsoft.com/office/drawing/2014/main" id="{15216C27-201A-5948-12A7-B846F2AB4FE8}"/>
              </a:ext>
            </a:extLst>
          </p:cNvPr>
          <p:cNvSpPr txBox="1"/>
          <p:nvPr/>
        </p:nvSpPr>
        <p:spPr>
          <a:xfrm>
            <a:off x="143149" y="216305"/>
            <a:ext cx="2265428" cy="461665"/>
          </a:xfrm>
          <a:prstGeom prst="rect">
            <a:avLst/>
          </a:prstGeom>
          <a:noFill/>
        </p:spPr>
        <p:txBody>
          <a:bodyPr wrap="none" rtlCol="0">
            <a:spAutoFit/>
          </a:bodyPr>
          <a:lstStyle/>
          <a:p>
            <a:r>
              <a:rPr lang="en-US" sz="2400" dirty="0"/>
              <a:t>In physical space</a:t>
            </a:r>
          </a:p>
        </p:txBody>
      </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5F47A12B-90C7-DCC5-882D-0D6D9E4C38A4}"/>
                  </a:ext>
                </a:extLst>
              </p:cNvPr>
              <p:cNvSpPr txBox="1"/>
              <p:nvPr/>
            </p:nvSpPr>
            <p:spPr>
              <a:xfrm>
                <a:off x="5302068" y="401971"/>
                <a:ext cx="6746783" cy="523220"/>
              </a:xfrm>
              <a:prstGeom prst="rect">
                <a:avLst/>
              </a:prstGeom>
              <a:noFill/>
            </p:spPr>
            <p:txBody>
              <a:bodyPr wrap="none" rtlCol="0">
                <a:spAutoFit/>
              </a:bodyPr>
              <a:lstStyle/>
              <a:p>
                <a:r>
                  <a:rPr lang="en-US" sz="2800" dirty="0"/>
                  <a:t>As an exercise, show that </a:t>
                </a:r>
                <a14:m>
                  <m:oMath xmlns:m="http://schemas.openxmlformats.org/officeDocument/2006/math">
                    <m:sSup>
                      <m:sSupPr>
                        <m:ctrlPr>
                          <a:rPr lang="en-US" sz="2800" b="0" i="1" smtClean="0">
                            <a:latin typeface="Cambria Math" panose="02040503050406030204" pitchFamily="18" charset="0"/>
                          </a:rPr>
                        </m:ctrlPr>
                      </m:sSupPr>
                      <m:e>
                        <m:d>
                          <m:dPr>
                            <m:begChr m:val="|"/>
                            <m:endChr m:val="|"/>
                            <m:ctrlPr>
                              <a:rPr lang="en-US" sz="2800" b="0" i="1" smtClean="0">
                                <a:latin typeface="Cambria Math" panose="02040503050406030204" pitchFamily="18" charset="0"/>
                              </a:rPr>
                            </m:ctrlPr>
                          </m:dPr>
                          <m:e>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𝑤</m:t>
                                </m:r>
                              </m:e>
                              <m:e>
                                <m:r>
                                  <a:rPr lang="en-US" sz="2800" b="0" i="1" smtClean="0">
                                    <a:latin typeface="Cambria Math" panose="02040503050406030204" pitchFamily="18" charset="0"/>
                                  </a:rPr>
                                  <m:t>𝑣</m:t>
                                </m:r>
                              </m:e>
                            </m:d>
                          </m:e>
                        </m:d>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r>
                      <a:rPr lang="en-US" sz="2800" b="0" i="1" smtClean="0">
                        <a:latin typeface="Cambria Math" panose="02040503050406030204" pitchFamily="18" charset="0"/>
                      </a:rPr>
                      <m:t>𝑝</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𝑤</m:t>
                        </m:r>
                      </m:e>
                      <m:e>
                        <m:r>
                          <a:rPr lang="en-US" sz="2800" b="0" i="1" smtClean="0">
                            <a:latin typeface="Cambria Math" panose="02040503050406030204" pitchFamily="18" charset="0"/>
                          </a:rPr>
                          <m:t>𝑣</m:t>
                        </m:r>
                      </m:e>
                    </m:d>
                  </m:oMath>
                </a14:m>
                <a:endParaRPr lang="en-US" sz="2800" dirty="0"/>
              </a:p>
            </p:txBody>
          </p:sp>
        </mc:Choice>
        <mc:Fallback xmlns="">
          <p:sp>
            <p:nvSpPr>
              <p:cNvPr id="82" name="TextBox 81">
                <a:extLst>
                  <a:ext uri="{FF2B5EF4-FFF2-40B4-BE49-F238E27FC236}">
                    <a16:creationId xmlns:a16="http://schemas.microsoft.com/office/drawing/2014/main" id="{5F47A12B-90C7-DCC5-882D-0D6D9E4C38A4}"/>
                  </a:ext>
                </a:extLst>
              </p:cNvPr>
              <p:cNvSpPr txBox="1">
                <a:spLocks noRot="1" noChangeAspect="1" noMove="1" noResize="1" noEditPoints="1" noAdjustHandles="1" noChangeArrowheads="1" noChangeShapeType="1" noTextEdit="1"/>
              </p:cNvSpPr>
              <p:nvPr/>
            </p:nvSpPr>
            <p:spPr>
              <a:xfrm>
                <a:off x="5302068" y="401971"/>
                <a:ext cx="6746783" cy="523220"/>
              </a:xfrm>
              <a:prstGeom prst="rect">
                <a:avLst/>
              </a:prstGeom>
              <a:blipFill>
                <a:blip r:embed="rId7"/>
                <a:stretch>
                  <a:fillRect l="-1897" t="-11628" b="-32558"/>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002C78CF-5CDB-65D5-6BA3-8DD7C0D1CE77}"/>
              </a:ext>
            </a:extLst>
          </p:cNvPr>
          <p:cNvCxnSpPr>
            <a:cxnSpLocks/>
          </p:cNvCxnSpPr>
          <p:nvPr/>
        </p:nvCxnSpPr>
        <p:spPr>
          <a:xfrm flipV="1">
            <a:off x="2942432" y="1264185"/>
            <a:ext cx="1264917" cy="1264907"/>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394B146-D5A6-A46B-E150-0CD9FBF73335}"/>
                  </a:ext>
                </a:extLst>
              </p:cNvPr>
              <p:cNvSpPr txBox="1"/>
              <p:nvPr/>
            </p:nvSpPr>
            <p:spPr>
              <a:xfrm>
                <a:off x="2406989" y="1010009"/>
                <a:ext cx="49026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𝑤</m:t>
                      </m:r>
                    </m:oMath>
                  </m:oMathPara>
                </a14:m>
                <a:endParaRPr lang="en-US" sz="2400" dirty="0"/>
              </a:p>
            </p:txBody>
          </p:sp>
        </mc:Choice>
        <mc:Fallback xmlns="">
          <p:sp>
            <p:nvSpPr>
              <p:cNvPr id="33" name="TextBox 32">
                <a:extLst>
                  <a:ext uri="{FF2B5EF4-FFF2-40B4-BE49-F238E27FC236}">
                    <a16:creationId xmlns:a16="http://schemas.microsoft.com/office/drawing/2014/main" id="{3394B146-D5A6-A46B-E150-0CD9FBF73335}"/>
                  </a:ext>
                </a:extLst>
              </p:cNvPr>
              <p:cNvSpPr txBox="1">
                <a:spLocks noRot="1" noChangeAspect="1" noMove="1" noResize="1" noEditPoints="1" noAdjustHandles="1" noChangeArrowheads="1" noChangeShapeType="1" noTextEdit="1"/>
              </p:cNvSpPr>
              <p:nvPr/>
            </p:nvSpPr>
            <p:spPr>
              <a:xfrm>
                <a:off x="2406989" y="1010009"/>
                <a:ext cx="490262" cy="461665"/>
              </a:xfrm>
              <a:prstGeom prst="rect">
                <a:avLst/>
              </a:prstGeom>
              <a:blipFill>
                <a:blip r:embed="rId8"/>
                <a:stretch>
                  <a:fillRect/>
                </a:stretch>
              </a:blipFill>
            </p:spPr>
            <p:txBody>
              <a:bodyPr/>
              <a:lstStyle/>
              <a:p>
                <a:r>
                  <a:rPr lang="en-US">
                    <a:noFill/>
                  </a:rPr>
                  <a:t> </a:t>
                </a:r>
              </a:p>
            </p:txBody>
          </p:sp>
        </mc:Fallback>
      </mc:AlternateContent>
      <p:sp>
        <p:nvSpPr>
          <p:cNvPr id="35" name="TextBox 34">
            <a:extLst>
              <a:ext uri="{FF2B5EF4-FFF2-40B4-BE49-F238E27FC236}">
                <a16:creationId xmlns:a16="http://schemas.microsoft.com/office/drawing/2014/main" id="{8BABB0FE-8CC9-B87F-2F73-0A13D5262720}"/>
              </a:ext>
            </a:extLst>
          </p:cNvPr>
          <p:cNvSpPr txBox="1"/>
          <p:nvPr/>
        </p:nvSpPr>
        <p:spPr>
          <a:xfrm>
            <a:off x="5886867" y="1010009"/>
            <a:ext cx="2425087" cy="369332"/>
          </a:xfrm>
          <a:prstGeom prst="rect">
            <a:avLst/>
          </a:prstGeom>
          <a:noFill/>
        </p:spPr>
        <p:txBody>
          <a:bodyPr wrap="none" rtlCol="0">
            <a:spAutoFit/>
          </a:bodyPr>
          <a:lstStyle/>
          <a:p>
            <a:r>
              <a:rPr lang="en-US" dirty="0"/>
              <a:t>i.e. prove the Born rule!</a:t>
            </a:r>
          </a:p>
        </p:txBody>
      </p:sp>
      <p:sp>
        <p:nvSpPr>
          <p:cNvPr id="37" name="TextBox 36">
            <a:extLst>
              <a:ext uri="{FF2B5EF4-FFF2-40B4-BE49-F238E27FC236}">
                <a16:creationId xmlns:a16="http://schemas.microsoft.com/office/drawing/2014/main" id="{4D8F3885-9BD3-180B-8DAD-50EC1F77C5DE}"/>
              </a:ext>
            </a:extLst>
          </p:cNvPr>
          <p:cNvSpPr txBox="1"/>
          <p:nvPr/>
        </p:nvSpPr>
        <p:spPr>
          <a:xfrm>
            <a:off x="5335679" y="1494250"/>
            <a:ext cx="911147" cy="461665"/>
          </a:xfrm>
          <a:prstGeom prst="rect">
            <a:avLst/>
          </a:prstGeom>
          <a:noFill/>
        </p:spPr>
        <p:txBody>
          <a:bodyPr wrap="none" rtlCol="0">
            <a:spAutoFit/>
          </a:bodyPr>
          <a:lstStyle/>
          <a:p>
            <a:r>
              <a:rPr lang="en-US" sz="2400" dirty="0"/>
              <a:t>Hints:</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1FA3B7E-96E6-6D13-4626-839A39180414}"/>
                  </a:ext>
                </a:extLst>
              </p:cNvPr>
              <p:cNvSpPr txBox="1"/>
              <p:nvPr/>
            </p:nvSpPr>
            <p:spPr>
              <a:xfrm>
                <a:off x="6418240" y="1562141"/>
                <a:ext cx="4620176" cy="7869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𝑝</m:t>
                      </m:r>
                      <m:d>
                        <m:dPr>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𝑤</m:t>
                          </m:r>
                        </m:e>
                        <m:e>
                          <m:r>
                            <a:rPr lang="en-US" sz="2400" b="0" i="1" dirty="0" smtClean="0">
                              <a:latin typeface="Cambria Math" panose="02040503050406030204" pitchFamily="18" charset="0"/>
                            </a:rPr>
                            <m:t>𝑣</m:t>
                          </m:r>
                        </m:e>
                      </m:d>
                      <m:r>
                        <a:rPr lang="en-US" sz="2400" b="0" i="1" dirty="0"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sSub>
                                <m:sSubPr>
                                  <m:ctrlPr>
                                    <a:rPr lang="en-US" sz="2400" b="0" i="1" smtClean="0">
                                      <a:latin typeface="Cambria Math" panose="02040503050406030204" pitchFamily="18" charset="0"/>
                                    </a:rPr>
                                  </m:ctrlPr>
                                </m:sSubPr>
                                <m:e>
                                  <m:r>
                                    <a:rPr lang="en-US" sz="2400" i="1">
                                      <a:latin typeface="Cambria Math" panose="02040503050406030204" pitchFamily="18" charset="0"/>
                                    </a:rPr>
                                    <m:t>𝜃</m:t>
                                  </m:r>
                                </m:e>
                                <m:sub>
                                  <m:r>
                                    <a:rPr lang="en-US" sz="2400" b="0" i="1" smtClean="0">
                                      <a:latin typeface="Cambria Math" panose="02040503050406030204" pitchFamily="18" charset="0"/>
                                    </a:rPr>
                                    <m:t>𝑤𝑣</m:t>
                                  </m:r>
                                </m:sub>
                              </m:sSub>
                            </m:e>
                          </m:func>
                        </m:num>
                        <m:den>
                          <m:r>
                            <a:rPr lang="en-US" sz="2400" i="1">
                              <a:latin typeface="Cambria Math" panose="02040503050406030204" pitchFamily="18" charset="0"/>
                            </a:rPr>
                            <m:t>2</m:t>
                          </m:r>
                        </m:den>
                      </m:f>
                      <m:r>
                        <a:rPr lang="en-US" sz="2400" b="0" i="0" smtClean="0">
                          <a:latin typeface="Cambria Math" panose="02040503050406030204" pitchFamily="18" charset="0"/>
                        </a:rPr>
                        <m:t>=</m:t>
                      </m:r>
                      <m:func>
                        <m:funcPr>
                          <m:ctrlPr>
                            <a:rPr lang="en-US" sz="2400" b="0" i="1" smtClean="0">
                              <a:latin typeface="Cambria Math" panose="02040503050406030204" pitchFamily="18" charset="0"/>
                            </a:rPr>
                          </m:ctrlPr>
                        </m:funcPr>
                        <m:fName>
                          <m:sSup>
                            <m:sSupPr>
                              <m:ctrlPr>
                                <a:rPr lang="en-US" sz="2400" b="0" i="1" smtClean="0">
                                  <a:latin typeface="Cambria Math" panose="02040503050406030204" pitchFamily="18" charset="0"/>
                                </a:rPr>
                              </m:ctrlPr>
                            </m:sSupPr>
                            <m:e>
                              <m:r>
                                <m:rPr>
                                  <m:sty m:val="p"/>
                                </m:rPr>
                                <a:rPr lang="en-US" sz="2400" b="0" i="0" smtClean="0">
                                  <a:latin typeface="Cambria Math" panose="02040503050406030204" pitchFamily="18" charset="0"/>
                                </a:rPr>
                                <m:t>cos</m:t>
                              </m:r>
                            </m:e>
                            <m:sup>
                              <m:r>
                                <a:rPr lang="en-US" sz="2400" b="0" i="1" smtClean="0">
                                  <a:latin typeface="Cambria Math" panose="02040503050406030204" pitchFamily="18" charset="0"/>
                                </a:rPr>
                                <m:t>2</m:t>
                              </m:r>
                            </m:sup>
                          </m:sSup>
                        </m:fName>
                        <m:e>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𝜃</m:t>
                                  </m:r>
                                </m:e>
                                <m:sub>
                                  <m:r>
                                    <a:rPr lang="en-US" sz="2400" b="0" i="1" smtClean="0">
                                      <a:latin typeface="Cambria Math" panose="02040503050406030204" pitchFamily="18" charset="0"/>
                                    </a:rPr>
                                    <m:t>𝑤𝑣</m:t>
                                  </m:r>
                                </m:sub>
                              </m:sSub>
                            </m:num>
                            <m:den>
                              <m:r>
                                <a:rPr lang="en-US" sz="2400" b="0" i="1" smtClean="0">
                                  <a:latin typeface="Cambria Math" panose="02040503050406030204" pitchFamily="18" charset="0"/>
                                </a:rPr>
                                <m:t>2</m:t>
                              </m:r>
                            </m:den>
                          </m:f>
                        </m:e>
                      </m:func>
                    </m:oMath>
                  </m:oMathPara>
                </a14:m>
                <a:endParaRPr lang="en-US" sz="2400" dirty="0"/>
              </a:p>
            </p:txBody>
          </p:sp>
        </mc:Choice>
        <mc:Fallback xmlns="">
          <p:sp>
            <p:nvSpPr>
              <p:cNvPr id="39" name="TextBox 38">
                <a:extLst>
                  <a:ext uri="{FF2B5EF4-FFF2-40B4-BE49-F238E27FC236}">
                    <a16:creationId xmlns:a16="http://schemas.microsoft.com/office/drawing/2014/main" id="{11FA3B7E-96E6-6D13-4626-839A39180414}"/>
                  </a:ext>
                </a:extLst>
              </p:cNvPr>
              <p:cNvSpPr txBox="1">
                <a:spLocks noRot="1" noChangeAspect="1" noMove="1" noResize="1" noEditPoints="1" noAdjustHandles="1" noChangeArrowheads="1" noChangeShapeType="1" noTextEdit="1"/>
              </p:cNvSpPr>
              <p:nvPr/>
            </p:nvSpPr>
            <p:spPr>
              <a:xfrm>
                <a:off x="6418240" y="1562141"/>
                <a:ext cx="4620176" cy="78694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CC16F2C-75C0-4C2D-6392-D968201F8CCE}"/>
                  </a:ext>
                </a:extLst>
              </p:cNvPr>
              <p:cNvSpPr txBox="1"/>
              <p:nvPr/>
            </p:nvSpPr>
            <p:spPr>
              <a:xfrm>
                <a:off x="6418238" y="2334403"/>
                <a:ext cx="3920240" cy="7869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𝑣</m:t>
                      </m:r>
                      <m:r>
                        <a:rPr lang="en-US" sz="2400" b="0" i="1" dirty="0" smtClean="0">
                          <a:latin typeface="Cambria Math" panose="02040503050406030204" pitchFamily="18" charset="0"/>
                        </a:rPr>
                        <m:t>=</m:t>
                      </m:r>
                      <m:func>
                        <m:funcPr>
                          <m:ctrlPr>
                            <a:rPr lang="en-US" sz="2400" i="1" dirty="0">
                              <a:latin typeface="Cambria Math" panose="02040503050406030204" pitchFamily="18" charset="0"/>
                            </a:rPr>
                          </m:ctrlPr>
                        </m:funcPr>
                        <m:fName>
                          <m:r>
                            <m:rPr>
                              <m:sty m:val="p"/>
                            </m:rPr>
                            <a:rPr lang="en-US" sz="2400" dirty="0">
                              <a:latin typeface="Cambria Math" panose="02040503050406030204" pitchFamily="18" charset="0"/>
                            </a:rPr>
                            <m:t>cos</m:t>
                          </m:r>
                        </m:fName>
                        <m:e>
                          <m:f>
                            <m:fPr>
                              <m:ctrlPr>
                                <a:rPr lang="en-US" sz="2400" i="1" dirty="0">
                                  <a:latin typeface="Cambria Math" panose="02040503050406030204" pitchFamily="18" charset="0"/>
                                </a:rPr>
                              </m:ctrlPr>
                            </m:fPr>
                            <m:num>
                              <m:sSub>
                                <m:sSubPr>
                                  <m:ctrlPr>
                                    <a:rPr lang="en-US" sz="2400" b="0" i="1" dirty="0" smtClean="0">
                                      <a:latin typeface="Cambria Math" panose="02040503050406030204" pitchFamily="18" charset="0"/>
                                    </a:rPr>
                                  </m:ctrlPr>
                                </m:sSubPr>
                                <m:e>
                                  <m:r>
                                    <a:rPr lang="en-US" sz="2400" i="1" dirty="0">
                                      <a:latin typeface="Cambria Math" panose="02040503050406030204" pitchFamily="18" charset="0"/>
                                    </a:rPr>
                                    <m:t>𝜃</m:t>
                                  </m:r>
                                </m:e>
                                <m:sub>
                                  <m:r>
                                    <a:rPr lang="en-US" sz="2400" b="0" i="1" dirty="0" smtClean="0">
                                      <a:latin typeface="Cambria Math" panose="02040503050406030204" pitchFamily="18" charset="0"/>
                                    </a:rPr>
                                    <m:t>𝑣</m:t>
                                  </m:r>
                                </m:sub>
                              </m:sSub>
                            </m:num>
                            <m:den>
                              <m:r>
                                <a:rPr lang="en-US" sz="2400" i="1" dirty="0">
                                  <a:latin typeface="Cambria Math" panose="02040503050406030204" pitchFamily="18" charset="0"/>
                                </a:rPr>
                                <m:t>2</m:t>
                              </m:r>
                            </m:den>
                          </m:f>
                        </m:e>
                      </m:func>
                      <m:d>
                        <m:dPr>
                          <m:begChr m:val="|"/>
                          <m:endChr m:val="⟩"/>
                          <m:ctrlPr>
                            <a:rPr lang="en-US" sz="2400" i="1" dirty="0">
                              <a:latin typeface="Cambria Math" panose="02040503050406030204" pitchFamily="18" charset="0"/>
                            </a:rPr>
                          </m:ctrlPr>
                        </m:dPr>
                        <m:e>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e>
                      </m:d>
                      <m:r>
                        <a:rPr lang="en-US" sz="2400" i="1" dirty="0">
                          <a:latin typeface="Cambria Math" panose="02040503050406030204" pitchFamily="18" charset="0"/>
                        </a:rPr>
                        <m:t>+</m:t>
                      </m:r>
                      <m:func>
                        <m:funcPr>
                          <m:ctrlPr>
                            <a:rPr lang="en-US" sz="2400" i="1" dirty="0">
                              <a:latin typeface="Cambria Math" panose="02040503050406030204" pitchFamily="18" charset="0"/>
                            </a:rPr>
                          </m:ctrlPr>
                        </m:funcPr>
                        <m:fName>
                          <m:r>
                            <m:rPr>
                              <m:sty m:val="p"/>
                            </m:rPr>
                            <a:rPr lang="en-US" sz="2400" dirty="0">
                              <a:latin typeface="Cambria Math" panose="02040503050406030204" pitchFamily="18" charset="0"/>
                            </a:rPr>
                            <m:t>sin</m:t>
                          </m:r>
                        </m:fName>
                        <m:e>
                          <m:f>
                            <m:fPr>
                              <m:ctrlPr>
                                <a:rPr lang="en-US" sz="2400" i="1" dirty="0">
                                  <a:latin typeface="Cambria Math" panose="02040503050406030204" pitchFamily="18" charset="0"/>
                                </a:rPr>
                              </m:ctrlPr>
                            </m:fPr>
                            <m:num>
                              <m:sSub>
                                <m:sSubPr>
                                  <m:ctrlPr>
                                    <a:rPr lang="en-US" sz="2400" b="0" i="1" dirty="0" smtClean="0">
                                      <a:latin typeface="Cambria Math" panose="02040503050406030204" pitchFamily="18" charset="0"/>
                                    </a:rPr>
                                  </m:ctrlPr>
                                </m:sSubPr>
                                <m:e>
                                  <m:r>
                                    <a:rPr lang="en-US" sz="2400" i="1" dirty="0">
                                      <a:latin typeface="Cambria Math" panose="02040503050406030204" pitchFamily="18" charset="0"/>
                                    </a:rPr>
                                    <m:t>𝜃</m:t>
                                  </m:r>
                                </m:e>
                                <m:sub>
                                  <m:r>
                                    <a:rPr lang="en-US" sz="2400" b="0" i="1" dirty="0" smtClean="0">
                                      <a:latin typeface="Cambria Math" panose="02040503050406030204" pitchFamily="18" charset="0"/>
                                    </a:rPr>
                                    <m:t>𝑣</m:t>
                                  </m:r>
                                </m:sub>
                              </m:sSub>
                            </m:num>
                            <m:den>
                              <m:r>
                                <a:rPr lang="en-US" sz="2400" i="1" dirty="0">
                                  <a:latin typeface="Cambria Math" panose="02040503050406030204" pitchFamily="18" charset="0"/>
                                </a:rPr>
                                <m:t>2</m:t>
                              </m:r>
                            </m:den>
                          </m:f>
                        </m:e>
                      </m:func>
                      <m:d>
                        <m:dPr>
                          <m:begChr m:val="|"/>
                          <m:endChr m:val="⟩"/>
                          <m:ctrlPr>
                            <a:rPr lang="en-US" sz="2400" i="1" dirty="0">
                              <a:latin typeface="Cambria Math" panose="02040503050406030204" pitchFamily="18" charset="0"/>
                            </a:rPr>
                          </m:ctrlPr>
                        </m:dPr>
                        <m:e>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e>
                      </m:d>
                    </m:oMath>
                  </m:oMathPara>
                </a14:m>
                <a:endParaRPr lang="en-US" sz="2400" dirty="0"/>
              </a:p>
            </p:txBody>
          </p:sp>
        </mc:Choice>
        <mc:Fallback xmlns="">
          <p:sp>
            <p:nvSpPr>
              <p:cNvPr id="40" name="TextBox 39">
                <a:extLst>
                  <a:ext uri="{FF2B5EF4-FFF2-40B4-BE49-F238E27FC236}">
                    <a16:creationId xmlns:a16="http://schemas.microsoft.com/office/drawing/2014/main" id="{1CC16F2C-75C0-4C2D-6392-D968201F8CCE}"/>
                  </a:ext>
                </a:extLst>
              </p:cNvPr>
              <p:cNvSpPr txBox="1">
                <a:spLocks noRot="1" noChangeAspect="1" noMove="1" noResize="1" noEditPoints="1" noAdjustHandles="1" noChangeArrowheads="1" noChangeShapeType="1" noTextEdit="1"/>
              </p:cNvSpPr>
              <p:nvPr/>
            </p:nvSpPr>
            <p:spPr>
              <a:xfrm>
                <a:off x="6418238" y="2334403"/>
                <a:ext cx="3920240" cy="78694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444D057-B4F1-CBF1-FB85-4D2A4CE5D111}"/>
                  </a:ext>
                </a:extLst>
              </p:cNvPr>
              <p:cNvSpPr txBox="1"/>
              <p:nvPr/>
            </p:nvSpPr>
            <p:spPr>
              <a:xfrm>
                <a:off x="6418238" y="3210699"/>
                <a:ext cx="4096571" cy="7869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𝑤</m:t>
                      </m:r>
                      <m:r>
                        <a:rPr lang="en-US" sz="2400" b="0" i="1" dirty="0" smtClean="0">
                          <a:latin typeface="Cambria Math" panose="02040503050406030204" pitchFamily="18" charset="0"/>
                        </a:rPr>
                        <m:t>=</m:t>
                      </m:r>
                      <m:func>
                        <m:funcPr>
                          <m:ctrlPr>
                            <a:rPr lang="en-US" sz="2400" i="1" dirty="0">
                              <a:latin typeface="Cambria Math" panose="02040503050406030204" pitchFamily="18" charset="0"/>
                            </a:rPr>
                          </m:ctrlPr>
                        </m:funcPr>
                        <m:fName>
                          <m:r>
                            <m:rPr>
                              <m:sty m:val="p"/>
                            </m:rPr>
                            <a:rPr lang="en-US" sz="2400" dirty="0">
                              <a:latin typeface="Cambria Math" panose="02040503050406030204" pitchFamily="18" charset="0"/>
                            </a:rPr>
                            <m:t>cos</m:t>
                          </m:r>
                        </m:fName>
                        <m:e>
                          <m:f>
                            <m:fPr>
                              <m:ctrlPr>
                                <a:rPr lang="en-US" sz="2400" i="1" dirty="0">
                                  <a:latin typeface="Cambria Math" panose="02040503050406030204" pitchFamily="18" charset="0"/>
                                </a:rPr>
                              </m:ctrlPr>
                            </m:fPr>
                            <m:num>
                              <m:sSub>
                                <m:sSubPr>
                                  <m:ctrlPr>
                                    <a:rPr lang="en-US" sz="2400" b="0" i="1" dirty="0" smtClean="0">
                                      <a:latin typeface="Cambria Math" panose="02040503050406030204" pitchFamily="18" charset="0"/>
                                    </a:rPr>
                                  </m:ctrlPr>
                                </m:sSubPr>
                                <m:e>
                                  <m:r>
                                    <a:rPr lang="en-US" sz="2400" i="1" dirty="0">
                                      <a:latin typeface="Cambria Math" panose="02040503050406030204" pitchFamily="18" charset="0"/>
                                    </a:rPr>
                                    <m:t>𝜃</m:t>
                                  </m:r>
                                </m:e>
                                <m:sub>
                                  <m:r>
                                    <a:rPr lang="en-US" sz="2400" b="0" i="1" dirty="0" smtClean="0">
                                      <a:latin typeface="Cambria Math" panose="02040503050406030204" pitchFamily="18" charset="0"/>
                                    </a:rPr>
                                    <m:t>𝑤</m:t>
                                  </m:r>
                                </m:sub>
                              </m:sSub>
                            </m:num>
                            <m:den>
                              <m:r>
                                <a:rPr lang="en-US" sz="2400" i="1" dirty="0">
                                  <a:latin typeface="Cambria Math" panose="02040503050406030204" pitchFamily="18" charset="0"/>
                                </a:rPr>
                                <m:t>2</m:t>
                              </m:r>
                            </m:den>
                          </m:f>
                        </m:e>
                      </m:func>
                      <m:d>
                        <m:dPr>
                          <m:begChr m:val="|"/>
                          <m:endChr m:val="⟩"/>
                          <m:ctrlPr>
                            <a:rPr lang="en-US" sz="2400" i="1" dirty="0">
                              <a:latin typeface="Cambria Math" panose="02040503050406030204" pitchFamily="18" charset="0"/>
                            </a:rPr>
                          </m:ctrlPr>
                        </m:dPr>
                        <m:e>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e>
                      </m:d>
                      <m:r>
                        <a:rPr lang="en-US" sz="2400" i="1" dirty="0">
                          <a:latin typeface="Cambria Math" panose="02040503050406030204" pitchFamily="18" charset="0"/>
                        </a:rPr>
                        <m:t>+</m:t>
                      </m:r>
                      <m:func>
                        <m:funcPr>
                          <m:ctrlPr>
                            <a:rPr lang="en-US" sz="2400" i="1" dirty="0">
                              <a:latin typeface="Cambria Math" panose="02040503050406030204" pitchFamily="18" charset="0"/>
                            </a:rPr>
                          </m:ctrlPr>
                        </m:funcPr>
                        <m:fName>
                          <m:r>
                            <m:rPr>
                              <m:sty m:val="p"/>
                            </m:rPr>
                            <a:rPr lang="en-US" sz="2400" dirty="0">
                              <a:latin typeface="Cambria Math" panose="02040503050406030204" pitchFamily="18" charset="0"/>
                            </a:rPr>
                            <m:t>sin</m:t>
                          </m:r>
                        </m:fName>
                        <m:e>
                          <m:f>
                            <m:fPr>
                              <m:ctrlPr>
                                <a:rPr lang="en-US" sz="2400" i="1" dirty="0">
                                  <a:latin typeface="Cambria Math" panose="02040503050406030204" pitchFamily="18" charset="0"/>
                                </a:rPr>
                              </m:ctrlPr>
                            </m:fPr>
                            <m:num>
                              <m:sSub>
                                <m:sSubPr>
                                  <m:ctrlPr>
                                    <a:rPr lang="en-US" sz="2400" b="0" i="1" dirty="0" smtClean="0">
                                      <a:latin typeface="Cambria Math" panose="02040503050406030204" pitchFamily="18" charset="0"/>
                                    </a:rPr>
                                  </m:ctrlPr>
                                </m:sSubPr>
                                <m:e>
                                  <m:r>
                                    <a:rPr lang="en-US" sz="2400" i="1" dirty="0">
                                      <a:latin typeface="Cambria Math" panose="02040503050406030204" pitchFamily="18" charset="0"/>
                                    </a:rPr>
                                    <m:t>𝜃</m:t>
                                  </m:r>
                                </m:e>
                                <m:sub>
                                  <m:r>
                                    <a:rPr lang="en-US" sz="2400" b="0" i="1" dirty="0" smtClean="0">
                                      <a:latin typeface="Cambria Math" panose="02040503050406030204" pitchFamily="18" charset="0"/>
                                    </a:rPr>
                                    <m:t>𝑤</m:t>
                                  </m:r>
                                </m:sub>
                              </m:sSub>
                            </m:num>
                            <m:den>
                              <m:r>
                                <a:rPr lang="en-US" sz="2400" i="1" dirty="0">
                                  <a:latin typeface="Cambria Math" panose="02040503050406030204" pitchFamily="18" charset="0"/>
                                </a:rPr>
                                <m:t>2</m:t>
                              </m:r>
                            </m:den>
                          </m:f>
                        </m:e>
                      </m:func>
                      <m:d>
                        <m:dPr>
                          <m:begChr m:val="|"/>
                          <m:endChr m:val="⟩"/>
                          <m:ctrlPr>
                            <a:rPr lang="en-US" sz="2400" i="1" dirty="0">
                              <a:latin typeface="Cambria Math" panose="02040503050406030204" pitchFamily="18" charset="0"/>
                            </a:rPr>
                          </m:ctrlPr>
                        </m:dPr>
                        <m:e>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e>
                      </m:d>
                    </m:oMath>
                  </m:oMathPara>
                </a14:m>
                <a:endParaRPr lang="en-US" sz="2400" dirty="0"/>
              </a:p>
            </p:txBody>
          </p:sp>
        </mc:Choice>
        <mc:Fallback xmlns="">
          <p:sp>
            <p:nvSpPr>
              <p:cNvPr id="42" name="TextBox 41">
                <a:extLst>
                  <a:ext uri="{FF2B5EF4-FFF2-40B4-BE49-F238E27FC236}">
                    <a16:creationId xmlns:a16="http://schemas.microsoft.com/office/drawing/2014/main" id="{4444D057-B4F1-CBF1-FB85-4D2A4CE5D111}"/>
                  </a:ext>
                </a:extLst>
              </p:cNvPr>
              <p:cNvSpPr txBox="1">
                <a:spLocks noRot="1" noChangeAspect="1" noMove="1" noResize="1" noEditPoints="1" noAdjustHandles="1" noChangeArrowheads="1" noChangeShapeType="1" noTextEdit="1"/>
              </p:cNvSpPr>
              <p:nvPr/>
            </p:nvSpPr>
            <p:spPr>
              <a:xfrm>
                <a:off x="6418238" y="3210699"/>
                <a:ext cx="4096571" cy="78694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012FCA1-CD58-3526-2A90-3A24A4D3C937}"/>
                  </a:ext>
                </a:extLst>
              </p:cNvPr>
              <p:cNvSpPr txBox="1"/>
              <p:nvPr/>
            </p:nvSpPr>
            <p:spPr>
              <a:xfrm>
                <a:off x="4507105" y="4248190"/>
                <a:ext cx="500861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𝛼</m:t>
                              </m:r>
                              <m:r>
                                <a:rPr lang="en-US" sz="2400" b="0" i="1" smtClean="0">
                                  <a:latin typeface="Cambria Math" panose="02040503050406030204" pitchFamily="18" charset="0"/>
                                </a:rPr>
                                <m:t>−</m:t>
                              </m:r>
                              <m:r>
                                <a:rPr lang="en-US" sz="2400" b="0" i="1" smtClean="0">
                                  <a:latin typeface="Cambria Math" panose="02040503050406030204" pitchFamily="18" charset="0"/>
                                </a:rPr>
                                <m:t>𝛽</m:t>
                              </m:r>
                            </m:e>
                          </m:d>
                        </m:e>
                      </m:func>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r>
                            <a:rPr lang="en-US" sz="2400" b="0" i="1" smtClean="0">
                              <a:latin typeface="Cambria Math" panose="02040503050406030204" pitchFamily="18" charset="0"/>
                            </a:rPr>
                            <m:t>𝛼</m:t>
                          </m:r>
                        </m:e>
                      </m:func>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r>
                            <a:rPr lang="en-US" sz="2400" b="0" i="1" smtClean="0">
                              <a:latin typeface="Cambria Math" panose="02040503050406030204" pitchFamily="18" charset="0"/>
                            </a:rPr>
                            <m:t>𝛽</m:t>
                          </m:r>
                        </m:e>
                      </m:func>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r>
                            <a:rPr lang="en-US" sz="2400" b="0" i="1" smtClean="0">
                              <a:latin typeface="Cambria Math" panose="02040503050406030204" pitchFamily="18" charset="0"/>
                            </a:rPr>
                            <m:t>𝛼</m:t>
                          </m:r>
                        </m:e>
                      </m:func>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r>
                            <a:rPr lang="en-US" sz="2400" b="0" i="1" smtClean="0">
                              <a:latin typeface="Cambria Math" panose="02040503050406030204" pitchFamily="18" charset="0"/>
                            </a:rPr>
                            <m:t>𝛽</m:t>
                          </m:r>
                        </m:e>
                      </m:func>
                    </m:oMath>
                  </m:oMathPara>
                </a14:m>
                <a:endParaRPr lang="en-US" sz="2400" dirty="0"/>
              </a:p>
            </p:txBody>
          </p:sp>
        </mc:Choice>
        <mc:Fallback xmlns="">
          <p:sp>
            <p:nvSpPr>
              <p:cNvPr id="44" name="TextBox 43">
                <a:extLst>
                  <a:ext uri="{FF2B5EF4-FFF2-40B4-BE49-F238E27FC236}">
                    <a16:creationId xmlns:a16="http://schemas.microsoft.com/office/drawing/2014/main" id="{7012FCA1-CD58-3526-2A90-3A24A4D3C937}"/>
                  </a:ext>
                </a:extLst>
              </p:cNvPr>
              <p:cNvSpPr txBox="1">
                <a:spLocks noRot="1" noChangeAspect="1" noMove="1" noResize="1" noEditPoints="1" noAdjustHandles="1" noChangeArrowheads="1" noChangeShapeType="1" noTextEdit="1"/>
              </p:cNvSpPr>
              <p:nvPr/>
            </p:nvSpPr>
            <p:spPr>
              <a:xfrm>
                <a:off x="4507105" y="4248190"/>
                <a:ext cx="5008615" cy="369332"/>
              </a:xfrm>
              <a:prstGeom prst="rect">
                <a:avLst/>
              </a:prstGeom>
              <a:blipFill>
                <a:blip r:embed="rId12"/>
                <a:stretch>
                  <a:fillRect l="-243" r="-1460" b="-35000"/>
                </a:stretch>
              </a:blipFill>
            </p:spPr>
            <p:txBody>
              <a:bodyPr/>
              <a:lstStyle/>
              <a:p>
                <a:r>
                  <a:rPr lang="en-US">
                    <a:noFill/>
                  </a:rPr>
                  <a:t> </a:t>
                </a:r>
              </a:p>
            </p:txBody>
          </p:sp>
        </mc:Fallback>
      </mc:AlternateContent>
    </p:spTree>
    <p:extLst>
      <p:ext uri="{BB962C8B-B14F-4D97-AF65-F5344CB8AC3E}">
        <p14:creationId xmlns:p14="http://schemas.microsoft.com/office/powerpoint/2010/main" val="610262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P spid="40" grpId="0"/>
      <p:bldP spid="42" grpId="0"/>
      <p:bldP spid="4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C97CD-E75B-F40F-2BF3-369FD6DDC257}"/>
            </a:ext>
          </a:extLst>
        </p:cNvPr>
        <p:cNvGrpSpPr/>
        <p:nvPr/>
      </p:nvGrpSpPr>
      <p:grpSpPr>
        <a:xfrm>
          <a:off x="0" y="0"/>
          <a:ext cx="0" cy="0"/>
          <a:chOff x="0" y="0"/>
          <a:chExt cx="0" cy="0"/>
        </a:xfrm>
      </p:grpSpPr>
      <p:sp>
        <p:nvSpPr>
          <p:cNvPr id="17" name="Arc 16">
            <a:extLst>
              <a:ext uri="{FF2B5EF4-FFF2-40B4-BE49-F238E27FC236}">
                <a16:creationId xmlns:a16="http://schemas.microsoft.com/office/drawing/2014/main" id="{DE30E42B-FB07-8CE8-75BF-6E32D9E78CF1}"/>
              </a:ext>
            </a:extLst>
          </p:cNvPr>
          <p:cNvSpPr/>
          <p:nvPr/>
        </p:nvSpPr>
        <p:spPr>
          <a:xfrm>
            <a:off x="7932212" y="2085993"/>
            <a:ext cx="697242" cy="553554"/>
          </a:xfrm>
          <a:prstGeom prst="arc">
            <a:avLst>
              <a:gd name="adj1" fmla="val 16200000"/>
              <a:gd name="adj2" fmla="val 1806320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3" name="Group 62">
            <a:extLst>
              <a:ext uri="{FF2B5EF4-FFF2-40B4-BE49-F238E27FC236}">
                <a16:creationId xmlns:a16="http://schemas.microsoft.com/office/drawing/2014/main" id="{1CA503DB-8F19-574E-8A44-54E0AC798752}"/>
              </a:ext>
            </a:extLst>
          </p:cNvPr>
          <p:cNvGrpSpPr/>
          <p:nvPr/>
        </p:nvGrpSpPr>
        <p:grpSpPr>
          <a:xfrm>
            <a:off x="6487584" y="740244"/>
            <a:ext cx="3577708" cy="3577703"/>
            <a:chOff x="2012104" y="948792"/>
            <a:chExt cx="3577708" cy="3577703"/>
          </a:xfrm>
        </p:grpSpPr>
        <p:cxnSp>
          <p:nvCxnSpPr>
            <p:cNvPr id="21" name="Straight Connector 20">
              <a:extLst>
                <a:ext uri="{FF2B5EF4-FFF2-40B4-BE49-F238E27FC236}">
                  <a16:creationId xmlns:a16="http://schemas.microsoft.com/office/drawing/2014/main" id="{919D0340-CE25-D995-29A6-396BF69934D0}"/>
                </a:ext>
              </a:extLst>
            </p:cNvPr>
            <p:cNvCxnSpPr>
              <a:cxnSpLocks/>
              <a:stCxn id="50" idx="2"/>
            </p:cNvCxnSpPr>
            <p:nvPr/>
          </p:nvCxnSpPr>
          <p:spPr>
            <a:xfrm>
              <a:off x="2012104" y="2737644"/>
              <a:ext cx="3577706" cy="7622"/>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973C86D-945C-4587-6B4C-98CAA791329F}"/>
                </a:ext>
              </a:extLst>
            </p:cNvPr>
            <p:cNvCxnSpPr>
              <a:cxnSpLocks/>
              <a:stCxn id="50" idx="0"/>
              <a:endCxn id="50" idx="4"/>
            </p:cNvCxnSpPr>
            <p:nvPr/>
          </p:nvCxnSpPr>
          <p:spPr>
            <a:xfrm>
              <a:off x="3800958" y="948792"/>
              <a:ext cx="0" cy="3577703"/>
            </a:xfrm>
            <a:prstGeom prst="line">
              <a:avLst/>
            </a:prstGeom>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4731F704-6048-16B1-2CD5-A8ACA017A3A9}"/>
                </a:ext>
              </a:extLst>
            </p:cNvPr>
            <p:cNvGrpSpPr/>
            <p:nvPr/>
          </p:nvGrpSpPr>
          <p:grpSpPr>
            <a:xfrm>
              <a:off x="2012104" y="948792"/>
              <a:ext cx="3577708" cy="3577703"/>
              <a:chOff x="2521889" y="2808131"/>
              <a:chExt cx="1916265" cy="1916264"/>
            </a:xfrm>
          </p:grpSpPr>
          <p:sp>
            <p:nvSpPr>
              <p:cNvPr id="48" name="Oval 47">
                <a:extLst>
                  <a:ext uri="{FF2B5EF4-FFF2-40B4-BE49-F238E27FC236}">
                    <a16:creationId xmlns:a16="http://schemas.microsoft.com/office/drawing/2014/main" id="{FE167806-50A2-5052-50D3-D18232A6CB9B}"/>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Oval 31">
                <a:extLst>
                  <a:ext uri="{FF2B5EF4-FFF2-40B4-BE49-F238E27FC236}">
                    <a16:creationId xmlns:a16="http://schemas.microsoft.com/office/drawing/2014/main" id="{FC466F05-CF36-AD99-34C0-DCBC32685BFB}"/>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C85C15D5-E92F-EDD7-2E58-D77161998E34}"/>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D6CB92E-F970-EEFA-801D-B9A5D97B1717}"/>
                  </a:ext>
                </a:extLst>
              </p:cNvPr>
              <p:cNvSpPr txBox="1"/>
              <p:nvPr/>
            </p:nvSpPr>
            <p:spPr>
              <a:xfrm>
                <a:off x="8158089" y="1642397"/>
                <a:ext cx="5005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𝛼</m:t>
                      </m:r>
                    </m:oMath>
                  </m:oMathPara>
                </a14:m>
                <a:endParaRPr lang="en-US" dirty="0"/>
              </a:p>
            </p:txBody>
          </p:sp>
        </mc:Choice>
        <mc:Fallback xmlns="">
          <p:sp>
            <p:nvSpPr>
              <p:cNvPr id="4" name="TextBox 3">
                <a:extLst>
                  <a:ext uri="{FF2B5EF4-FFF2-40B4-BE49-F238E27FC236}">
                    <a16:creationId xmlns:a16="http://schemas.microsoft.com/office/drawing/2014/main" id="{5D6CB92E-F970-EEFA-801D-B9A5D97B1717}"/>
                  </a:ext>
                </a:extLst>
              </p:cNvPr>
              <p:cNvSpPr txBox="1">
                <a:spLocks noRot="1" noChangeAspect="1" noMove="1" noResize="1" noEditPoints="1" noAdjustHandles="1" noChangeArrowheads="1" noChangeShapeType="1" noTextEdit="1"/>
              </p:cNvSpPr>
              <p:nvPr/>
            </p:nvSpPr>
            <p:spPr>
              <a:xfrm>
                <a:off x="8158089" y="1642397"/>
                <a:ext cx="500535"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941042E-85D2-6173-E424-9186B9E0A952}"/>
                  </a:ext>
                </a:extLst>
              </p:cNvPr>
              <p:cNvSpPr txBox="1"/>
              <p:nvPr/>
            </p:nvSpPr>
            <p:spPr>
              <a:xfrm>
                <a:off x="7875264" y="233822"/>
                <a:ext cx="8023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r>
                        <a:rPr lang="en-US" sz="2400" i="1" dirty="0">
                          <a:latin typeface="Cambria Math" panose="02040503050406030204" pitchFamily="18" charset="0"/>
                        </a:rPr>
                        <m:t>⟩</m:t>
                      </m:r>
                    </m:oMath>
                  </m:oMathPara>
                </a14:m>
                <a:endParaRPr lang="en-US" sz="2400" dirty="0"/>
              </a:p>
            </p:txBody>
          </p:sp>
        </mc:Choice>
        <mc:Fallback xmlns="">
          <p:sp>
            <p:nvSpPr>
              <p:cNvPr id="9" name="TextBox 8">
                <a:extLst>
                  <a:ext uri="{FF2B5EF4-FFF2-40B4-BE49-F238E27FC236}">
                    <a16:creationId xmlns:a16="http://schemas.microsoft.com/office/drawing/2014/main" id="{7941042E-85D2-6173-E424-9186B9E0A952}"/>
                  </a:ext>
                </a:extLst>
              </p:cNvPr>
              <p:cNvSpPr txBox="1">
                <a:spLocks noRot="1" noChangeAspect="1" noMove="1" noResize="1" noEditPoints="1" noAdjustHandles="1" noChangeArrowheads="1" noChangeShapeType="1" noTextEdit="1"/>
              </p:cNvSpPr>
              <p:nvPr/>
            </p:nvSpPr>
            <p:spPr>
              <a:xfrm>
                <a:off x="7875264" y="233822"/>
                <a:ext cx="802336" cy="461665"/>
              </a:xfrm>
              <a:prstGeom prst="rect">
                <a:avLst/>
              </a:prstGeom>
              <a:blipFill>
                <a:blip r:embed="rId3"/>
                <a:stretch>
                  <a:fillRect l="-2290" r="-229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30FCCD9-3A7B-BD78-5827-4ADA7A2DBC2F}"/>
                  </a:ext>
                </a:extLst>
              </p:cNvPr>
              <p:cNvSpPr txBox="1"/>
              <p:nvPr/>
            </p:nvSpPr>
            <p:spPr>
              <a:xfrm>
                <a:off x="7875264" y="4380221"/>
                <a:ext cx="80233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b="0" i="1" dirty="0" smtClean="0">
                              <a:latin typeface="Cambria Math" panose="02040503050406030204" pitchFamily="18" charset="0"/>
                            </a:rPr>
                            <m:t>+</m:t>
                          </m:r>
                        </m:sup>
                      </m:sSup>
                      <m:r>
                        <a:rPr lang="en-US" sz="2400" i="1" dirty="0">
                          <a:latin typeface="Cambria Math" panose="02040503050406030204" pitchFamily="18" charset="0"/>
                        </a:rPr>
                        <m:t>⟩</m:t>
                      </m:r>
                    </m:oMath>
                  </m:oMathPara>
                </a14:m>
                <a:endParaRPr lang="en-US" sz="2400" dirty="0"/>
              </a:p>
            </p:txBody>
          </p:sp>
        </mc:Choice>
        <mc:Fallback xmlns="">
          <p:sp>
            <p:nvSpPr>
              <p:cNvPr id="10" name="TextBox 9">
                <a:extLst>
                  <a:ext uri="{FF2B5EF4-FFF2-40B4-BE49-F238E27FC236}">
                    <a16:creationId xmlns:a16="http://schemas.microsoft.com/office/drawing/2014/main" id="{B30FCCD9-3A7B-BD78-5827-4ADA7A2DBC2F}"/>
                  </a:ext>
                </a:extLst>
              </p:cNvPr>
              <p:cNvSpPr txBox="1">
                <a:spLocks noRot="1" noChangeAspect="1" noMove="1" noResize="1" noEditPoints="1" noAdjustHandles="1" noChangeArrowheads="1" noChangeShapeType="1" noTextEdit="1"/>
              </p:cNvSpPr>
              <p:nvPr/>
            </p:nvSpPr>
            <p:spPr>
              <a:xfrm>
                <a:off x="7875264" y="4380221"/>
                <a:ext cx="802335" cy="461665"/>
              </a:xfrm>
              <a:prstGeom prst="rect">
                <a:avLst/>
              </a:prstGeom>
              <a:blipFill>
                <a:blip r:embed="rId4"/>
                <a:stretch>
                  <a:fillRect l="-2290" r="-2290" b="-18667"/>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6D99E160-C310-C448-FA4A-D368A94CD981}"/>
              </a:ext>
            </a:extLst>
          </p:cNvPr>
          <p:cNvCxnSpPr>
            <a:cxnSpLocks/>
          </p:cNvCxnSpPr>
          <p:nvPr/>
        </p:nvCxnSpPr>
        <p:spPr>
          <a:xfrm flipV="1">
            <a:off x="8908888" y="868891"/>
            <a:ext cx="0" cy="1667827"/>
          </a:xfrm>
          <a:prstGeom prst="line">
            <a:avLst/>
          </a:prstGeom>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82B53602-969E-BB7D-1322-BBABC9E309D8}"/>
              </a:ext>
            </a:extLst>
          </p:cNvPr>
          <p:cNvCxnSpPr>
            <a:cxnSpLocks/>
          </p:cNvCxnSpPr>
          <p:nvPr/>
        </p:nvCxnSpPr>
        <p:spPr>
          <a:xfrm>
            <a:off x="8276432" y="868891"/>
            <a:ext cx="637475"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F96B5C0-AD62-DF12-6B51-46772CAF7EAD}"/>
                  </a:ext>
                </a:extLst>
              </p:cNvPr>
              <p:cNvSpPr txBox="1"/>
              <p:nvPr/>
            </p:nvSpPr>
            <p:spPr>
              <a:xfrm>
                <a:off x="8849484" y="1748127"/>
                <a:ext cx="4293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𝑣</m:t>
                      </m:r>
                    </m:oMath>
                  </m:oMathPara>
                </a14:m>
                <a:endParaRPr lang="en-US" sz="2400" dirty="0"/>
              </a:p>
            </p:txBody>
          </p:sp>
        </mc:Choice>
        <mc:Fallback xmlns="">
          <p:sp>
            <p:nvSpPr>
              <p:cNvPr id="5" name="TextBox 4">
                <a:extLst>
                  <a:ext uri="{FF2B5EF4-FFF2-40B4-BE49-F238E27FC236}">
                    <a16:creationId xmlns:a16="http://schemas.microsoft.com/office/drawing/2014/main" id="{4F96B5C0-AD62-DF12-6B51-46772CAF7EAD}"/>
                  </a:ext>
                </a:extLst>
              </p:cNvPr>
              <p:cNvSpPr txBox="1">
                <a:spLocks noRot="1" noChangeAspect="1" noMove="1" noResize="1" noEditPoints="1" noAdjustHandles="1" noChangeArrowheads="1" noChangeShapeType="1" noTextEdit="1"/>
              </p:cNvSpPr>
              <p:nvPr/>
            </p:nvSpPr>
            <p:spPr>
              <a:xfrm>
                <a:off x="8849484" y="1748127"/>
                <a:ext cx="429348"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8D6B995-4FE5-1E64-433A-150B9752F532}"/>
                  </a:ext>
                </a:extLst>
              </p:cNvPr>
              <p:cNvSpPr txBox="1"/>
              <p:nvPr/>
            </p:nvSpPr>
            <p:spPr>
              <a:xfrm>
                <a:off x="7369889" y="1412699"/>
                <a:ext cx="986552" cy="4277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𝑝</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m:t>
                                  </m:r>
                                </m:sup>
                              </m:sSup>
                            </m:e>
                          </m:d>
                        </m:e>
                      </m:rad>
                    </m:oMath>
                  </m:oMathPara>
                </a14:m>
                <a:endParaRPr lang="en-US" dirty="0"/>
              </a:p>
            </p:txBody>
          </p:sp>
        </mc:Choice>
        <mc:Fallback xmlns="">
          <p:sp>
            <p:nvSpPr>
              <p:cNvPr id="24" name="TextBox 23">
                <a:extLst>
                  <a:ext uri="{FF2B5EF4-FFF2-40B4-BE49-F238E27FC236}">
                    <a16:creationId xmlns:a16="http://schemas.microsoft.com/office/drawing/2014/main" id="{38D6B995-4FE5-1E64-433A-150B9752F532}"/>
                  </a:ext>
                </a:extLst>
              </p:cNvPr>
              <p:cNvSpPr txBox="1">
                <a:spLocks noRot="1" noChangeAspect="1" noMove="1" noResize="1" noEditPoints="1" noAdjustHandles="1" noChangeArrowheads="1" noChangeShapeType="1" noTextEdit="1"/>
              </p:cNvSpPr>
              <p:nvPr/>
            </p:nvSpPr>
            <p:spPr>
              <a:xfrm>
                <a:off x="7369889" y="1412699"/>
                <a:ext cx="986552" cy="427746"/>
              </a:xfrm>
              <a:prstGeom prst="rect">
                <a:avLst/>
              </a:prstGeom>
              <a:blipFill>
                <a:blip r:embed="rId6"/>
                <a:stretch>
                  <a:fillRect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C8996E4-8D1C-FB6B-020F-1F6422527F69}"/>
                  </a:ext>
                </a:extLst>
              </p:cNvPr>
              <p:cNvSpPr txBox="1"/>
              <p:nvPr/>
            </p:nvSpPr>
            <p:spPr>
              <a:xfrm>
                <a:off x="8136178" y="2542473"/>
                <a:ext cx="986552" cy="4277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𝑝</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m:t>
                                  </m:r>
                                </m:sup>
                              </m:sSup>
                            </m:e>
                          </m:d>
                        </m:e>
                      </m:rad>
                    </m:oMath>
                  </m:oMathPara>
                </a14:m>
                <a:endParaRPr lang="en-US" dirty="0"/>
              </a:p>
            </p:txBody>
          </p:sp>
        </mc:Choice>
        <mc:Fallback xmlns="">
          <p:sp>
            <p:nvSpPr>
              <p:cNvPr id="29" name="TextBox 28">
                <a:extLst>
                  <a:ext uri="{FF2B5EF4-FFF2-40B4-BE49-F238E27FC236}">
                    <a16:creationId xmlns:a16="http://schemas.microsoft.com/office/drawing/2014/main" id="{BC8996E4-8D1C-FB6B-020F-1F6422527F69}"/>
                  </a:ext>
                </a:extLst>
              </p:cNvPr>
              <p:cNvSpPr txBox="1">
                <a:spLocks noRot="1" noChangeAspect="1" noMove="1" noResize="1" noEditPoints="1" noAdjustHandles="1" noChangeArrowheads="1" noChangeShapeType="1" noTextEdit="1"/>
              </p:cNvSpPr>
              <p:nvPr/>
            </p:nvSpPr>
            <p:spPr>
              <a:xfrm>
                <a:off x="8136178" y="2542473"/>
                <a:ext cx="986552" cy="427746"/>
              </a:xfrm>
              <a:prstGeom prst="rect">
                <a:avLst/>
              </a:prstGeom>
              <a:blipFill>
                <a:blip r:embed="rId7"/>
                <a:stretch>
                  <a:fillRect b="-7143"/>
                </a:stretch>
              </a:blipFill>
            </p:spPr>
            <p:txBody>
              <a:bodyPr/>
              <a:lstStyle/>
              <a:p>
                <a:r>
                  <a:rPr lang="en-US">
                    <a:noFill/>
                  </a:rPr>
                  <a:t> </a:t>
                </a:r>
              </a:p>
            </p:txBody>
          </p:sp>
        </mc:Fallback>
      </mc:AlternateContent>
      <p:sp>
        <p:nvSpPr>
          <p:cNvPr id="6" name="Arc 5">
            <a:extLst>
              <a:ext uri="{FF2B5EF4-FFF2-40B4-BE49-F238E27FC236}">
                <a16:creationId xmlns:a16="http://schemas.microsoft.com/office/drawing/2014/main" id="{5D0CBE82-02F8-0B10-E2F2-AF566088792F}"/>
              </a:ext>
            </a:extLst>
          </p:cNvPr>
          <p:cNvSpPr/>
          <p:nvPr/>
        </p:nvSpPr>
        <p:spPr>
          <a:xfrm>
            <a:off x="2598212" y="2085993"/>
            <a:ext cx="697242" cy="553554"/>
          </a:xfrm>
          <a:prstGeom prst="arc">
            <a:avLst>
              <a:gd name="adj1" fmla="val 16200000"/>
              <a:gd name="adj2" fmla="val 2012949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1" name="Group 10">
            <a:extLst>
              <a:ext uri="{FF2B5EF4-FFF2-40B4-BE49-F238E27FC236}">
                <a16:creationId xmlns:a16="http://schemas.microsoft.com/office/drawing/2014/main" id="{D999D600-C3F1-3CA8-923D-689C222C71B9}"/>
              </a:ext>
            </a:extLst>
          </p:cNvPr>
          <p:cNvGrpSpPr/>
          <p:nvPr/>
        </p:nvGrpSpPr>
        <p:grpSpPr>
          <a:xfrm>
            <a:off x="1153584" y="740244"/>
            <a:ext cx="3577708" cy="3577703"/>
            <a:chOff x="2012104" y="948792"/>
            <a:chExt cx="3577708" cy="3577703"/>
          </a:xfrm>
        </p:grpSpPr>
        <p:cxnSp>
          <p:nvCxnSpPr>
            <p:cNvPr id="12" name="Straight Connector 11">
              <a:extLst>
                <a:ext uri="{FF2B5EF4-FFF2-40B4-BE49-F238E27FC236}">
                  <a16:creationId xmlns:a16="http://schemas.microsoft.com/office/drawing/2014/main" id="{C0F18FD7-9C1B-37D5-2B8B-7653C883B992}"/>
                </a:ext>
              </a:extLst>
            </p:cNvPr>
            <p:cNvCxnSpPr>
              <a:cxnSpLocks/>
              <a:stCxn id="26" idx="2"/>
            </p:cNvCxnSpPr>
            <p:nvPr/>
          </p:nvCxnSpPr>
          <p:spPr>
            <a:xfrm>
              <a:off x="2012104" y="2737644"/>
              <a:ext cx="3577706" cy="7622"/>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92D24DC-DE0F-A1ED-1947-9CEC6371FB99}"/>
                </a:ext>
              </a:extLst>
            </p:cNvPr>
            <p:cNvCxnSpPr>
              <a:cxnSpLocks/>
              <a:stCxn id="26" idx="0"/>
              <a:endCxn id="26" idx="4"/>
            </p:cNvCxnSpPr>
            <p:nvPr/>
          </p:nvCxnSpPr>
          <p:spPr>
            <a:xfrm>
              <a:off x="3800958" y="948792"/>
              <a:ext cx="0" cy="3577703"/>
            </a:xfrm>
            <a:prstGeom prst="line">
              <a:avLst/>
            </a:prstGeom>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53E45DCE-CFBC-083D-46E9-9B7C505BA1E0}"/>
                </a:ext>
              </a:extLst>
            </p:cNvPr>
            <p:cNvGrpSpPr/>
            <p:nvPr/>
          </p:nvGrpSpPr>
          <p:grpSpPr>
            <a:xfrm>
              <a:off x="2012104" y="948792"/>
              <a:ext cx="3577708" cy="3577703"/>
              <a:chOff x="934944" y="1636949"/>
              <a:chExt cx="2674273" cy="2674270"/>
            </a:xfrm>
          </p:grpSpPr>
          <p:grpSp>
            <p:nvGrpSpPr>
              <p:cNvPr id="15" name="Group 14">
                <a:extLst>
                  <a:ext uri="{FF2B5EF4-FFF2-40B4-BE49-F238E27FC236}">
                    <a16:creationId xmlns:a16="http://schemas.microsoft.com/office/drawing/2014/main" id="{E50A770E-9B2F-7A6E-82D1-7AA56495A7AA}"/>
                  </a:ext>
                </a:extLst>
              </p:cNvPr>
              <p:cNvGrpSpPr/>
              <p:nvPr/>
            </p:nvGrpSpPr>
            <p:grpSpPr>
              <a:xfrm>
                <a:off x="934944" y="1636949"/>
                <a:ext cx="2674273" cy="2674270"/>
                <a:chOff x="2521889" y="2808131"/>
                <a:chExt cx="1916265" cy="1916264"/>
              </a:xfrm>
            </p:grpSpPr>
            <p:sp>
              <p:nvSpPr>
                <p:cNvPr id="22" name="Oval 21">
                  <a:extLst>
                    <a:ext uri="{FF2B5EF4-FFF2-40B4-BE49-F238E27FC236}">
                      <a16:creationId xmlns:a16="http://schemas.microsoft.com/office/drawing/2014/main" id="{E517EB18-8CA4-33B1-92A0-A053FD41CB5E}"/>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Oval 31">
                  <a:extLst>
                    <a:ext uri="{FF2B5EF4-FFF2-40B4-BE49-F238E27FC236}">
                      <a16:creationId xmlns:a16="http://schemas.microsoft.com/office/drawing/2014/main" id="{FCB73259-CC35-598D-F834-48965DB1C44D}"/>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057F0CE-5F03-6F0D-467B-B75A0FCF2C29}"/>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19" name="Straight Arrow Connector 18">
                <a:extLst>
                  <a:ext uri="{FF2B5EF4-FFF2-40B4-BE49-F238E27FC236}">
                    <a16:creationId xmlns:a16="http://schemas.microsoft.com/office/drawing/2014/main" id="{674E85E8-DBED-B3C2-B44A-ED678858B616}"/>
                  </a:ext>
                </a:extLst>
              </p:cNvPr>
              <p:cNvCxnSpPr>
                <a:cxnSpLocks/>
                <a:endCxn id="26" idx="7"/>
              </p:cNvCxnSpPr>
              <p:nvPr/>
            </p:nvCxnSpPr>
            <p:spPr>
              <a:xfrm flipV="1">
                <a:off x="2272076" y="2028586"/>
                <a:ext cx="945503" cy="945496"/>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EDC4291-BB73-FA06-B97C-1330B184BAF1}"/>
                  </a:ext>
                </a:extLst>
              </p:cNvPr>
              <p:cNvSpPr txBox="1"/>
              <p:nvPr/>
            </p:nvSpPr>
            <p:spPr>
              <a:xfrm>
                <a:off x="2920848" y="1799377"/>
                <a:ext cx="500535" cy="49410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oMath>
                  </m:oMathPara>
                </a14:m>
                <a:endParaRPr lang="en-US" dirty="0"/>
              </a:p>
            </p:txBody>
          </p:sp>
        </mc:Choice>
        <mc:Fallback xmlns="">
          <p:sp>
            <p:nvSpPr>
              <p:cNvPr id="27" name="TextBox 26">
                <a:extLst>
                  <a:ext uri="{FF2B5EF4-FFF2-40B4-BE49-F238E27FC236}">
                    <a16:creationId xmlns:a16="http://schemas.microsoft.com/office/drawing/2014/main" id="{5EDC4291-BB73-FA06-B97C-1330B184BAF1}"/>
                  </a:ext>
                </a:extLst>
              </p:cNvPr>
              <p:cNvSpPr txBox="1">
                <a:spLocks noRot="1" noChangeAspect="1" noMove="1" noResize="1" noEditPoints="1" noAdjustHandles="1" noChangeArrowheads="1" noChangeShapeType="1" noTextEdit="1"/>
              </p:cNvSpPr>
              <p:nvPr/>
            </p:nvSpPr>
            <p:spPr>
              <a:xfrm>
                <a:off x="2920848" y="1799377"/>
                <a:ext cx="500535" cy="49410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17C1026-ED91-AC20-577F-BE8C00A898EC}"/>
                  </a:ext>
                </a:extLst>
              </p:cNvPr>
              <p:cNvSpPr txBox="1"/>
              <p:nvPr/>
            </p:nvSpPr>
            <p:spPr>
              <a:xfrm>
                <a:off x="2541264" y="233822"/>
                <a:ext cx="8023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r>
                        <a:rPr lang="en-US" sz="2400" i="1" dirty="0">
                          <a:latin typeface="Cambria Math" panose="02040503050406030204" pitchFamily="18" charset="0"/>
                        </a:rPr>
                        <m:t>⟩</m:t>
                      </m:r>
                    </m:oMath>
                  </m:oMathPara>
                </a14:m>
                <a:endParaRPr lang="en-US" sz="2400" dirty="0"/>
              </a:p>
            </p:txBody>
          </p:sp>
        </mc:Choice>
        <mc:Fallback xmlns="">
          <p:sp>
            <p:nvSpPr>
              <p:cNvPr id="28" name="TextBox 27">
                <a:extLst>
                  <a:ext uri="{FF2B5EF4-FFF2-40B4-BE49-F238E27FC236}">
                    <a16:creationId xmlns:a16="http://schemas.microsoft.com/office/drawing/2014/main" id="{417C1026-ED91-AC20-577F-BE8C00A898EC}"/>
                  </a:ext>
                </a:extLst>
              </p:cNvPr>
              <p:cNvSpPr txBox="1">
                <a:spLocks noRot="1" noChangeAspect="1" noMove="1" noResize="1" noEditPoints="1" noAdjustHandles="1" noChangeArrowheads="1" noChangeShapeType="1" noTextEdit="1"/>
              </p:cNvSpPr>
              <p:nvPr/>
            </p:nvSpPr>
            <p:spPr>
              <a:xfrm>
                <a:off x="2541264" y="233822"/>
                <a:ext cx="802336" cy="461665"/>
              </a:xfrm>
              <a:prstGeom prst="rect">
                <a:avLst/>
              </a:prstGeom>
              <a:blipFill>
                <a:blip r:embed="rId3"/>
                <a:stretch>
                  <a:fillRect l="-2290" r="-229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0C83801-1192-E9F0-21A9-BD8CB3A58D42}"/>
                  </a:ext>
                </a:extLst>
              </p:cNvPr>
              <p:cNvSpPr txBox="1"/>
              <p:nvPr/>
            </p:nvSpPr>
            <p:spPr>
              <a:xfrm>
                <a:off x="2541264" y="4380221"/>
                <a:ext cx="8023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r>
                        <a:rPr lang="en-US" sz="2400" i="1" dirty="0">
                          <a:latin typeface="Cambria Math" panose="02040503050406030204" pitchFamily="18" charset="0"/>
                        </a:rPr>
                        <m:t>⟩</m:t>
                      </m:r>
                    </m:oMath>
                  </m:oMathPara>
                </a14:m>
                <a:endParaRPr lang="en-US" sz="2400" dirty="0"/>
              </a:p>
            </p:txBody>
          </p:sp>
        </mc:Choice>
        <mc:Fallback xmlns="">
          <p:sp>
            <p:nvSpPr>
              <p:cNvPr id="30" name="TextBox 29">
                <a:extLst>
                  <a:ext uri="{FF2B5EF4-FFF2-40B4-BE49-F238E27FC236}">
                    <a16:creationId xmlns:a16="http://schemas.microsoft.com/office/drawing/2014/main" id="{B0C83801-1192-E9F0-21A9-BD8CB3A58D42}"/>
                  </a:ext>
                </a:extLst>
              </p:cNvPr>
              <p:cNvSpPr txBox="1">
                <a:spLocks noRot="1" noChangeAspect="1" noMove="1" noResize="1" noEditPoints="1" noAdjustHandles="1" noChangeArrowheads="1" noChangeShapeType="1" noTextEdit="1"/>
              </p:cNvSpPr>
              <p:nvPr/>
            </p:nvSpPr>
            <p:spPr>
              <a:xfrm>
                <a:off x="2541264" y="4380221"/>
                <a:ext cx="802336" cy="461665"/>
              </a:xfrm>
              <a:prstGeom prst="rect">
                <a:avLst/>
              </a:prstGeom>
              <a:blipFill>
                <a:blip r:embed="rId9"/>
                <a:stretch>
                  <a:fillRect l="-2290" r="-2290" b="-18667"/>
                </a:stretch>
              </a:blipFill>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D2BD80BB-9D5E-CF50-0C15-CDF4851AA063}"/>
              </a:ext>
            </a:extLst>
          </p:cNvPr>
          <p:cNvCxnSpPr>
            <a:cxnSpLocks/>
            <a:endCxn id="26" idx="7"/>
          </p:cNvCxnSpPr>
          <p:nvPr/>
        </p:nvCxnSpPr>
        <p:spPr>
          <a:xfrm flipV="1">
            <a:off x="4207349" y="1264186"/>
            <a:ext cx="0" cy="12725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2A79F18-C938-8FDB-7E9B-A4296AB2D917}"/>
              </a:ext>
            </a:extLst>
          </p:cNvPr>
          <p:cNvCxnSpPr/>
          <p:nvPr/>
        </p:nvCxnSpPr>
        <p:spPr>
          <a:xfrm>
            <a:off x="2942432" y="1264185"/>
            <a:ext cx="1264917" cy="1"/>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3A1FC21-F32F-4751-2F94-9B2542F1E9B8}"/>
                  </a:ext>
                </a:extLst>
              </p:cNvPr>
              <p:cNvSpPr txBox="1"/>
              <p:nvPr/>
            </p:nvSpPr>
            <p:spPr>
              <a:xfrm>
                <a:off x="3515484" y="1748127"/>
                <a:ext cx="42934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𝑣</m:t>
                      </m:r>
                    </m:oMath>
                  </m:oMathPara>
                </a14:m>
                <a:endParaRPr lang="en-US" sz="2400" dirty="0"/>
              </a:p>
            </p:txBody>
          </p:sp>
        </mc:Choice>
        <mc:Fallback xmlns="">
          <p:sp>
            <p:nvSpPr>
              <p:cNvPr id="36" name="TextBox 35">
                <a:extLst>
                  <a:ext uri="{FF2B5EF4-FFF2-40B4-BE49-F238E27FC236}">
                    <a16:creationId xmlns:a16="http://schemas.microsoft.com/office/drawing/2014/main" id="{03A1FC21-F32F-4751-2F94-9B2542F1E9B8}"/>
                  </a:ext>
                </a:extLst>
              </p:cNvPr>
              <p:cNvSpPr txBox="1">
                <a:spLocks noRot="1" noChangeAspect="1" noMove="1" noResize="1" noEditPoints="1" noAdjustHandles="1" noChangeArrowheads="1" noChangeShapeType="1" noTextEdit="1"/>
              </p:cNvSpPr>
              <p:nvPr/>
            </p:nvSpPr>
            <p:spPr>
              <a:xfrm>
                <a:off x="3515484" y="1748127"/>
                <a:ext cx="429348"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22B701F9-7578-8306-887D-041C4A88D61D}"/>
                  </a:ext>
                </a:extLst>
              </p:cNvPr>
              <p:cNvSpPr txBox="1"/>
              <p:nvPr/>
            </p:nvSpPr>
            <p:spPr>
              <a:xfrm>
                <a:off x="4181393" y="1717461"/>
                <a:ext cx="73481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𝜃</m:t>
                          </m:r>
                        </m:e>
                      </m:func>
                    </m:oMath>
                  </m:oMathPara>
                </a14:m>
                <a:endParaRPr lang="en-US" dirty="0"/>
              </a:p>
            </p:txBody>
          </p:sp>
        </mc:Choice>
        <mc:Fallback xmlns="">
          <p:sp>
            <p:nvSpPr>
              <p:cNvPr id="41" name="TextBox 40">
                <a:extLst>
                  <a:ext uri="{FF2B5EF4-FFF2-40B4-BE49-F238E27FC236}">
                    <a16:creationId xmlns:a16="http://schemas.microsoft.com/office/drawing/2014/main" id="{22B701F9-7578-8306-887D-041C4A88D61D}"/>
                  </a:ext>
                </a:extLst>
              </p:cNvPr>
              <p:cNvSpPr txBox="1">
                <a:spLocks noRot="1" noChangeAspect="1" noMove="1" noResize="1" noEditPoints="1" noAdjustHandles="1" noChangeArrowheads="1" noChangeShapeType="1" noTextEdit="1"/>
              </p:cNvSpPr>
              <p:nvPr/>
            </p:nvSpPr>
            <p:spPr>
              <a:xfrm>
                <a:off x="4181393" y="1717461"/>
                <a:ext cx="734817"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DFA9B74-DB8E-C533-6B80-5F33884268F0}"/>
                  </a:ext>
                </a:extLst>
              </p:cNvPr>
              <p:cNvSpPr txBox="1"/>
              <p:nvPr/>
            </p:nvSpPr>
            <p:spPr>
              <a:xfrm>
                <a:off x="2001030" y="2577939"/>
                <a:ext cx="81509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m:t>
                              </m:r>
                            </m:sup>
                          </m:sSup>
                        </m:e>
                      </m:d>
                    </m:oMath>
                  </m:oMathPara>
                </a14:m>
                <a:endParaRPr lang="en-US" dirty="0"/>
              </a:p>
            </p:txBody>
          </p:sp>
        </mc:Choice>
        <mc:Fallback xmlns="">
          <p:sp>
            <p:nvSpPr>
              <p:cNvPr id="43" name="TextBox 42">
                <a:extLst>
                  <a:ext uri="{FF2B5EF4-FFF2-40B4-BE49-F238E27FC236}">
                    <a16:creationId xmlns:a16="http://schemas.microsoft.com/office/drawing/2014/main" id="{7DFA9B74-DB8E-C533-6B80-5F33884268F0}"/>
                  </a:ext>
                </a:extLst>
              </p:cNvPr>
              <p:cNvSpPr txBox="1">
                <a:spLocks noRot="1" noChangeAspect="1" noMove="1" noResize="1" noEditPoints="1" noAdjustHandles="1" noChangeArrowheads="1" noChangeShapeType="1" noTextEdit="1"/>
              </p:cNvSpPr>
              <p:nvPr/>
            </p:nvSpPr>
            <p:spPr>
              <a:xfrm>
                <a:off x="2001030" y="2577939"/>
                <a:ext cx="815095" cy="369332"/>
              </a:xfrm>
              <a:prstGeom prst="rect">
                <a:avLst/>
              </a:prstGeom>
              <a:blipFill>
                <a:blip r:embed="rId11"/>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4F0CBD48-6900-F7A3-9CE1-0DC8710D31C2}"/>
                  </a:ext>
                </a:extLst>
              </p:cNvPr>
              <p:cNvSpPr txBox="1"/>
              <p:nvPr/>
            </p:nvSpPr>
            <p:spPr>
              <a:xfrm>
                <a:off x="2001031" y="814752"/>
                <a:ext cx="81509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m:t>
                              </m:r>
                            </m:sup>
                          </m:sSup>
                        </m:e>
                      </m:d>
                    </m:oMath>
                  </m:oMathPara>
                </a14:m>
                <a:endParaRPr lang="en-US" dirty="0"/>
              </a:p>
            </p:txBody>
          </p:sp>
        </mc:Choice>
        <mc:Fallback xmlns="">
          <p:sp>
            <p:nvSpPr>
              <p:cNvPr id="51" name="TextBox 50">
                <a:extLst>
                  <a:ext uri="{FF2B5EF4-FFF2-40B4-BE49-F238E27FC236}">
                    <a16:creationId xmlns:a16="http://schemas.microsoft.com/office/drawing/2014/main" id="{4F0CBD48-6900-F7A3-9CE1-0DC8710D31C2}"/>
                  </a:ext>
                </a:extLst>
              </p:cNvPr>
              <p:cNvSpPr txBox="1">
                <a:spLocks noRot="1" noChangeAspect="1" noMove="1" noResize="1" noEditPoints="1" noAdjustHandles="1" noChangeArrowheads="1" noChangeShapeType="1" noTextEdit="1"/>
              </p:cNvSpPr>
              <p:nvPr/>
            </p:nvSpPr>
            <p:spPr>
              <a:xfrm>
                <a:off x="2001031" y="814752"/>
                <a:ext cx="815095" cy="369332"/>
              </a:xfrm>
              <a:prstGeom prst="rect">
                <a:avLst/>
              </a:prstGeom>
              <a:blipFill>
                <a:blip r:embed="rId12"/>
                <a:stretch>
                  <a:fillRect b="-6667"/>
                </a:stretch>
              </a:blipFill>
            </p:spPr>
            <p:txBody>
              <a:bodyPr/>
              <a:lstStyle/>
              <a:p>
                <a:r>
                  <a:rPr lang="en-US">
                    <a:noFill/>
                  </a:rPr>
                  <a:t> </a:t>
                </a:r>
              </a:p>
            </p:txBody>
          </p:sp>
        </mc:Fallback>
      </mc:AlternateContent>
      <p:sp>
        <p:nvSpPr>
          <p:cNvPr id="52" name="Right Brace 51">
            <a:extLst>
              <a:ext uri="{FF2B5EF4-FFF2-40B4-BE49-F238E27FC236}">
                <a16:creationId xmlns:a16="http://schemas.microsoft.com/office/drawing/2014/main" id="{DAAE9868-7DCE-86EF-F981-FA4CFA15DF05}"/>
              </a:ext>
            </a:extLst>
          </p:cNvPr>
          <p:cNvSpPr/>
          <p:nvPr/>
        </p:nvSpPr>
        <p:spPr>
          <a:xfrm flipH="1">
            <a:off x="2751185" y="759208"/>
            <a:ext cx="169816" cy="49410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Right Brace 52">
            <a:extLst>
              <a:ext uri="{FF2B5EF4-FFF2-40B4-BE49-F238E27FC236}">
                <a16:creationId xmlns:a16="http://schemas.microsoft.com/office/drawing/2014/main" id="{424D9E85-6BC8-2495-6809-3EEDDF1CE723}"/>
              </a:ext>
            </a:extLst>
          </p:cNvPr>
          <p:cNvSpPr/>
          <p:nvPr/>
        </p:nvSpPr>
        <p:spPr>
          <a:xfrm flipH="1">
            <a:off x="2751185" y="1273558"/>
            <a:ext cx="169816" cy="301747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8ECA03AD-17F7-74EE-2D19-A4D8FEE7CF87}"/>
                  </a:ext>
                </a:extLst>
              </p:cNvPr>
              <p:cNvSpPr txBox="1"/>
              <p:nvPr/>
            </p:nvSpPr>
            <p:spPr>
              <a:xfrm>
                <a:off x="5734590" y="2280778"/>
                <a:ext cx="8023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r>
                        <a:rPr lang="en-US" sz="2400" i="1" dirty="0">
                          <a:latin typeface="Cambria Math" panose="02040503050406030204" pitchFamily="18" charset="0"/>
                        </a:rPr>
                        <m:t>⟩</m:t>
                      </m:r>
                    </m:oMath>
                  </m:oMathPara>
                </a14:m>
                <a:endParaRPr lang="en-US" sz="2400" dirty="0"/>
              </a:p>
            </p:txBody>
          </p:sp>
        </mc:Choice>
        <mc:Fallback xmlns="">
          <p:sp>
            <p:nvSpPr>
              <p:cNvPr id="56" name="TextBox 55">
                <a:extLst>
                  <a:ext uri="{FF2B5EF4-FFF2-40B4-BE49-F238E27FC236}">
                    <a16:creationId xmlns:a16="http://schemas.microsoft.com/office/drawing/2014/main" id="{8ECA03AD-17F7-74EE-2D19-A4D8FEE7CF87}"/>
                  </a:ext>
                </a:extLst>
              </p:cNvPr>
              <p:cNvSpPr txBox="1">
                <a:spLocks noRot="1" noChangeAspect="1" noMove="1" noResize="1" noEditPoints="1" noAdjustHandles="1" noChangeArrowheads="1" noChangeShapeType="1" noTextEdit="1"/>
              </p:cNvSpPr>
              <p:nvPr/>
            </p:nvSpPr>
            <p:spPr>
              <a:xfrm>
                <a:off x="5734590" y="2280778"/>
                <a:ext cx="802336" cy="461665"/>
              </a:xfrm>
              <a:prstGeom prst="rect">
                <a:avLst/>
              </a:prstGeom>
              <a:blipFill>
                <a:blip r:embed="rId13"/>
                <a:stretch>
                  <a:fillRect l="-2290" r="-229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F986896F-7BD8-71CF-F29F-E48EEA0B4437}"/>
                  </a:ext>
                </a:extLst>
              </p:cNvPr>
              <p:cNvSpPr txBox="1"/>
              <p:nvPr/>
            </p:nvSpPr>
            <p:spPr>
              <a:xfrm>
                <a:off x="10020840" y="2280778"/>
                <a:ext cx="8023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𝑧</m:t>
                          </m:r>
                        </m:e>
                        <m:sup>
                          <m:r>
                            <a:rPr lang="en-US" sz="2400" i="1" dirty="0">
                              <a:latin typeface="Cambria Math" panose="02040503050406030204" pitchFamily="18" charset="0"/>
                            </a:rPr>
                            <m:t>−</m:t>
                          </m:r>
                        </m:sup>
                      </m:sSup>
                      <m:r>
                        <a:rPr lang="en-US" sz="2400" i="1" dirty="0">
                          <a:latin typeface="Cambria Math" panose="02040503050406030204" pitchFamily="18" charset="0"/>
                        </a:rPr>
                        <m:t>⟩</m:t>
                      </m:r>
                    </m:oMath>
                  </m:oMathPara>
                </a14:m>
                <a:endParaRPr lang="en-US" sz="2400" dirty="0"/>
              </a:p>
            </p:txBody>
          </p:sp>
        </mc:Choice>
        <mc:Fallback xmlns="">
          <p:sp>
            <p:nvSpPr>
              <p:cNvPr id="58" name="TextBox 57">
                <a:extLst>
                  <a:ext uri="{FF2B5EF4-FFF2-40B4-BE49-F238E27FC236}">
                    <a16:creationId xmlns:a16="http://schemas.microsoft.com/office/drawing/2014/main" id="{F986896F-7BD8-71CF-F29F-E48EEA0B4437}"/>
                  </a:ext>
                </a:extLst>
              </p:cNvPr>
              <p:cNvSpPr txBox="1">
                <a:spLocks noRot="1" noChangeAspect="1" noMove="1" noResize="1" noEditPoints="1" noAdjustHandles="1" noChangeArrowheads="1" noChangeShapeType="1" noTextEdit="1"/>
              </p:cNvSpPr>
              <p:nvPr/>
            </p:nvSpPr>
            <p:spPr>
              <a:xfrm>
                <a:off x="10020840" y="2280778"/>
                <a:ext cx="802336" cy="461665"/>
              </a:xfrm>
              <a:prstGeom prst="rect">
                <a:avLst/>
              </a:prstGeom>
              <a:blipFill>
                <a:blip r:embed="rId14"/>
                <a:stretch>
                  <a:fillRect l="-2290" r="-2290" b="-17105"/>
                </a:stretch>
              </a:blipFill>
            </p:spPr>
            <p:txBody>
              <a:bodyPr/>
              <a:lstStyle/>
              <a:p>
                <a:r>
                  <a:rPr lang="en-US">
                    <a:noFill/>
                  </a:rPr>
                  <a:t> </a:t>
                </a:r>
              </a:p>
            </p:txBody>
          </p:sp>
        </mc:Fallback>
      </mc:AlternateContent>
      <p:cxnSp>
        <p:nvCxnSpPr>
          <p:cNvPr id="66" name="Straight Arrow Connector 65">
            <a:extLst>
              <a:ext uri="{FF2B5EF4-FFF2-40B4-BE49-F238E27FC236}">
                <a16:creationId xmlns:a16="http://schemas.microsoft.com/office/drawing/2014/main" id="{84014787-7B71-77A3-24F5-C1124867CC19}"/>
              </a:ext>
            </a:extLst>
          </p:cNvPr>
          <p:cNvCxnSpPr>
            <a:cxnSpLocks/>
          </p:cNvCxnSpPr>
          <p:nvPr/>
        </p:nvCxnSpPr>
        <p:spPr>
          <a:xfrm flipV="1">
            <a:off x="8276432" y="868891"/>
            <a:ext cx="637475" cy="1660201"/>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67" name="Arrow: Right 66">
            <a:extLst>
              <a:ext uri="{FF2B5EF4-FFF2-40B4-BE49-F238E27FC236}">
                <a16:creationId xmlns:a16="http://schemas.microsoft.com/office/drawing/2014/main" id="{182274B3-B160-F3DC-2B1E-0BD9AD5DF559}"/>
              </a:ext>
            </a:extLst>
          </p:cNvPr>
          <p:cNvSpPr/>
          <p:nvPr/>
        </p:nvSpPr>
        <p:spPr>
          <a:xfrm flipH="1">
            <a:off x="5139328" y="3640299"/>
            <a:ext cx="1134415" cy="4532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99F3A1D4-EF14-0ABA-A41A-53020F126CCF}"/>
                  </a:ext>
                </a:extLst>
              </p:cNvPr>
              <p:cNvSpPr txBox="1"/>
              <p:nvPr/>
            </p:nvSpPr>
            <p:spPr>
              <a:xfrm>
                <a:off x="5238188" y="3270491"/>
                <a:ext cx="948593" cy="369332"/>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=2</m:t>
                      </m:r>
                      <m:r>
                        <a:rPr lang="en-US" b="0" i="1" smtClean="0">
                          <a:latin typeface="Cambria Math" panose="02040503050406030204" pitchFamily="18" charset="0"/>
                        </a:rPr>
                        <m:t>𝛼</m:t>
                      </m:r>
                    </m:oMath>
                  </m:oMathPara>
                </a14:m>
                <a:endParaRPr lang="en-US" dirty="0"/>
              </a:p>
            </p:txBody>
          </p:sp>
        </mc:Choice>
        <mc:Fallback xmlns="">
          <p:sp>
            <p:nvSpPr>
              <p:cNvPr id="68" name="TextBox 67">
                <a:extLst>
                  <a:ext uri="{FF2B5EF4-FFF2-40B4-BE49-F238E27FC236}">
                    <a16:creationId xmlns:a16="http://schemas.microsoft.com/office/drawing/2014/main" id="{99F3A1D4-EF14-0ABA-A41A-53020F126CCF}"/>
                  </a:ext>
                </a:extLst>
              </p:cNvPr>
              <p:cNvSpPr txBox="1">
                <a:spLocks noRot="1" noChangeAspect="1" noMove="1" noResize="1" noEditPoints="1" noAdjustHandles="1" noChangeArrowheads="1" noChangeShapeType="1" noTextEdit="1"/>
              </p:cNvSpPr>
              <p:nvPr/>
            </p:nvSpPr>
            <p:spPr>
              <a:xfrm>
                <a:off x="5238188" y="3270491"/>
                <a:ext cx="948593" cy="369332"/>
              </a:xfrm>
              <a:prstGeom prst="rect">
                <a:avLst/>
              </a:prstGeom>
              <a:blipFill>
                <a:blip r:embed="rId15"/>
                <a:stretch>
                  <a:fillRect/>
                </a:stretch>
              </a:blipFill>
            </p:spPr>
            <p:txBody>
              <a:bodyPr/>
              <a:lstStyle/>
              <a:p>
                <a:r>
                  <a:rPr lang="en-US">
                    <a:noFill/>
                  </a:rPr>
                  <a:t> </a:t>
                </a:r>
              </a:p>
            </p:txBody>
          </p:sp>
        </mc:Fallback>
      </mc:AlternateContent>
      <p:sp>
        <p:nvSpPr>
          <p:cNvPr id="71" name="Arrow: Right 70">
            <a:extLst>
              <a:ext uri="{FF2B5EF4-FFF2-40B4-BE49-F238E27FC236}">
                <a16:creationId xmlns:a16="http://schemas.microsoft.com/office/drawing/2014/main" id="{72A1E573-1F67-90A3-7D5B-68444F816528}"/>
              </a:ext>
            </a:extLst>
          </p:cNvPr>
          <p:cNvSpPr/>
          <p:nvPr/>
        </p:nvSpPr>
        <p:spPr>
          <a:xfrm>
            <a:off x="5139328" y="1264185"/>
            <a:ext cx="1134415" cy="4532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D46F358C-CE61-8F3C-48E3-B8F8F6CF1550}"/>
                  </a:ext>
                </a:extLst>
              </p:cNvPr>
              <p:cNvSpPr txBox="1"/>
              <p:nvPr/>
            </p:nvSpPr>
            <p:spPr>
              <a:xfrm>
                <a:off x="5302306" y="627399"/>
                <a:ext cx="820353" cy="613245"/>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𝜃</m:t>
                          </m:r>
                        </m:num>
                        <m:den>
                          <m:r>
                            <a:rPr lang="en-US" b="0" i="1" smtClean="0">
                              <a:latin typeface="Cambria Math" panose="02040503050406030204" pitchFamily="18" charset="0"/>
                            </a:rPr>
                            <m:t>2</m:t>
                          </m:r>
                        </m:den>
                      </m:f>
                    </m:oMath>
                  </m:oMathPara>
                </a14:m>
                <a:endParaRPr lang="en-US" dirty="0"/>
              </a:p>
            </p:txBody>
          </p:sp>
        </mc:Choice>
        <mc:Fallback xmlns="">
          <p:sp>
            <p:nvSpPr>
              <p:cNvPr id="72" name="TextBox 71">
                <a:extLst>
                  <a:ext uri="{FF2B5EF4-FFF2-40B4-BE49-F238E27FC236}">
                    <a16:creationId xmlns:a16="http://schemas.microsoft.com/office/drawing/2014/main" id="{D46F358C-CE61-8F3C-48E3-B8F8F6CF1550}"/>
                  </a:ext>
                </a:extLst>
              </p:cNvPr>
              <p:cNvSpPr txBox="1">
                <a:spLocks noRot="1" noChangeAspect="1" noMove="1" noResize="1" noEditPoints="1" noAdjustHandles="1" noChangeArrowheads="1" noChangeShapeType="1" noTextEdit="1"/>
              </p:cNvSpPr>
              <p:nvPr/>
            </p:nvSpPr>
            <p:spPr>
              <a:xfrm>
                <a:off x="5302306" y="627399"/>
                <a:ext cx="820353" cy="613245"/>
              </a:xfrm>
              <a:prstGeom prst="rect">
                <a:avLst/>
              </a:prstGeom>
              <a:blipFill>
                <a:blip r:embed="rId16"/>
                <a:stretch>
                  <a:fillRect/>
                </a:stretch>
              </a:blipFill>
            </p:spPr>
            <p:txBody>
              <a:bodyPr/>
              <a:lstStyle/>
              <a:p>
                <a:r>
                  <a:rPr lang="en-US">
                    <a:noFill/>
                  </a:rPr>
                  <a:t> </a:t>
                </a:r>
              </a:p>
            </p:txBody>
          </p:sp>
        </mc:Fallback>
      </mc:AlternateContent>
      <p:sp>
        <p:nvSpPr>
          <p:cNvPr id="76" name="TextBox 75">
            <a:extLst>
              <a:ext uri="{FF2B5EF4-FFF2-40B4-BE49-F238E27FC236}">
                <a16:creationId xmlns:a16="http://schemas.microsoft.com/office/drawing/2014/main" id="{EDDC91F9-9E1E-A82D-D480-D4A9F1264EA9}"/>
              </a:ext>
            </a:extLst>
          </p:cNvPr>
          <p:cNvSpPr txBox="1"/>
          <p:nvPr/>
        </p:nvSpPr>
        <p:spPr>
          <a:xfrm>
            <a:off x="143149" y="216305"/>
            <a:ext cx="2265428" cy="461665"/>
          </a:xfrm>
          <a:prstGeom prst="rect">
            <a:avLst/>
          </a:prstGeom>
          <a:noFill/>
        </p:spPr>
        <p:txBody>
          <a:bodyPr wrap="none" rtlCol="0">
            <a:spAutoFit/>
          </a:bodyPr>
          <a:lstStyle/>
          <a:p>
            <a:r>
              <a:rPr lang="en-US" sz="2400" dirty="0"/>
              <a:t>In physical space</a:t>
            </a:r>
          </a:p>
        </p:txBody>
      </p:sp>
      <p:sp>
        <p:nvSpPr>
          <p:cNvPr id="77" name="TextBox 76">
            <a:extLst>
              <a:ext uri="{FF2B5EF4-FFF2-40B4-BE49-F238E27FC236}">
                <a16:creationId xmlns:a16="http://schemas.microsoft.com/office/drawing/2014/main" id="{4B9BCDE0-068A-9649-71D3-4504CCB02D08}"/>
              </a:ext>
            </a:extLst>
          </p:cNvPr>
          <p:cNvSpPr txBox="1"/>
          <p:nvPr/>
        </p:nvSpPr>
        <p:spPr>
          <a:xfrm>
            <a:off x="9497768" y="353087"/>
            <a:ext cx="2551083" cy="461665"/>
          </a:xfrm>
          <a:prstGeom prst="rect">
            <a:avLst/>
          </a:prstGeom>
          <a:noFill/>
        </p:spPr>
        <p:txBody>
          <a:bodyPr wrap="none" rtlCol="0">
            <a:spAutoFit/>
          </a:bodyPr>
          <a:lstStyle/>
          <a:p>
            <a:r>
              <a:rPr lang="en-US" sz="2400" dirty="0"/>
              <a:t>In the vector space</a:t>
            </a:r>
          </a:p>
        </p:txBody>
      </p:sp>
      <p:sp>
        <p:nvSpPr>
          <p:cNvPr id="86" name="TextBox 85">
            <a:extLst>
              <a:ext uri="{FF2B5EF4-FFF2-40B4-BE49-F238E27FC236}">
                <a16:creationId xmlns:a16="http://schemas.microsoft.com/office/drawing/2014/main" id="{802A0039-C17C-2E0F-3A5F-3D9CFB76B64D}"/>
              </a:ext>
            </a:extLst>
          </p:cNvPr>
          <p:cNvSpPr txBox="1"/>
          <p:nvPr/>
        </p:nvSpPr>
        <p:spPr>
          <a:xfrm rot="16200000">
            <a:off x="5843630" y="2188444"/>
            <a:ext cx="2812821" cy="646331"/>
          </a:xfrm>
          <a:prstGeom prst="rect">
            <a:avLst/>
          </a:prstGeom>
          <a:noFill/>
        </p:spPr>
        <p:txBody>
          <a:bodyPr wrap="none" rtlCol="0">
            <a:spAutoFit/>
          </a:bodyPr>
          <a:lstStyle/>
          <a:p>
            <a:r>
              <a:rPr lang="en-US" sz="3600" dirty="0">
                <a:solidFill>
                  <a:schemeClr val="accent6">
                    <a:lumMod val="75000"/>
                  </a:schemeClr>
                </a:solidFill>
              </a:rPr>
              <a:t>Double cover!</a:t>
            </a:r>
          </a:p>
        </p:txBody>
      </p:sp>
      <p:sp>
        <p:nvSpPr>
          <p:cNvPr id="2" name="TextBox 1">
            <a:extLst>
              <a:ext uri="{FF2B5EF4-FFF2-40B4-BE49-F238E27FC236}">
                <a16:creationId xmlns:a16="http://schemas.microsoft.com/office/drawing/2014/main" id="{849BFD77-FA35-0AF2-1EFB-E526C438529E}"/>
              </a:ext>
            </a:extLst>
          </p:cNvPr>
          <p:cNvSpPr txBox="1"/>
          <p:nvPr/>
        </p:nvSpPr>
        <p:spPr>
          <a:xfrm>
            <a:off x="918843" y="5246785"/>
            <a:ext cx="7976927" cy="584775"/>
          </a:xfrm>
          <a:prstGeom prst="rect">
            <a:avLst/>
          </a:prstGeom>
          <a:noFill/>
        </p:spPr>
        <p:txBody>
          <a:bodyPr wrap="none" rtlCol="0">
            <a:spAutoFit/>
          </a:bodyPr>
          <a:lstStyle/>
          <a:p>
            <a:r>
              <a:rPr lang="en-US" sz="3200" dirty="0">
                <a:solidFill>
                  <a:srgbClr val="C00000"/>
                </a:solidFill>
              </a:rPr>
              <a:t>Where do the complex numbers come from?!?</a:t>
            </a:r>
          </a:p>
        </p:txBody>
      </p:sp>
    </p:spTree>
    <p:extLst>
      <p:ext uri="{BB962C8B-B14F-4D97-AF65-F5344CB8AC3E}">
        <p14:creationId xmlns:p14="http://schemas.microsoft.com/office/powerpoint/2010/main" val="1270828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FDBA0-6F14-82BA-D626-48BC46B213CC}"/>
            </a:ext>
          </a:extLst>
        </p:cNvPr>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98E283-9E15-E652-172C-DE102304238E}"/>
              </a:ext>
            </a:extLst>
          </p:cNvPr>
          <p:cNvCxnSpPr>
            <a:cxnSpLocks/>
            <a:stCxn id="54" idx="0"/>
          </p:cNvCxnSpPr>
          <p:nvPr/>
        </p:nvCxnSpPr>
        <p:spPr>
          <a:xfrm>
            <a:off x="1471390" y="2761346"/>
            <a:ext cx="3577398" cy="3972"/>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78DFB4D-5FD9-F5F0-5242-EFFF1E09E8E6}"/>
              </a:ext>
            </a:extLst>
          </p:cNvPr>
          <p:cNvCxnSpPr>
            <a:cxnSpLocks/>
            <a:stCxn id="56" idx="0"/>
            <a:endCxn id="55" idx="4"/>
          </p:cNvCxnSpPr>
          <p:nvPr/>
        </p:nvCxnSpPr>
        <p:spPr>
          <a:xfrm>
            <a:off x="3259932" y="968844"/>
            <a:ext cx="1" cy="3577703"/>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C2528FA-32DD-5DB4-9843-987815BB4528}"/>
              </a:ext>
            </a:extLst>
          </p:cNvPr>
          <p:cNvCxnSpPr>
            <a:cxnSpLocks/>
          </p:cNvCxnSpPr>
          <p:nvPr/>
        </p:nvCxnSpPr>
        <p:spPr>
          <a:xfrm flipV="1">
            <a:off x="2374540" y="1863272"/>
            <a:ext cx="1751601" cy="1808612"/>
          </a:xfrm>
          <a:prstGeom prst="line">
            <a:avLst/>
          </a:prstGeom>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4D7E335D-FF37-0E64-711B-6AF96379B5B6}"/>
              </a:ext>
            </a:extLst>
          </p:cNvPr>
          <p:cNvGrpSpPr/>
          <p:nvPr/>
        </p:nvGrpSpPr>
        <p:grpSpPr>
          <a:xfrm>
            <a:off x="1471083" y="968844"/>
            <a:ext cx="3578015" cy="3577707"/>
            <a:chOff x="934943" y="1636949"/>
            <a:chExt cx="2674503" cy="2674273"/>
          </a:xfrm>
        </p:grpSpPr>
        <p:grpSp>
          <p:nvGrpSpPr>
            <p:cNvPr id="38" name="Group 37">
              <a:extLst>
                <a:ext uri="{FF2B5EF4-FFF2-40B4-BE49-F238E27FC236}">
                  <a16:creationId xmlns:a16="http://schemas.microsoft.com/office/drawing/2014/main" id="{843A5149-A58B-D0D4-DA77-52963B472871}"/>
                </a:ext>
              </a:extLst>
            </p:cNvPr>
            <p:cNvGrpSpPr/>
            <p:nvPr/>
          </p:nvGrpSpPr>
          <p:grpSpPr>
            <a:xfrm>
              <a:off x="934943" y="1636949"/>
              <a:ext cx="2674503" cy="2674273"/>
              <a:chOff x="2521889" y="2808131"/>
              <a:chExt cx="1916430" cy="1916266"/>
            </a:xfrm>
          </p:grpSpPr>
          <p:sp>
            <p:nvSpPr>
              <p:cNvPr id="48" name="Oval 47">
                <a:extLst>
                  <a:ext uri="{FF2B5EF4-FFF2-40B4-BE49-F238E27FC236}">
                    <a16:creationId xmlns:a16="http://schemas.microsoft.com/office/drawing/2014/main" id="{332C11FD-DA9D-80F6-7503-EC25AEBFC153}"/>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Oval 31">
                <a:extLst>
                  <a:ext uri="{FF2B5EF4-FFF2-40B4-BE49-F238E27FC236}">
                    <a16:creationId xmlns:a16="http://schemas.microsoft.com/office/drawing/2014/main" id="{EFFCD3CA-DA98-0E2D-6DCA-A6DBE8CB0975}"/>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1EC143C6-ECC3-0C4C-537F-D7DC305D40ED}"/>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51" name="Group 50">
                <a:extLst>
                  <a:ext uri="{FF2B5EF4-FFF2-40B4-BE49-F238E27FC236}">
                    <a16:creationId xmlns:a16="http://schemas.microsoft.com/office/drawing/2014/main" id="{98E5AF13-FB7C-A7E8-B28B-9B318737C8EC}"/>
                  </a:ext>
                </a:extLst>
              </p:cNvPr>
              <p:cNvGrpSpPr/>
              <p:nvPr/>
            </p:nvGrpSpPr>
            <p:grpSpPr>
              <a:xfrm>
                <a:off x="2923755" y="2808131"/>
                <a:ext cx="1112528" cy="1916266"/>
                <a:chOff x="2734489" y="2655731"/>
                <a:chExt cx="1186260" cy="1916266"/>
              </a:xfrm>
            </p:grpSpPr>
            <p:sp>
              <p:nvSpPr>
                <p:cNvPr id="55" name="Oval 54">
                  <a:extLst>
                    <a:ext uri="{FF2B5EF4-FFF2-40B4-BE49-F238E27FC236}">
                      <a16:creationId xmlns:a16="http://schemas.microsoft.com/office/drawing/2014/main" id="{EB493FB8-F165-5538-3DFA-20E7779FAFF1}"/>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56" name="Oval 9">
                  <a:extLst>
                    <a:ext uri="{FF2B5EF4-FFF2-40B4-BE49-F238E27FC236}">
                      <a16:creationId xmlns:a16="http://schemas.microsoft.com/office/drawing/2014/main" id="{F2E5699A-FCD7-F064-E743-44DA47756273}"/>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52" name="Group 51">
                <a:extLst>
                  <a:ext uri="{FF2B5EF4-FFF2-40B4-BE49-F238E27FC236}">
                    <a16:creationId xmlns:a16="http://schemas.microsoft.com/office/drawing/2014/main" id="{387FDAA5-589E-2ACD-081F-C0B1EB8D7396}"/>
                  </a:ext>
                </a:extLst>
              </p:cNvPr>
              <p:cNvGrpSpPr/>
              <p:nvPr/>
            </p:nvGrpSpPr>
            <p:grpSpPr>
              <a:xfrm rot="16200000">
                <a:off x="2923922" y="2810085"/>
                <a:ext cx="1112528" cy="1916266"/>
                <a:chOff x="2734489" y="2655731"/>
                <a:chExt cx="1186260" cy="1916266"/>
              </a:xfrm>
            </p:grpSpPr>
            <p:sp>
              <p:nvSpPr>
                <p:cNvPr id="53" name="Oval 52">
                  <a:extLst>
                    <a:ext uri="{FF2B5EF4-FFF2-40B4-BE49-F238E27FC236}">
                      <a16:creationId xmlns:a16="http://schemas.microsoft.com/office/drawing/2014/main" id="{C14640D1-218B-0510-153C-6374FD51D12F}"/>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54" name="Oval 9">
                  <a:extLst>
                    <a:ext uri="{FF2B5EF4-FFF2-40B4-BE49-F238E27FC236}">
                      <a16:creationId xmlns:a16="http://schemas.microsoft.com/office/drawing/2014/main" id="{5DD86D00-5F99-0B73-F31D-38AC16FE8004}"/>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cxnSp>
          <p:nvCxnSpPr>
            <p:cNvPr id="41" name="Straight Connector 40">
              <a:extLst>
                <a:ext uri="{FF2B5EF4-FFF2-40B4-BE49-F238E27FC236}">
                  <a16:creationId xmlns:a16="http://schemas.microsoft.com/office/drawing/2014/main" id="{A37F531C-6A52-393B-7717-23EEC9B160FA}"/>
                </a:ext>
              </a:extLst>
            </p:cNvPr>
            <p:cNvCxnSpPr/>
            <p:nvPr/>
          </p:nvCxnSpPr>
          <p:spPr>
            <a:xfrm>
              <a:off x="2271845" y="2974084"/>
              <a:ext cx="999675" cy="525009"/>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EE6F13F-A115-FA72-D2D8-CEA17CAC187C}"/>
                </a:ext>
              </a:extLst>
            </p:cNvPr>
            <p:cNvCxnSpPr>
              <a:cxnSpLocks/>
            </p:cNvCxnSpPr>
            <p:nvPr/>
          </p:nvCxnSpPr>
          <p:spPr>
            <a:xfrm>
              <a:off x="3113096" y="2200506"/>
              <a:ext cx="0" cy="1214853"/>
            </a:xfrm>
            <a:prstGeom prst="line">
              <a:avLst/>
            </a:prstGeom>
          </p:spPr>
          <p:style>
            <a:lnRef idx="1">
              <a:schemeClr val="accent1"/>
            </a:lnRef>
            <a:fillRef idx="0">
              <a:schemeClr val="accent1"/>
            </a:fillRef>
            <a:effectRef idx="0">
              <a:schemeClr val="accent1"/>
            </a:effectRef>
            <a:fontRef idx="minor">
              <a:schemeClr val="tx1"/>
            </a:fontRef>
          </p:style>
        </p:cxnSp>
        <p:sp>
          <p:nvSpPr>
            <p:cNvPr id="43" name="Arc 42">
              <a:extLst>
                <a:ext uri="{FF2B5EF4-FFF2-40B4-BE49-F238E27FC236}">
                  <a16:creationId xmlns:a16="http://schemas.microsoft.com/office/drawing/2014/main" id="{6CBDECA5-2644-3450-C1C0-E97434BC1012}"/>
                </a:ext>
              </a:extLst>
            </p:cNvPr>
            <p:cNvSpPr/>
            <p:nvPr/>
          </p:nvSpPr>
          <p:spPr>
            <a:xfrm>
              <a:off x="2014778" y="2642873"/>
              <a:ext cx="521176" cy="413772"/>
            </a:xfrm>
            <a:prstGeom prst="arc">
              <a:avLst>
                <a:gd name="adj1" fmla="val 16200000"/>
                <a:gd name="adj2" fmla="val 2046445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4" name="Straight Arrow Connector 43">
              <a:extLst>
                <a:ext uri="{FF2B5EF4-FFF2-40B4-BE49-F238E27FC236}">
                  <a16:creationId xmlns:a16="http://schemas.microsoft.com/office/drawing/2014/main" id="{BDBED785-A7AE-0C5E-E89F-12434D77D04B}"/>
                </a:ext>
              </a:extLst>
            </p:cNvPr>
            <p:cNvCxnSpPr>
              <a:cxnSpLocks/>
            </p:cNvCxnSpPr>
            <p:nvPr/>
          </p:nvCxnSpPr>
          <p:spPr>
            <a:xfrm flipV="1">
              <a:off x="2272076" y="2200506"/>
              <a:ext cx="839906" cy="77357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A64AE80A-12F9-1F09-312D-38AC43E50A6E}"/>
                    </a:ext>
                  </a:extLst>
                </p:cNvPr>
                <p:cNvSpPr txBox="1"/>
                <p:nvPr/>
              </p:nvSpPr>
              <p:spPr>
                <a:xfrm>
                  <a:off x="2286085" y="2329788"/>
                  <a:ext cx="37414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oMath>
                    </m:oMathPara>
                  </a14:m>
                  <a:endParaRPr lang="en-US" dirty="0"/>
                </a:p>
              </p:txBody>
            </p:sp>
          </mc:Choice>
          <mc:Fallback xmlns="">
            <p:sp>
              <p:nvSpPr>
                <p:cNvPr id="37" name="TextBox 36">
                  <a:extLst>
                    <a:ext uri="{FF2B5EF4-FFF2-40B4-BE49-F238E27FC236}">
                      <a16:creationId xmlns:a16="http://schemas.microsoft.com/office/drawing/2014/main" id="{4923AE05-E995-F3EB-37BA-056D5E0F6A35}"/>
                    </a:ext>
                  </a:extLst>
                </p:cNvPr>
                <p:cNvSpPr txBox="1">
                  <a:spLocks noRot="1" noChangeAspect="1" noMove="1" noResize="1" noEditPoints="1" noAdjustHandles="1" noChangeArrowheads="1" noChangeShapeType="1" noTextEdit="1"/>
                </p:cNvSpPr>
                <p:nvPr/>
              </p:nvSpPr>
              <p:spPr>
                <a:xfrm>
                  <a:off x="2286085" y="2329788"/>
                  <a:ext cx="374141" cy="369332"/>
                </a:xfrm>
                <a:prstGeom prst="rect">
                  <a:avLst/>
                </a:prstGeom>
                <a:blipFill>
                  <a:blip r:embed="rId6"/>
                  <a:stretch>
                    <a:fillRect/>
                  </a:stretch>
                </a:blipFill>
              </p:spPr>
              <p:txBody>
                <a:bodyPr/>
                <a:lstStyle/>
                <a:p>
                  <a:r>
                    <a:rPr lang="en-US">
                      <a:noFill/>
                    </a:rPr>
                    <a:t> </a:t>
                  </a:r>
                </a:p>
              </p:txBody>
            </p:sp>
          </mc:Fallback>
        </mc:AlternateContent>
        <p:sp>
          <p:nvSpPr>
            <p:cNvPr id="46" name="Arc 45">
              <a:extLst>
                <a:ext uri="{FF2B5EF4-FFF2-40B4-BE49-F238E27FC236}">
                  <a16:creationId xmlns:a16="http://schemas.microsoft.com/office/drawing/2014/main" id="{AAD1116B-BFE1-BA9A-9AE2-6D1998A65D42}"/>
                </a:ext>
              </a:extLst>
            </p:cNvPr>
            <p:cNvSpPr/>
            <p:nvPr/>
          </p:nvSpPr>
          <p:spPr>
            <a:xfrm>
              <a:off x="1840894" y="2723583"/>
              <a:ext cx="861908" cy="500546"/>
            </a:xfrm>
            <a:prstGeom prst="arc">
              <a:avLst>
                <a:gd name="adj1" fmla="val 75082"/>
                <a:gd name="adj2" fmla="val 159574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A1237E6A-8041-865D-66DF-92E0B0D08DB9}"/>
                    </a:ext>
                  </a:extLst>
                </p:cNvPr>
                <p:cNvSpPr txBox="1"/>
                <p:nvPr/>
              </p:nvSpPr>
              <p:spPr>
                <a:xfrm>
                  <a:off x="2613151" y="2879260"/>
                  <a:ext cx="3995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𝜑</m:t>
                        </m:r>
                      </m:oMath>
                    </m:oMathPara>
                  </a14:m>
                  <a:endParaRPr lang="en-US" dirty="0"/>
                </a:p>
              </p:txBody>
            </p:sp>
          </mc:Choice>
          <mc:Fallback xmlns="">
            <p:sp>
              <p:nvSpPr>
                <p:cNvPr id="40" name="TextBox 39">
                  <a:extLst>
                    <a:ext uri="{FF2B5EF4-FFF2-40B4-BE49-F238E27FC236}">
                      <a16:creationId xmlns:a16="http://schemas.microsoft.com/office/drawing/2014/main" id="{90AFA723-236E-926F-51C8-FFE12408AB16}"/>
                    </a:ext>
                  </a:extLst>
                </p:cNvPr>
                <p:cNvSpPr txBox="1">
                  <a:spLocks noRot="1" noChangeAspect="1" noMove="1" noResize="1" noEditPoints="1" noAdjustHandles="1" noChangeArrowheads="1" noChangeShapeType="1" noTextEdit="1"/>
                </p:cNvSpPr>
                <p:nvPr/>
              </p:nvSpPr>
              <p:spPr>
                <a:xfrm>
                  <a:off x="2613151" y="2879260"/>
                  <a:ext cx="399597" cy="369332"/>
                </a:xfrm>
                <a:prstGeom prst="rect">
                  <a:avLst/>
                </a:prstGeom>
                <a:blipFill>
                  <a:blip r:embed="rId7"/>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91E2C35-7631-41E3-71E7-BB8DFFA0ABFC}"/>
                  </a:ext>
                </a:extLst>
              </p:cNvPr>
              <p:cNvSpPr txBox="1"/>
              <p:nvPr/>
            </p:nvSpPr>
            <p:spPr>
              <a:xfrm>
                <a:off x="2787952" y="423845"/>
                <a:ext cx="90640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a:latin typeface="Cambria Math" panose="02040503050406030204" pitchFamily="18" charset="0"/>
                        </a:rPr>
                        <m:t>|</m:t>
                      </m:r>
                      <m:sSup>
                        <m:sSupPr>
                          <m:ctrlPr>
                            <a:rPr lang="en-US" sz="2800" i="1" dirty="0">
                              <a:latin typeface="Cambria Math" panose="02040503050406030204" pitchFamily="18" charset="0"/>
                            </a:rPr>
                          </m:ctrlPr>
                        </m:sSupPr>
                        <m:e>
                          <m:r>
                            <a:rPr lang="en-US" sz="2800" i="1" dirty="0">
                              <a:latin typeface="Cambria Math" panose="02040503050406030204" pitchFamily="18" charset="0"/>
                            </a:rPr>
                            <m:t>𝑧</m:t>
                          </m:r>
                        </m:e>
                        <m:sup>
                          <m:r>
                            <a:rPr lang="en-US" sz="2800" i="1" dirty="0">
                              <a:latin typeface="Cambria Math" panose="02040503050406030204" pitchFamily="18" charset="0"/>
                            </a:rPr>
                            <m:t>+</m:t>
                          </m:r>
                        </m:sup>
                      </m:sSup>
                      <m:r>
                        <a:rPr lang="en-US" sz="2800" i="1" dirty="0">
                          <a:latin typeface="Cambria Math" panose="02040503050406030204" pitchFamily="18" charset="0"/>
                        </a:rPr>
                        <m:t>⟩</m:t>
                      </m:r>
                    </m:oMath>
                  </m:oMathPara>
                </a14:m>
                <a:endParaRPr lang="en-US" sz="2800" dirty="0"/>
              </a:p>
            </p:txBody>
          </p:sp>
        </mc:Choice>
        <mc:Fallback xmlns="">
          <p:sp>
            <p:nvSpPr>
              <p:cNvPr id="11" name="TextBox 10">
                <a:extLst>
                  <a:ext uri="{FF2B5EF4-FFF2-40B4-BE49-F238E27FC236}">
                    <a16:creationId xmlns:a16="http://schemas.microsoft.com/office/drawing/2014/main" id="{191E2C35-7631-41E3-71E7-BB8DFFA0ABFC}"/>
                  </a:ext>
                </a:extLst>
              </p:cNvPr>
              <p:cNvSpPr txBox="1">
                <a:spLocks noRot="1" noChangeAspect="1" noMove="1" noResize="1" noEditPoints="1" noAdjustHandles="1" noChangeArrowheads="1" noChangeShapeType="1" noTextEdit="1"/>
              </p:cNvSpPr>
              <p:nvPr/>
            </p:nvSpPr>
            <p:spPr>
              <a:xfrm>
                <a:off x="2787952" y="423845"/>
                <a:ext cx="906402"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7A327A3-A339-7781-E22B-E59198ACB09C}"/>
                  </a:ext>
                </a:extLst>
              </p:cNvPr>
              <p:cNvSpPr txBox="1"/>
              <p:nvPr/>
            </p:nvSpPr>
            <p:spPr>
              <a:xfrm>
                <a:off x="5024267" y="2462547"/>
                <a:ext cx="92615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p>
                        <m:sSupPr>
                          <m:ctrlPr>
                            <a:rPr lang="en-US" sz="2800" i="1" dirty="0">
                              <a:latin typeface="Cambria Math" panose="02040503050406030204" pitchFamily="18" charset="0"/>
                            </a:rPr>
                          </m:ctrlPr>
                        </m:sSupPr>
                        <m:e>
                          <m:r>
                            <a:rPr lang="en-US" sz="2800" b="0" i="1" dirty="0" smtClean="0">
                              <a:latin typeface="Cambria Math" panose="02040503050406030204" pitchFamily="18" charset="0"/>
                            </a:rPr>
                            <m:t>𝑥</m:t>
                          </m:r>
                        </m:e>
                        <m:sup>
                          <m:r>
                            <a:rPr lang="en-US" sz="2800" i="1" dirty="0">
                              <a:latin typeface="Cambria Math" panose="02040503050406030204" pitchFamily="18" charset="0"/>
                            </a:rPr>
                            <m:t>+</m:t>
                          </m:r>
                        </m:sup>
                      </m:sSup>
                      <m:r>
                        <a:rPr lang="en-US" sz="2800" i="1" dirty="0">
                          <a:latin typeface="Cambria Math" panose="02040503050406030204" pitchFamily="18" charset="0"/>
                        </a:rPr>
                        <m:t>⟩</m:t>
                      </m:r>
                    </m:oMath>
                  </m:oMathPara>
                </a14:m>
                <a:endParaRPr lang="en-US" sz="2800" dirty="0"/>
              </a:p>
            </p:txBody>
          </p:sp>
        </mc:Choice>
        <mc:Fallback xmlns="">
          <p:sp>
            <p:nvSpPr>
              <p:cNvPr id="12" name="TextBox 11">
                <a:extLst>
                  <a:ext uri="{FF2B5EF4-FFF2-40B4-BE49-F238E27FC236}">
                    <a16:creationId xmlns:a16="http://schemas.microsoft.com/office/drawing/2014/main" id="{77A327A3-A339-7781-E22B-E59198ACB09C}"/>
                  </a:ext>
                </a:extLst>
              </p:cNvPr>
              <p:cNvSpPr txBox="1">
                <a:spLocks noRot="1" noChangeAspect="1" noMove="1" noResize="1" noEditPoints="1" noAdjustHandles="1" noChangeArrowheads="1" noChangeShapeType="1" noTextEdit="1"/>
              </p:cNvSpPr>
              <p:nvPr/>
            </p:nvSpPr>
            <p:spPr>
              <a:xfrm>
                <a:off x="5024267" y="2462547"/>
                <a:ext cx="926151"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6B6EDE7-F97E-4D9C-D1A8-355097658F29}"/>
                  </a:ext>
                </a:extLst>
              </p:cNvPr>
              <p:cNvSpPr txBox="1"/>
              <p:nvPr/>
            </p:nvSpPr>
            <p:spPr>
              <a:xfrm>
                <a:off x="504641" y="2462547"/>
                <a:ext cx="92615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p>
                        <m:sSupPr>
                          <m:ctrlPr>
                            <a:rPr lang="en-US" sz="2800" i="1" dirty="0">
                              <a:latin typeface="Cambria Math" panose="02040503050406030204" pitchFamily="18" charset="0"/>
                            </a:rPr>
                          </m:ctrlPr>
                        </m:sSupPr>
                        <m:e>
                          <m:r>
                            <a:rPr lang="en-US" sz="2800" b="0" i="1" dirty="0" smtClean="0">
                              <a:latin typeface="Cambria Math" panose="02040503050406030204" pitchFamily="18" charset="0"/>
                            </a:rPr>
                            <m:t>𝑥</m:t>
                          </m:r>
                        </m:e>
                        <m:sup>
                          <m:r>
                            <a:rPr lang="en-US" sz="2800" i="1" dirty="0">
                              <a:latin typeface="Cambria Math" panose="02040503050406030204" pitchFamily="18" charset="0"/>
                            </a:rPr>
                            <m:t>−</m:t>
                          </m:r>
                        </m:sup>
                      </m:sSup>
                      <m:r>
                        <a:rPr lang="en-US" sz="2800" i="1" dirty="0">
                          <a:latin typeface="Cambria Math" panose="02040503050406030204" pitchFamily="18" charset="0"/>
                        </a:rPr>
                        <m:t>⟩</m:t>
                      </m:r>
                    </m:oMath>
                  </m:oMathPara>
                </a14:m>
                <a:endParaRPr lang="en-US" sz="2800" dirty="0"/>
              </a:p>
            </p:txBody>
          </p:sp>
        </mc:Choice>
        <mc:Fallback xmlns="">
          <p:sp>
            <p:nvSpPr>
              <p:cNvPr id="13" name="TextBox 12">
                <a:extLst>
                  <a:ext uri="{FF2B5EF4-FFF2-40B4-BE49-F238E27FC236}">
                    <a16:creationId xmlns:a16="http://schemas.microsoft.com/office/drawing/2014/main" id="{36B6EDE7-F97E-4D9C-D1A8-355097658F29}"/>
                  </a:ext>
                </a:extLst>
              </p:cNvPr>
              <p:cNvSpPr txBox="1">
                <a:spLocks noRot="1" noChangeAspect="1" noMove="1" noResize="1" noEditPoints="1" noAdjustHandles="1" noChangeArrowheads="1" noChangeShapeType="1" noTextEdit="1"/>
              </p:cNvSpPr>
              <p:nvPr/>
            </p:nvSpPr>
            <p:spPr>
              <a:xfrm>
                <a:off x="504641" y="2462547"/>
                <a:ext cx="926151"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D36C059-B963-BC10-7F3B-D6424C8CA7C4}"/>
                  </a:ext>
                </a:extLst>
              </p:cNvPr>
              <p:cNvSpPr txBox="1"/>
              <p:nvPr/>
            </p:nvSpPr>
            <p:spPr>
              <a:xfrm>
                <a:off x="2752801" y="4543431"/>
                <a:ext cx="90640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a:latin typeface="Cambria Math" panose="02040503050406030204" pitchFamily="18" charset="0"/>
                        </a:rPr>
                        <m:t>|</m:t>
                      </m:r>
                      <m:sSup>
                        <m:sSupPr>
                          <m:ctrlPr>
                            <a:rPr lang="en-US" sz="2800" i="1" dirty="0">
                              <a:latin typeface="Cambria Math" panose="02040503050406030204" pitchFamily="18" charset="0"/>
                            </a:rPr>
                          </m:ctrlPr>
                        </m:sSupPr>
                        <m:e>
                          <m:r>
                            <a:rPr lang="en-US" sz="2800" i="1" dirty="0">
                              <a:latin typeface="Cambria Math" panose="02040503050406030204" pitchFamily="18" charset="0"/>
                            </a:rPr>
                            <m:t>𝑧</m:t>
                          </m:r>
                        </m:e>
                        <m:sup>
                          <m:r>
                            <a:rPr lang="en-US" sz="2800" i="1" dirty="0">
                              <a:latin typeface="Cambria Math" panose="02040503050406030204" pitchFamily="18" charset="0"/>
                            </a:rPr>
                            <m:t>−</m:t>
                          </m:r>
                        </m:sup>
                      </m:sSup>
                      <m:r>
                        <a:rPr lang="en-US" sz="2800" i="1" dirty="0">
                          <a:latin typeface="Cambria Math" panose="02040503050406030204" pitchFamily="18" charset="0"/>
                        </a:rPr>
                        <m:t>⟩</m:t>
                      </m:r>
                    </m:oMath>
                  </m:oMathPara>
                </a14:m>
                <a:endParaRPr lang="en-US" sz="2800" dirty="0"/>
              </a:p>
            </p:txBody>
          </p:sp>
        </mc:Choice>
        <mc:Fallback xmlns="">
          <p:sp>
            <p:nvSpPr>
              <p:cNvPr id="14" name="TextBox 13">
                <a:extLst>
                  <a:ext uri="{FF2B5EF4-FFF2-40B4-BE49-F238E27FC236}">
                    <a16:creationId xmlns:a16="http://schemas.microsoft.com/office/drawing/2014/main" id="{7D36C059-B963-BC10-7F3B-D6424C8CA7C4}"/>
                  </a:ext>
                </a:extLst>
              </p:cNvPr>
              <p:cNvSpPr txBox="1">
                <a:spLocks noRot="1" noChangeAspect="1" noMove="1" noResize="1" noEditPoints="1" noAdjustHandles="1" noChangeArrowheads="1" noChangeShapeType="1" noTextEdit="1"/>
              </p:cNvSpPr>
              <p:nvPr/>
            </p:nvSpPr>
            <p:spPr>
              <a:xfrm>
                <a:off x="2752801" y="4543431"/>
                <a:ext cx="906402" cy="5232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9EC7B9A-C7DE-F392-A5A9-ABF7207A3111}"/>
                  </a:ext>
                </a:extLst>
              </p:cNvPr>
              <p:cNvSpPr txBox="1"/>
              <p:nvPr/>
            </p:nvSpPr>
            <p:spPr>
              <a:xfrm>
                <a:off x="4155425" y="1155028"/>
                <a:ext cx="93365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p>
                        <m:sSupPr>
                          <m:ctrlPr>
                            <a:rPr lang="en-US" sz="2800" i="1" dirty="0">
                              <a:latin typeface="Cambria Math" panose="02040503050406030204" pitchFamily="18" charset="0"/>
                            </a:rPr>
                          </m:ctrlPr>
                        </m:sSupPr>
                        <m:e>
                          <m:r>
                            <a:rPr lang="en-US" sz="2800" b="0" i="1" dirty="0" smtClean="0">
                              <a:latin typeface="Cambria Math" panose="02040503050406030204" pitchFamily="18" charset="0"/>
                            </a:rPr>
                            <m:t>𝑦</m:t>
                          </m:r>
                        </m:e>
                        <m:sup>
                          <m:r>
                            <a:rPr lang="en-US" sz="2800" i="1" dirty="0">
                              <a:latin typeface="Cambria Math" panose="02040503050406030204" pitchFamily="18" charset="0"/>
                            </a:rPr>
                            <m:t>+</m:t>
                          </m:r>
                        </m:sup>
                      </m:sSup>
                      <m:r>
                        <a:rPr lang="en-US" sz="2800" i="1" dirty="0">
                          <a:latin typeface="Cambria Math" panose="02040503050406030204" pitchFamily="18" charset="0"/>
                        </a:rPr>
                        <m:t>⟩</m:t>
                      </m:r>
                    </m:oMath>
                  </m:oMathPara>
                </a14:m>
                <a:endParaRPr lang="en-US" sz="2800" dirty="0"/>
              </a:p>
            </p:txBody>
          </p:sp>
        </mc:Choice>
        <mc:Fallback xmlns="">
          <p:sp>
            <p:nvSpPr>
              <p:cNvPr id="15" name="TextBox 14">
                <a:extLst>
                  <a:ext uri="{FF2B5EF4-FFF2-40B4-BE49-F238E27FC236}">
                    <a16:creationId xmlns:a16="http://schemas.microsoft.com/office/drawing/2014/main" id="{99EC7B9A-C7DE-F392-A5A9-ABF7207A3111}"/>
                  </a:ext>
                </a:extLst>
              </p:cNvPr>
              <p:cNvSpPr txBox="1">
                <a:spLocks noRot="1" noChangeAspect="1" noMove="1" noResize="1" noEditPoints="1" noAdjustHandles="1" noChangeArrowheads="1" noChangeShapeType="1" noTextEdit="1"/>
              </p:cNvSpPr>
              <p:nvPr/>
            </p:nvSpPr>
            <p:spPr>
              <a:xfrm>
                <a:off x="4155425" y="1155028"/>
                <a:ext cx="933654"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00CBEAC-2239-BCF9-A0F7-B29294B38F64}"/>
                  </a:ext>
                </a:extLst>
              </p:cNvPr>
              <p:cNvSpPr txBox="1"/>
              <p:nvPr/>
            </p:nvSpPr>
            <p:spPr>
              <a:xfrm>
                <a:off x="1460070" y="3582828"/>
                <a:ext cx="93365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sSup>
                        <m:sSupPr>
                          <m:ctrlPr>
                            <a:rPr lang="en-US" sz="2800" i="1" dirty="0">
                              <a:latin typeface="Cambria Math" panose="02040503050406030204" pitchFamily="18" charset="0"/>
                            </a:rPr>
                          </m:ctrlPr>
                        </m:sSupPr>
                        <m:e>
                          <m:r>
                            <a:rPr lang="en-US" sz="2800" b="0" i="1" dirty="0" smtClean="0">
                              <a:latin typeface="Cambria Math" panose="02040503050406030204" pitchFamily="18" charset="0"/>
                            </a:rPr>
                            <m:t>𝑦</m:t>
                          </m:r>
                        </m:e>
                        <m:sup>
                          <m:r>
                            <a:rPr lang="en-US" sz="2800" i="1" dirty="0">
                              <a:latin typeface="Cambria Math" panose="02040503050406030204" pitchFamily="18" charset="0"/>
                            </a:rPr>
                            <m:t>−</m:t>
                          </m:r>
                        </m:sup>
                      </m:sSup>
                      <m:r>
                        <a:rPr lang="en-US" sz="2800" i="1" dirty="0">
                          <a:latin typeface="Cambria Math" panose="02040503050406030204" pitchFamily="18" charset="0"/>
                        </a:rPr>
                        <m:t>⟩</m:t>
                      </m:r>
                    </m:oMath>
                  </m:oMathPara>
                </a14:m>
                <a:endParaRPr lang="en-US" sz="2800" dirty="0"/>
              </a:p>
            </p:txBody>
          </p:sp>
        </mc:Choice>
        <mc:Fallback xmlns="">
          <p:sp>
            <p:nvSpPr>
              <p:cNvPr id="16" name="TextBox 15">
                <a:extLst>
                  <a:ext uri="{FF2B5EF4-FFF2-40B4-BE49-F238E27FC236}">
                    <a16:creationId xmlns:a16="http://schemas.microsoft.com/office/drawing/2014/main" id="{300CBEAC-2239-BCF9-A0F7-B29294B38F64}"/>
                  </a:ext>
                </a:extLst>
              </p:cNvPr>
              <p:cNvSpPr txBox="1">
                <a:spLocks noRot="1" noChangeAspect="1" noMove="1" noResize="1" noEditPoints="1" noAdjustHandles="1" noChangeArrowheads="1" noChangeShapeType="1" noTextEdit="1"/>
              </p:cNvSpPr>
              <p:nvPr/>
            </p:nvSpPr>
            <p:spPr>
              <a:xfrm>
                <a:off x="1460070" y="3582828"/>
                <a:ext cx="933654" cy="52322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9A67DD9D-862F-D6BF-0DE6-886B42CCE1B1}"/>
                  </a:ext>
                </a:extLst>
              </p:cNvPr>
              <p:cNvSpPr txBox="1"/>
              <p:nvPr/>
            </p:nvSpPr>
            <p:spPr>
              <a:xfrm>
                <a:off x="6419348" y="1226906"/>
                <a:ext cx="4987071" cy="9026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US" sz="2800" b="0" i="1" dirty="0" smtClean="0">
                              <a:latin typeface="Cambria Math" panose="02040503050406030204" pitchFamily="18" charset="0"/>
                            </a:rPr>
                          </m:ctrlPr>
                        </m:funcPr>
                        <m:fName>
                          <m:r>
                            <m:rPr>
                              <m:sty m:val="p"/>
                            </m:rPr>
                            <a:rPr lang="en-US" sz="2800" b="0" i="0" dirty="0" smtClean="0">
                              <a:latin typeface="Cambria Math" panose="02040503050406030204" pitchFamily="18" charset="0"/>
                            </a:rPr>
                            <m:t>cos</m:t>
                          </m:r>
                        </m:fName>
                        <m:e>
                          <m:f>
                            <m:fPr>
                              <m:ctrlPr>
                                <a:rPr lang="en-US" sz="2800" b="0" i="1" dirty="0" smtClean="0">
                                  <a:latin typeface="Cambria Math" panose="02040503050406030204" pitchFamily="18" charset="0"/>
                                </a:rPr>
                              </m:ctrlPr>
                            </m:fPr>
                            <m:num>
                              <m:r>
                                <a:rPr lang="en-US" sz="2800" b="0" i="1" dirty="0" smtClean="0">
                                  <a:latin typeface="Cambria Math" panose="02040503050406030204" pitchFamily="18" charset="0"/>
                                </a:rPr>
                                <m:t>𝜃</m:t>
                              </m:r>
                            </m:num>
                            <m:den>
                              <m:r>
                                <a:rPr lang="en-US" sz="2800" b="0" i="1" dirty="0" smtClean="0">
                                  <a:latin typeface="Cambria Math" panose="02040503050406030204" pitchFamily="18" charset="0"/>
                                </a:rPr>
                                <m:t>2</m:t>
                              </m:r>
                            </m:den>
                          </m:f>
                        </m:e>
                      </m:func>
                      <m:sSup>
                        <m:sSupPr>
                          <m:ctrlPr>
                            <a:rPr lang="en-US" sz="2800" b="0" i="1" dirty="0" smtClean="0">
                              <a:latin typeface="Cambria Math" panose="02040503050406030204" pitchFamily="18" charset="0"/>
                            </a:rPr>
                          </m:ctrlPr>
                        </m:sSupPr>
                        <m:e>
                          <m:r>
                            <a:rPr lang="en-US" sz="2800" b="0" i="1" dirty="0" smtClean="0">
                              <a:latin typeface="Cambria Math" panose="02040503050406030204" pitchFamily="18" charset="0"/>
                            </a:rPr>
                            <m:t>𝑒</m:t>
                          </m:r>
                        </m:e>
                        <m:sup>
                          <m:r>
                            <a:rPr lang="en-US" sz="2800" i="1" dirty="0">
                              <a:latin typeface="Cambria Math" panose="02040503050406030204" pitchFamily="18" charset="0"/>
                            </a:rPr>
                            <m:t>−</m:t>
                          </m:r>
                          <m:r>
                            <a:rPr lang="en-US" sz="2800" i="1" dirty="0">
                              <a:latin typeface="Cambria Math" panose="02040503050406030204" pitchFamily="18" charset="0"/>
                            </a:rPr>
                            <m:t>𝚤</m:t>
                          </m:r>
                          <m:f>
                            <m:fPr>
                              <m:ctrlPr>
                                <a:rPr lang="en-US" sz="2800" b="0" i="1" dirty="0" smtClean="0">
                                  <a:latin typeface="Cambria Math" panose="02040503050406030204" pitchFamily="18" charset="0"/>
                                </a:rPr>
                              </m:ctrlPr>
                            </m:fPr>
                            <m:num>
                              <m:r>
                                <a:rPr lang="en-US" sz="2800" b="0" i="1" dirty="0" smtClean="0">
                                  <a:latin typeface="Cambria Math" panose="02040503050406030204" pitchFamily="18" charset="0"/>
                                </a:rPr>
                                <m:t>𝜑</m:t>
                              </m:r>
                            </m:num>
                            <m:den>
                              <m:r>
                                <a:rPr lang="en-US" sz="2800" b="0" i="1" dirty="0" smtClean="0">
                                  <a:latin typeface="Cambria Math" panose="02040503050406030204" pitchFamily="18" charset="0"/>
                                </a:rPr>
                                <m:t>2</m:t>
                              </m:r>
                            </m:den>
                          </m:f>
                        </m:sup>
                      </m:sSup>
                      <m:d>
                        <m:dPr>
                          <m:begChr m:val="|"/>
                          <m:endChr m:val="⟩"/>
                          <m:ctrlPr>
                            <a:rPr lang="en-US" sz="2800" i="1" dirty="0">
                              <a:latin typeface="Cambria Math" panose="02040503050406030204" pitchFamily="18" charset="0"/>
                            </a:rPr>
                          </m:ctrlPr>
                        </m:dPr>
                        <m:e>
                          <m:sSup>
                            <m:sSupPr>
                              <m:ctrlPr>
                                <a:rPr lang="en-US" sz="2800" i="1" dirty="0">
                                  <a:latin typeface="Cambria Math" panose="02040503050406030204" pitchFamily="18" charset="0"/>
                                </a:rPr>
                              </m:ctrlPr>
                            </m:sSupPr>
                            <m:e>
                              <m:r>
                                <a:rPr lang="en-US" sz="2800" i="1" dirty="0">
                                  <a:latin typeface="Cambria Math" panose="02040503050406030204" pitchFamily="18" charset="0"/>
                                </a:rPr>
                                <m:t>𝑧</m:t>
                              </m:r>
                            </m:e>
                            <m:sup>
                              <m:r>
                                <a:rPr lang="en-US" sz="2800" i="1" dirty="0">
                                  <a:latin typeface="Cambria Math" panose="02040503050406030204" pitchFamily="18" charset="0"/>
                                </a:rPr>
                                <m:t>+</m:t>
                              </m:r>
                            </m:sup>
                          </m:sSup>
                        </m:e>
                      </m:d>
                      <m:r>
                        <a:rPr lang="en-US" sz="2800" b="0" i="1" dirty="0" smtClean="0">
                          <a:latin typeface="Cambria Math" panose="02040503050406030204" pitchFamily="18" charset="0"/>
                        </a:rPr>
                        <m:t>+</m:t>
                      </m:r>
                      <m:func>
                        <m:funcPr>
                          <m:ctrlPr>
                            <a:rPr lang="en-US" sz="2800" b="0" i="1" dirty="0" smtClean="0">
                              <a:latin typeface="Cambria Math" panose="02040503050406030204" pitchFamily="18" charset="0"/>
                            </a:rPr>
                          </m:ctrlPr>
                        </m:funcPr>
                        <m:fName>
                          <m:r>
                            <m:rPr>
                              <m:sty m:val="p"/>
                            </m:rPr>
                            <a:rPr lang="en-US" sz="2800" b="0" i="0" dirty="0" smtClean="0">
                              <a:latin typeface="Cambria Math" panose="02040503050406030204" pitchFamily="18" charset="0"/>
                            </a:rPr>
                            <m:t>sin</m:t>
                          </m:r>
                        </m:fName>
                        <m:e>
                          <m:f>
                            <m:fPr>
                              <m:ctrlPr>
                                <a:rPr lang="en-US" sz="2800" b="0" i="1" dirty="0" smtClean="0">
                                  <a:latin typeface="Cambria Math" panose="02040503050406030204" pitchFamily="18" charset="0"/>
                                </a:rPr>
                              </m:ctrlPr>
                            </m:fPr>
                            <m:num>
                              <m:r>
                                <a:rPr lang="en-US" sz="2800" b="0" i="1" dirty="0" smtClean="0">
                                  <a:latin typeface="Cambria Math" panose="02040503050406030204" pitchFamily="18" charset="0"/>
                                </a:rPr>
                                <m:t>𝜃</m:t>
                              </m:r>
                            </m:num>
                            <m:den>
                              <m:r>
                                <a:rPr lang="en-US" sz="2800" b="0" i="1" dirty="0" smtClean="0">
                                  <a:latin typeface="Cambria Math" panose="02040503050406030204" pitchFamily="18" charset="0"/>
                                </a:rPr>
                                <m:t>2</m:t>
                              </m:r>
                            </m:den>
                          </m:f>
                        </m:e>
                      </m:func>
                      <m:sSup>
                        <m:sSupPr>
                          <m:ctrlPr>
                            <a:rPr lang="en-US" sz="2800" i="1" dirty="0">
                              <a:latin typeface="Cambria Math" panose="02040503050406030204" pitchFamily="18" charset="0"/>
                            </a:rPr>
                          </m:ctrlPr>
                        </m:sSupPr>
                        <m:e>
                          <m:r>
                            <a:rPr lang="en-US" sz="2800" i="1" dirty="0">
                              <a:latin typeface="Cambria Math" panose="02040503050406030204" pitchFamily="18" charset="0"/>
                            </a:rPr>
                            <m:t>𝑒</m:t>
                          </m:r>
                        </m:e>
                        <m:sup>
                          <m:r>
                            <a:rPr lang="en-US" sz="2800" i="1" dirty="0">
                              <a:latin typeface="Cambria Math" panose="02040503050406030204" pitchFamily="18" charset="0"/>
                            </a:rPr>
                            <m:t>𝚤</m:t>
                          </m:r>
                          <m:f>
                            <m:fPr>
                              <m:ctrlPr>
                                <a:rPr lang="en-US" sz="2800" i="1" dirty="0">
                                  <a:latin typeface="Cambria Math" panose="02040503050406030204" pitchFamily="18" charset="0"/>
                                </a:rPr>
                              </m:ctrlPr>
                            </m:fPr>
                            <m:num>
                              <m:r>
                                <a:rPr lang="en-US" sz="2800" i="1" dirty="0">
                                  <a:latin typeface="Cambria Math" panose="02040503050406030204" pitchFamily="18" charset="0"/>
                                </a:rPr>
                                <m:t>𝜑</m:t>
                              </m:r>
                            </m:num>
                            <m:den>
                              <m:r>
                                <a:rPr lang="en-US" sz="2800" i="1" dirty="0">
                                  <a:latin typeface="Cambria Math" panose="02040503050406030204" pitchFamily="18" charset="0"/>
                                </a:rPr>
                                <m:t>2</m:t>
                              </m:r>
                            </m:den>
                          </m:f>
                        </m:sup>
                      </m:sSup>
                      <m:d>
                        <m:dPr>
                          <m:begChr m:val="|"/>
                          <m:endChr m:val="⟩"/>
                          <m:ctrlPr>
                            <a:rPr lang="en-US" sz="2800" i="1" dirty="0">
                              <a:latin typeface="Cambria Math" panose="02040503050406030204" pitchFamily="18" charset="0"/>
                            </a:rPr>
                          </m:ctrlPr>
                        </m:dPr>
                        <m:e>
                          <m:sSup>
                            <m:sSupPr>
                              <m:ctrlPr>
                                <a:rPr lang="en-US" sz="2800" i="1" dirty="0">
                                  <a:latin typeface="Cambria Math" panose="02040503050406030204" pitchFamily="18" charset="0"/>
                                </a:rPr>
                              </m:ctrlPr>
                            </m:sSupPr>
                            <m:e>
                              <m:r>
                                <a:rPr lang="en-US" sz="2800" i="1" dirty="0">
                                  <a:latin typeface="Cambria Math" panose="02040503050406030204" pitchFamily="18" charset="0"/>
                                </a:rPr>
                                <m:t>𝑧</m:t>
                              </m:r>
                            </m:e>
                            <m:sup>
                              <m:r>
                                <a:rPr lang="en-US" sz="2800" i="1" dirty="0">
                                  <a:latin typeface="Cambria Math" panose="02040503050406030204" pitchFamily="18" charset="0"/>
                                </a:rPr>
                                <m:t>−</m:t>
                              </m:r>
                            </m:sup>
                          </m:sSup>
                        </m:e>
                      </m:d>
                    </m:oMath>
                  </m:oMathPara>
                </a14:m>
                <a:endParaRPr lang="en-US" sz="2800" dirty="0"/>
              </a:p>
            </p:txBody>
          </p:sp>
        </mc:Choice>
        <mc:Fallback xmlns="">
          <p:sp>
            <p:nvSpPr>
              <p:cNvPr id="57" name="TextBox 56">
                <a:extLst>
                  <a:ext uri="{FF2B5EF4-FFF2-40B4-BE49-F238E27FC236}">
                    <a16:creationId xmlns:a16="http://schemas.microsoft.com/office/drawing/2014/main" id="{9A67DD9D-862F-D6BF-0DE6-886B42CCE1B1}"/>
                  </a:ext>
                </a:extLst>
              </p:cNvPr>
              <p:cNvSpPr txBox="1">
                <a:spLocks noRot="1" noChangeAspect="1" noMove="1" noResize="1" noEditPoints="1" noAdjustHandles="1" noChangeArrowheads="1" noChangeShapeType="1" noTextEdit="1"/>
              </p:cNvSpPr>
              <p:nvPr/>
            </p:nvSpPr>
            <p:spPr>
              <a:xfrm>
                <a:off x="6419348" y="1226906"/>
                <a:ext cx="4987071" cy="902683"/>
              </a:xfrm>
              <a:prstGeom prst="rect">
                <a:avLst/>
              </a:prstGeom>
              <a:blipFill>
                <a:blip r:embed="rId14"/>
                <a:stretch>
                  <a:fillRect/>
                </a:stretch>
              </a:blipFill>
            </p:spPr>
            <p:txBody>
              <a:bodyPr/>
              <a:lstStyle/>
              <a:p>
                <a:r>
                  <a:rPr lang="en-US">
                    <a:noFill/>
                  </a:rPr>
                  <a:t> </a:t>
                </a:r>
              </a:p>
            </p:txBody>
          </p:sp>
        </mc:Fallback>
      </mc:AlternateContent>
      <p:grpSp>
        <p:nvGrpSpPr>
          <p:cNvPr id="60" name="Group 59">
            <a:extLst>
              <a:ext uri="{FF2B5EF4-FFF2-40B4-BE49-F238E27FC236}">
                <a16:creationId xmlns:a16="http://schemas.microsoft.com/office/drawing/2014/main" id="{B928D1E8-9F97-360B-410B-95F94E6F3AE6}"/>
              </a:ext>
            </a:extLst>
          </p:cNvPr>
          <p:cNvGrpSpPr/>
          <p:nvPr/>
        </p:nvGrpSpPr>
        <p:grpSpPr>
          <a:xfrm>
            <a:off x="2029579" y="1140058"/>
            <a:ext cx="2441522" cy="819683"/>
            <a:chOff x="5011224" y="2798876"/>
            <a:chExt cx="3577709" cy="2077112"/>
          </a:xfrm>
        </p:grpSpPr>
        <p:sp>
          <p:nvSpPr>
            <p:cNvPr id="58" name="Oval 57">
              <a:extLst>
                <a:ext uri="{FF2B5EF4-FFF2-40B4-BE49-F238E27FC236}">
                  <a16:creationId xmlns:a16="http://schemas.microsoft.com/office/drawing/2014/main" id="{1B54C917-B123-CAB8-471A-ABC5C3D90BFC}"/>
                </a:ext>
              </a:extLst>
            </p:cNvPr>
            <p:cNvSpPr/>
            <p:nvPr/>
          </p:nvSpPr>
          <p:spPr>
            <a:xfrm rot="16200000">
              <a:off x="5761522" y="2048578"/>
              <a:ext cx="2077110" cy="3577705"/>
            </a:xfrm>
            <a:prstGeom prst="ellipse">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59" name="Oval 9">
              <a:extLst>
                <a:ext uri="{FF2B5EF4-FFF2-40B4-BE49-F238E27FC236}">
                  <a16:creationId xmlns:a16="http://schemas.microsoft.com/office/drawing/2014/main" id="{4006C264-31E0-D297-C879-7B36AFC830D0}"/>
                </a:ext>
              </a:extLst>
            </p:cNvPr>
            <p:cNvSpPr/>
            <p:nvPr/>
          </p:nvSpPr>
          <p:spPr>
            <a:xfrm rot="16200000" flipH="1">
              <a:off x="6280801" y="2567855"/>
              <a:ext cx="1038556" cy="3577709"/>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F9624455-AE81-406A-B9FA-A3E3C79891F3}"/>
                  </a:ext>
                </a:extLst>
              </p:cNvPr>
              <p:cNvSpPr txBox="1"/>
              <p:nvPr/>
            </p:nvSpPr>
            <p:spPr>
              <a:xfrm>
                <a:off x="6993584" y="685455"/>
                <a:ext cx="3553217"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𝜃</m:t>
                    </m:r>
                  </m:oMath>
                </a14:m>
                <a:r>
                  <a:rPr lang="en-US" dirty="0"/>
                  <a:t> fixes the height of the white circle</a:t>
                </a:r>
              </a:p>
            </p:txBody>
          </p:sp>
        </mc:Choice>
        <mc:Fallback xmlns="">
          <p:sp>
            <p:nvSpPr>
              <p:cNvPr id="61" name="TextBox 60">
                <a:extLst>
                  <a:ext uri="{FF2B5EF4-FFF2-40B4-BE49-F238E27FC236}">
                    <a16:creationId xmlns:a16="http://schemas.microsoft.com/office/drawing/2014/main" id="{F9624455-AE81-406A-B9FA-A3E3C79891F3}"/>
                  </a:ext>
                </a:extLst>
              </p:cNvPr>
              <p:cNvSpPr txBox="1">
                <a:spLocks noRot="1" noChangeAspect="1" noMove="1" noResize="1" noEditPoints="1" noAdjustHandles="1" noChangeArrowheads="1" noChangeShapeType="1" noTextEdit="1"/>
              </p:cNvSpPr>
              <p:nvPr/>
            </p:nvSpPr>
            <p:spPr>
              <a:xfrm>
                <a:off x="6993584" y="685455"/>
                <a:ext cx="3553217" cy="369332"/>
              </a:xfrm>
              <a:prstGeom prst="rect">
                <a:avLst/>
              </a:prstGeom>
              <a:blipFill>
                <a:blip r:embed="rId15"/>
                <a:stretch>
                  <a:fillRect t="-8197" r="-686"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8CC5FC6-5517-F5EE-D748-0F9735025C3C}"/>
                  </a:ext>
                </a:extLst>
              </p:cNvPr>
              <p:cNvSpPr txBox="1"/>
              <p:nvPr/>
            </p:nvSpPr>
            <p:spPr>
              <a:xfrm>
                <a:off x="6998232" y="2487352"/>
                <a:ext cx="3974614"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𝜑</m:t>
                    </m:r>
                  </m:oMath>
                </a14:m>
                <a:r>
                  <a:rPr lang="en-US" dirty="0"/>
                  <a:t> fixes the angle around the white circle</a:t>
                </a:r>
              </a:p>
            </p:txBody>
          </p:sp>
        </mc:Choice>
        <mc:Fallback xmlns="">
          <p:sp>
            <p:nvSpPr>
              <p:cNvPr id="62" name="TextBox 61">
                <a:extLst>
                  <a:ext uri="{FF2B5EF4-FFF2-40B4-BE49-F238E27FC236}">
                    <a16:creationId xmlns:a16="http://schemas.microsoft.com/office/drawing/2014/main" id="{68CC5FC6-5517-F5EE-D748-0F9735025C3C}"/>
                  </a:ext>
                </a:extLst>
              </p:cNvPr>
              <p:cNvSpPr txBox="1">
                <a:spLocks noRot="1" noChangeAspect="1" noMove="1" noResize="1" noEditPoints="1" noAdjustHandles="1" noChangeArrowheads="1" noChangeShapeType="1" noTextEdit="1"/>
              </p:cNvSpPr>
              <p:nvPr/>
            </p:nvSpPr>
            <p:spPr>
              <a:xfrm>
                <a:off x="6998232" y="2487352"/>
                <a:ext cx="3974614" cy="369332"/>
              </a:xfrm>
              <a:prstGeom prst="rect">
                <a:avLst/>
              </a:prstGeom>
              <a:blipFill>
                <a:blip r:embed="rId16"/>
                <a:stretch>
                  <a:fillRect t="-8197" r="-460" b="-24590"/>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4C9AA9F3-50DF-163F-2291-C13A477AD86D}"/>
              </a:ext>
            </a:extLst>
          </p:cNvPr>
          <p:cNvSpPr txBox="1"/>
          <p:nvPr/>
        </p:nvSpPr>
        <p:spPr>
          <a:xfrm>
            <a:off x="2393724" y="5286305"/>
            <a:ext cx="6705169" cy="954107"/>
          </a:xfrm>
          <a:prstGeom prst="rect">
            <a:avLst/>
          </a:prstGeom>
          <a:noFill/>
        </p:spPr>
        <p:txBody>
          <a:bodyPr wrap="none" rtlCol="0">
            <a:spAutoFit/>
          </a:bodyPr>
          <a:lstStyle/>
          <a:p>
            <a:r>
              <a:rPr lang="en-US" sz="2800" dirty="0">
                <a:solidFill>
                  <a:srgbClr val="C00000"/>
                </a:solidFill>
              </a:rPr>
              <a:t>WARNING: this geometric picture only works</a:t>
            </a:r>
            <a:br>
              <a:rPr lang="en-US" sz="2800" dirty="0">
                <a:solidFill>
                  <a:srgbClr val="C00000"/>
                </a:solidFill>
              </a:rPr>
            </a:br>
            <a:r>
              <a:rPr lang="en-US" sz="2800" dirty="0">
                <a:solidFill>
                  <a:srgbClr val="C00000"/>
                </a:solidFill>
              </a:rPr>
              <a:t>for a superposition of orthogonal states</a:t>
            </a:r>
          </a:p>
        </p:txBody>
      </p:sp>
    </p:spTree>
    <p:extLst>
      <p:ext uri="{BB962C8B-B14F-4D97-AF65-F5344CB8AC3E}">
        <p14:creationId xmlns:p14="http://schemas.microsoft.com/office/powerpoint/2010/main" val="2366510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ADAB5-5745-F85F-0371-2131FF14F090}"/>
            </a:ext>
          </a:extLst>
        </p:cNvPr>
        <p:cNvGrpSpPr/>
        <p:nvPr/>
      </p:nvGrpSpPr>
      <p:grpSpPr>
        <a:xfrm>
          <a:off x="0" y="0"/>
          <a:ext cx="0" cy="0"/>
          <a:chOff x="0" y="0"/>
          <a:chExt cx="0" cy="0"/>
        </a:xfrm>
      </p:grpSpPr>
      <p:grpSp>
        <p:nvGrpSpPr>
          <p:cNvPr id="38" name="Group 37">
            <a:extLst>
              <a:ext uri="{FF2B5EF4-FFF2-40B4-BE49-F238E27FC236}">
                <a16:creationId xmlns:a16="http://schemas.microsoft.com/office/drawing/2014/main" id="{EB8A72A9-BAE3-D352-BFF7-5AC5D04C8711}"/>
              </a:ext>
            </a:extLst>
          </p:cNvPr>
          <p:cNvGrpSpPr/>
          <p:nvPr/>
        </p:nvGrpSpPr>
        <p:grpSpPr>
          <a:xfrm>
            <a:off x="1471083" y="968844"/>
            <a:ext cx="3578015" cy="3577707"/>
            <a:chOff x="2521889" y="2808131"/>
            <a:chExt cx="1916430" cy="1916266"/>
          </a:xfrm>
        </p:grpSpPr>
        <p:sp>
          <p:nvSpPr>
            <p:cNvPr id="48" name="Oval 47">
              <a:extLst>
                <a:ext uri="{FF2B5EF4-FFF2-40B4-BE49-F238E27FC236}">
                  <a16:creationId xmlns:a16="http://schemas.microsoft.com/office/drawing/2014/main" id="{A702BD98-8EF1-F135-2338-CC1986AC2545}"/>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Oval 31">
              <a:extLst>
                <a:ext uri="{FF2B5EF4-FFF2-40B4-BE49-F238E27FC236}">
                  <a16:creationId xmlns:a16="http://schemas.microsoft.com/office/drawing/2014/main" id="{DE20C00A-CA2D-AC7E-72B2-F831A45E43FD}"/>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89220634-F761-BC16-C1DB-C994046EE95D}"/>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51" name="Group 50">
              <a:extLst>
                <a:ext uri="{FF2B5EF4-FFF2-40B4-BE49-F238E27FC236}">
                  <a16:creationId xmlns:a16="http://schemas.microsoft.com/office/drawing/2014/main" id="{25CF1EFE-0FFB-E595-62E8-812D09C46CA0}"/>
                </a:ext>
              </a:extLst>
            </p:cNvPr>
            <p:cNvGrpSpPr/>
            <p:nvPr/>
          </p:nvGrpSpPr>
          <p:grpSpPr>
            <a:xfrm>
              <a:off x="2923755" y="2808131"/>
              <a:ext cx="1112528" cy="1916266"/>
              <a:chOff x="2734489" y="2655731"/>
              <a:chExt cx="1186260" cy="1916266"/>
            </a:xfrm>
          </p:grpSpPr>
          <p:sp>
            <p:nvSpPr>
              <p:cNvPr id="55" name="Oval 54">
                <a:extLst>
                  <a:ext uri="{FF2B5EF4-FFF2-40B4-BE49-F238E27FC236}">
                    <a16:creationId xmlns:a16="http://schemas.microsoft.com/office/drawing/2014/main" id="{ABF9F66F-05BB-1369-890A-105C569B86FE}"/>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56" name="Oval 9">
                <a:extLst>
                  <a:ext uri="{FF2B5EF4-FFF2-40B4-BE49-F238E27FC236}">
                    <a16:creationId xmlns:a16="http://schemas.microsoft.com/office/drawing/2014/main" id="{4542B220-9DD1-FBB0-46B3-84101C6FDBD3}"/>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52" name="Group 51">
              <a:extLst>
                <a:ext uri="{FF2B5EF4-FFF2-40B4-BE49-F238E27FC236}">
                  <a16:creationId xmlns:a16="http://schemas.microsoft.com/office/drawing/2014/main" id="{8840E6ED-4662-0709-47C4-E9F8766436A8}"/>
                </a:ext>
              </a:extLst>
            </p:cNvPr>
            <p:cNvGrpSpPr/>
            <p:nvPr/>
          </p:nvGrpSpPr>
          <p:grpSpPr>
            <a:xfrm rot="16200000">
              <a:off x="2923922" y="2810085"/>
              <a:ext cx="1112528" cy="1916266"/>
              <a:chOff x="2734489" y="2655731"/>
              <a:chExt cx="1186260" cy="1916266"/>
            </a:xfrm>
          </p:grpSpPr>
          <p:sp>
            <p:nvSpPr>
              <p:cNvPr id="53" name="Oval 52">
                <a:extLst>
                  <a:ext uri="{FF2B5EF4-FFF2-40B4-BE49-F238E27FC236}">
                    <a16:creationId xmlns:a16="http://schemas.microsoft.com/office/drawing/2014/main" id="{0BF43C01-E141-C625-C2FA-AC916BE34FE3}"/>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54" name="Oval 9">
                <a:extLst>
                  <a:ext uri="{FF2B5EF4-FFF2-40B4-BE49-F238E27FC236}">
                    <a16:creationId xmlns:a16="http://schemas.microsoft.com/office/drawing/2014/main" id="{EEDDC8C0-046C-AF97-B823-0262178DE09E}"/>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cxnSp>
        <p:nvCxnSpPr>
          <p:cNvPr id="44" name="Straight Arrow Connector 43">
            <a:extLst>
              <a:ext uri="{FF2B5EF4-FFF2-40B4-BE49-F238E27FC236}">
                <a16:creationId xmlns:a16="http://schemas.microsoft.com/office/drawing/2014/main" id="{8FD1E1D3-00EB-6373-770E-E896DF0A104E}"/>
              </a:ext>
            </a:extLst>
          </p:cNvPr>
          <p:cNvCxnSpPr>
            <a:cxnSpLocks/>
            <a:endCxn id="50" idx="5"/>
          </p:cNvCxnSpPr>
          <p:nvPr/>
        </p:nvCxnSpPr>
        <p:spPr>
          <a:xfrm>
            <a:off x="3259932" y="2757695"/>
            <a:ext cx="1264915" cy="126491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EC0BE6-21D4-F26B-34EB-00DCCC1C2B1B}"/>
                  </a:ext>
                </a:extLst>
              </p:cNvPr>
              <p:cNvSpPr txBox="1"/>
              <p:nvPr/>
            </p:nvSpPr>
            <p:spPr>
              <a:xfrm>
                <a:off x="4581156" y="3882392"/>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b="0" i="1" dirty="0" smtClean="0">
                          <a:latin typeface="Cambria Math" panose="02040503050406030204" pitchFamily="18" charset="0"/>
                        </a:rPr>
                        <m:t>𝜙</m:t>
                      </m:r>
                      <m:r>
                        <a:rPr lang="en-US" sz="2800" i="1" dirty="0">
                          <a:latin typeface="Cambria Math" panose="02040503050406030204" pitchFamily="18" charset="0"/>
                        </a:rPr>
                        <m:t>⟩</m:t>
                      </m:r>
                    </m:oMath>
                  </m:oMathPara>
                </a14:m>
                <a:endParaRPr lang="en-US" sz="2800" dirty="0"/>
              </a:p>
            </p:txBody>
          </p:sp>
        </mc:Choice>
        <mc:Fallback xmlns="">
          <p:sp>
            <p:nvSpPr>
              <p:cNvPr id="12" name="TextBox 11">
                <a:extLst>
                  <a:ext uri="{FF2B5EF4-FFF2-40B4-BE49-F238E27FC236}">
                    <a16:creationId xmlns:a16="http://schemas.microsoft.com/office/drawing/2014/main" id="{34EC0BE6-21D4-F26B-34EB-00DCCC1C2B1B}"/>
                  </a:ext>
                </a:extLst>
              </p:cNvPr>
              <p:cNvSpPr txBox="1">
                <a:spLocks noRot="1" noChangeAspect="1" noMove="1" noResize="1" noEditPoints="1" noAdjustHandles="1" noChangeArrowheads="1" noChangeShapeType="1" noTextEdit="1"/>
              </p:cNvSpPr>
              <p:nvPr/>
            </p:nvSpPr>
            <p:spPr>
              <a:xfrm>
                <a:off x="4581156" y="3882392"/>
                <a:ext cx="763029" cy="52322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5AA9643-1C81-7484-3375-AAEFBD52C51F}"/>
                  </a:ext>
                </a:extLst>
              </p:cNvPr>
              <p:cNvSpPr txBox="1"/>
              <p:nvPr/>
            </p:nvSpPr>
            <p:spPr>
              <a:xfrm>
                <a:off x="3938815" y="528354"/>
                <a:ext cx="76302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m:t>
                      </m:r>
                      <m:r>
                        <a:rPr lang="en-US" sz="2800" i="1" dirty="0">
                          <a:latin typeface="Cambria Math" panose="02040503050406030204" pitchFamily="18" charset="0"/>
                        </a:rPr>
                        <m:t>𝜓</m:t>
                      </m:r>
                      <m:r>
                        <a:rPr lang="en-US" sz="2800" i="1" dirty="0">
                          <a:latin typeface="Cambria Math" panose="02040503050406030204" pitchFamily="18" charset="0"/>
                        </a:rPr>
                        <m:t>⟩</m:t>
                      </m:r>
                    </m:oMath>
                  </m:oMathPara>
                </a14:m>
                <a:endParaRPr lang="en-US" sz="2800" dirty="0"/>
              </a:p>
            </p:txBody>
          </p:sp>
        </mc:Choice>
        <mc:Fallback xmlns="">
          <p:sp>
            <p:nvSpPr>
              <p:cNvPr id="15" name="TextBox 14">
                <a:extLst>
                  <a:ext uri="{FF2B5EF4-FFF2-40B4-BE49-F238E27FC236}">
                    <a16:creationId xmlns:a16="http://schemas.microsoft.com/office/drawing/2014/main" id="{45AA9643-1C81-7484-3375-AAEFBD52C51F}"/>
                  </a:ext>
                </a:extLst>
              </p:cNvPr>
              <p:cNvSpPr txBox="1">
                <a:spLocks noRot="1" noChangeAspect="1" noMove="1" noResize="1" noEditPoints="1" noAdjustHandles="1" noChangeArrowheads="1" noChangeShapeType="1" noTextEdit="1"/>
              </p:cNvSpPr>
              <p:nvPr/>
            </p:nvSpPr>
            <p:spPr>
              <a:xfrm>
                <a:off x="3938815" y="528354"/>
                <a:ext cx="763029"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1513DD4-CCF9-5F9B-4391-7F03C341E72B}"/>
                  </a:ext>
                </a:extLst>
              </p:cNvPr>
              <p:cNvSpPr txBox="1"/>
              <p:nvPr/>
            </p:nvSpPr>
            <p:spPr>
              <a:xfrm>
                <a:off x="6419348" y="1567440"/>
                <a:ext cx="4515147" cy="9026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US" sz="2800" b="0" i="1" dirty="0" smtClean="0">
                              <a:latin typeface="Cambria Math" panose="02040503050406030204" pitchFamily="18" charset="0"/>
                            </a:rPr>
                          </m:ctrlPr>
                        </m:funcPr>
                        <m:fName>
                          <m:r>
                            <m:rPr>
                              <m:sty m:val="p"/>
                            </m:rPr>
                            <a:rPr lang="en-US" sz="2800" b="0" i="0" dirty="0" smtClean="0">
                              <a:latin typeface="Cambria Math" panose="02040503050406030204" pitchFamily="18" charset="0"/>
                            </a:rPr>
                            <m:t>cos</m:t>
                          </m:r>
                        </m:fName>
                        <m:e>
                          <m:f>
                            <m:fPr>
                              <m:ctrlPr>
                                <a:rPr lang="en-US" sz="2800" b="0" i="1" dirty="0" smtClean="0">
                                  <a:latin typeface="Cambria Math" panose="02040503050406030204" pitchFamily="18" charset="0"/>
                                </a:rPr>
                              </m:ctrlPr>
                            </m:fPr>
                            <m:num>
                              <m:r>
                                <a:rPr lang="en-US" sz="2800" b="0" i="1" dirty="0" smtClean="0">
                                  <a:latin typeface="Cambria Math" panose="02040503050406030204" pitchFamily="18" charset="0"/>
                                </a:rPr>
                                <m:t>𝜃</m:t>
                              </m:r>
                            </m:num>
                            <m:den>
                              <m:r>
                                <a:rPr lang="en-US" sz="2800" b="0" i="1" dirty="0" smtClean="0">
                                  <a:latin typeface="Cambria Math" panose="02040503050406030204" pitchFamily="18" charset="0"/>
                                </a:rPr>
                                <m:t>2</m:t>
                              </m:r>
                            </m:den>
                          </m:f>
                        </m:e>
                      </m:func>
                      <m:sSup>
                        <m:sSupPr>
                          <m:ctrlPr>
                            <a:rPr lang="en-US" sz="2800" b="0" i="1" dirty="0" smtClean="0">
                              <a:latin typeface="Cambria Math" panose="02040503050406030204" pitchFamily="18" charset="0"/>
                            </a:rPr>
                          </m:ctrlPr>
                        </m:sSupPr>
                        <m:e>
                          <m:r>
                            <a:rPr lang="en-US" sz="2800" b="0" i="1" dirty="0" smtClean="0">
                              <a:latin typeface="Cambria Math" panose="02040503050406030204" pitchFamily="18" charset="0"/>
                            </a:rPr>
                            <m:t>𝑒</m:t>
                          </m:r>
                        </m:e>
                        <m:sup>
                          <m:r>
                            <a:rPr lang="en-US" sz="2800" i="1" dirty="0">
                              <a:latin typeface="Cambria Math" panose="02040503050406030204" pitchFamily="18" charset="0"/>
                            </a:rPr>
                            <m:t>−</m:t>
                          </m:r>
                          <m:r>
                            <a:rPr lang="en-US" sz="2800" i="1" dirty="0">
                              <a:latin typeface="Cambria Math" panose="02040503050406030204" pitchFamily="18" charset="0"/>
                            </a:rPr>
                            <m:t>𝚤</m:t>
                          </m:r>
                          <m:f>
                            <m:fPr>
                              <m:ctrlPr>
                                <a:rPr lang="en-US" sz="2800" b="0" i="1" dirty="0" smtClean="0">
                                  <a:latin typeface="Cambria Math" panose="02040503050406030204" pitchFamily="18" charset="0"/>
                                </a:rPr>
                              </m:ctrlPr>
                            </m:fPr>
                            <m:num>
                              <m:r>
                                <a:rPr lang="en-US" sz="2800" b="0" i="1" dirty="0" smtClean="0">
                                  <a:latin typeface="Cambria Math" panose="02040503050406030204" pitchFamily="18" charset="0"/>
                                </a:rPr>
                                <m:t>𝜑</m:t>
                              </m:r>
                            </m:num>
                            <m:den>
                              <m:r>
                                <a:rPr lang="en-US" sz="2800" b="0" i="1" dirty="0" smtClean="0">
                                  <a:latin typeface="Cambria Math" panose="02040503050406030204" pitchFamily="18" charset="0"/>
                                </a:rPr>
                                <m:t>2</m:t>
                              </m:r>
                            </m:den>
                          </m:f>
                        </m:sup>
                      </m:sSup>
                      <m:d>
                        <m:dPr>
                          <m:begChr m:val="|"/>
                          <m:endChr m:val="⟩"/>
                          <m:ctrlPr>
                            <a:rPr lang="en-US" sz="2800" i="1" dirty="0">
                              <a:latin typeface="Cambria Math" panose="02040503050406030204" pitchFamily="18" charset="0"/>
                            </a:rPr>
                          </m:ctrlPr>
                        </m:dPr>
                        <m:e>
                          <m:r>
                            <a:rPr lang="en-US" sz="2800" b="0" i="1" dirty="0" smtClean="0">
                              <a:latin typeface="Cambria Math" panose="02040503050406030204" pitchFamily="18" charset="0"/>
                            </a:rPr>
                            <m:t>𝜓</m:t>
                          </m:r>
                        </m:e>
                      </m:d>
                      <m:r>
                        <a:rPr lang="en-US" sz="2800" b="0" i="1" dirty="0" smtClean="0">
                          <a:latin typeface="Cambria Math" panose="02040503050406030204" pitchFamily="18" charset="0"/>
                        </a:rPr>
                        <m:t>+</m:t>
                      </m:r>
                      <m:func>
                        <m:funcPr>
                          <m:ctrlPr>
                            <a:rPr lang="en-US" sz="2800" b="0" i="1" dirty="0" smtClean="0">
                              <a:latin typeface="Cambria Math" panose="02040503050406030204" pitchFamily="18" charset="0"/>
                            </a:rPr>
                          </m:ctrlPr>
                        </m:funcPr>
                        <m:fName>
                          <m:r>
                            <m:rPr>
                              <m:sty m:val="p"/>
                            </m:rPr>
                            <a:rPr lang="en-US" sz="2800" b="0" i="0" dirty="0" smtClean="0">
                              <a:latin typeface="Cambria Math" panose="02040503050406030204" pitchFamily="18" charset="0"/>
                            </a:rPr>
                            <m:t>sin</m:t>
                          </m:r>
                        </m:fName>
                        <m:e>
                          <m:f>
                            <m:fPr>
                              <m:ctrlPr>
                                <a:rPr lang="en-US" sz="2800" b="0" i="1" dirty="0" smtClean="0">
                                  <a:latin typeface="Cambria Math" panose="02040503050406030204" pitchFamily="18" charset="0"/>
                                </a:rPr>
                              </m:ctrlPr>
                            </m:fPr>
                            <m:num>
                              <m:r>
                                <a:rPr lang="en-US" sz="2800" b="0" i="1" dirty="0" smtClean="0">
                                  <a:latin typeface="Cambria Math" panose="02040503050406030204" pitchFamily="18" charset="0"/>
                                </a:rPr>
                                <m:t>𝜃</m:t>
                              </m:r>
                            </m:num>
                            <m:den>
                              <m:r>
                                <a:rPr lang="en-US" sz="2800" b="0" i="1" dirty="0" smtClean="0">
                                  <a:latin typeface="Cambria Math" panose="02040503050406030204" pitchFamily="18" charset="0"/>
                                </a:rPr>
                                <m:t>2</m:t>
                              </m:r>
                            </m:den>
                          </m:f>
                        </m:e>
                      </m:func>
                      <m:sSup>
                        <m:sSupPr>
                          <m:ctrlPr>
                            <a:rPr lang="en-US" sz="2800" i="1" dirty="0">
                              <a:latin typeface="Cambria Math" panose="02040503050406030204" pitchFamily="18" charset="0"/>
                            </a:rPr>
                          </m:ctrlPr>
                        </m:sSupPr>
                        <m:e>
                          <m:r>
                            <a:rPr lang="en-US" sz="2800" i="1" dirty="0">
                              <a:latin typeface="Cambria Math" panose="02040503050406030204" pitchFamily="18" charset="0"/>
                            </a:rPr>
                            <m:t>𝑒</m:t>
                          </m:r>
                        </m:e>
                        <m:sup>
                          <m:r>
                            <a:rPr lang="en-US" sz="2800" i="1" dirty="0">
                              <a:latin typeface="Cambria Math" panose="02040503050406030204" pitchFamily="18" charset="0"/>
                            </a:rPr>
                            <m:t>𝚤</m:t>
                          </m:r>
                          <m:f>
                            <m:fPr>
                              <m:ctrlPr>
                                <a:rPr lang="en-US" sz="2800" i="1" dirty="0">
                                  <a:latin typeface="Cambria Math" panose="02040503050406030204" pitchFamily="18" charset="0"/>
                                </a:rPr>
                              </m:ctrlPr>
                            </m:fPr>
                            <m:num>
                              <m:r>
                                <a:rPr lang="en-US" sz="2800" i="1" dirty="0">
                                  <a:latin typeface="Cambria Math" panose="02040503050406030204" pitchFamily="18" charset="0"/>
                                </a:rPr>
                                <m:t>𝜑</m:t>
                              </m:r>
                            </m:num>
                            <m:den>
                              <m:r>
                                <a:rPr lang="en-US" sz="2800" i="1" dirty="0">
                                  <a:latin typeface="Cambria Math" panose="02040503050406030204" pitchFamily="18" charset="0"/>
                                </a:rPr>
                                <m:t>2</m:t>
                              </m:r>
                            </m:den>
                          </m:f>
                        </m:sup>
                      </m:sSup>
                      <m:d>
                        <m:dPr>
                          <m:begChr m:val="|"/>
                          <m:endChr m:val="⟩"/>
                          <m:ctrlPr>
                            <a:rPr lang="en-US" sz="2800" i="1" dirty="0">
                              <a:latin typeface="Cambria Math" panose="02040503050406030204" pitchFamily="18" charset="0"/>
                            </a:rPr>
                          </m:ctrlPr>
                        </m:dPr>
                        <m:e>
                          <m:r>
                            <a:rPr lang="en-US" sz="2800" b="0" i="1" dirty="0" smtClean="0">
                              <a:latin typeface="Cambria Math" panose="02040503050406030204" pitchFamily="18" charset="0"/>
                            </a:rPr>
                            <m:t>𝜙</m:t>
                          </m:r>
                        </m:e>
                      </m:d>
                    </m:oMath>
                  </m:oMathPara>
                </a14:m>
                <a:endParaRPr lang="en-US" sz="2800" dirty="0"/>
              </a:p>
            </p:txBody>
          </p:sp>
        </mc:Choice>
        <mc:Fallback xmlns="">
          <p:sp>
            <p:nvSpPr>
              <p:cNvPr id="57" name="TextBox 56">
                <a:extLst>
                  <a:ext uri="{FF2B5EF4-FFF2-40B4-BE49-F238E27FC236}">
                    <a16:creationId xmlns:a16="http://schemas.microsoft.com/office/drawing/2014/main" id="{E1513DD4-CCF9-5F9B-4391-7F03C341E72B}"/>
                  </a:ext>
                </a:extLst>
              </p:cNvPr>
              <p:cNvSpPr txBox="1">
                <a:spLocks noRot="1" noChangeAspect="1" noMove="1" noResize="1" noEditPoints="1" noAdjustHandles="1" noChangeArrowheads="1" noChangeShapeType="1" noTextEdit="1"/>
              </p:cNvSpPr>
              <p:nvPr/>
            </p:nvSpPr>
            <p:spPr>
              <a:xfrm>
                <a:off x="6419348" y="1567440"/>
                <a:ext cx="4515147" cy="902683"/>
              </a:xfrm>
              <a:prstGeom prst="rect">
                <a:avLst/>
              </a:prstGeom>
              <a:blipFill>
                <a:blip r:embed="rId4"/>
                <a:stretch>
                  <a:fillRect/>
                </a:stretch>
              </a:blipFill>
            </p:spPr>
            <p:txBody>
              <a:bodyPr/>
              <a:lstStyle/>
              <a:p>
                <a:r>
                  <a:rPr lang="en-US">
                    <a:noFill/>
                  </a:rPr>
                  <a:t> </a:t>
                </a:r>
              </a:p>
            </p:txBody>
          </p:sp>
        </mc:Fallback>
      </mc:AlternateContent>
      <p:grpSp>
        <p:nvGrpSpPr>
          <p:cNvPr id="60" name="Group 59">
            <a:extLst>
              <a:ext uri="{FF2B5EF4-FFF2-40B4-BE49-F238E27FC236}">
                <a16:creationId xmlns:a16="http://schemas.microsoft.com/office/drawing/2014/main" id="{67A302BA-D291-D7F1-5F8B-9CBA04035823}"/>
              </a:ext>
            </a:extLst>
          </p:cNvPr>
          <p:cNvGrpSpPr/>
          <p:nvPr/>
        </p:nvGrpSpPr>
        <p:grpSpPr>
          <a:xfrm rot="20845933">
            <a:off x="1433380" y="1842780"/>
            <a:ext cx="3557720" cy="1535656"/>
            <a:chOff x="5011224" y="2798876"/>
            <a:chExt cx="3577709" cy="2077112"/>
          </a:xfrm>
        </p:grpSpPr>
        <p:sp>
          <p:nvSpPr>
            <p:cNvPr id="58" name="Oval 57">
              <a:extLst>
                <a:ext uri="{FF2B5EF4-FFF2-40B4-BE49-F238E27FC236}">
                  <a16:creationId xmlns:a16="http://schemas.microsoft.com/office/drawing/2014/main" id="{83554679-FC95-EB9E-D516-CA7C42307192}"/>
                </a:ext>
              </a:extLst>
            </p:cNvPr>
            <p:cNvSpPr/>
            <p:nvPr/>
          </p:nvSpPr>
          <p:spPr>
            <a:xfrm rot="16200000">
              <a:off x="5761522" y="2048578"/>
              <a:ext cx="2077110" cy="3577705"/>
            </a:xfrm>
            <a:prstGeom prst="ellipse">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59" name="Oval 9">
              <a:extLst>
                <a:ext uri="{FF2B5EF4-FFF2-40B4-BE49-F238E27FC236}">
                  <a16:creationId xmlns:a16="http://schemas.microsoft.com/office/drawing/2014/main" id="{2B7F1F8D-A86B-E9B4-C7E5-C992B60496FC}"/>
                </a:ext>
              </a:extLst>
            </p:cNvPr>
            <p:cNvSpPr/>
            <p:nvPr/>
          </p:nvSpPr>
          <p:spPr>
            <a:xfrm rot="16200000" flipH="1">
              <a:off x="6280801" y="2567855"/>
              <a:ext cx="1038556" cy="3577709"/>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F1BB561F-8EEC-33EF-C3F3-54589A0833B8}"/>
                  </a:ext>
                </a:extLst>
              </p:cNvPr>
              <p:cNvSpPr txBox="1"/>
              <p:nvPr/>
            </p:nvSpPr>
            <p:spPr>
              <a:xfrm>
                <a:off x="6993582" y="1049092"/>
                <a:ext cx="2292166"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𝜃</m:t>
                    </m:r>
                  </m:oMath>
                </a14:m>
                <a:r>
                  <a:rPr lang="en-US" dirty="0"/>
                  <a:t> fixes the white circle</a:t>
                </a:r>
              </a:p>
            </p:txBody>
          </p:sp>
        </mc:Choice>
        <mc:Fallback xmlns="">
          <p:sp>
            <p:nvSpPr>
              <p:cNvPr id="61" name="TextBox 60">
                <a:extLst>
                  <a:ext uri="{FF2B5EF4-FFF2-40B4-BE49-F238E27FC236}">
                    <a16:creationId xmlns:a16="http://schemas.microsoft.com/office/drawing/2014/main" id="{F1BB561F-8EEC-33EF-C3F3-54589A0833B8}"/>
                  </a:ext>
                </a:extLst>
              </p:cNvPr>
              <p:cNvSpPr txBox="1">
                <a:spLocks noRot="1" noChangeAspect="1" noMove="1" noResize="1" noEditPoints="1" noAdjustHandles="1" noChangeArrowheads="1" noChangeShapeType="1" noTextEdit="1"/>
              </p:cNvSpPr>
              <p:nvPr/>
            </p:nvSpPr>
            <p:spPr>
              <a:xfrm>
                <a:off x="6993582" y="1049092"/>
                <a:ext cx="2292166" cy="369332"/>
              </a:xfrm>
              <a:prstGeom prst="rect">
                <a:avLst/>
              </a:prstGeom>
              <a:blipFill>
                <a:blip r:embed="rId5"/>
                <a:stretch>
                  <a:fillRect t="-8197" r="-1596"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302BE24E-6017-A509-21B2-F86C028FF99C}"/>
                  </a:ext>
                </a:extLst>
              </p:cNvPr>
              <p:cNvSpPr txBox="1"/>
              <p:nvPr/>
            </p:nvSpPr>
            <p:spPr>
              <a:xfrm>
                <a:off x="6998232" y="2600863"/>
                <a:ext cx="3970767"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𝜑</m:t>
                    </m:r>
                  </m:oMath>
                </a14:m>
                <a:r>
                  <a:rPr lang="en-US" dirty="0"/>
                  <a:t> fixes the angle around the white circle</a:t>
                </a:r>
              </a:p>
            </p:txBody>
          </p:sp>
        </mc:Choice>
        <mc:Fallback xmlns="">
          <p:sp>
            <p:nvSpPr>
              <p:cNvPr id="62" name="TextBox 61">
                <a:extLst>
                  <a:ext uri="{FF2B5EF4-FFF2-40B4-BE49-F238E27FC236}">
                    <a16:creationId xmlns:a16="http://schemas.microsoft.com/office/drawing/2014/main" id="{302BE24E-6017-A509-21B2-F86C028FF99C}"/>
                  </a:ext>
                </a:extLst>
              </p:cNvPr>
              <p:cNvSpPr txBox="1">
                <a:spLocks noRot="1" noChangeAspect="1" noMove="1" noResize="1" noEditPoints="1" noAdjustHandles="1" noChangeArrowheads="1" noChangeShapeType="1" noTextEdit="1"/>
              </p:cNvSpPr>
              <p:nvPr/>
            </p:nvSpPr>
            <p:spPr>
              <a:xfrm>
                <a:off x="6998232" y="2600863"/>
                <a:ext cx="3970767" cy="369332"/>
              </a:xfrm>
              <a:prstGeom prst="rect">
                <a:avLst/>
              </a:prstGeom>
              <a:blipFill>
                <a:blip r:embed="rId6"/>
                <a:stretch>
                  <a:fillRect t="-10000" r="-614" b="-26667"/>
                </a:stretch>
              </a:blipFill>
            </p:spPr>
            <p:txBody>
              <a:bodyPr/>
              <a:lstStyle/>
              <a:p>
                <a:r>
                  <a:rPr lang="en-US">
                    <a:noFill/>
                  </a:rPr>
                  <a:t> </a:t>
                </a:r>
              </a:p>
            </p:txBody>
          </p:sp>
        </mc:Fallback>
      </mc:AlternateContent>
      <p:cxnSp>
        <p:nvCxnSpPr>
          <p:cNvPr id="66" name="Straight Arrow Connector 65">
            <a:extLst>
              <a:ext uri="{FF2B5EF4-FFF2-40B4-BE49-F238E27FC236}">
                <a16:creationId xmlns:a16="http://schemas.microsoft.com/office/drawing/2014/main" id="{32E443CF-00AA-4D84-8EEF-9765D5B8D691}"/>
              </a:ext>
            </a:extLst>
          </p:cNvPr>
          <p:cNvCxnSpPr>
            <a:cxnSpLocks/>
          </p:cNvCxnSpPr>
          <p:nvPr/>
        </p:nvCxnSpPr>
        <p:spPr>
          <a:xfrm flipV="1">
            <a:off x="3259932" y="1202685"/>
            <a:ext cx="848620" cy="155501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D524CA06-874B-5A78-793D-5FEA23657663}"/>
              </a:ext>
            </a:extLst>
          </p:cNvPr>
          <p:cNvGrpSpPr/>
          <p:nvPr/>
        </p:nvGrpSpPr>
        <p:grpSpPr>
          <a:xfrm rot="450444">
            <a:off x="1922449" y="1273540"/>
            <a:ext cx="2932249" cy="1076971"/>
            <a:chOff x="5011224" y="2798876"/>
            <a:chExt cx="3577709" cy="2077112"/>
          </a:xfrm>
        </p:grpSpPr>
        <p:sp>
          <p:nvSpPr>
            <p:cNvPr id="69" name="Oval 68">
              <a:extLst>
                <a:ext uri="{FF2B5EF4-FFF2-40B4-BE49-F238E27FC236}">
                  <a16:creationId xmlns:a16="http://schemas.microsoft.com/office/drawing/2014/main" id="{286CDA5A-57D6-3D06-1ED1-FFBB25633494}"/>
                </a:ext>
              </a:extLst>
            </p:cNvPr>
            <p:cNvSpPr/>
            <p:nvPr/>
          </p:nvSpPr>
          <p:spPr>
            <a:xfrm rot="16200000">
              <a:off x="5761522" y="2048578"/>
              <a:ext cx="2077110" cy="3577705"/>
            </a:xfrm>
            <a:prstGeom prst="ellipse">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70" name="Oval 9">
              <a:extLst>
                <a:ext uri="{FF2B5EF4-FFF2-40B4-BE49-F238E27FC236}">
                  <a16:creationId xmlns:a16="http://schemas.microsoft.com/office/drawing/2014/main" id="{933F71E8-96EF-55C7-B7B6-12556DE39760}"/>
                </a:ext>
              </a:extLst>
            </p:cNvPr>
            <p:cNvSpPr/>
            <p:nvPr/>
          </p:nvSpPr>
          <p:spPr>
            <a:xfrm rot="16200000" flipH="1">
              <a:off x="6280801" y="2567855"/>
              <a:ext cx="1038556" cy="3577709"/>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71" name="Group 70">
            <a:extLst>
              <a:ext uri="{FF2B5EF4-FFF2-40B4-BE49-F238E27FC236}">
                <a16:creationId xmlns:a16="http://schemas.microsoft.com/office/drawing/2014/main" id="{7DE2D00A-723E-0607-AE4B-6A598A590A72}"/>
              </a:ext>
            </a:extLst>
          </p:cNvPr>
          <p:cNvGrpSpPr/>
          <p:nvPr/>
        </p:nvGrpSpPr>
        <p:grpSpPr>
          <a:xfrm rot="20203583">
            <a:off x="2185227" y="3107957"/>
            <a:ext cx="2932249" cy="1076971"/>
            <a:chOff x="5011224" y="2798876"/>
            <a:chExt cx="3577709" cy="2077112"/>
          </a:xfrm>
        </p:grpSpPr>
        <p:sp>
          <p:nvSpPr>
            <p:cNvPr id="72" name="Oval 71">
              <a:extLst>
                <a:ext uri="{FF2B5EF4-FFF2-40B4-BE49-F238E27FC236}">
                  <a16:creationId xmlns:a16="http://schemas.microsoft.com/office/drawing/2014/main" id="{4B109E9D-3273-0CEF-A0B1-2A687BDDF4BC}"/>
                </a:ext>
              </a:extLst>
            </p:cNvPr>
            <p:cNvSpPr/>
            <p:nvPr/>
          </p:nvSpPr>
          <p:spPr>
            <a:xfrm rot="16200000">
              <a:off x="5761522" y="2048578"/>
              <a:ext cx="2077110" cy="3577705"/>
            </a:xfrm>
            <a:prstGeom prst="ellipse">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73" name="Oval 9">
              <a:extLst>
                <a:ext uri="{FF2B5EF4-FFF2-40B4-BE49-F238E27FC236}">
                  <a16:creationId xmlns:a16="http://schemas.microsoft.com/office/drawing/2014/main" id="{FEFCED4F-4F9A-1DE7-C49A-1BAAEEC24238}"/>
                </a:ext>
              </a:extLst>
            </p:cNvPr>
            <p:cNvSpPr/>
            <p:nvPr/>
          </p:nvSpPr>
          <p:spPr>
            <a:xfrm rot="16200000" flipH="1">
              <a:off x="6280801" y="2567855"/>
              <a:ext cx="1038556" cy="3577709"/>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sp>
        <p:nvSpPr>
          <p:cNvPr id="74" name="TextBox 73">
            <a:extLst>
              <a:ext uri="{FF2B5EF4-FFF2-40B4-BE49-F238E27FC236}">
                <a16:creationId xmlns:a16="http://schemas.microsoft.com/office/drawing/2014/main" id="{1CB3594F-011E-5FA2-DBA0-F22E0C78160E}"/>
              </a:ext>
            </a:extLst>
          </p:cNvPr>
          <p:cNvSpPr txBox="1"/>
          <p:nvPr/>
        </p:nvSpPr>
        <p:spPr>
          <a:xfrm>
            <a:off x="6431377" y="328576"/>
            <a:ext cx="3416576" cy="523220"/>
          </a:xfrm>
          <a:prstGeom prst="rect">
            <a:avLst/>
          </a:prstGeom>
          <a:noFill/>
        </p:spPr>
        <p:txBody>
          <a:bodyPr wrap="none" rtlCol="0">
            <a:spAutoFit/>
          </a:bodyPr>
          <a:lstStyle/>
          <a:p>
            <a:r>
              <a:rPr lang="en-US" sz="2800" dirty="0">
                <a:solidFill>
                  <a:srgbClr val="C00000"/>
                </a:solidFill>
              </a:rPr>
              <a:t>Circles are not parallel</a:t>
            </a:r>
          </a:p>
        </p:txBody>
      </p:sp>
      <p:sp>
        <p:nvSpPr>
          <p:cNvPr id="75" name="TextBox 74">
            <a:extLst>
              <a:ext uri="{FF2B5EF4-FFF2-40B4-BE49-F238E27FC236}">
                <a16:creationId xmlns:a16="http://schemas.microsoft.com/office/drawing/2014/main" id="{FE7AAA35-2040-B880-C438-8EA29011AB9F}"/>
              </a:ext>
            </a:extLst>
          </p:cNvPr>
          <p:cNvSpPr txBox="1"/>
          <p:nvPr/>
        </p:nvSpPr>
        <p:spPr>
          <a:xfrm>
            <a:off x="5826697" y="3122436"/>
            <a:ext cx="3723455" cy="523220"/>
          </a:xfrm>
          <a:prstGeom prst="rect">
            <a:avLst/>
          </a:prstGeom>
          <a:noFill/>
        </p:spPr>
        <p:txBody>
          <a:bodyPr wrap="none" rtlCol="0">
            <a:spAutoFit/>
          </a:bodyPr>
          <a:lstStyle/>
          <a:p>
            <a:r>
              <a:rPr lang="en-US" sz="2800" dirty="0">
                <a:solidFill>
                  <a:srgbClr val="C00000"/>
                </a:solidFill>
              </a:rPr>
              <a:t>Vector is not normalized</a:t>
            </a:r>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2B57D8A3-E395-29CE-4068-9406BD0CF50B}"/>
                  </a:ext>
                </a:extLst>
              </p:cNvPr>
              <p:cNvSpPr txBox="1"/>
              <p:nvPr/>
            </p:nvSpPr>
            <p:spPr>
              <a:xfrm>
                <a:off x="6531097" y="3719456"/>
                <a:ext cx="2935419" cy="542071"/>
              </a:xfrm>
              <a:prstGeom prst="rect">
                <a:avLst/>
              </a:prstGeom>
              <a:noFill/>
            </p:spPr>
            <p:txBody>
              <a:bodyPr wrap="none" rtlCol="0">
                <a:spAutoFit/>
              </a:bodyPr>
              <a:lstStyle/>
              <a:p>
                <a14:m>
                  <m:oMath xmlns:m="http://schemas.openxmlformats.org/officeDocument/2006/math">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cos</m:t>
                            </m:r>
                          </m:e>
                          <m:sup>
                            <m:r>
                              <a:rPr lang="en-US" sz="2000" b="0" i="1" smtClean="0">
                                <a:solidFill>
                                  <a:srgbClr val="C00000"/>
                                </a:solidFill>
                                <a:latin typeface="Cambria Math" panose="02040503050406030204" pitchFamily="18" charset="0"/>
                              </a:rPr>
                              <m:t>2</m:t>
                            </m:r>
                          </m:sup>
                        </m:sSup>
                      </m:fName>
                      <m:e>
                        <m:f>
                          <m:fPr>
                            <m:ctrlPr>
                              <a:rPr lang="en-US" sz="2000" b="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rPr>
                              <m:t>𝜃</m:t>
                            </m:r>
                          </m:num>
                          <m:den>
                            <m:r>
                              <a:rPr lang="en-US" sz="2000" b="0" i="1" smtClean="0">
                                <a:solidFill>
                                  <a:srgbClr val="C00000"/>
                                </a:solidFill>
                                <a:latin typeface="Cambria Math" panose="02040503050406030204" pitchFamily="18" charset="0"/>
                              </a:rPr>
                              <m:t>2</m:t>
                            </m:r>
                          </m:den>
                        </m:f>
                      </m:e>
                    </m:func>
                  </m:oMath>
                </a14:m>
                <a:r>
                  <a:rPr lang="en-US" sz="2000" dirty="0">
                    <a:solidFill>
                      <a:srgbClr val="C00000"/>
                    </a:solidFill>
                  </a:rPr>
                  <a:t> is NOT a probability</a:t>
                </a:r>
              </a:p>
            </p:txBody>
          </p:sp>
        </mc:Choice>
        <mc:Fallback xmlns="">
          <p:sp>
            <p:nvSpPr>
              <p:cNvPr id="76" name="TextBox 75">
                <a:extLst>
                  <a:ext uri="{FF2B5EF4-FFF2-40B4-BE49-F238E27FC236}">
                    <a16:creationId xmlns:a16="http://schemas.microsoft.com/office/drawing/2014/main" id="{2B57D8A3-E395-29CE-4068-9406BD0CF50B}"/>
                  </a:ext>
                </a:extLst>
              </p:cNvPr>
              <p:cNvSpPr txBox="1">
                <a:spLocks noRot="1" noChangeAspect="1" noMove="1" noResize="1" noEditPoints="1" noAdjustHandles="1" noChangeArrowheads="1" noChangeShapeType="1" noTextEdit="1"/>
              </p:cNvSpPr>
              <p:nvPr/>
            </p:nvSpPr>
            <p:spPr>
              <a:xfrm>
                <a:off x="6531097" y="3719456"/>
                <a:ext cx="2935419" cy="542071"/>
              </a:xfrm>
              <a:prstGeom prst="rect">
                <a:avLst/>
              </a:prstGeom>
              <a:blipFill>
                <a:blip r:embed="rId7"/>
                <a:stretch>
                  <a:fillRect r="-1452" b="-7865"/>
                </a:stretch>
              </a:blipFill>
            </p:spPr>
            <p:txBody>
              <a:bodyPr/>
              <a:lstStyle/>
              <a:p>
                <a:r>
                  <a:rPr lang="en-US">
                    <a:noFill/>
                  </a:rPr>
                  <a:t> </a:t>
                </a:r>
              </a:p>
            </p:txBody>
          </p:sp>
        </mc:Fallback>
      </mc:AlternateContent>
      <p:cxnSp>
        <p:nvCxnSpPr>
          <p:cNvPr id="78" name="Straight Arrow Connector 77">
            <a:extLst>
              <a:ext uri="{FF2B5EF4-FFF2-40B4-BE49-F238E27FC236}">
                <a16:creationId xmlns:a16="http://schemas.microsoft.com/office/drawing/2014/main" id="{BBC35503-0704-ED01-BAAE-0B23FFB704ED}"/>
              </a:ext>
            </a:extLst>
          </p:cNvPr>
          <p:cNvCxnSpPr>
            <a:cxnSpLocks/>
          </p:cNvCxnSpPr>
          <p:nvPr/>
        </p:nvCxnSpPr>
        <p:spPr>
          <a:xfrm flipH="1">
            <a:off x="4962670" y="794983"/>
            <a:ext cx="1389913" cy="9278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34AADE89-613F-A79D-E60C-1672351B7731}"/>
              </a:ext>
            </a:extLst>
          </p:cNvPr>
          <p:cNvCxnSpPr/>
          <p:nvPr/>
        </p:nvCxnSpPr>
        <p:spPr>
          <a:xfrm flipV="1">
            <a:off x="6608905" y="2345909"/>
            <a:ext cx="302698" cy="7212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9678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9229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4205769-865A-0854-46F8-C0A89A711789}"/>
              </a:ext>
            </a:extLst>
          </p:cNvPr>
          <p:cNvGrpSpPr/>
          <p:nvPr/>
        </p:nvGrpSpPr>
        <p:grpSpPr>
          <a:xfrm>
            <a:off x="806546" y="200558"/>
            <a:ext cx="5870438" cy="5037077"/>
            <a:chOff x="6051485" y="3754872"/>
            <a:chExt cx="3131475" cy="2686935"/>
          </a:xfrm>
        </p:grpSpPr>
        <p:grpSp>
          <p:nvGrpSpPr>
            <p:cNvPr id="3" name="Group 2">
              <a:extLst>
                <a:ext uri="{FF2B5EF4-FFF2-40B4-BE49-F238E27FC236}">
                  <a16:creationId xmlns:a16="http://schemas.microsoft.com/office/drawing/2014/main" id="{8D10FB8E-A182-9EBF-568A-BC78972A3C85}"/>
                </a:ext>
              </a:extLst>
            </p:cNvPr>
            <p:cNvGrpSpPr/>
            <p:nvPr/>
          </p:nvGrpSpPr>
          <p:grpSpPr>
            <a:xfrm>
              <a:off x="6689695" y="4154166"/>
              <a:ext cx="1916430" cy="1916266"/>
              <a:chOff x="2521889" y="2808131"/>
              <a:chExt cx="1916430" cy="1916266"/>
            </a:xfrm>
          </p:grpSpPr>
          <p:sp>
            <p:nvSpPr>
              <p:cNvPr id="11" name="Oval 10">
                <a:extLst>
                  <a:ext uri="{FF2B5EF4-FFF2-40B4-BE49-F238E27FC236}">
                    <a16:creationId xmlns:a16="http://schemas.microsoft.com/office/drawing/2014/main" id="{67954CC3-B1A8-8425-B3B8-122353B38415}"/>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600"/>
              </a:p>
            </p:txBody>
          </p:sp>
          <p:sp>
            <p:nvSpPr>
              <p:cNvPr id="12" name="Oval 31">
                <a:extLst>
                  <a:ext uri="{FF2B5EF4-FFF2-40B4-BE49-F238E27FC236}">
                    <a16:creationId xmlns:a16="http://schemas.microsoft.com/office/drawing/2014/main" id="{AB8157AE-C66C-BAD8-206F-D4F743905D02}"/>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13" name="Oval 12">
                <a:extLst>
                  <a:ext uri="{FF2B5EF4-FFF2-40B4-BE49-F238E27FC236}">
                    <a16:creationId xmlns:a16="http://schemas.microsoft.com/office/drawing/2014/main" id="{B919878B-3C9B-DF32-08E0-D4926FA19AA6}"/>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solidFill>
                    <a:schemeClr val="lt1"/>
                  </a:solidFill>
                </a:endParaRPr>
              </a:p>
            </p:txBody>
          </p:sp>
          <p:grpSp>
            <p:nvGrpSpPr>
              <p:cNvPr id="14" name="Group 13">
                <a:extLst>
                  <a:ext uri="{FF2B5EF4-FFF2-40B4-BE49-F238E27FC236}">
                    <a16:creationId xmlns:a16="http://schemas.microsoft.com/office/drawing/2014/main" id="{909ABD69-7BDF-903E-7914-34148747CCC5}"/>
                  </a:ext>
                </a:extLst>
              </p:cNvPr>
              <p:cNvGrpSpPr/>
              <p:nvPr/>
            </p:nvGrpSpPr>
            <p:grpSpPr>
              <a:xfrm>
                <a:off x="2923755" y="2808131"/>
                <a:ext cx="1112528" cy="1916266"/>
                <a:chOff x="2734489" y="2655731"/>
                <a:chExt cx="1186260" cy="1916266"/>
              </a:xfrm>
            </p:grpSpPr>
            <p:sp>
              <p:nvSpPr>
                <p:cNvPr id="18" name="Oval 17">
                  <a:extLst>
                    <a:ext uri="{FF2B5EF4-FFF2-40B4-BE49-F238E27FC236}">
                      <a16:creationId xmlns:a16="http://schemas.microsoft.com/office/drawing/2014/main" id="{615AEC6A-FBE5-4D60-1BF7-7581B6789CC9}"/>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lt1"/>
                    </a:solidFill>
                  </a:endParaRPr>
                </a:p>
              </p:txBody>
            </p:sp>
            <p:sp>
              <p:nvSpPr>
                <p:cNvPr id="19" name="Oval 9">
                  <a:extLst>
                    <a:ext uri="{FF2B5EF4-FFF2-40B4-BE49-F238E27FC236}">
                      <a16:creationId xmlns:a16="http://schemas.microsoft.com/office/drawing/2014/main" id="{30DC525A-387F-5F41-C08A-A8FAC8A97B34}"/>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solidFill>
                      <a:schemeClr val="lt1"/>
                    </a:solidFill>
                  </a:endParaRPr>
                </a:p>
              </p:txBody>
            </p:sp>
          </p:grpSp>
          <p:grpSp>
            <p:nvGrpSpPr>
              <p:cNvPr id="15" name="Group 14">
                <a:extLst>
                  <a:ext uri="{FF2B5EF4-FFF2-40B4-BE49-F238E27FC236}">
                    <a16:creationId xmlns:a16="http://schemas.microsoft.com/office/drawing/2014/main" id="{8DACBAFF-D554-EC5F-1816-5C46E6831E9B}"/>
                  </a:ext>
                </a:extLst>
              </p:cNvPr>
              <p:cNvGrpSpPr/>
              <p:nvPr/>
            </p:nvGrpSpPr>
            <p:grpSpPr>
              <a:xfrm rot="16200000">
                <a:off x="2923922" y="2810085"/>
                <a:ext cx="1112528" cy="1916266"/>
                <a:chOff x="2734489" y="2655731"/>
                <a:chExt cx="1186260" cy="1916266"/>
              </a:xfrm>
            </p:grpSpPr>
            <p:sp>
              <p:nvSpPr>
                <p:cNvPr id="16" name="Oval 15">
                  <a:extLst>
                    <a:ext uri="{FF2B5EF4-FFF2-40B4-BE49-F238E27FC236}">
                      <a16:creationId xmlns:a16="http://schemas.microsoft.com/office/drawing/2014/main" id="{354EC95D-F3AE-E2F1-CA62-4A83BC846FFA}"/>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lt1"/>
                    </a:solidFill>
                  </a:endParaRPr>
                </a:p>
              </p:txBody>
            </p:sp>
            <p:sp>
              <p:nvSpPr>
                <p:cNvPr id="17" name="Oval 9">
                  <a:extLst>
                    <a:ext uri="{FF2B5EF4-FFF2-40B4-BE49-F238E27FC236}">
                      <a16:creationId xmlns:a16="http://schemas.microsoft.com/office/drawing/2014/main" id="{D7EC789A-DADC-F953-2A1F-F0DCA250A504}"/>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solidFill>
                      <a:schemeClr val="lt1"/>
                    </a:solidFill>
                  </a:endParaRPr>
                </a:p>
              </p:txBody>
            </p:sp>
          </p:grpSp>
        </p:grpSp>
        <p:grpSp>
          <p:nvGrpSpPr>
            <p:cNvPr id="4" name="Group 3">
              <a:extLst>
                <a:ext uri="{FF2B5EF4-FFF2-40B4-BE49-F238E27FC236}">
                  <a16:creationId xmlns:a16="http://schemas.microsoft.com/office/drawing/2014/main" id="{F9128D1B-988C-496A-F7CA-201C886F06EA}"/>
                </a:ext>
              </a:extLst>
            </p:cNvPr>
            <p:cNvGrpSpPr/>
            <p:nvPr/>
          </p:nvGrpSpPr>
          <p:grpSpPr>
            <a:xfrm>
              <a:off x="6051485" y="3754872"/>
              <a:ext cx="3131475" cy="2686935"/>
              <a:chOff x="8866556" y="911557"/>
              <a:chExt cx="3131475" cy="2686935"/>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2D9A76C-A7C3-64FC-F768-81E08B9B2E5F}"/>
                      </a:ext>
                    </a:extLst>
                  </p:cNvPr>
                  <p:cNvSpPr txBox="1"/>
                  <p:nvPr/>
                </p:nvSpPr>
                <p:spPr>
                  <a:xfrm>
                    <a:off x="10212375" y="911557"/>
                    <a:ext cx="592783" cy="34477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i="1" dirty="0">
                              <a:latin typeface="Cambria Math" panose="02040503050406030204" pitchFamily="18" charset="0"/>
                            </a:rPr>
                            <m:t>|</m:t>
                          </m:r>
                          <m:sSup>
                            <m:sSupPr>
                              <m:ctrlPr>
                                <a:rPr lang="en-US" sz="3600" i="1" dirty="0">
                                  <a:latin typeface="Cambria Math" panose="02040503050406030204" pitchFamily="18" charset="0"/>
                                </a:rPr>
                              </m:ctrlPr>
                            </m:sSupPr>
                            <m:e>
                              <m:r>
                                <a:rPr lang="en-US" sz="3600" i="1" dirty="0">
                                  <a:latin typeface="Cambria Math" panose="02040503050406030204" pitchFamily="18" charset="0"/>
                                </a:rPr>
                                <m:t>𝑧</m:t>
                              </m:r>
                            </m:e>
                            <m:sup>
                              <m:r>
                                <a:rPr lang="en-US" sz="3600" i="1" dirty="0">
                                  <a:latin typeface="Cambria Math" panose="02040503050406030204" pitchFamily="18" charset="0"/>
                                </a:rPr>
                                <m:t>+</m:t>
                              </m:r>
                            </m:sup>
                          </m:sSup>
                          <m:r>
                            <a:rPr lang="en-US" sz="3600" i="1" dirty="0">
                              <a:latin typeface="Cambria Math" panose="02040503050406030204" pitchFamily="18" charset="0"/>
                            </a:rPr>
                            <m:t>⟩</m:t>
                          </m:r>
                        </m:oMath>
                      </m:oMathPara>
                    </a14:m>
                    <a:endParaRPr lang="en-US" sz="3600" dirty="0"/>
                  </a:p>
                </p:txBody>
              </p:sp>
            </mc:Choice>
            <mc:Fallback xmlns="">
              <p:sp>
                <p:nvSpPr>
                  <p:cNvPr id="5" name="TextBox 4">
                    <a:extLst>
                      <a:ext uri="{FF2B5EF4-FFF2-40B4-BE49-F238E27FC236}">
                        <a16:creationId xmlns:a16="http://schemas.microsoft.com/office/drawing/2014/main" id="{42D9A76C-A7C3-64FC-F768-81E08B9B2E5F}"/>
                      </a:ext>
                    </a:extLst>
                  </p:cNvPr>
                  <p:cNvSpPr txBox="1">
                    <a:spLocks noRot="1" noChangeAspect="1" noMove="1" noResize="1" noEditPoints="1" noAdjustHandles="1" noChangeArrowheads="1" noChangeShapeType="1" noTextEdit="1"/>
                  </p:cNvSpPr>
                  <p:nvPr/>
                </p:nvSpPr>
                <p:spPr>
                  <a:xfrm>
                    <a:off x="10212375" y="911557"/>
                    <a:ext cx="592783" cy="34477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6006A3F-47B9-EAAC-C710-99601F6D2B0F}"/>
                      </a:ext>
                    </a:extLst>
                  </p:cNvPr>
                  <p:cNvSpPr txBox="1"/>
                  <p:nvPr/>
                </p:nvSpPr>
                <p:spPr>
                  <a:xfrm>
                    <a:off x="11391840" y="2049522"/>
                    <a:ext cx="606191" cy="34477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i="1" dirty="0" smtClean="0">
                              <a:latin typeface="Cambria Math" panose="02040503050406030204" pitchFamily="18" charset="0"/>
                            </a:rPr>
                            <m:t>|</m:t>
                          </m:r>
                          <m:sSup>
                            <m:sSupPr>
                              <m:ctrlPr>
                                <a:rPr lang="en-US" sz="3600" i="1" dirty="0">
                                  <a:latin typeface="Cambria Math" panose="02040503050406030204" pitchFamily="18" charset="0"/>
                                </a:rPr>
                              </m:ctrlPr>
                            </m:sSupPr>
                            <m:e>
                              <m:r>
                                <a:rPr lang="en-US" sz="3600" b="0" i="1" dirty="0" smtClean="0">
                                  <a:latin typeface="Cambria Math" panose="02040503050406030204" pitchFamily="18" charset="0"/>
                                </a:rPr>
                                <m:t>𝑥</m:t>
                              </m:r>
                            </m:e>
                            <m:sup>
                              <m:r>
                                <a:rPr lang="en-US" sz="3600" i="1" dirty="0">
                                  <a:latin typeface="Cambria Math" panose="02040503050406030204" pitchFamily="18" charset="0"/>
                                </a:rPr>
                                <m:t>+</m:t>
                              </m:r>
                            </m:sup>
                          </m:sSup>
                          <m:r>
                            <a:rPr lang="en-US" sz="3600" i="1" dirty="0">
                              <a:latin typeface="Cambria Math" panose="02040503050406030204" pitchFamily="18" charset="0"/>
                            </a:rPr>
                            <m:t>⟩</m:t>
                          </m:r>
                        </m:oMath>
                      </m:oMathPara>
                    </a14:m>
                    <a:endParaRPr lang="en-US" sz="3600" dirty="0"/>
                  </a:p>
                </p:txBody>
              </p:sp>
            </mc:Choice>
            <mc:Fallback xmlns="">
              <p:sp>
                <p:nvSpPr>
                  <p:cNvPr id="6" name="TextBox 5">
                    <a:extLst>
                      <a:ext uri="{FF2B5EF4-FFF2-40B4-BE49-F238E27FC236}">
                        <a16:creationId xmlns:a16="http://schemas.microsoft.com/office/drawing/2014/main" id="{36006A3F-47B9-EAAC-C710-99601F6D2B0F}"/>
                      </a:ext>
                    </a:extLst>
                  </p:cNvPr>
                  <p:cNvSpPr txBox="1">
                    <a:spLocks noRot="1" noChangeAspect="1" noMove="1" noResize="1" noEditPoints="1" noAdjustHandles="1" noChangeArrowheads="1" noChangeShapeType="1" noTextEdit="1"/>
                  </p:cNvSpPr>
                  <p:nvPr/>
                </p:nvSpPr>
                <p:spPr>
                  <a:xfrm>
                    <a:off x="11391840" y="2049522"/>
                    <a:ext cx="606191" cy="34477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AC4DB41-16AA-ADE3-9F51-41A56670E911}"/>
                      </a:ext>
                    </a:extLst>
                  </p:cNvPr>
                  <p:cNvSpPr txBox="1"/>
                  <p:nvPr/>
                </p:nvSpPr>
                <p:spPr>
                  <a:xfrm>
                    <a:off x="8866556" y="2049522"/>
                    <a:ext cx="606191" cy="34477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i="1" dirty="0" smtClean="0">
                              <a:latin typeface="Cambria Math" panose="02040503050406030204" pitchFamily="18" charset="0"/>
                            </a:rPr>
                            <m:t>|</m:t>
                          </m:r>
                          <m:sSup>
                            <m:sSupPr>
                              <m:ctrlPr>
                                <a:rPr lang="en-US" sz="3600" i="1" dirty="0">
                                  <a:latin typeface="Cambria Math" panose="02040503050406030204" pitchFamily="18" charset="0"/>
                                </a:rPr>
                              </m:ctrlPr>
                            </m:sSupPr>
                            <m:e>
                              <m:r>
                                <a:rPr lang="en-US" sz="3600" b="0" i="1" dirty="0" smtClean="0">
                                  <a:latin typeface="Cambria Math" panose="02040503050406030204" pitchFamily="18" charset="0"/>
                                </a:rPr>
                                <m:t>𝑥</m:t>
                              </m:r>
                            </m:e>
                            <m:sup>
                              <m:r>
                                <a:rPr lang="en-US" sz="3600" i="1" dirty="0">
                                  <a:latin typeface="Cambria Math" panose="02040503050406030204" pitchFamily="18" charset="0"/>
                                </a:rPr>
                                <m:t>−</m:t>
                              </m:r>
                            </m:sup>
                          </m:sSup>
                          <m:r>
                            <a:rPr lang="en-US" sz="3600" i="1" dirty="0">
                              <a:latin typeface="Cambria Math" panose="02040503050406030204" pitchFamily="18" charset="0"/>
                            </a:rPr>
                            <m:t>⟩</m:t>
                          </m:r>
                        </m:oMath>
                      </m:oMathPara>
                    </a14:m>
                    <a:endParaRPr lang="en-US" sz="3600" dirty="0"/>
                  </a:p>
                </p:txBody>
              </p:sp>
            </mc:Choice>
            <mc:Fallback xmlns="">
              <p:sp>
                <p:nvSpPr>
                  <p:cNvPr id="7" name="TextBox 6">
                    <a:extLst>
                      <a:ext uri="{FF2B5EF4-FFF2-40B4-BE49-F238E27FC236}">
                        <a16:creationId xmlns:a16="http://schemas.microsoft.com/office/drawing/2014/main" id="{DAC4DB41-16AA-ADE3-9F51-41A56670E911}"/>
                      </a:ext>
                    </a:extLst>
                  </p:cNvPr>
                  <p:cNvSpPr txBox="1">
                    <a:spLocks noRot="1" noChangeAspect="1" noMove="1" noResize="1" noEditPoints="1" noAdjustHandles="1" noChangeArrowheads="1" noChangeShapeType="1" noTextEdit="1"/>
                  </p:cNvSpPr>
                  <p:nvPr/>
                </p:nvSpPr>
                <p:spPr>
                  <a:xfrm>
                    <a:off x="8866556" y="2049522"/>
                    <a:ext cx="606191" cy="34477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7B3F34F-68BB-0867-B0E2-E09A94459EC6}"/>
                      </a:ext>
                    </a:extLst>
                  </p:cNvPr>
                  <p:cNvSpPr txBox="1"/>
                  <p:nvPr/>
                </p:nvSpPr>
                <p:spPr>
                  <a:xfrm>
                    <a:off x="10193624" y="3253719"/>
                    <a:ext cx="592783" cy="34477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i="1" dirty="0">
                              <a:latin typeface="Cambria Math" panose="02040503050406030204" pitchFamily="18" charset="0"/>
                            </a:rPr>
                            <m:t>|</m:t>
                          </m:r>
                          <m:sSup>
                            <m:sSupPr>
                              <m:ctrlPr>
                                <a:rPr lang="en-US" sz="3600" i="1" dirty="0">
                                  <a:latin typeface="Cambria Math" panose="02040503050406030204" pitchFamily="18" charset="0"/>
                                </a:rPr>
                              </m:ctrlPr>
                            </m:sSupPr>
                            <m:e>
                              <m:r>
                                <a:rPr lang="en-US" sz="3600" i="1" dirty="0">
                                  <a:latin typeface="Cambria Math" panose="02040503050406030204" pitchFamily="18" charset="0"/>
                                </a:rPr>
                                <m:t>𝑧</m:t>
                              </m:r>
                            </m:e>
                            <m:sup>
                              <m:r>
                                <a:rPr lang="en-US" sz="3600" i="1" dirty="0">
                                  <a:latin typeface="Cambria Math" panose="02040503050406030204" pitchFamily="18" charset="0"/>
                                </a:rPr>
                                <m:t>−</m:t>
                              </m:r>
                            </m:sup>
                          </m:sSup>
                          <m:r>
                            <a:rPr lang="en-US" sz="3600" i="1" dirty="0">
                              <a:latin typeface="Cambria Math" panose="02040503050406030204" pitchFamily="18" charset="0"/>
                            </a:rPr>
                            <m:t>⟩</m:t>
                          </m:r>
                        </m:oMath>
                      </m:oMathPara>
                    </a14:m>
                    <a:endParaRPr lang="en-US" sz="3600" dirty="0"/>
                  </a:p>
                </p:txBody>
              </p:sp>
            </mc:Choice>
            <mc:Fallback xmlns="">
              <p:sp>
                <p:nvSpPr>
                  <p:cNvPr id="8" name="TextBox 7">
                    <a:extLst>
                      <a:ext uri="{FF2B5EF4-FFF2-40B4-BE49-F238E27FC236}">
                        <a16:creationId xmlns:a16="http://schemas.microsoft.com/office/drawing/2014/main" id="{17B3F34F-68BB-0867-B0E2-E09A94459EC6}"/>
                      </a:ext>
                    </a:extLst>
                  </p:cNvPr>
                  <p:cNvSpPr txBox="1">
                    <a:spLocks noRot="1" noChangeAspect="1" noMove="1" noResize="1" noEditPoints="1" noAdjustHandles="1" noChangeArrowheads="1" noChangeShapeType="1" noTextEdit="1"/>
                  </p:cNvSpPr>
                  <p:nvPr/>
                </p:nvSpPr>
                <p:spPr>
                  <a:xfrm>
                    <a:off x="10193624" y="3253719"/>
                    <a:ext cx="592783" cy="34477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01E3DE7-FE90-4C20-2002-5D47D706E8F3}"/>
                      </a:ext>
                    </a:extLst>
                  </p:cNvPr>
                  <p:cNvSpPr txBox="1"/>
                  <p:nvPr/>
                </p:nvSpPr>
                <p:spPr>
                  <a:xfrm>
                    <a:off x="11019160" y="1420586"/>
                    <a:ext cx="611595" cy="34477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i="1" dirty="0" smtClean="0">
                              <a:latin typeface="Cambria Math" panose="02040503050406030204" pitchFamily="18" charset="0"/>
                            </a:rPr>
                            <m:t>|</m:t>
                          </m:r>
                          <m:sSup>
                            <m:sSupPr>
                              <m:ctrlPr>
                                <a:rPr lang="en-US" sz="3600" i="1" dirty="0">
                                  <a:latin typeface="Cambria Math" panose="02040503050406030204" pitchFamily="18" charset="0"/>
                                </a:rPr>
                              </m:ctrlPr>
                            </m:sSupPr>
                            <m:e>
                              <m:r>
                                <a:rPr lang="en-US" sz="3600" b="0" i="1" dirty="0" smtClean="0">
                                  <a:latin typeface="Cambria Math" panose="02040503050406030204" pitchFamily="18" charset="0"/>
                                </a:rPr>
                                <m:t>𝑦</m:t>
                              </m:r>
                            </m:e>
                            <m:sup>
                              <m:r>
                                <a:rPr lang="en-US" sz="3600" i="1" dirty="0">
                                  <a:latin typeface="Cambria Math" panose="02040503050406030204" pitchFamily="18" charset="0"/>
                                </a:rPr>
                                <m:t>+</m:t>
                              </m:r>
                            </m:sup>
                          </m:sSup>
                          <m:r>
                            <a:rPr lang="en-US" sz="3600" i="1" dirty="0">
                              <a:latin typeface="Cambria Math" panose="02040503050406030204" pitchFamily="18" charset="0"/>
                            </a:rPr>
                            <m:t>⟩</m:t>
                          </m:r>
                        </m:oMath>
                      </m:oMathPara>
                    </a14:m>
                    <a:endParaRPr lang="en-US" sz="3600" dirty="0"/>
                  </a:p>
                </p:txBody>
              </p:sp>
            </mc:Choice>
            <mc:Fallback xmlns="">
              <p:sp>
                <p:nvSpPr>
                  <p:cNvPr id="9" name="TextBox 8">
                    <a:extLst>
                      <a:ext uri="{FF2B5EF4-FFF2-40B4-BE49-F238E27FC236}">
                        <a16:creationId xmlns:a16="http://schemas.microsoft.com/office/drawing/2014/main" id="{B01E3DE7-FE90-4C20-2002-5D47D706E8F3}"/>
                      </a:ext>
                    </a:extLst>
                  </p:cNvPr>
                  <p:cNvSpPr txBox="1">
                    <a:spLocks noRot="1" noChangeAspect="1" noMove="1" noResize="1" noEditPoints="1" noAdjustHandles="1" noChangeArrowheads="1" noChangeShapeType="1" noTextEdit="1"/>
                  </p:cNvSpPr>
                  <p:nvPr/>
                </p:nvSpPr>
                <p:spPr>
                  <a:xfrm>
                    <a:off x="11019160" y="1420586"/>
                    <a:ext cx="611595" cy="34477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D386319-9064-DCC9-498A-9B0E3801033B}"/>
                      </a:ext>
                    </a:extLst>
                  </p:cNvPr>
                  <p:cNvSpPr txBox="1"/>
                  <p:nvPr/>
                </p:nvSpPr>
                <p:spPr>
                  <a:xfrm>
                    <a:off x="9917959" y="2346906"/>
                    <a:ext cx="611595" cy="34477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i="1" dirty="0" smtClean="0">
                              <a:latin typeface="Cambria Math" panose="02040503050406030204" pitchFamily="18" charset="0"/>
                            </a:rPr>
                            <m:t>|</m:t>
                          </m:r>
                          <m:sSup>
                            <m:sSupPr>
                              <m:ctrlPr>
                                <a:rPr lang="en-US" sz="3600" i="1" dirty="0">
                                  <a:latin typeface="Cambria Math" panose="02040503050406030204" pitchFamily="18" charset="0"/>
                                </a:rPr>
                              </m:ctrlPr>
                            </m:sSupPr>
                            <m:e>
                              <m:r>
                                <a:rPr lang="en-US" sz="3600" b="0" i="1" dirty="0" smtClean="0">
                                  <a:latin typeface="Cambria Math" panose="02040503050406030204" pitchFamily="18" charset="0"/>
                                </a:rPr>
                                <m:t>𝑦</m:t>
                              </m:r>
                            </m:e>
                            <m:sup>
                              <m:r>
                                <a:rPr lang="en-US" sz="3600" i="1" dirty="0">
                                  <a:latin typeface="Cambria Math" panose="02040503050406030204" pitchFamily="18" charset="0"/>
                                </a:rPr>
                                <m:t>−</m:t>
                              </m:r>
                            </m:sup>
                          </m:sSup>
                          <m:r>
                            <a:rPr lang="en-US" sz="3600" i="1" dirty="0">
                              <a:latin typeface="Cambria Math" panose="02040503050406030204" pitchFamily="18" charset="0"/>
                            </a:rPr>
                            <m:t>⟩</m:t>
                          </m:r>
                        </m:oMath>
                      </m:oMathPara>
                    </a14:m>
                    <a:endParaRPr lang="en-US" sz="3600" dirty="0"/>
                  </a:p>
                </p:txBody>
              </p:sp>
            </mc:Choice>
            <mc:Fallback xmlns="">
              <p:sp>
                <p:nvSpPr>
                  <p:cNvPr id="10" name="TextBox 9">
                    <a:extLst>
                      <a:ext uri="{FF2B5EF4-FFF2-40B4-BE49-F238E27FC236}">
                        <a16:creationId xmlns:a16="http://schemas.microsoft.com/office/drawing/2014/main" id="{DD386319-9064-DCC9-498A-9B0E3801033B}"/>
                      </a:ext>
                    </a:extLst>
                  </p:cNvPr>
                  <p:cNvSpPr txBox="1">
                    <a:spLocks noRot="1" noChangeAspect="1" noMove="1" noResize="1" noEditPoints="1" noAdjustHandles="1" noChangeArrowheads="1" noChangeShapeType="1" noTextEdit="1"/>
                  </p:cNvSpPr>
                  <p:nvPr/>
                </p:nvSpPr>
                <p:spPr>
                  <a:xfrm>
                    <a:off x="9917959" y="2346906"/>
                    <a:ext cx="611595" cy="344773"/>
                  </a:xfrm>
                  <a:prstGeom prst="rect">
                    <a:avLst/>
                  </a:prstGeom>
                  <a:blipFill>
                    <a:blip r:embed="rId7"/>
                    <a:stretch>
                      <a:fillRect/>
                    </a:stretch>
                  </a:blipFill>
                </p:spPr>
                <p:txBody>
                  <a:bodyPr/>
                  <a:lstStyle/>
                  <a:p>
                    <a:r>
                      <a:rPr lang="en-US">
                        <a:noFill/>
                      </a:rPr>
                      <a:t> </a:t>
                    </a:r>
                  </a:p>
                </p:txBody>
              </p:sp>
            </mc:Fallback>
          </mc:AlternateContent>
        </p:grpSp>
      </p:grpSp>
    </p:spTree>
    <p:extLst>
      <p:ext uri="{BB962C8B-B14F-4D97-AF65-F5344CB8AC3E}">
        <p14:creationId xmlns:p14="http://schemas.microsoft.com/office/powerpoint/2010/main" val="29826621"/>
      </p:ext>
    </p:extLst>
  </p:cSld>
  <p:clrMapOvr>
    <a:masterClrMapping/>
  </p:clrMapOvr>
</p:sld>
</file>

<file path=ppt/theme/theme1.xml><?xml version="1.0" encoding="utf-8"?>
<a:theme xmlns:a="http://schemas.openxmlformats.org/drawingml/2006/main" name="Office Theme">
  <a:themeElements>
    <a:clrScheme name="AoP">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70444</TotalTime>
  <Words>845</Words>
  <Application>Microsoft Office PowerPoint</Application>
  <PresentationFormat>Widescreen</PresentationFormat>
  <Paragraphs>164</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Gabriele Carcassi</dc:creator>
  <cp:lastModifiedBy>Gabriele Carcassi</cp:lastModifiedBy>
  <cp:revision>236</cp:revision>
  <dcterms:created xsi:type="dcterms:W3CDTF">2021-04-07T15:17:47Z</dcterms:created>
  <dcterms:modified xsi:type="dcterms:W3CDTF">2026-02-28T14:47:52Z</dcterms:modified>
</cp:coreProperties>
</file>