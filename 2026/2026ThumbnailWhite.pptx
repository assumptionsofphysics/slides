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8" r:id="rId3"/>
    <p:sldId id="269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202020"/>
    <a:srgbClr val="0000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4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77226-A792-E10A-4693-8DC4047CE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AD52D-B36D-DBB4-D04A-45E6FB5BA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F555C-DB21-80FE-6049-5415B0CF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B0987-0F14-FDAB-7A5F-53CCB654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C30BB-CA97-88D6-367F-BFB344392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4EC2-41E6-1669-C1D3-82C3EFE5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93249-7BD9-28FC-E6DF-700CFBC8D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DC89C-B997-7DC7-F90B-D79ECCA8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2D5EE-F652-D86A-880B-F1B4D7A3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1A0AB-73AA-B17E-656A-7CA07382A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95ACF-8A91-C302-4298-93D0AFAC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FFF94-139A-0246-657A-AB567C583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08AED-663F-D8BB-E33F-EE5B9E00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A0363-76FA-C039-818A-59338AA1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E542C-6B45-8108-D72A-636C3147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4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D3A0-3F1A-FB37-7D69-2CD18711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B0E72-919F-D506-A0AE-4CBD884FD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9C3E4-F130-2827-F71E-A9A206066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35A4A-D0C4-B1E0-2DF1-B21042E2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42321-D203-D9AF-C380-6DFBFAAC7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B9123-876A-75E2-6412-A49BA5E0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0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A7A4-2237-BADB-E944-6D77F908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4C3C5-FAD3-80C2-E21A-B4977C8F7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362AB-B816-8073-DD42-6CB02042C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1E52EB-82E1-C6B5-03C4-12A22B304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95061-7E0C-9D79-F185-FDFC8714B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D2771-271E-A3DB-A199-7B6B9D05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F81A9-1DDF-D518-D5BB-5BB555733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C91F9-4779-8C1A-DF31-B35AAD2A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2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1731-EA07-538C-5135-44067F1F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60DA4-1B35-0FE8-FEB0-69A0EC37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04A7A-2A96-F71F-ED4F-2A2DE3BE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BF6AC-060F-1FB8-4B7E-D3042B2B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6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E76013-DEA8-9B16-D381-E1371C444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13" y="4431888"/>
            <a:ext cx="1677622" cy="1523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7D34BA-64AF-555A-8F8C-34594B0D0E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81" y="6000390"/>
            <a:ext cx="2229706" cy="75660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5B284-7FC5-EF76-4F14-641D7E93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1C14F-BAAC-4140-7819-9BAC959B1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FB5EB-27B6-47BC-3E95-D6F0E8C2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086C-366C-4E65-9F04-5C61A00C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FF7B5-3550-DD23-3105-59A434788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644FE-601C-902A-8EBF-DC55FEC56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ED8C2-9E6F-7C15-D8A8-0CB5080C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D705A-5E91-9364-72D7-C3030B5A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1591B-9B33-595A-2C9F-E9675C64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1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3285-AF07-53C6-CA5D-0329C5E1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2B0D5B-421E-FFF9-47D4-47492E640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87046-58BD-39C6-D833-8266F701D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D5EF9-C85C-F143-7CA9-3D6A08E0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4F39C-4D8C-9A48-03A5-6DE9C30A6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39F0B-9154-7A0E-C606-273F2A77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0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9A38-F739-6735-D289-078F45C7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77A00-FB79-58DF-0810-C2D6F8574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FB287-7026-68E9-9933-B0B1FB6E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B3BB-0FD5-54C1-5E85-2915541F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D0A69-DA3F-7857-231F-1255193A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61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4791A-D7B3-201C-B3DF-F8481277E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4653F-56C2-EC4B-CE18-822DD3EA1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35AA9-EE75-4D8A-F29D-712EBE3E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F1E08-F949-2B41-C934-8FB5E0211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8A14C-9B2A-F1A4-19F5-2DDDEDAE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9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E247E-0E3D-9314-AD82-711F84839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3A0E1-85C3-7AC2-BB4C-1A2EB727E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9CFFF-E0C6-18DA-0DB1-456B3759B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6CC03-B68F-4642-A2B8-7A8633A67F2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D1B1D-020D-D05B-5AEC-CBA140EF3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AD5E-B353-BFBA-4EB5-120826030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01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341587-B12C-C20A-C29B-22CD624BCEB2}"/>
              </a:ext>
            </a:extLst>
          </p:cNvPr>
          <p:cNvSpPr txBox="1"/>
          <p:nvPr/>
        </p:nvSpPr>
        <p:spPr>
          <a:xfrm>
            <a:off x="458778" y="401996"/>
            <a:ext cx="90733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dirty="0">
                <a:latin typeface="Alice" panose="00000500000000000000" pitchFamily="2" charset="0"/>
              </a:rPr>
              <a:t>Reverse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BAE7F1-2B6C-B176-BC0B-D3DCD1A6F386}"/>
              </a:ext>
            </a:extLst>
          </p:cNvPr>
          <p:cNvSpPr txBox="1"/>
          <p:nvPr/>
        </p:nvSpPr>
        <p:spPr>
          <a:xfrm>
            <a:off x="4310572" y="3550920"/>
            <a:ext cx="738695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dirty="0">
                <a:latin typeface="Alice" panose="00000500000000000000" pitchFamily="2" charset="0"/>
              </a:rPr>
              <a:t>Physical</a:t>
            </a:r>
            <a:br>
              <a:rPr lang="en-US" sz="9600" dirty="0">
                <a:latin typeface="Alice" panose="00000500000000000000" pitchFamily="2" charset="0"/>
              </a:rPr>
            </a:br>
            <a:r>
              <a:rPr lang="en-US" sz="9600" dirty="0">
                <a:latin typeface="Alice" panose="00000500000000000000" pitchFamily="2" charset="0"/>
              </a:rPr>
              <a:t>Mathematics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EDD86C-A04B-DD81-780C-848C34C95375}"/>
              </a:ext>
            </a:extLst>
          </p:cNvPr>
          <p:cNvSpPr txBox="1"/>
          <p:nvPr/>
        </p:nvSpPr>
        <p:spPr>
          <a:xfrm>
            <a:off x="4617796" y="2105561"/>
            <a:ext cx="190789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dirty="0">
                <a:latin typeface="Alice" panose="00000500000000000000" pitchFamily="2" charset="0"/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850848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C1C636-C085-F489-AE83-051EBEC56D86}"/>
              </a:ext>
            </a:extLst>
          </p:cNvPr>
          <p:cNvSpPr txBox="1"/>
          <p:nvPr/>
        </p:nvSpPr>
        <p:spPr>
          <a:xfrm>
            <a:off x="434796" y="489545"/>
            <a:ext cx="96984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dirty="0">
                <a:latin typeface="Alice" panose="00000500000000000000" pitchFamily="2" charset="0"/>
              </a:rPr>
              <a:t>What is classical?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8E570-5945-DFA8-B5F1-A43A68393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823" y="5084976"/>
            <a:ext cx="1208202" cy="1208202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7C064D-89CC-378E-B4AA-CB94B4AC1041}"/>
              </a:ext>
            </a:extLst>
          </p:cNvPr>
          <p:cNvSpPr txBox="1"/>
          <p:nvPr/>
        </p:nvSpPr>
        <p:spPr>
          <a:xfrm>
            <a:off x="10133284" y="6369476"/>
            <a:ext cx="20072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THEORIES OF EVERYTHING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32C8E-E6A8-0386-52CA-B24FCAC1233E}"/>
              </a:ext>
            </a:extLst>
          </p:cNvPr>
          <p:cNvSpPr txBox="1"/>
          <p:nvPr/>
        </p:nvSpPr>
        <p:spPr>
          <a:xfrm>
            <a:off x="10396978" y="4639346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#CORE1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4F1D8-13CF-B813-009D-9DDC334A704F}"/>
              </a:ext>
            </a:extLst>
          </p:cNvPr>
          <p:cNvSpPr txBox="1"/>
          <p:nvPr/>
        </p:nvSpPr>
        <p:spPr>
          <a:xfrm>
            <a:off x="1925909" y="2389287"/>
            <a:ext cx="102146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dirty="0">
                <a:latin typeface="Alice" panose="00000500000000000000" pitchFamily="2" charset="0"/>
              </a:rPr>
              <a:t>What is quantum?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50371C-29DA-A4CE-908B-F949A26344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705"/>
          <a:stretch>
            <a:fillRect/>
          </a:stretch>
        </p:blipFill>
        <p:spPr>
          <a:xfrm>
            <a:off x="2991594" y="4824012"/>
            <a:ext cx="6378493" cy="136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DF3D2-A733-B35B-4D09-D53C9D3E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85E232-2C8D-124A-49FD-8ABCEF366ACA}"/>
              </a:ext>
            </a:extLst>
          </p:cNvPr>
          <p:cNvSpPr txBox="1"/>
          <p:nvPr/>
        </p:nvSpPr>
        <p:spPr>
          <a:xfrm>
            <a:off x="386863" y="324171"/>
            <a:ext cx="589296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dirty="0">
                <a:latin typeface="Alice" panose="00000500000000000000" pitchFamily="2" charset="0"/>
              </a:rPr>
              <a:t>Classical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777BB2-3DCE-01E6-7114-9A634DE62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823" y="5084976"/>
            <a:ext cx="1208202" cy="1208202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E111F9-6A4E-C78E-2780-17265DAD64C0}"/>
              </a:ext>
            </a:extLst>
          </p:cNvPr>
          <p:cNvSpPr txBox="1"/>
          <p:nvPr/>
        </p:nvSpPr>
        <p:spPr>
          <a:xfrm>
            <a:off x="10133284" y="6369476"/>
            <a:ext cx="20072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THEORIES OF EVERYTHING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0FE9E-B5C6-F1DF-DCCB-7B59B0B7CFF0}"/>
              </a:ext>
            </a:extLst>
          </p:cNvPr>
          <p:cNvSpPr txBox="1"/>
          <p:nvPr/>
        </p:nvSpPr>
        <p:spPr>
          <a:xfrm>
            <a:off x="10396978" y="4639346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#CORE1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7382BA-52D1-C4D8-38B0-6DA26CB7C3C5}"/>
              </a:ext>
            </a:extLst>
          </p:cNvPr>
          <p:cNvSpPr txBox="1"/>
          <p:nvPr/>
        </p:nvSpPr>
        <p:spPr>
          <a:xfrm>
            <a:off x="5262077" y="1800942"/>
            <a:ext cx="1101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latin typeface="Alice" panose="00000500000000000000" pitchFamily="2" charset="0"/>
              </a:rPr>
              <a:t>vs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13BEAF-0BE8-19AF-A1BA-8F7E45D23F3E}"/>
              </a:ext>
            </a:extLst>
          </p:cNvPr>
          <p:cNvSpPr txBox="1"/>
          <p:nvPr/>
        </p:nvSpPr>
        <p:spPr>
          <a:xfrm>
            <a:off x="5345915" y="2615993"/>
            <a:ext cx="653095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dirty="0">
                <a:latin typeface="Alice" panose="00000500000000000000" pitchFamily="2" charset="0"/>
              </a:rPr>
              <a:t>Quantum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08B0EC-319D-8203-69DE-37F05FE885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705"/>
          <a:stretch>
            <a:fillRect/>
          </a:stretch>
        </p:blipFill>
        <p:spPr>
          <a:xfrm>
            <a:off x="2991594" y="4824012"/>
            <a:ext cx="6378493" cy="136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89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8C4BF-A834-1DB0-9FB5-7B65BEA3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4995E7-1A14-F939-370C-3357B9185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823" y="5084976"/>
            <a:ext cx="1208202" cy="1208202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733072-8C6E-2FF6-F20C-533B4F397774}"/>
              </a:ext>
            </a:extLst>
          </p:cNvPr>
          <p:cNvSpPr txBox="1"/>
          <p:nvPr/>
        </p:nvSpPr>
        <p:spPr>
          <a:xfrm>
            <a:off x="10133284" y="6369476"/>
            <a:ext cx="20072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THEORIES OF EVERYTHING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B5DFD-EE84-1D80-4B3C-5E7DEA2726AE}"/>
              </a:ext>
            </a:extLst>
          </p:cNvPr>
          <p:cNvSpPr txBox="1"/>
          <p:nvPr/>
        </p:nvSpPr>
        <p:spPr>
          <a:xfrm>
            <a:off x="10396978" y="4639346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#CORE1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442370-A054-0AEF-6A0A-4B6368CDF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378672"/>
              </p:ext>
            </p:extLst>
          </p:nvPr>
        </p:nvGraphicFramePr>
        <p:xfrm>
          <a:off x="4021206" y="1061392"/>
          <a:ext cx="6644788" cy="3298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2394">
                  <a:extLst>
                    <a:ext uri="{9D8B030D-6E8A-4147-A177-3AD203B41FA5}">
                      <a16:colId xmlns:a16="http://schemas.microsoft.com/office/drawing/2014/main" val="318984211"/>
                    </a:ext>
                  </a:extLst>
                </a:gridCol>
                <a:gridCol w="3322394">
                  <a:extLst>
                    <a:ext uri="{9D8B030D-6E8A-4147-A177-3AD203B41FA5}">
                      <a16:colId xmlns:a16="http://schemas.microsoft.com/office/drawing/2014/main" val="4065757525"/>
                    </a:ext>
                  </a:extLst>
                </a:gridCol>
              </a:tblGrid>
              <a:tr h="1649091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Classical</a:t>
                      </a:r>
                      <a:br>
                        <a:rPr lang="en-US" sz="3600" b="0" dirty="0"/>
                      </a:br>
                      <a:r>
                        <a:rPr lang="en-US" sz="3600" b="0" dirty="0"/>
                        <a:t>Mechanics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Relativistic</a:t>
                      </a:r>
                      <a:br>
                        <a:rPr lang="en-US" sz="3600" b="0" dirty="0"/>
                      </a:br>
                      <a:r>
                        <a:rPr lang="en-US" sz="3600" b="0" dirty="0"/>
                        <a:t>Mechanics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42816"/>
                  </a:ext>
                </a:extLst>
              </a:tr>
              <a:tr h="1649091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Quantum</a:t>
                      </a:r>
                      <a:br>
                        <a:rPr lang="en-US" sz="3600" b="0" dirty="0"/>
                      </a:br>
                      <a:r>
                        <a:rPr lang="en-US" sz="3600" b="0" dirty="0"/>
                        <a:t>Mechanics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Quantum</a:t>
                      </a:r>
                      <a:br>
                        <a:rPr lang="en-US" sz="3600" b="0" dirty="0"/>
                      </a:br>
                      <a:r>
                        <a:rPr lang="en-US" sz="3600" b="0" dirty="0"/>
                        <a:t>Field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478271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4D4C45-3445-545D-BB30-B7A979090E33}"/>
              </a:ext>
            </a:extLst>
          </p:cNvPr>
          <p:cNvCxnSpPr/>
          <p:nvPr/>
        </p:nvCxnSpPr>
        <p:spPr>
          <a:xfrm>
            <a:off x="4024913" y="762041"/>
            <a:ext cx="6621057" cy="0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A0F678A-2222-5487-E445-BD8FE85B2925}"/>
              </a:ext>
            </a:extLst>
          </p:cNvPr>
          <p:cNvSpPr txBox="1"/>
          <p:nvPr/>
        </p:nvSpPr>
        <p:spPr>
          <a:xfrm>
            <a:off x="6661362" y="149174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Speed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01D885-2795-9762-364D-16F6B879B2A1}"/>
              </a:ext>
            </a:extLst>
          </p:cNvPr>
          <p:cNvCxnSpPr>
            <a:cxnSpLocks/>
          </p:cNvCxnSpPr>
          <p:nvPr/>
        </p:nvCxnSpPr>
        <p:spPr>
          <a:xfrm flipV="1">
            <a:off x="3711215" y="1054718"/>
            <a:ext cx="0" cy="3298182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348E37C-DF07-C299-F456-9A7140011A9C}"/>
              </a:ext>
            </a:extLst>
          </p:cNvPr>
          <p:cNvSpPr txBox="1"/>
          <p:nvPr/>
        </p:nvSpPr>
        <p:spPr>
          <a:xfrm rot="16200000">
            <a:off x="2988906" y="2418096"/>
            <a:ext cx="824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1606CA-73CF-625C-5A51-74B34949F3B0}"/>
                  </a:ext>
                </a:extLst>
              </p:cNvPr>
              <p:cNvSpPr txBox="1"/>
              <p:nvPr/>
            </p:nvSpPr>
            <p:spPr>
              <a:xfrm>
                <a:off x="4021206" y="472340"/>
                <a:ext cx="7303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0" dirty="0"/>
                  <a:t>“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200" dirty="0"/>
                  <a:t>”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1606CA-73CF-625C-5A51-74B34949F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206" y="472340"/>
                <a:ext cx="730328" cy="276999"/>
              </a:xfrm>
              <a:prstGeom prst="rect">
                <a:avLst/>
              </a:prstGeom>
              <a:blipFill>
                <a:blip r:embed="rId3"/>
                <a:stretch>
                  <a:fillRect l="-840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EA2CC9A-4033-20DE-C356-24B6C605B455}"/>
                  </a:ext>
                </a:extLst>
              </p:cNvPr>
              <p:cNvSpPr txBox="1"/>
              <p:nvPr/>
            </p:nvSpPr>
            <p:spPr>
              <a:xfrm rot="16200000">
                <a:off x="3098291" y="1220436"/>
                <a:ext cx="6982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0" dirty="0"/>
                  <a:t>“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ℏ→0</m:t>
                    </m:r>
                  </m:oMath>
                </a14:m>
                <a:r>
                  <a:rPr lang="en-US" sz="1200" dirty="0"/>
                  <a:t>”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EA2CC9A-4033-20DE-C356-24B6C605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98291" y="1220436"/>
                <a:ext cx="698204" cy="276999"/>
              </a:xfrm>
              <a:prstGeom prst="rect">
                <a:avLst/>
              </a:prstGeom>
              <a:blipFill>
                <a:blip r:embed="rId4"/>
                <a:stretch>
                  <a:fillRect l="-2222" r="-17778" b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D855A6E-3BCD-9760-B568-13412918C6D1}"/>
              </a:ext>
            </a:extLst>
          </p:cNvPr>
          <p:cNvSpPr txBox="1"/>
          <p:nvPr/>
        </p:nvSpPr>
        <p:spPr>
          <a:xfrm>
            <a:off x="3905661" y="234608"/>
            <a:ext cx="961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Low speed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17BC32-EA98-5456-DEBD-DB182B8BA235}"/>
              </a:ext>
            </a:extLst>
          </p:cNvPr>
          <p:cNvCxnSpPr/>
          <p:nvPr/>
        </p:nvCxnSpPr>
        <p:spPr>
          <a:xfrm>
            <a:off x="3216563" y="2438003"/>
            <a:ext cx="369330" cy="61697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47D12B-B7E8-C2B8-8A0F-23E6DE96F045}"/>
              </a:ext>
            </a:extLst>
          </p:cNvPr>
          <p:cNvSpPr txBox="1"/>
          <p:nvPr/>
        </p:nvSpPr>
        <p:spPr>
          <a:xfrm rot="16200000">
            <a:off x="834825" y="2411422"/>
            <a:ext cx="4143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Numebr</a:t>
            </a:r>
            <a:r>
              <a:rPr lang="en-US" sz="3200" dirty="0"/>
              <a:t> of constituents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A7DD6AA-94F5-EF9A-2A10-DD345806CCBA}"/>
              </a:ext>
            </a:extLst>
          </p:cNvPr>
          <p:cNvCxnSpPr>
            <a:cxnSpLocks/>
          </p:cNvCxnSpPr>
          <p:nvPr/>
        </p:nvCxnSpPr>
        <p:spPr>
          <a:xfrm>
            <a:off x="2721915" y="1690092"/>
            <a:ext cx="339652" cy="194756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A5BFACD-FF42-7278-55BB-F4BD9BBF9F41}"/>
              </a:ext>
            </a:extLst>
          </p:cNvPr>
          <p:cNvSpPr txBox="1"/>
          <p:nvPr/>
        </p:nvSpPr>
        <p:spPr>
          <a:xfrm rot="16200000">
            <a:off x="321208" y="1990397"/>
            <a:ext cx="29340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Entropy!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70CB207-AE73-FD41-8130-1477979713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3705"/>
          <a:stretch>
            <a:fillRect/>
          </a:stretch>
        </p:blipFill>
        <p:spPr>
          <a:xfrm>
            <a:off x="2991594" y="4955990"/>
            <a:ext cx="6378493" cy="136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A2669-74F6-B333-4B65-2BE989600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92ACB4-D19B-EE22-DFAF-5C7C1CB49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29" y="350399"/>
            <a:ext cx="7732343" cy="285986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E20C704-2F38-1016-217B-013A6676E5FC}"/>
              </a:ext>
            </a:extLst>
          </p:cNvPr>
          <p:cNvSpPr txBox="1">
            <a:spLocks/>
          </p:cNvSpPr>
          <p:nvPr/>
        </p:nvSpPr>
        <p:spPr>
          <a:xfrm>
            <a:off x="2099866" y="138889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4800" i="1" dirty="0"/>
            </a:br>
            <a:br>
              <a:rPr lang="en-US" sz="4800" i="1" dirty="0"/>
            </a:br>
            <a:r>
              <a:rPr lang="en-US" sz="4800" i="1" dirty="0"/>
              <a:t>turning physics inside-out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8E39D4-90EA-6116-2173-AB97AFC92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493" y="4461034"/>
            <a:ext cx="1891314" cy="20161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E4C5C9-DA2D-51EF-371A-35C9EDB84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605" y="472898"/>
            <a:ext cx="2555016" cy="1082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67D994-2E00-4A6F-9E84-E4B9C5C0D04E}"/>
              </a:ext>
            </a:extLst>
          </p:cNvPr>
          <p:cNvSpPr txBox="1"/>
          <p:nvPr/>
        </p:nvSpPr>
        <p:spPr>
          <a:xfrm>
            <a:off x="3534946" y="4461034"/>
            <a:ext cx="51221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Presented at</a:t>
            </a:r>
            <a:br>
              <a:rPr lang="en-US" sz="3200" dirty="0"/>
            </a:br>
            <a:r>
              <a:rPr lang="en-US" sz="3200" dirty="0"/>
              <a:t>Foundations of Physics 2026</a:t>
            </a:r>
          </a:p>
          <a:p>
            <a:pPr algn="ctr"/>
            <a:r>
              <a:rPr lang="en-US" sz="3200" dirty="0"/>
              <a:t>University of California, Irvine</a:t>
            </a:r>
          </a:p>
        </p:txBody>
      </p:sp>
    </p:spTree>
    <p:extLst>
      <p:ext uri="{BB962C8B-B14F-4D97-AF65-F5344CB8AC3E}">
        <p14:creationId xmlns:p14="http://schemas.microsoft.com/office/powerpoint/2010/main" val="3800963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19550</TotalTime>
  <Words>83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Alice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 Carcassi</dc:creator>
  <cp:lastModifiedBy>Gabriele Carcassi</cp:lastModifiedBy>
  <cp:revision>37</cp:revision>
  <dcterms:created xsi:type="dcterms:W3CDTF">2022-10-24T15:52:53Z</dcterms:created>
  <dcterms:modified xsi:type="dcterms:W3CDTF">2026-07-31T20:23:06Z</dcterms:modified>
</cp:coreProperties>
</file>