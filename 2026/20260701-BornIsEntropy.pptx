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1072" r:id="rId2"/>
    <p:sldId id="1229" r:id="rId3"/>
    <p:sldId id="1241" r:id="rId4"/>
    <p:sldId id="1240" r:id="rId5"/>
    <p:sldId id="1245" r:id="rId6"/>
    <p:sldId id="1230" r:id="rId7"/>
    <p:sldId id="1232" r:id="rId8"/>
    <p:sldId id="1246" r:id="rId9"/>
    <p:sldId id="1247" r:id="rId10"/>
    <p:sldId id="1248" r:id="rId11"/>
    <p:sldId id="1249" r:id="rId12"/>
    <p:sldId id="1243" r:id="rId13"/>
    <p:sldId id="1244" r:id="rId14"/>
    <p:sldId id="1242" r:id="rId15"/>
    <p:sldId id="1239" r:id="rId16"/>
    <p:sldId id="1231" r:id="rId17"/>
    <p:sldId id="1233" r:id="rId18"/>
    <p:sldId id="1234" r:id="rId19"/>
    <p:sldId id="1235" r:id="rId20"/>
    <p:sldId id="1236" r:id="rId21"/>
    <p:sldId id="1237" r:id="rId22"/>
    <p:sldId id="123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48235"/>
    <a:srgbClr val="172C51"/>
    <a:srgbClr val="FFFFFF"/>
    <a:srgbClr val="7F7F7F"/>
    <a:srgbClr val="4C216D"/>
    <a:srgbClr val="A469D1"/>
    <a:srgbClr val="9752CA"/>
    <a:srgbClr val="B686DA"/>
    <a:srgbClr val="C9A6E4"/>
    <a:srgbClr val="672D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74" autoAdjust="0"/>
    <p:restoredTop sz="78271" autoAdjust="0"/>
  </p:normalViewPr>
  <p:slideViewPr>
    <p:cSldViewPr snapToGrid="0">
      <p:cViewPr>
        <p:scale>
          <a:sx n="100" d="100"/>
          <a:sy n="100" d="100"/>
        </p:scale>
        <p:origin x="638" y="-96"/>
      </p:cViewPr>
      <p:guideLst/>
    </p:cSldViewPr>
  </p:slideViewPr>
  <p:outlineViewPr>
    <p:cViewPr>
      <p:scale>
        <a:sx n="33" d="100"/>
        <a:sy n="33" d="100"/>
      </p:scale>
      <p:origin x="0" y="-9029"/>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9C704-B8F9-449B-B828-36D786A1FE73}" type="datetimeFigureOut">
              <a:rPr lang="en-US" smtClean="0"/>
              <a:t>6/27/2026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54F452-85BD-4268-B680-C313DBFDCEB3}" type="slidenum">
              <a:rPr lang="en-US" smtClean="0"/>
              <a:t>‹#›</a:t>
            </a:fld>
            <a:endParaRPr lang="en-US"/>
          </a:p>
        </p:txBody>
      </p:sp>
    </p:spTree>
    <p:extLst>
      <p:ext uri="{BB962C8B-B14F-4D97-AF65-F5344CB8AC3E}">
        <p14:creationId xmlns:p14="http://schemas.microsoft.com/office/powerpoint/2010/main" val="8434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video I will show you the fundamental connection between the geometry of states and entropy. If you studied thermodynamics, you already have a sense that volumes in physical space are connected to entropy. Both volume and entropy are extensive quantities, so if you take two equal volumes of the same gas, you have double the size but also double the entropy. So you can use the volume to measure the entropy, but you can also use the entropy to measure the volume. Something similar, but much deeper, happens for state spaces. The state spaces of both classical and quantum mechanics have a geometric structure that allows you to define Hamiltonians or </a:t>
            </a:r>
            <a:r>
              <a:rPr lang="en-US" dirty="0" err="1"/>
              <a:t>Lagrangians</a:t>
            </a:r>
            <a:r>
              <a:rPr lang="en-US" dirty="0"/>
              <a:t> and get the equations of motion. What happens is that the same geometrical structures allows you to calculate the entropy for classical and quantum ensembles in statistical mechanics. Nothing new so far. However, and here is the kicker: you can go back. If don’t give you the geometric structure, but I gave you the entropy for all the ensembles, you can recover the geometric structure. Therefore the geometric structure and the entropic structure are the same thing. Geometry is entropy, entropy is geometry.</a:t>
            </a:r>
          </a:p>
          <a:p>
            <a:endParaRPr lang="en-US" dirty="0"/>
          </a:p>
          <a:p>
            <a:r>
              <a:rPr lang="en-US" dirty="0"/>
              <a:t>At an intuitive level, the geometry of states defines sizes in terms of number of states and number of configurations. Entropy quantifies the variability of states, of configurations, within an ensemble. That is, an ensemble is the set of all possible preparations of an identical prepared system. The entropy tells you how much variability is there among those preparations. How different are from each other. Therefore it makes sense that being able to quantify the variability among states and quantifying the number of states… well, they are the same thing.</a:t>
            </a:r>
          </a:p>
          <a:p>
            <a:endParaRPr lang="en-US" dirty="0"/>
          </a:p>
          <a:p>
            <a:r>
              <a:rPr lang="en-US" dirty="0"/>
              <a:t>This link tells you that the general perspective that statistical mechanics is built ON TOP of mechanics is actually wrong. In fact, you can start by doing statistical mechanics and recover standard mechanics as the limit case. Basically: standard mechanics and statistical mechanics are the same thing. You cannot define one without implicitly defining the other.</a:t>
            </a:r>
          </a:p>
          <a:p>
            <a:endParaRPr lang="en-US" dirty="0"/>
          </a:p>
          <a:p>
            <a:r>
              <a:rPr lang="en-US" dirty="0"/>
              <a:t>But this is all words! As usual, you should not take my word for it. So, let’s look at the details, like we always do… It keeps us honest.</a:t>
            </a:r>
          </a:p>
        </p:txBody>
      </p:sp>
      <p:sp>
        <p:nvSpPr>
          <p:cNvPr id="4" name="Slide Number Placeholder 3"/>
          <p:cNvSpPr>
            <a:spLocks noGrp="1"/>
          </p:cNvSpPr>
          <p:nvPr>
            <p:ph type="sldNum" sz="quarter" idx="5"/>
          </p:nvPr>
        </p:nvSpPr>
        <p:spPr/>
        <p:txBody>
          <a:bodyPr/>
          <a:lstStyle/>
          <a:p>
            <a:fld id="{A154F452-85BD-4268-B680-C313DBFDCEB3}" type="slidenum">
              <a:rPr lang="en-US" smtClean="0"/>
              <a:t>1</a:t>
            </a:fld>
            <a:endParaRPr lang="en-US"/>
          </a:p>
        </p:txBody>
      </p:sp>
    </p:spTree>
    <p:extLst>
      <p:ext uri="{BB962C8B-B14F-4D97-AF65-F5344CB8AC3E}">
        <p14:creationId xmlns:p14="http://schemas.microsoft.com/office/powerpoint/2010/main" val="14333953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FB9D-FE32-4608-A322-879EB604C4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BEF24-38DB-414B-9143-835F94C545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649D3D-74DA-4CF4-9D8A-35BEC589E886}"/>
              </a:ext>
            </a:extLst>
          </p:cNvPr>
          <p:cNvSpPr>
            <a:spLocks noGrp="1"/>
          </p:cNvSpPr>
          <p:nvPr>
            <p:ph type="dt" sz="half" idx="10"/>
          </p:nvPr>
        </p:nvSpPr>
        <p:spPr/>
        <p:txBody>
          <a:bodyPr/>
          <a:lstStyle/>
          <a:p>
            <a:fld id="{DBFECF9E-8B09-4099-B1BA-6ADDA94A0342}" type="datetime1">
              <a:rPr lang="en-US" smtClean="0"/>
              <a:t>6/27/2026</a:t>
            </a:fld>
            <a:endParaRPr lang="en-US"/>
          </a:p>
        </p:txBody>
      </p:sp>
      <p:sp>
        <p:nvSpPr>
          <p:cNvPr id="5" name="Footer Placeholder 4">
            <a:extLst>
              <a:ext uri="{FF2B5EF4-FFF2-40B4-BE49-F238E27FC236}">
                <a16:creationId xmlns:a16="http://schemas.microsoft.com/office/drawing/2014/main" id="{C3B2A6A3-4127-48D5-9784-9FE0EA9F2B0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747A031F-D251-4900-90B5-0DBC5EEB8B53}"/>
              </a:ext>
            </a:extLst>
          </p:cNvPr>
          <p:cNvSpPr>
            <a:spLocks noGrp="1"/>
          </p:cNvSpPr>
          <p:nvPr>
            <p:ph type="sldNum" sz="quarter" idx="12"/>
          </p:nvPr>
        </p:nvSpPr>
        <p:spPr/>
        <p:txBody>
          <a:bodyPr/>
          <a:lstStyle/>
          <a:p>
            <a:fld id="{F47845EA-7733-40EE-B074-20032348B727}" type="slidenum">
              <a:rPr lang="en-US" smtClean="0"/>
              <a:t>‹#›</a:t>
            </a:fld>
            <a:endParaRPr lang="en-US"/>
          </a:p>
        </p:txBody>
      </p:sp>
      <p:sp>
        <p:nvSpPr>
          <p:cNvPr id="9" name="Oval 8">
            <a:extLst>
              <a:ext uri="{FF2B5EF4-FFF2-40B4-BE49-F238E27FC236}">
                <a16:creationId xmlns:a16="http://schemas.microsoft.com/office/drawing/2014/main" id="{3AF2D39E-1CF2-6C35-A74E-C2E85F817FF0}"/>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12">
            <a:extLst>
              <a:ext uri="{FF2B5EF4-FFF2-40B4-BE49-F238E27FC236}">
                <a16:creationId xmlns:a16="http://schemas.microsoft.com/office/drawing/2014/main" id="{803588DA-AF3D-0538-FED6-B91B80D9B0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41405" y="4365482"/>
            <a:ext cx="1676403" cy="1523725"/>
          </a:xfrm>
          <a:prstGeom prst="rect">
            <a:avLst/>
          </a:prstGeom>
        </p:spPr>
      </p:pic>
      <p:pic>
        <p:nvPicPr>
          <p:cNvPr id="15" name="Picture 14">
            <a:extLst>
              <a:ext uri="{FF2B5EF4-FFF2-40B4-BE49-F238E27FC236}">
                <a16:creationId xmlns:a16="http://schemas.microsoft.com/office/drawing/2014/main" id="{4EEE5F5B-B632-2F49-E623-5C0F89CE0E7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64754" y="5933727"/>
            <a:ext cx="2229706" cy="756859"/>
          </a:xfrm>
          <a:prstGeom prst="rect">
            <a:avLst/>
          </a:prstGeom>
        </p:spPr>
      </p:pic>
      <p:pic>
        <p:nvPicPr>
          <p:cNvPr id="16" name="Picture 15">
            <a:extLst>
              <a:ext uri="{FF2B5EF4-FFF2-40B4-BE49-F238E27FC236}">
                <a16:creationId xmlns:a16="http://schemas.microsoft.com/office/drawing/2014/main" id="{9AE0316C-62B2-770F-A578-C8D4BEA5E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2032" y="4433212"/>
            <a:ext cx="1676403" cy="1523725"/>
          </a:xfrm>
          <a:prstGeom prst="rect">
            <a:avLst/>
          </a:prstGeom>
        </p:spPr>
      </p:pic>
      <p:pic>
        <p:nvPicPr>
          <p:cNvPr id="17" name="Picture 16">
            <a:extLst>
              <a:ext uri="{FF2B5EF4-FFF2-40B4-BE49-F238E27FC236}">
                <a16:creationId xmlns:a16="http://schemas.microsoft.com/office/drawing/2014/main" id="{730B28FF-2283-988B-15E2-3907B103BE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5381" y="6001457"/>
            <a:ext cx="2229706" cy="756859"/>
          </a:xfrm>
          <a:prstGeom prst="rect">
            <a:avLst/>
          </a:prstGeom>
        </p:spPr>
      </p:pic>
    </p:spTree>
    <p:extLst>
      <p:ext uri="{BB962C8B-B14F-4D97-AF65-F5344CB8AC3E}">
        <p14:creationId xmlns:p14="http://schemas.microsoft.com/office/powerpoint/2010/main" val="231453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2083A-4E98-4B0F-9BE9-89B3801C59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3EDFED-B2F5-4E8E-B7CC-56CC10C1C4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65BC790-453E-4FDF-8576-041B1DF9865E}"/>
              </a:ext>
            </a:extLst>
          </p:cNvPr>
          <p:cNvSpPr>
            <a:spLocks noGrp="1"/>
          </p:cNvSpPr>
          <p:nvPr>
            <p:ph type="ftr" sz="quarter" idx="11"/>
          </p:nvPr>
        </p:nvSpPr>
        <p:spPr/>
        <p:txBody>
          <a:bodyPr/>
          <a:lstStyle/>
          <a:p>
            <a:r>
              <a:rPr lang="en-US"/>
              <a:t>Gabriele Carcassi - University of Michigan</a:t>
            </a:r>
          </a:p>
        </p:txBody>
      </p:sp>
      <p:sp>
        <p:nvSpPr>
          <p:cNvPr id="9" name="Date Placeholder 8">
            <a:extLst>
              <a:ext uri="{FF2B5EF4-FFF2-40B4-BE49-F238E27FC236}">
                <a16:creationId xmlns:a16="http://schemas.microsoft.com/office/drawing/2014/main" id="{0BC8FBAB-8131-440B-982D-5FFA7A53024B}"/>
              </a:ext>
            </a:extLst>
          </p:cNvPr>
          <p:cNvSpPr>
            <a:spLocks noGrp="1"/>
          </p:cNvSpPr>
          <p:nvPr>
            <p:ph type="dt" sz="half" idx="12"/>
          </p:nvPr>
        </p:nvSpPr>
        <p:spPr/>
        <p:txBody>
          <a:bodyPr/>
          <a:lstStyle/>
          <a:p>
            <a:fld id="{14040F82-CAAF-492E-A3B6-9D23E7AB0A58}" type="datetime1">
              <a:rPr lang="en-US" smtClean="0"/>
              <a:t>6/27/2026</a:t>
            </a:fld>
            <a:endParaRPr lang="en-US" dirty="0"/>
          </a:p>
        </p:txBody>
      </p:sp>
      <p:sp>
        <p:nvSpPr>
          <p:cNvPr id="10" name="Slide Number Placeholder 9">
            <a:extLst>
              <a:ext uri="{FF2B5EF4-FFF2-40B4-BE49-F238E27FC236}">
                <a16:creationId xmlns:a16="http://schemas.microsoft.com/office/drawing/2014/main" id="{2CD6FF50-33B5-48AA-9106-E41AD3A7C711}"/>
              </a:ext>
            </a:extLst>
          </p:cNvPr>
          <p:cNvSpPr>
            <a:spLocks noGrp="1"/>
          </p:cNvSpPr>
          <p:nvPr>
            <p:ph type="sldNum" sz="quarter" idx="13"/>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27891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ACB5C-4D91-4CEE-A37D-A6D6EA7755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72FF89-CC5E-4ECF-8587-C5477617EC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5818F-79A2-4B99-9E93-0A0D3450941C}"/>
              </a:ext>
            </a:extLst>
          </p:cNvPr>
          <p:cNvSpPr>
            <a:spLocks noGrp="1"/>
          </p:cNvSpPr>
          <p:nvPr>
            <p:ph type="dt" sz="half" idx="10"/>
          </p:nvPr>
        </p:nvSpPr>
        <p:spPr/>
        <p:txBody>
          <a:bodyPr/>
          <a:lstStyle/>
          <a:p>
            <a:fld id="{5E94585C-5462-4635-A827-CBBCD3A2E6B8}" type="datetime1">
              <a:rPr lang="en-US" smtClean="0"/>
              <a:t>6/27/2026</a:t>
            </a:fld>
            <a:endParaRPr lang="en-US"/>
          </a:p>
        </p:txBody>
      </p:sp>
      <p:sp>
        <p:nvSpPr>
          <p:cNvPr id="5" name="Footer Placeholder 4">
            <a:extLst>
              <a:ext uri="{FF2B5EF4-FFF2-40B4-BE49-F238E27FC236}">
                <a16:creationId xmlns:a16="http://schemas.microsoft.com/office/drawing/2014/main" id="{A0A0A171-786D-4212-94DA-A3B5DDCBE8F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F90C80CF-897E-4A36-9214-10EE125C5239}"/>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87864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B1A4-D1EF-45A3-9791-016116AFC3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B0615B-3F88-41CF-8B1F-20FB3C7BE2C0}"/>
              </a:ext>
            </a:extLst>
          </p:cNvPr>
          <p:cNvSpPr>
            <a:spLocks noGrp="1"/>
          </p:cNvSpPr>
          <p:nvPr>
            <p:ph sz="half" idx="1"/>
          </p:nvPr>
        </p:nvSpPr>
        <p:spPr>
          <a:xfrm>
            <a:off x="103955"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97195-09DC-40DF-8642-91B5CEAE2EB1}"/>
              </a:ext>
            </a:extLst>
          </p:cNvPr>
          <p:cNvSpPr>
            <a:spLocks noGrp="1"/>
          </p:cNvSpPr>
          <p:nvPr>
            <p:ph sz="half" idx="2"/>
          </p:nvPr>
        </p:nvSpPr>
        <p:spPr>
          <a:xfrm>
            <a:off x="6172199"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77FD46-DF3C-4CF1-8DB8-AE555EDA6094}"/>
              </a:ext>
            </a:extLst>
          </p:cNvPr>
          <p:cNvSpPr>
            <a:spLocks noGrp="1"/>
          </p:cNvSpPr>
          <p:nvPr>
            <p:ph type="dt" sz="half" idx="10"/>
          </p:nvPr>
        </p:nvSpPr>
        <p:spPr/>
        <p:txBody>
          <a:bodyPr/>
          <a:lstStyle/>
          <a:p>
            <a:fld id="{B09B1218-991B-4184-B0F8-198D0FAC17F9}" type="datetime1">
              <a:rPr lang="en-US" smtClean="0"/>
              <a:t>6/27/2026</a:t>
            </a:fld>
            <a:endParaRPr lang="en-US"/>
          </a:p>
        </p:txBody>
      </p:sp>
      <p:sp>
        <p:nvSpPr>
          <p:cNvPr id="6" name="Footer Placeholder 5">
            <a:extLst>
              <a:ext uri="{FF2B5EF4-FFF2-40B4-BE49-F238E27FC236}">
                <a16:creationId xmlns:a16="http://schemas.microsoft.com/office/drawing/2014/main" id="{32AA3C63-BDA7-4CD1-98D2-7B44F82B1548}"/>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C09C5504-0686-44F8-A23D-45B91F88ED2C}"/>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58628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177B-A747-42FD-8F29-D1361B4E2C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DEB389-9A95-4143-B34D-74A157C3E5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8FF914-FCFA-477B-964A-C59B91251C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6DC335-A7AE-4EBC-A953-CD7B08744D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06B780-1F08-4E36-968D-D083275A4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AC007B-DA08-41DC-96BA-9EDC62C18742}"/>
              </a:ext>
            </a:extLst>
          </p:cNvPr>
          <p:cNvSpPr>
            <a:spLocks noGrp="1"/>
          </p:cNvSpPr>
          <p:nvPr>
            <p:ph type="dt" sz="half" idx="10"/>
          </p:nvPr>
        </p:nvSpPr>
        <p:spPr/>
        <p:txBody>
          <a:bodyPr/>
          <a:lstStyle/>
          <a:p>
            <a:fld id="{9555B3F8-63BD-45A8-8D64-7C6391B4DEC4}" type="datetime1">
              <a:rPr lang="en-US" smtClean="0"/>
              <a:t>6/27/2026</a:t>
            </a:fld>
            <a:endParaRPr lang="en-US"/>
          </a:p>
        </p:txBody>
      </p:sp>
      <p:sp>
        <p:nvSpPr>
          <p:cNvPr id="8" name="Footer Placeholder 7">
            <a:extLst>
              <a:ext uri="{FF2B5EF4-FFF2-40B4-BE49-F238E27FC236}">
                <a16:creationId xmlns:a16="http://schemas.microsoft.com/office/drawing/2014/main" id="{29F2FD71-2584-48F8-992F-EBA7CFFACF44}"/>
              </a:ext>
            </a:extLst>
          </p:cNvPr>
          <p:cNvSpPr>
            <a:spLocks noGrp="1"/>
          </p:cNvSpPr>
          <p:nvPr>
            <p:ph type="ftr" sz="quarter" idx="11"/>
          </p:nvPr>
        </p:nvSpPr>
        <p:spPr/>
        <p:txBody>
          <a:bodyPr/>
          <a:lstStyle/>
          <a:p>
            <a:r>
              <a:rPr lang="en-US"/>
              <a:t>Gabriele Carcassi - University of Michigan</a:t>
            </a:r>
          </a:p>
        </p:txBody>
      </p:sp>
      <p:sp>
        <p:nvSpPr>
          <p:cNvPr id="9" name="Slide Number Placeholder 8">
            <a:extLst>
              <a:ext uri="{FF2B5EF4-FFF2-40B4-BE49-F238E27FC236}">
                <a16:creationId xmlns:a16="http://schemas.microsoft.com/office/drawing/2014/main" id="{51FB88B5-3CD1-407E-B5B5-2FDF80D2DBD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28709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BD30F-053D-46F9-9A37-D1DA8923C9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02A0CFC-E613-4829-BB1E-23DC17F1F460}"/>
              </a:ext>
            </a:extLst>
          </p:cNvPr>
          <p:cNvSpPr>
            <a:spLocks noGrp="1"/>
          </p:cNvSpPr>
          <p:nvPr>
            <p:ph type="dt" sz="half" idx="10"/>
          </p:nvPr>
        </p:nvSpPr>
        <p:spPr/>
        <p:txBody>
          <a:bodyPr/>
          <a:lstStyle/>
          <a:p>
            <a:fld id="{B6287A86-4DED-4531-AD0C-FE6F48B43375}" type="datetime1">
              <a:rPr lang="en-US" smtClean="0"/>
              <a:t>6/27/2026</a:t>
            </a:fld>
            <a:endParaRPr lang="en-US"/>
          </a:p>
        </p:txBody>
      </p:sp>
      <p:sp>
        <p:nvSpPr>
          <p:cNvPr id="4" name="Footer Placeholder 3">
            <a:extLst>
              <a:ext uri="{FF2B5EF4-FFF2-40B4-BE49-F238E27FC236}">
                <a16:creationId xmlns:a16="http://schemas.microsoft.com/office/drawing/2014/main" id="{B344F9ED-0DC1-499C-966A-67FA83690F04}"/>
              </a:ext>
            </a:extLst>
          </p:cNvPr>
          <p:cNvSpPr>
            <a:spLocks noGrp="1"/>
          </p:cNvSpPr>
          <p:nvPr>
            <p:ph type="ftr" sz="quarter" idx="11"/>
          </p:nvPr>
        </p:nvSpPr>
        <p:spPr/>
        <p:txBody>
          <a:bodyPr/>
          <a:lstStyle/>
          <a:p>
            <a:r>
              <a:rPr lang="en-US"/>
              <a:t>Gabriele Carcassi - University of Michigan</a:t>
            </a:r>
          </a:p>
        </p:txBody>
      </p:sp>
      <p:sp>
        <p:nvSpPr>
          <p:cNvPr id="5" name="Slide Number Placeholder 4">
            <a:extLst>
              <a:ext uri="{FF2B5EF4-FFF2-40B4-BE49-F238E27FC236}">
                <a16:creationId xmlns:a16="http://schemas.microsoft.com/office/drawing/2014/main" id="{5E2F0D14-ECEA-4749-973A-35A78F792B4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56213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0F97A8DE-26FB-44D4-A9F1-CB9FF4220695}"/>
              </a:ext>
            </a:extLst>
          </p:cNvPr>
          <p:cNvSpPr>
            <a:spLocks noGrp="1"/>
          </p:cNvSpPr>
          <p:nvPr>
            <p:ph type="dt" sz="half" idx="10"/>
          </p:nvPr>
        </p:nvSpPr>
        <p:spPr/>
        <p:txBody>
          <a:bodyPr/>
          <a:lstStyle/>
          <a:p>
            <a:fld id="{2BB7EE58-DC87-4D11-AA22-E3A6718A2E80}" type="datetime1">
              <a:rPr lang="en-US" smtClean="0"/>
              <a:t>6/27/2026</a:t>
            </a:fld>
            <a:endParaRPr lang="en-US" dirty="0"/>
          </a:p>
        </p:txBody>
      </p:sp>
      <p:sp>
        <p:nvSpPr>
          <p:cNvPr id="6" name="Footer Placeholder 5">
            <a:extLst>
              <a:ext uri="{FF2B5EF4-FFF2-40B4-BE49-F238E27FC236}">
                <a16:creationId xmlns:a16="http://schemas.microsoft.com/office/drawing/2014/main" id="{AB56CC65-9693-4336-8892-7DBB0D428480}"/>
              </a:ext>
            </a:extLst>
          </p:cNvPr>
          <p:cNvSpPr>
            <a:spLocks noGrp="1"/>
          </p:cNvSpPr>
          <p:nvPr>
            <p:ph type="ftr" sz="quarter" idx="11"/>
          </p:nvPr>
        </p:nvSpPr>
        <p:spPr/>
        <p:txBody>
          <a:bodyPr/>
          <a:lstStyle/>
          <a:p>
            <a:r>
              <a:rPr lang="en-US"/>
              <a:t>Gabriele Carcassi - University of Michigan</a:t>
            </a:r>
            <a:endParaRPr lang="en-US" dirty="0"/>
          </a:p>
        </p:txBody>
      </p:sp>
      <p:sp>
        <p:nvSpPr>
          <p:cNvPr id="7" name="Slide Number Placeholder 6">
            <a:extLst>
              <a:ext uri="{FF2B5EF4-FFF2-40B4-BE49-F238E27FC236}">
                <a16:creationId xmlns:a16="http://schemas.microsoft.com/office/drawing/2014/main" id="{01092D98-AE7E-447E-AA93-A2032A1FEC20}"/>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858322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36F1-9482-436E-9974-452FA8C0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3F32D-85F2-44AA-81B0-6B60F5AE6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3A3A79-53E7-4E9B-A70E-77106E56CD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D5672-F891-4ED6-8D9F-0B8771B5CE5E}"/>
              </a:ext>
            </a:extLst>
          </p:cNvPr>
          <p:cNvSpPr>
            <a:spLocks noGrp="1"/>
          </p:cNvSpPr>
          <p:nvPr>
            <p:ph type="dt" sz="half" idx="10"/>
          </p:nvPr>
        </p:nvSpPr>
        <p:spPr/>
        <p:txBody>
          <a:bodyPr/>
          <a:lstStyle/>
          <a:p>
            <a:fld id="{F681BEE4-EED9-4644-8E5D-BAF3D04BB52D}" type="datetime1">
              <a:rPr lang="en-US" smtClean="0"/>
              <a:t>6/27/2026</a:t>
            </a:fld>
            <a:endParaRPr lang="en-US"/>
          </a:p>
        </p:txBody>
      </p:sp>
      <p:sp>
        <p:nvSpPr>
          <p:cNvPr id="6" name="Footer Placeholder 5">
            <a:extLst>
              <a:ext uri="{FF2B5EF4-FFF2-40B4-BE49-F238E27FC236}">
                <a16:creationId xmlns:a16="http://schemas.microsoft.com/office/drawing/2014/main" id="{11272739-2C05-4A24-88F6-82BBE08FDB25}"/>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62675969-E211-4DE2-B886-5934860C36F7}"/>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122650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47BCD-8167-44E1-825E-012B66377C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72A2AE-5BB8-4C31-9C94-6EDE7D578B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BD1A6C8-B63C-47F8-8C8C-4DB028D4B5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56164-D348-4A71-AE1D-E22897D3C6B4}"/>
              </a:ext>
            </a:extLst>
          </p:cNvPr>
          <p:cNvSpPr>
            <a:spLocks noGrp="1"/>
          </p:cNvSpPr>
          <p:nvPr>
            <p:ph type="dt" sz="half" idx="10"/>
          </p:nvPr>
        </p:nvSpPr>
        <p:spPr/>
        <p:txBody>
          <a:bodyPr/>
          <a:lstStyle/>
          <a:p>
            <a:fld id="{6E9AAFE7-E238-4DAA-A26B-A60C405FBFD6}" type="datetime1">
              <a:rPr lang="en-US" smtClean="0"/>
              <a:t>6/27/2026</a:t>
            </a:fld>
            <a:endParaRPr lang="en-US"/>
          </a:p>
        </p:txBody>
      </p:sp>
      <p:sp>
        <p:nvSpPr>
          <p:cNvPr id="6" name="Footer Placeholder 5">
            <a:extLst>
              <a:ext uri="{FF2B5EF4-FFF2-40B4-BE49-F238E27FC236}">
                <a16:creationId xmlns:a16="http://schemas.microsoft.com/office/drawing/2014/main" id="{91F6AADB-3A05-424C-9F43-41572E843641}"/>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A6B28A14-221B-4635-AA55-72AC789D4FBE}"/>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955683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61A85-F374-4F3F-BA0C-52075B074A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73497C3-0A16-4208-BEB3-607737FDD7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ED635-7E11-4664-8FBC-36FEBFF2DC4C}"/>
              </a:ext>
            </a:extLst>
          </p:cNvPr>
          <p:cNvSpPr>
            <a:spLocks noGrp="1"/>
          </p:cNvSpPr>
          <p:nvPr>
            <p:ph type="dt" sz="half" idx="10"/>
          </p:nvPr>
        </p:nvSpPr>
        <p:spPr/>
        <p:txBody>
          <a:bodyPr/>
          <a:lstStyle/>
          <a:p>
            <a:fld id="{C2E4689B-730B-4AF6-A7AC-5BF745BF6CF6}" type="datetime1">
              <a:rPr lang="en-US" smtClean="0"/>
              <a:t>6/27/2026</a:t>
            </a:fld>
            <a:endParaRPr lang="en-US"/>
          </a:p>
        </p:txBody>
      </p:sp>
      <p:sp>
        <p:nvSpPr>
          <p:cNvPr id="5" name="Footer Placeholder 4">
            <a:extLst>
              <a:ext uri="{FF2B5EF4-FFF2-40B4-BE49-F238E27FC236}">
                <a16:creationId xmlns:a16="http://schemas.microsoft.com/office/drawing/2014/main" id="{C4B9DE0C-6D6F-4D42-817A-BBD09369DA6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E2E03EC4-334C-45C4-A174-AFF5497F81A4}"/>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7333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597DE0-D863-4430-924C-3EB271CE81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98BD85-A68E-409D-B87F-BAD2034195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EAA6CF-52A1-4471-AFF7-79B37FEF207B}"/>
              </a:ext>
            </a:extLst>
          </p:cNvPr>
          <p:cNvSpPr>
            <a:spLocks noGrp="1"/>
          </p:cNvSpPr>
          <p:nvPr>
            <p:ph type="dt" sz="half" idx="10"/>
          </p:nvPr>
        </p:nvSpPr>
        <p:spPr/>
        <p:txBody>
          <a:bodyPr/>
          <a:lstStyle/>
          <a:p>
            <a:fld id="{849CD730-13C7-4BA8-9C49-4344F22DB36C}" type="datetime1">
              <a:rPr lang="en-US" smtClean="0"/>
              <a:t>6/27/2026</a:t>
            </a:fld>
            <a:endParaRPr lang="en-US"/>
          </a:p>
        </p:txBody>
      </p:sp>
      <p:sp>
        <p:nvSpPr>
          <p:cNvPr id="5" name="Footer Placeholder 4">
            <a:extLst>
              <a:ext uri="{FF2B5EF4-FFF2-40B4-BE49-F238E27FC236}">
                <a16:creationId xmlns:a16="http://schemas.microsoft.com/office/drawing/2014/main" id="{C9E4AF83-3843-42EB-A5A1-2BDCD43FA05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15368DFD-8437-42AF-BA50-3290D8CDC27B}"/>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8859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5AE79D-67AF-4A6E-B20E-A13E26034F0F}"/>
              </a:ext>
            </a:extLst>
          </p:cNvPr>
          <p:cNvSpPr>
            <a:spLocks noGrp="1"/>
          </p:cNvSpPr>
          <p:nvPr>
            <p:ph type="title"/>
          </p:nvPr>
        </p:nvSpPr>
        <p:spPr>
          <a:xfrm>
            <a:off x="103955" y="84779"/>
            <a:ext cx="11984090" cy="89742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EDFF892-5903-470F-A479-331C39379FA1}"/>
              </a:ext>
            </a:extLst>
          </p:cNvPr>
          <p:cNvSpPr>
            <a:spLocks noGrp="1"/>
          </p:cNvSpPr>
          <p:nvPr>
            <p:ph type="body" idx="1"/>
          </p:nvPr>
        </p:nvSpPr>
        <p:spPr>
          <a:xfrm>
            <a:off x="103955" y="1075038"/>
            <a:ext cx="11984090" cy="53817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86424-CA87-4045-BC8B-6EDDC11B3217}"/>
              </a:ext>
            </a:extLst>
          </p:cNvPr>
          <p:cNvSpPr>
            <a:spLocks noGrp="1"/>
          </p:cNvSpPr>
          <p:nvPr>
            <p:ph type="dt" sz="half" idx="2"/>
          </p:nvPr>
        </p:nvSpPr>
        <p:spPr>
          <a:xfrm>
            <a:off x="7604759" y="6580246"/>
            <a:ext cx="2229706" cy="228609"/>
          </a:xfrm>
          <a:prstGeom prst="rect">
            <a:avLst/>
          </a:prstGeom>
        </p:spPr>
        <p:txBody>
          <a:bodyPr vert="horz" lIns="91440" tIns="45720" rIns="91440" bIns="45720" rtlCol="0" anchor="ctr"/>
          <a:lstStyle>
            <a:lvl1pPr algn="l">
              <a:defRPr sz="1200">
                <a:solidFill>
                  <a:schemeClr val="tx1">
                    <a:tint val="75000"/>
                  </a:schemeClr>
                </a:solidFill>
              </a:defRPr>
            </a:lvl1pPr>
          </a:lstStyle>
          <a:p>
            <a:fld id="{F865660A-2FFB-4EA8-A917-E41016B95ABA}" type="datetime1">
              <a:rPr lang="en-US" smtClean="0"/>
              <a:t>6/27/2026</a:t>
            </a:fld>
            <a:endParaRPr lang="en-US" dirty="0"/>
          </a:p>
        </p:txBody>
      </p:sp>
      <p:sp>
        <p:nvSpPr>
          <p:cNvPr id="5" name="Footer Placeholder 4">
            <a:extLst>
              <a:ext uri="{FF2B5EF4-FFF2-40B4-BE49-F238E27FC236}">
                <a16:creationId xmlns:a16="http://schemas.microsoft.com/office/drawing/2014/main" id="{3A6D1E3F-305F-48EC-9661-A5555D6D9141}"/>
              </a:ext>
            </a:extLst>
          </p:cNvPr>
          <p:cNvSpPr>
            <a:spLocks noGrp="1"/>
          </p:cNvSpPr>
          <p:nvPr>
            <p:ph type="ftr" sz="quarter" idx="3"/>
          </p:nvPr>
        </p:nvSpPr>
        <p:spPr>
          <a:xfrm>
            <a:off x="119730" y="6565529"/>
            <a:ext cx="5967867" cy="235967"/>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Gabriele Carcassi - University of Michigan</a:t>
            </a:r>
            <a:endParaRPr lang="en-US" dirty="0"/>
          </a:p>
        </p:txBody>
      </p:sp>
      <p:sp>
        <p:nvSpPr>
          <p:cNvPr id="6" name="Slide Number Placeholder 5">
            <a:extLst>
              <a:ext uri="{FF2B5EF4-FFF2-40B4-BE49-F238E27FC236}">
                <a16:creationId xmlns:a16="http://schemas.microsoft.com/office/drawing/2014/main" id="{1B9D7172-52C7-47AA-A8CB-03E0DDB3662E}"/>
              </a:ext>
            </a:extLst>
          </p:cNvPr>
          <p:cNvSpPr>
            <a:spLocks noGrp="1"/>
          </p:cNvSpPr>
          <p:nvPr>
            <p:ph type="sldNum" sz="quarter" idx="4"/>
          </p:nvPr>
        </p:nvSpPr>
        <p:spPr>
          <a:xfrm>
            <a:off x="11540178" y="6572888"/>
            <a:ext cx="555908" cy="228609"/>
          </a:xfrm>
          <a:prstGeom prst="rect">
            <a:avLst/>
          </a:prstGeom>
        </p:spPr>
        <p:txBody>
          <a:bodyPr vert="horz" lIns="91440" tIns="45720" rIns="91440" bIns="45720" rtlCol="0" anchor="ctr"/>
          <a:lstStyle>
            <a:lvl1pPr algn="r">
              <a:defRPr sz="1200">
                <a:solidFill>
                  <a:schemeClr val="tx1">
                    <a:tint val="75000"/>
                  </a:schemeClr>
                </a:solidFill>
              </a:defRPr>
            </a:lvl1pPr>
          </a:lstStyle>
          <a:p>
            <a:fld id="{F47845EA-7733-40EE-B074-20032348B727}" type="slidenum">
              <a:rPr lang="en-US" smtClean="0"/>
              <a:t>‹#›</a:t>
            </a:fld>
            <a:endParaRPr lang="en-US"/>
          </a:p>
        </p:txBody>
      </p:sp>
      <p:sp>
        <p:nvSpPr>
          <p:cNvPr id="7" name="Oval 6">
            <a:extLst>
              <a:ext uri="{FF2B5EF4-FFF2-40B4-BE49-F238E27FC236}">
                <a16:creationId xmlns:a16="http://schemas.microsoft.com/office/drawing/2014/main" id="{B1AA285D-1676-8476-E3FF-1782C3DC601F}"/>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TextBox 11">
            <a:extLst>
              <a:ext uri="{FF2B5EF4-FFF2-40B4-BE49-F238E27FC236}">
                <a16:creationId xmlns:a16="http://schemas.microsoft.com/office/drawing/2014/main" id="{93C0152C-5722-D560-A1D1-83330A0E1841}"/>
              </a:ext>
            </a:extLst>
          </p:cNvPr>
          <p:cNvSpPr txBox="1"/>
          <p:nvPr userDrawn="1"/>
        </p:nvSpPr>
        <p:spPr>
          <a:xfrm>
            <a:off x="9723330" y="5954370"/>
            <a:ext cx="2151551" cy="261610"/>
          </a:xfrm>
          <a:prstGeom prst="rect">
            <a:avLst/>
          </a:prstGeom>
          <a:noFill/>
        </p:spPr>
        <p:txBody>
          <a:bodyPr wrap="none">
            <a:spAutoFit/>
          </a:bodyPr>
          <a:lstStyle/>
          <a:p>
            <a:r>
              <a:rPr lang="en-US" sz="1100" dirty="0"/>
              <a:t>https://assumptionsofphysics.org/</a:t>
            </a:r>
          </a:p>
        </p:txBody>
      </p:sp>
      <p:pic>
        <p:nvPicPr>
          <p:cNvPr id="14" name="Picture 13">
            <a:extLst>
              <a:ext uri="{FF2B5EF4-FFF2-40B4-BE49-F238E27FC236}">
                <a16:creationId xmlns:a16="http://schemas.microsoft.com/office/drawing/2014/main" id="{12EABDBC-29F5-54A5-0B74-DE652EDCED6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421201" y="5161572"/>
            <a:ext cx="755811" cy="686976"/>
          </a:xfrm>
          <a:prstGeom prst="rect">
            <a:avLst/>
          </a:prstGeom>
        </p:spPr>
      </p:pic>
      <p:pic>
        <p:nvPicPr>
          <p:cNvPr id="17" name="Picture 16">
            <a:extLst>
              <a:ext uri="{FF2B5EF4-FFF2-40B4-BE49-F238E27FC236}">
                <a16:creationId xmlns:a16="http://schemas.microsoft.com/office/drawing/2014/main" id="{90CDCAE5-166F-5A8D-47B6-2316E82EF1EA}"/>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24150" y="6274104"/>
            <a:ext cx="1313865" cy="445983"/>
          </a:xfrm>
          <a:prstGeom prst="rect">
            <a:avLst/>
          </a:prstGeom>
        </p:spPr>
      </p:pic>
    </p:spTree>
    <p:extLst>
      <p:ext uri="{BB962C8B-B14F-4D97-AF65-F5344CB8AC3E}">
        <p14:creationId xmlns:p14="http://schemas.microsoft.com/office/powerpoint/2010/main" val="3603477694"/>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hf sldNum="0" hdr="0" ftr="0" dt="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50.png"/><Relationship Id="rId7" Type="http://schemas.openxmlformats.org/officeDocument/2006/relationships/image" Target="../media/image57.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51.png"/><Relationship Id="rId4" Type="http://schemas.openxmlformats.org/officeDocument/2006/relationships/image" Target="../media/image41.png"/></Relationships>
</file>

<file path=ppt/slides/_rels/slide7.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0.png"/><Relationship Id="rId7" Type="http://schemas.openxmlformats.org/officeDocument/2006/relationships/image" Target="../media/image62.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61.png"/><Relationship Id="rId11" Type="http://schemas.openxmlformats.org/officeDocument/2006/relationships/image" Target="../media/image65.png"/><Relationship Id="rId5" Type="http://schemas.openxmlformats.org/officeDocument/2006/relationships/image" Target="../media/image55.png"/><Relationship Id="rId10" Type="http://schemas.openxmlformats.org/officeDocument/2006/relationships/image" Target="../media/image51.png"/><Relationship Id="rId4" Type="http://schemas.openxmlformats.org/officeDocument/2006/relationships/image" Target="../media/image41.png"/><Relationship Id="rId9" Type="http://schemas.openxmlformats.org/officeDocument/2006/relationships/image" Target="../media/image64.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52.png"/><Relationship Id="rId3" Type="http://schemas.openxmlformats.org/officeDocument/2006/relationships/image" Target="../media/image38.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image" Target="../media/image37.png"/><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0.png"/><Relationship Id="rId15" Type="http://schemas.openxmlformats.org/officeDocument/2006/relationships/image" Target="../media/image54.png"/><Relationship Id="rId10" Type="http://schemas.openxmlformats.org/officeDocument/2006/relationships/image" Target="../media/image46.png"/><Relationship Id="rId4" Type="http://schemas.openxmlformats.org/officeDocument/2006/relationships/image" Target="../media/image39.png"/><Relationship Id="rId9" Type="http://schemas.openxmlformats.org/officeDocument/2006/relationships/image" Target="../media/image45.png"/><Relationship Id="rId14" Type="http://schemas.openxmlformats.org/officeDocument/2006/relationships/image" Target="../media/image53.png"/></Relationships>
</file>

<file path=ppt/slides/_rels/slide12.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59.png"/><Relationship Id="rId7" Type="http://schemas.openxmlformats.org/officeDocument/2006/relationships/image" Target="../media/image68.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7.png"/><Relationship Id="rId5" Type="http://schemas.openxmlformats.org/officeDocument/2006/relationships/image" Target="../media/image66.png"/><Relationship Id="rId10" Type="http://schemas.openxmlformats.org/officeDocument/2006/relationships/image" Target="../media/image71.png"/><Relationship Id="rId4" Type="http://schemas.openxmlformats.org/officeDocument/2006/relationships/image" Target="../media/image60.png"/><Relationship Id="rId9" Type="http://schemas.openxmlformats.org/officeDocument/2006/relationships/image" Target="../media/image70.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73.png"/><Relationship Id="rId5" Type="http://schemas.openxmlformats.org/officeDocument/2006/relationships/image" Target="../media/image16.png"/><Relationship Id="rId10" Type="http://schemas.openxmlformats.org/officeDocument/2006/relationships/image" Target="../media/image72.png"/><Relationship Id="rId4" Type="http://schemas.openxmlformats.org/officeDocument/2006/relationships/image" Target="../media/image15.png"/><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510.png"/><Relationship Id="rId13" Type="http://schemas.openxmlformats.org/officeDocument/2006/relationships/image" Target="../media/image480.png"/><Relationship Id="rId3" Type="http://schemas.openxmlformats.org/officeDocument/2006/relationships/image" Target="../media/image460.png"/><Relationship Id="rId7" Type="http://schemas.openxmlformats.org/officeDocument/2006/relationships/image" Target="../media/image531.png"/><Relationship Id="rId12" Type="http://schemas.openxmlformats.org/officeDocument/2006/relationships/image" Target="../media/image560.png"/><Relationship Id="rId2" Type="http://schemas.openxmlformats.org/officeDocument/2006/relationships/image" Target="../media/image450.png"/><Relationship Id="rId1" Type="http://schemas.openxmlformats.org/officeDocument/2006/relationships/slideLayout" Target="../slideLayouts/slideLayout7.xml"/><Relationship Id="rId11" Type="http://schemas.openxmlformats.org/officeDocument/2006/relationships/image" Target="../media/image540.png"/><Relationship Id="rId10" Type="http://schemas.openxmlformats.org/officeDocument/2006/relationships/image" Target="../media/image530.png"/><Relationship Id="rId4" Type="http://schemas.openxmlformats.org/officeDocument/2006/relationships/image" Target="../media/image470.png"/><Relationship Id="rId9" Type="http://schemas.openxmlformats.org/officeDocument/2006/relationships/image" Target="../media/image520.png"/></Relationships>
</file>

<file path=ppt/slides/_rels/slide16.xml.rels><?xml version="1.0" encoding="UTF-8" standalone="yes"?>
<Relationships xmlns="http://schemas.openxmlformats.org/package/2006/relationships"><Relationship Id="rId8" Type="http://schemas.openxmlformats.org/officeDocument/2006/relationships/image" Target="../media/image590.png"/><Relationship Id="rId3" Type="http://schemas.openxmlformats.org/officeDocument/2006/relationships/image" Target="../media/image50.png"/><Relationship Id="rId7" Type="http://schemas.openxmlformats.org/officeDocument/2006/relationships/image" Target="../media/image521.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5.png"/><Relationship Id="rId11" Type="http://schemas.openxmlformats.org/officeDocument/2006/relationships/image" Target="../media/image62.png"/><Relationship Id="rId5" Type="http://schemas.openxmlformats.org/officeDocument/2006/relationships/image" Target="../media/image51.png"/><Relationship Id="rId10" Type="http://schemas.openxmlformats.org/officeDocument/2006/relationships/image" Target="../media/image600.png"/><Relationship Id="rId4" Type="http://schemas.openxmlformats.org/officeDocument/2006/relationships/image" Target="../media/image41.png"/><Relationship Id="rId9" Type="http://schemas.openxmlformats.org/officeDocument/2006/relationships/image" Target="../media/image580.png"/></Relationships>
</file>

<file path=ppt/slides/_rels/slide17.xml.rels><?xml version="1.0" encoding="UTF-8" standalone="yes"?>
<Relationships xmlns="http://schemas.openxmlformats.org/package/2006/relationships"><Relationship Id="rId8" Type="http://schemas.openxmlformats.org/officeDocument/2006/relationships/image" Target="../media/image660.png"/><Relationship Id="rId3" Type="http://schemas.openxmlformats.org/officeDocument/2006/relationships/image" Target="../media/image50.png"/><Relationship Id="rId7"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62.png"/><Relationship Id="rId11" Type="http://schemas.openxmlformats.org/officeDocument/2006/relationships/image" Target="../media/image700.png"/><Relationship Id="rId5" Type="http://schemas.openxmlformats.org/officeDocument/2006/relationships/image" Target="../media/image55.png"/><Relationship Id="rId10" Type="http://schemas.openxmlformats.org/officeDocument/2006/relationships/image" Target="../media/image690.png"/><Relationship Id="rId4" Type="http://schemas.openxmlformats.org/officeDocument/2006/relationships/image" Target="../media/image41.png"/><Relationship Id="rId9" Type="http://schemas.openxmlformats.org/officeDocument/2006/relationships/image" Target="../media/image680.png"/></Relationships>
</file>

<file path=ppt/slides/_rels/slide18.xml.rels><?xml version="1.0" encoding="UTF-8" standalone="yes"?>
<Relationships xmlns="http://schemas.openxmlformats.org/package/2006/relationships"><Relationship Id="rId8" Type="http://schemas.openxmlformats.org/officeDocument/2006/relationships/image" Target="../media/image380.png"/><Relationship Id="rId3" Type="http://schemas.openxmlformats.org/officeDocument/2006/relationships/image" Target="../media/image720.png"/><Relationship Id="rId7" Type="http://schemas.openxmlformats.org/officeDocument/2006/relationships/image" Target="../media/image76.png"/><Relationship Id="rId2" Type="http://schemas.openxmlformats.org/officeDocument/2006/relationships/image" Target="../media/image710.png"/><Relationship Id="rId1" Type="http://schemas.openxmlformats.org/officeDocument/2006/relationships/slideLayout" Target="../slideLayouts/slideLayout7.xml"/><Relationship Id="rId6" Type="http://schemas.openxmlformats.org/officeDocument/2006/relationships/image" Target="../media/image75.png"/><Relationship Id="rId4" Type="http://schemas.openxmlformats.org/officeDocument/2006/relationships/image" Target="../media/image74.png"/></Relationships>
</file>

<file path=ppt/slides/_rels/slide1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20.xml.rels><?xml version="1.0" encoding="UTF-8" standalone="yes"?>
<Relationships xmlns="http://schemas.openxmlformats.org/package/2006/relationships"><Relationship Id="rId2" Type="http://schemas.openxmlformats.org/officeDocument/2006/relationships/image" Target="../media/image73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74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9CB09A4-A438-3C2F-7385-A9C475B8390A}"/>
              </a:ext>
            </a:extLst>
          </p:cNvPr>
          <p:cNvSpPr>
            <a:spLocks noGrp="1"/>
          </p:cNvSpPr>
          <p:nvPr>
            <p:ph type="ctrTitle"/>
          </p:nvPr>
        </p:nvSpPr>
        <p:spPr>
          <a:xfrm>
            <a:off x="1524000" y="1122363"/>
            <a:ext cx="9144000" cy="2387600"/>
          </a:xfrm>
        </p:spPr>
        <p:txBody>
          <a:bodyPr>
            <a:normAutofit/>
          </a:bodyPr>
          <a:lstStyle/>
          <a:p>
            <a:r>
              <a:rPr lang="en-US" dirty="0"/>
              <a:t>Born rule is entropy</a:t>
            </a:r>
          </a:p>
        </p:txBody>
      </p:sp>
      <p:sp>
        <p:nvSpPr>
          <p:cNvPr id="11" name="Subtitle 2">
            <a:extLst>
              <a:ext uri="{FF2B5EF4-FFF2-40B4-BE49-F238E27FC236}">
                <a16:creationId xmlns:a16="http://schemas.microsoft.com/office/drawing/2014/main" id="{F7526EB5-6349-1B82-B5F3-D13CA153F9B4}"/>
              </a:ext>
            </a:extLst>
          </p:cNvPr>
          <p:cNvSpPr>
            <a:spLocks noGrp="1"/>
          </p:cNvSpPr>
          <p:nvPr>
            <p:ph type="subTitle" idx="1"/>
          </p:nvPr>
        </p:nvSpPr>
        <p:spPr>
          <a:xfrm>
            <a:off x="1524000" y="3602038"/>
            <a:ext cx="9144000" cy="1655762"/>
          </a:xfrm>
        </p:spPr>
        <p:txBody>
          <a:bodyPr/>
          <a:lstStyle/>
          <a:p>
            <a:r>
              <a:rPr lang="en-US" dirty="0"/>
              <a:t>Gabriele </a:t>
            </a:r>
            <a:r>
              <a:rPr lang="en-US" dirty="0" err="1"/>
              <a:t>Carcassi</a:t>
            </a:r>
            <a:endParaRPr lang="en-US" dirty="0"/>
          </a:p>
        </p:txBody>
      </p:sp>
    </p:spTree>
    <p:extLst>
      <p:ext uri="{BB962C8B-B14F-4D97-AF65-F5344CB8AC3E}">
        <p14:creationId xmlns:p14="http://schemas.microsoft.com/office/powerpoint/2010/main" val="7275308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2F4C9BC4-E94A-0851-0A4C-2906C6C2EF81}"/>
                  </a:ext>
                </a:extLst>
              </p:cNvPr>
              <p:cNvSpPr txBox="1"/>
              <p:nvPr/>
            </p:nvSpPr>
            <p:spPr>
              <a:xfrm>
                <a:off x="2657856" y="3022272"/>
                <a:ext cx="6082050" cy="164641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800" i="1">
                          <a:latin typeface="Cambria Math" panose="02040503050406030204" pitchFamily="18" charset="0"/>
                        </a:rPr>
                        <m:t>𝑝</m:t>
                      </m:r>
                      <m:d>
                        <m:dPr>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𝜙</m:t>
                          </m:r>
                        </m:e>
                      </m:d>
                      <m:r>
                        <a:rPr lang="en-US" sz="4800" i="1">
                          <a:latin typeface="Cambria Math" panose="02040503050406030204" pitchFamily="18" charset="0"/>
                        </a:rPr>
                        <m:t>=</m:t>
                      </m:r>
                      <m:f>
                        <m:fPr>
                          <m:ctrlPr>
                            <a:rPr lang="en-US" sz="4800" i="1">
                              <a:latin typeface="Cambria Math" panose="02040503050406030204" pitchFamily="18" charset="0"/>
                            </a:rPr>
                          </m:ctrlPr>
                        </m:fPr>
                        <m:num>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𝜙</m:t>
                              </m:r>
                            </m:e>
                          </m:d>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𝜙</m:t>
                              </m:r>
                            </m:e>
                            <m:e>
                              <m:r>
                                <a:rPr lang="en-US" sz="4800" i="1">
                                  <a:latin typeface="Cambria Math" panose="02040503050406030204" pitchFamily="18" charset="0"/>
                                </a:rPr>
                                <m:t>𝜓</m:t>
                              </m:r>
                            </m:e>
                          </m:d>
                        </m:num>
                        <m:den>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𝜓</m:t>
                              </m:r>
                            </m:e>
                            <m:e>
                              <m:r>
                                <a:rPr lang="en-US" sz="4800" i="1">
                                  <a:latin typeface="Cambria Math" panose="02040503050406030204" pitchFamily="18" charset="0"/>
                                </a:rPr>
                                <m:t>𝜓</m:t>
                              </m:r>
                            </m:e>
                          </m:d>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𝜙</m:t>
                              </m:r>
                            </m:e>
                            <m:e>
                              <m:r>
                                <a:rPr lang="en-US" sz="4800" i="1">
                                  <a:latin typeface="Cambria Math" panose="02040503050406030204" pitchFamily="18" charset="0"/>
                                </a:rPr>
                                <m:t>𝜙</m:t>
                              </m:r>
                            </m:e>
                          </m:d>
                        </m:den>
                      </m:f>
                    </m:oMath>
                  </m:oMathPara>
                </a14:m>
                <a:endParaRPr lang="en-US" sz="4800" dirty="0"/>
              </a:p>
            </p:txBody>
          </p:sp>
        </mc:Choice>
        <mc:Fallback>
          <p:sp>
            <p:nvSpPr>
              <p:cNvPr id="2" name="TextBox 1">
                <a:extLst>
                  <a:ext uri="{FF2B5EF4-FFF2-40B4-BE49-F238E27FC236}">
                    <a16:creationId xmlns:a16="http://schemas.microsoft.com/office/drawing/2014/main" id="{2F4C9BC4-E94A-0851-0A4C-2906C6C2EF81}"/>
                  </a:ext>
                </a:extLst>
              </p:cNvPr>
              <p:cNvSpPr txBox="1">
                <a:spLocks noRot="1" noChangeAspect="1" noMove="1" noResize="1" noEditPoints="1" noAdjustHandles="1" noChangeArrowheads="1" noChangeShapeType="1" noTextEdit="1"/>
              </p:cNvSpPr>
              <p:nvPr/>
            </p:nvSpPr>
            <p:spPr>
              <a:xfrm>
                <a:off x="2657856" y="3022272"/>
                <a:ext cx="6082050" cy="1646413"/>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B7F1DAEC-600D-10CA-01BD-EABAABE637A7}"/>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p:cxnSp>
        <p:nvCxnSpPr>
          <p:cNvPr id="28" name="Straight Arrow Connector 27">
            <a:extLst>
              <a:ext uri="{FF2B5EF4-FFF2-40B4-BE49-F238E27FC236}">
                <a16:creationId xmlns:a16="http://schemas.microsoft.com/office/drawing/2014/main" id="{FE13CF7A-4D1B-D128-9D87-CB3DB43034A6}"/>
              </a:ext>
            </a:extLst>
          </p:cNvPr>
          <p:cNvCxnSpPr>
            <a:cxnSpLocks/>
          </p:cNvCxnSpPr>
          <p:nvPr/>
        </p:nvCxnSpPr>
        <p:spPr>
          <a:xfrm flipH="1">
            <a:off x="3791712" y="2189316"/>
            <a:ext cx="1597152" cy="13920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CFC6A594-7672-0F06-BDCB-92825258BA0F}"/>
                  </a:ext>
                </a:extLst>
              </p:cNvPr>
              <p:cNvSpPr txBox="1"/>
              <p:nvPr/>
            </p:nvSpPr>
            <p:spPr>
              <a:xfrm>
                <a:off x="193198" y="1481430"/>
                <a:ext cx="11805604" cy="707886"/>
              </a:xfrm>
              <a:prstGeom prst="rect">
                <a:avLst/>
              </a:prstGeom>
              <a:noFill/>
            </p:spPr>
            <p:txBody>
              <a:bodyPr wrap="none" rtlCol="0">
                <a:spAutoFit/>
              </a:bodyPr>
              <a:lstStyle/>
              <a:p>
                <a:r>
                  <a:rPr lang="en-US" sz="4000" dirty="0"/>
                  <a:t>Probability of measuring </a:t>
                </a:r>
                <a14:m>
                  <m:oMath xmlns:m="http://schemas.openxmlformats.org/officeDocument/2006/math">
                    <m:r>
                      <a:rPr lang="en-US" sz="4000" b="0" i="1" smtClean="0">
                        <a:latin typeface="Cambria Math" panose="02040503050406030204" pitchFamily="18" charset="0"/>
                      </a:rPr>
                      <m:t>𝜓</m:t>
                    </m:r>
                  </m:oMath>
                </a14:m>
                <a:r>
                  <a:rPr lang="en-US" sz="4000" dirty="0"/>
                  <a:t> given that I have prepared </a:t>
                </a:r>
                <a14:m>
                  <m:oMath xmlns:m="http://schemas.openxmlformats.org/officeDocument/2006/math">
                    <m:r>
                      <a:rPr lang="en-US" sz="4000" b="0" i="1" smtClean="0">
                        <a:latin typeface="Cambria Math" panose="02040503050406030204" pitchFamily="18" charset="0"/>
                      </a:rPr>
                      <m:t>𝜙</m:t>
                    </m:r>
                  </m:oMath>
                </a14:m>
                <a:endParaRPr lang="en-US" sz="4000" dirty="0"/>
              </a:p>
            </p:txBody>
          </p:sp>
        </mc:Choice>
        <mc:Fallback>
          <p:sp>
            <p:nvSpPr>
              <p:cNvPr id="31" name="TextBox 30">
                <a:extLst>
                  <a:ext uri="{FF2B5EF4-FFF2-40B4-BE49-F238E27FC236}">
                    <a16:creationId xmlns:a16="http://schemas.microsoft.com/office/drawing/2014/main" id="{CFC6A594-7672-0F06-BDCB-92825258BA0F}"/>
                  </a:ext>
                </a:extLst>
              </p:cNvPr>
              <p:cNvSpPr txBox="1">
                <a:spLocks noRot="1" noChangeAspect="1" noMove="1" noResize="1" noEditPoints="1" noAdjustHandles="1" noChangeArrowheads="1" noChangeShapeType="1" noTextEdit="1"/>
              </p:cNvSpPr>
              <p:nvPr/>
            </p:nvSpPr>
            <p:spPr>
              <a:xfrm>
                <a:off x="193198" y="1481430"/>
                <a:ext cx="11805604" cy="707886"/>
              </a:xfrm>
              <a:prstGeom prst="rect">
                <a:avLst/>
              </a:prstGeom>
              <a:blipFill>
                <a:blip r:embed="rId3"/>
                <a:stretch>
                  <a:fillRect l="-1860" t="-15517" b="-36207"/>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3CC2D3C7-08CB-D149-7014-5D265DDDB8A7}"/>
              </a:ext>
            </a:extLst>
          </p:cNvPr>
          <p:cNvCxnSpPr>
            <a:cxnSpLocks/>
          </p:cNvCxnSpPr>
          <p:nvPr/>
        </p:nvCxnSpPr>
        <p:spPr>
          <a:xfrm flipH="1">
            <a:off x="4764961" y="2072640"/>
            <a:ext cx="6585791" cy="1572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83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C3CD0-7DC0-F50C-FAA2-E1422B54D7EA}"/>
            </a:ext>
          </a:extLst>
        </p:cNvPr>
        <p:cNvGrpSpPr/>
        <p:nvPr/>
      </p:nvGrpSpPr>
      <p:grpSpPr>
        <a:xfrm>
          <a:off x="0" y="0"/>
          <a:ext cx="0" cy="0"/>
          <a:chOff x="0" y="0"/>
          <a:chExt cx="0" cy="0"/>
        </a:xfrm>
      </p:grpSpPr>
      <p:cxnSp>
        <p:nvCxnSpPr>
          <p:cNvPr id="60" name="Straight Connector 59">
            <a:extLst>
              <a:ext uri="{FF2B5EF4-FFF2-40B4-BE49-F238E27FC236}">
                <a16:creationId xmlns:a16="http://schemas.microsoft.com/office/drawing/2014/main" id="{93571AF4-9962-247B-8724-3E78169825E6}"/>
              </a:ext>
            </a:extLst>
          </p:cNvPr>
          <p:cNvCxnSpPr>
            <a:cxnSpLocks/>
            <a:stCxn id="66" idx="0"/>
            <a:endCxn id="66" idx="4"/>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3A3E236F-A20E-A7A6-4AA9-B3F44C6B9B30}"/>
              </a:ext>
            </a:extLst>
          </p:cNvPr>
          <p:cNvCxnSpPr>
            <a:cxnSpLocks/>
            <a:endCxn id="66" idx="0"/>
          </p:cNvCxnSpPr>
          <p:nvPr/>
        </p:nvCxnSpPr>
        <p:spPr>
          <a:xfrm flipV="1">
            <a:off x="8192807" y="1555785"/>
            <a:ext cx="6" cy="1788848"/>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38BC959-7C6B-703E-FFC6-9D2B77F99C58}"/>
              </a:ext>
            </a:extLst>
          </p:cNvPr>
          <p:cNvSpPr txBox="1"/>
          <p:nvPr/>
        </p:nvSpPr>
        <p:spPr>
          <a:xfrm>
            <a:off x="4841490" y="218366"/>
            <a:ext cx="2509020" cy="830997"/>
          </a:xfrm>
          <a:prstGeom prst="rect">
            <a:avLst/>
          </a:prstGeom>
          <a:noFill/>
        </p:spPr>
        <p:txBody>
          <a:bodyPr wrap="none" rtlCol="0">
            <a:spAutoFit/>
          </a:bodyPr>
          <a:lstStyle/>
          <a:p>
            <a:r>
              <a:rPr lang="en-US" sz="4800" dirty="0"/>
              <a:t>Born rule</a:t>
            </a:r>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7407BB39-2E35-13B4-1490-F56866110CE5}"/>
                  </a:ext>
                </a:extLst>
              </p:cNvPr>
              <p:cNvSpPr txBox="1"/>
              <p:nvPr/>
            </p:nvSpPr>
            <p:spPr>
              <a:xfrm>
                <a:off x="2614363" y="995841"/>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p:sp>
            <p:nvSpPr>
              <p:cNvPr id="38" name="TextBox 37">
                <a:extLst>
                  <a:ext uri="{FF2B5EF4-FFF2-40B4-BE49-F238E27FC236}">
                    <a16:creationId xmlns:a16="http://schemas.microsoft.com/office/drawing/2014/main" id="{7407BB39-2E35-13B4-1490-F56866110CE5}"/>
                  </a:ext>
                </a:extLst>
              </p:cNvPr>
              <p:cNvSpPr txBox="1">
                <a:spLocks noRot="1" noChangeAspect="1" noMove="1" noResize="1" noEditPoints="1" noAdjustHandles="1" noChangeArrowheads="1" noChangeShapeType="1" noTextEdit="1"/>
              </p:cNvSpPr>
              <p:nvPr/>
            </p:nvSpPr>
            <p:spPr>
              <a:xfrm>
                <a:off x="2614363" y="995841"/>
                <a:ext cx="474489" cy="461665"/>
              </a:xfrm>
              <a:prstGeom prst="rect">
                <a:avLst/>
              </a:prstGeom>
              <a:blipFill>
                <a:blip r:embed="rId2"/>
                <a:stretch>
                  <a:fillRect l="-2564" r="-1282" b="-17105"/>
                </a:stretch>
              </a:blipFill>
            </p:spPr>
            <p:txBody>
              <a:bodyPr/>
              <a:lstStyle/>
              <a:p>
                <a:r>
                  <a:rPr lang="en-US">
                    <a:noFill/>
                  </a:rPr>
                  <a:t> </a:t>
                </a:r>
              </a:p>
            </p:txBody>
          </p:sp>
        </mc:Fallback>
      </mc:AlternateContent>
      <p:grpSp>
        <p:nvGrpSpPr>
          <p:cNvPr id="79" name="Group 78">
            <a:extLst>
              <a:ext uri="{FF2B5EF4-FFF2-40B4-BE49-F238E27FC236}">
                <a16:creationId xmlns:a16="http://schemas.microsoft.com/office/drawing/2014/main" id="{1C08138E-2085-4125-C634-354BFCF8F3E3}"/>
              </a:ext>
            </a:extLst>
          </p:cNvPr>
          <p:cNvGrpSpPr/>
          <p:nvPr/>
        </p:nvGrpSpPr>
        <p:grpSpPr>
          <a:xfrm>
            <a:off x="1037397" y="1511028"/>
            <a:ext cx="3577706" cy="3538485"/>
            <a:chOff x="1202189" y="1744892"/>
            <a:chExt cx="3077365" cy="3077101"/>
          </a:xfrm>
        </p:grpSpPr>
        <p:cxnSp>
          <p:nvCxnSpPr>
            <p:cNvPr id="56" name="Straight Connector 55">
              <a:extLst>
                <a:ext uri="{FF2B5EF4-FFF2-40B4-BE49-F238E27FC236}">
                  <a16:creationId xmlns:a16="http://schemas.microsoft.com/office/drawing/2014/main" id="{6535A716-6E6F-EF1F-F5D6-7942AAF015CA}"/>
                </a:ext>
              </a:extLst>
            </p:cNvPr>
            <p:cNvCxnSpPr>
              <a:stCxn id="36" idx="0"/>
              <a:endCxn id="36"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F6BC89F7-F52E-13DB-77A4-8019F3F9AC39}"/>
                </a:ext>
              </a:extLst>
            </p:cNvPr>
            <p:cNvGrpSpPr/>
            <p:nvPr/>
          </p:nvGrpSpPr>
          <p:grpSpPr>
            <a:xfrm>
              <a:off x="1202189" y="1744892"/>
              <a:ext cx="3077365" cy="3077101"/>
              <a:chOff x="2521889" y="2808131"/>
              <a:chExt cx="1916430" cy="1916266"/>
            </a:xfrm>
          </p:grpSpPr>
          <p:sp>
            <p:nvSpPr>
              <p:cNvPr id="25" name="Oval 24">
                <a:extLst>
                  <a:ext uri="{FF2B5EF4-FFF2-40B4-BE49-F238E27FC236}">
                    <a16:creationId xmlns:a16="http://schemas.microsoft.com/office/drawing/2014/main" id="{63694BB4-8AD5-179F-08EF-4D7DEA24A2C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26" name="Oval 31">
                <a:extLst>
                  <a:ext uri="{FF2B5EF4-FFF2-40B4-BE49-F238E27FC236}">
                    <a16:creationId xmlns:a16="http://schemas.microsoft.com/office/drawing/2014/main" id="{D3480056-D23D-3666-8EC9-8875A02857CF}"/>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Oval 26">
                <a:extLst>
                  <a:ext uri="{FF2B5EF4-FFF2-40B4-BE49-F238E27FC236}">
                    <a16:creationId xmlns:a16="http://schemas.microsoft.com/office/drawing/2014/main" id="{AB5334B6-CA34-5F29-E442-8183F69D1A80}"/>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29" name="Group 28">
                <a:extLst>
                  <a:ext uri="{FF2B5EF4-FFF2-40B4-BE49-F238E27FC236}">
                    <a16:creationId xmlns:a16="http://schemas.microsoft.com/office/drawing/2014/main" id="{67669F7C-41F3-6154-24A3-7469FAEC4175}"/>
                  </a:ext>
                </a:extLst>
              </p:cNvPr>
              <p:cNvGrpSpPr/>
              <p:nvPr/>
            </p:nvGrpSpPr>
            <p:grpSpPr>
              <a:xfrm>
                <a:off x="2923755" y="2808131"/>
                <a:ext cx="1112528" cy="1916266"/>
                <a:chOff x="2734489" y="2655731"/>
                <a:chExt cx="1186260" cy="1916266"/>
              </a:xfrm>
            </p:grpSpPr>
            <p:sp>
              <p:nvSpPr>
                <p:cNvPr id="35" name="Oval 34">
                  <a:extLst>
                    <a:ext uri="{FF2B5EF4-FFF2-40B4-BE49-F238E27FC236}">
                      <a16:creationId xmlns:a16="http://schemas.microsoft.com/office/drawing/2014/main" id="{4C9B42DF-2AEB-EEAD-833D-360190021F83}"/>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36" name="Oval 9">
                  <a:extLst>
                    <a:ext uri="{FF2B5EF4-FFF2-40B4-BE49-F238E27FC236}">
                      <a16:creationId xmlns:a16="http://schemas.microsoft.com/office/drawing/2014/main" id="{806E26A6-672D-3BAB-511B-D213844A7A65}"/>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30" name="Group 29">
                <a:extLst>
                  <a:ext uri="{FF2B5EF4-FFF2-40B4-BE49-F238E27FC236}">
                    <a16:creationId xmlns:a16="http://schemas.microsoft.com/office/drawing/2014/main" id="{B8533739-78DE-88D3-EFBF-B9AE053F257B}"/>
                  </a:ext>
                </a:extLst>
              </p:cNvPr>
              <p:cNvGrpSpPr/>
              <p:nvPr/>
            </p:nvGrpSpPr>
            <p:grpSpPr>
              <a:xfrm rot="16200000">
                <a:off x="2923922" y="2810085"/>
                <a:ext cx="1112528" cy="1916266"/>
                <a:chOff x="2734489" y="2655731"/>
                <a:chExt cx="1186260" cy="1916266"/>
              </a:xfrm>
            </p:grpSpPr>
            <p:sp>
              <p:nvSpPr>
                <p:cNvPr id="32" name="Oval 31">
                  <a:extLst>
                    <a:ext uri="{FF2B5EF4-FFF2-40B4-BE49-F238E27FC236}">
                      <a16:creationId xmlns:a16="http://schemas.microsoft.com/office/drawing/2014/main" id="{9B543FFB-6989-E3CC-F071-99BA7AA9CFBB}"/>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33" name="Oval 9">
                  <a:extLst>
                    <a:ext uri="{FF2B5EF4-FFF2-40B4-BE49-F238E27FC236}">
                      <a16:creationId xmlns:a16="http://schemas.microsoft.com/office/drawing/2014/main" id="{9906CE72-04E0-E0E3-C5E3-A2963225D33C}"/>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cxnSp>
          <p:nvCxnSpPr>
            <p:cNvPr id="43" name="Straight Arrow Connector 42">
              <a:extLst>
                <a:ext uri="{FF2B5EF4-FFF2-40B4-BE49-F238E27FC236}">
                  <a16:creationId xmlns:a16="http://schemas.microsoft.com/office/drawing/2014/main" id="{B0A6AC7D-D85C-1AE6-4903-D342ECE3BF60}"/>
                </a:ext>
              </a:extLst>
            </p:cNvPr>
            <p:cNvCxnSpPr>
              <a:cxnSpLocks/>
              <a:endCxn id="35" idx="0"/>
            </p:cNvCxnSpPr>
            <p:nvPr/>
          </p:nvCxnSpPr>
          <p:spPr>
            <a:xfrm flipH="1" flipV="1">
              <a:off x="2740736" y="1744892"/>
              <a:ext cx="2725" cy="1463671"/>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560657E-0814-81DF-63C5-105D4015C4C1}"/>
                </a:ext>
              </a:extLst>
            </p:cNvPr>
            <p:cNvCxnSpPr>
              <a:cxnSpLocks/>
            </p:cNvCxnSpPr>
            <p:nvPr/>
          </p:nvCxnSpPr>
          <p:spPr>
            <a:xfrm flipV="1">
              <a:off x="2743489" y="2729714"/>
              <a:ext cx="932356" cy="484549"/>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5" name="Arc 44">
              <a:extLst>
                <a:ext uri="{FF2B5EF4-FFF2-40B4-BE49-F238E27FC236}">
                  <a16:creationId xmlns:a16="http://schemas.microsoft.com/office/drawing/2014/main" id="{81C2F07C-3ED5-8F79-2F40-4BFB9052895A}"/>
                </a:ext>
              </a:extLst>
            </p:cNvPr>
            <p:cNvSpPr/>
            <p:nvPr/>
          </p:nvSpPr>
          <p:spPr>
            <a:xfrm>
              <a:off x="2570865" y="2915570"/>
              <a:ext cx="381614" cy="707381"/>
            </a:xfrm>
            <a:prstGeom prst="arc">
              <a:avLst>
                <a:gd name="adj1" fmla="val 16108320"/>
                <a:gd name="adj2" fmla="val 1890152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gr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A01D634A-D59D-D768-B3D6-90720961F7D3}"/>
                  </a:ext>
                </a:extLst>
              </p:cNvPr>
              <p:cNvSpPr txBox="1"/>
              <p:nvPr/>
            </p:nvSpPr>
            <p:spPr>
              <a:xfrm>
                <a:off x="3885989" y="2308628"/>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𝜙</m:t>
                      </m:r>
                    </m:oMath>
                  </m:oMathPara>
                </a14:m>
                <a:endParaRPr lang="en-US" sz="2400" dirty="0"/>
              </a:p>
            </p:txBody>
          </p:sp>
        </mc:Choice>
        <mc:Fallback>
          <p:sp>
            <p:nvSpPr>
              <p:cNvPr id="37" name="TextBox 36">
                <a:extLst>
                  <a:ext uri="{FF2B5EF4-FFF2-40B4-BE49-F238E27FC236}">
                    <a16:creationId xmlns:a16="http://schemas.microsoft.com/office/drawing/2014/main" id="{A01D634A-D59D-D768-B3D6-90720961F7D3}"/>
                  </a:ext>
                </a:extLst>
              </p:cNvPr>
              <p:cNvSpPr txBox="1">
                <a:spLocks noRot="1" noChangeAspect="1" noMove="1" noResize="1" noEditPoints="1" noAdjustHandles="1" noChangeArrowheads="1" noChangeShapeType="1" noTextEdit="1"/>
              </p:cNvSpPr>
              <p:nvPr/>
            </p:nvSpPr>
            <p:spPr>
              <a:xfrm>
                <a:off x="3885989" y="2308628"/>
                <a:ext cx="470192" cy="461665"/>
              </a:xfrm>
              <a:prstGeom prst="rect">
                <a:avLst/>
              </a:prstGeom>
              <a:blipFill>
                <a:blip r:embed="rId3"/>
                <a:stretch>
                  <a:fillRect l="-2564" b="-17333"/>
                </a:stretch>
              </a:blipFill>
            </p:spPr>
            <p:txBody>
              <a:bodyPr/>
              <a:lstStyle/>
              <a:p>
                <a:r>
                  <a:rPr lang="en-US">
                    <a:noFill/>
                  </a:rPr>
                  <a:t> </a:t>
                </a:r>
              </a:p>
            </p:txBody>
          </p:sp>
        </mc:Fallback>
      </mc:AlternateContent>
      <p:sp>
        <p:nvSpPr>
          <p:cNvPr id="57" name="Arc 56">
            <a:extLst>
              <a:ext uri="{FF2B5EF4-FFF2-40B4-BE49-F238E27FC236}">
                <a16:creationId xmlns:a16="http://schemas.microsoft.com/office/drawing/2014/main" id="{84B818A6-FC49-A575-AEFA-9CAC22FBEF84}"/>
              </a:ext>
            </a:extLst>
          </p:cNvPr>
          <p:cNvSpPr/>
          <p:nvPr/>
        </p:nvSpPr>
        <p:spPr>
          <a:xfrm>
            <a:off x="7848587" y="2901534"/>
            <a:ext cx="697242" cy="553554"/>
          </a:xfrm>
          <a:prstGeom prst="arc">
            <a:avLst>
              <a:gd name="adj1" fmla="val 16200000"/>
              <a:gd name="adj2" fmla="val 2012949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CF62B15-46F5-E6BD-59D4-572194BCB1EC}"/>
              </a:ext>
            </a:extLst>
          </p:cNvPr>
          <p:cNvCxnSpPr>
            <a:cxnSpLocks/>
            <a:stCxn id="66" idx="2"/>
          </p:cNvCxnSpPr>
          <p:nvPr/>
        </p:nvCxnSpPr>
        <p:spPr>
          <a:xfrm>
            <a:off x="6403959" y="3344637"/>
            <a:ext cx="3577706" cy="7622"/>
          </a:xfrm>
          <a:prstGeom prst="line">
            <a:avLst/>
          </a:prstGeom>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145075B8-357A-A99E-1BA8-67F7A31212ED}"/>
              </a:ext>
            </a:extLst>
          </p:cNvPr>
          <p:cNvGrpSpPr/>
          <p:nvPr/>
        </p:nvGrpSpPr>
        <p:grpSpPr>
          <a:xfrm>
            <a:off x="6403959" y="1555785"/>
            <a:ext cx="3577708" cy="3577703"/>
            <a:chOff x="2521889" y="2808131"/>
            <a:chExt cx="1916265" cy="1916264"/>
          </a:xfrm>
        </p:grpSpPr>
        <p:sp>
          <p:nvSpPr>
            <p:cNvPr id="64" name="Oval 63">
              <a:extLst>
                <a:ext uri="{FF2B5EF4-FFF2-40B4-BE49-F238E27FC236}">
                  <a16:creationId xmlns:a16="http://schemas.microsoft.com/office/drawing/2014/main" id="{970E650B-B7B4-C316-3F1B-E5CB6A9E247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5" name="Oval 31">
              <a:extLst>
                <a:ext uri="{FF2B5EF4-FFF2-40B4-BE49-F238E27FC236}">
                  <a16:creationId xmlns:a16="http://schemas.microsoft.com/office/drawing/2014/main" id="{096FB5E3-8642-FFBA-9271-6157A7DFEBFD}"/>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37E84FB0-A3AC-103B-5432-C2F120C55096}"/>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mc:AlternateContent xmlns:mc="http://schemas.openxmlformats.org/markup-compatibility/2006">
        <mc:Choice xmlns:a14="http://schemas.microsoft.com/office/drawing/2010/main" Requires="a14">
          <p:sp>
            <p:nvSpPr>
              <p:cNvPr id="68" name="TextBox 67">
                <a:extLst>
                  <a:ext uri="{FF2B5EF4-FFF2-40B4-BE49-F238E27FC236}">
                    <a16:creationId xmlns:a16="http://schemas.microsoft.com/office/drawing/2014/main" id="{4AF8D22F-0F35-9D4F-B85D-4E5D2E722AFD}"/>
                  </a:ext>
                </a:extLst>
              </p:cNvPr>
              <p:cNvSpPr txBox="1"/>
              <p:nvPr/>
            </p:nvSpPr>
            <p:spPr>
              <a:xfrm>
                <a:off x="7959279" y="1049363"/>
                <a:ext cx="47448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rPr>
                        <m:t>𝜓</m:t>
                      </m:r>
                    </m:oMath>
                  </m:oMathPara>
                </a14:m>
                <a:endParaRPr lang="en-US" sz="2400" dirty="0"/>
              </a:p>
            </p:txBody>
          </p:sp>
        </mc:Choice>
        <mc:Fallback>
          <p:sp>
            <p:nvSpPr>
              <p:cNvPr id="68" name="TextBox 67">
                <a:extLst>
                  <a:ext uri="{FF2B5EF4-FFF2-40B4-BE49-F238E27FC236}">
                    <a16:creationId xmlns:a16="http://schemas.microsoft.com/office/drawing/2014/main" id="{4AF8D22F-0F35-9D4F-B85D-4E5D2E722AFD}"/>
                  </a:ext>
                </a:extLst>
              </p:cNvPr>
              <p:cNvSpPr txBox="1">
                <a:spLocks noRot="1" noChangeAspect="1" noMove="1" noResize="1" noEditPoints="1" noAdjustHandles="1" noChangeArrowheads="1" noChangeShapeType="1" noTextEdit="1"/>
              </p:cNvSpPr>
              <p:nvPr/>
            </p:nvSpPr>
            <p:spPr>
              <a:xfrm>
                <a:off x="7959279" y="1049363"/>
                <a:ext cx="474489" cy="461665"/>
              </a:xfrm>
              <a:prstGeom prst="rect">
                <a:avLst/>
              </a:prstGeom>
              <a:blipFill>
                <a:blip r:embed="rId4"/>
                <a:stretch>
                  <a:fillRect l="-2597" r="-2597" b="-17105"/>
                </a:stretch>
              </a:blipFill>
            </p:spPr>
            <p:txBody>
              <a:bodyPr/>
              <a:lstStyle/>
              <a:p>
                <a:r>
                  <a:rPr lang="en-US">
                    <a:noFill/>
                  </a:rPr>
                  <a:t> </a:t>
                </a:r>
              </a:p>
            </p:txBody>
          </p:sp>
        </mc:Fallback>
      </mc:AlternateContent>
      <p:cxnSp>
        <p:nvCxnSpPr>
          <p:cNvPr id="71" name="Straight Connector 70">
            <a:extLst>
              <a:ext uri="{FF2B5EF4-FFF2-40B4-BE49-F238E27FC236}">
                <a16:creationId xmlns:a16="http://schemas.microsoft.com/office/drawing/2014/main" id="{9F733FA4-0EE9-5DFF-C304-8A72C8B454B2}"/>
              </a:ext>
            </a:extLst>
          </p:cNvPr>
          <p:cNvCxnSpPr/>
          <p:nvPr/>
        </p:nvCxnSpPr>
        <p:spPr>
          <a:xfrm>
            <a:off x="8192807" y="2079726"/>
            <a:ext cx="1264917"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31614BF-5191-7CF7-5177-7E0ED948F6B4}"/>
                  </a:ext>
                </a:extLst>
              </p:cNvPr>
              <p:cNvSpPr txBox="1"/>
              <p:nvPr/>
            </p:nvSpPr>
            <p:spPr>
              <a:xfrm>
                <a:off x="6856024" y="3349424"/>
                <a:ext cx="121924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oMath>
                  </m:oMathPara>
                </a14:m>
                <a:endParaRPr lang="en-US" sz="2400" dirty="0"/>
              </a:p>
            </p:txBody>
          </p:sp>
        </mc:Choice>
        <mc:Fallback>
          <p:sp>
            <p:nvSpPr>
              <p:cNvPr id="74" name="TextBox 73">
                <a:extLst>
                  <a:ext uri="{FF2B5EF4-FFF2-40B4-BE49-F238E27FC236}">
                    <a16:creationId xmlns:a16="http://schemas.microsoft.com/office/drawing/2014/main" id="{A31614BF-5191-7CF7-5177-7E0ED948F6B4}"/>
                  </a:ext>
                </a:extLst>
              </p:cNvPr>
              <p:cNvSpPr txBox="1">
                <a:spLocks noRot="1" noChangeAspect="1" noMove="1" noResize="1" noEditPoints="1" noAdjustHandles="1" noChangeArrowheads="1" noChangeShapeType="1" noTextEdit="1"/>
              </p:cNvSpPr>
              <p:nvPr/>
            </p:nvSpPr>
            <p:spPr>
              <a:xfrm>
                <a:off x="6856024" y="3349424"/>
                <a:ext cx="1219244" cy="461665"/>
              </a:xfrm>
              <a:prstGeom prst="rect">
                <a:avLst/>
              </a:prstGeom>
              <a:blipFill>
                <a:blip r:embed="rId5"/>
                <a:stretch>
                  <a:fillRect b="-1710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0" name="TextBox 79">
                <a:extLst>
                  <a:ext uri="{FF2B5EF4-FFF2-40B4-BE49-F238E27FC236}">
                    <a16:creationId xmlns:a16="http://schemas.microsoft.com/office/drawing/2014/main" id="{A8BF9C37-2A7D-984F-D542-556A8B3C77E1}"/>
                  </a:ext>
                </a:extLst>
              </p:cNvPr>
              <p:cNvSpPr txBox="1"/>
              <p:nvPr/>
            </p:nvSpPr>
            <p:spPr>
              <a:xfrm>
                <a:off x="9395540" y="1627434"/>
                <a:ext cx="47019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𝜙</m:t>
                      </m:r>
                    </m:oMath>
                  </m:oMathPara>
                </a14:m>
                <a:endParaRPr lang="en-US" sz="2400" dirty="0"/>
              </a:p>
            </p:txBody>
          </p:sp>
        </mc:Choice>
        <mc:Fallback>
          <p:sp>
            <p:nvSpPr>
              <p:cNvPr id="80" name="TextBox 79">
                <a:extLst>
                  <a:ext uri="{FF2B5EF4-FFF2-40B4-BE49-F238E27FC236}">
                    <a16:creationId xmlns:a16="http://schemas.microsoft.com/office/drawing/2014/main" id="{A8BF9C37-2A7D-984F-D542-556A8B3C77E1}"/>
                  </a:ext>
                </a:extLst>
              </p:cNvPr>
              <p:cNvSpPr txBox="1">
                <a:spLocks noRot="1" noChangeAspect="1" noMove="1" noResize="1" noEditPoints="1" noAdjustHandles="1" noChangeArrowheads="1" noChangeShapeType="1" noTextEdit="1"/>
              </p:cNvSpPr>
              <p:nvPr/>
            </p:nvSpPr>
            <p:spPr>
              <a:xfrm>
                <a:off x="9395540" y="1627434"/>
                <a:ext cx="470192" cy="461665"/>
              </a:xfrm>
              <a:prstGeom prst="rect">
                <a:avLst/>
              </a:prstGeom>
              <a:blipFill>
                <a:blip r:embed="rId6"/>
                <a:stretch>
                  <a:fillRect l="-2597" r="-1299" b="-15789"/>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103BCFF8-0DF8-A3C9-50E2-E5E1084AE713}"/>
              </a:ext>
            </a:extLst>
          </p:cNvPr>
          <p:cNvCxnSpPr>
            <a:cxnSpLocks/>
          </p:cNvCxnSpPr>
          <p:nvPr/>
        </p:nvCxnSpPr>
        <p:spPr>
          <a:xfrm flipV="1">
            <a:off x="8192807" y="2079726"/>
            <a:ext cx="1264917" cy="1264907"/>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7" name="Right Brace 76">
            <a:extLst>
              <a:ext uri="{FF2B5EF4-FFF2-40B4-BE49-F238E27FC236}">
                <a16:creationId xmlns:a16="http://schemas.microsoft.com/office/drawing/2014/main" id="{B14DC505-89FD-6FB1-C09F-ABFCED72A106}"/>
              </a:ext>
            </a:extLst>
          </p:cNvPr>
          <p:cNvSpPr/>
          <p:nvPr/>
        </p:nvSpPr>
        <p:spPr>
          <a:xfrm flipH="1">
            <a:off x="8001560" y="2089099"/>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7" name="Straight Arrow Connector 86">
            <a:extLst>
              <a:ext uri="{FF2B5EF4-FFF2-40B4-BE49-F238E27FC236}">
                <a16:creationId xmlns:a16="http://schemas.microsoft.com/office/drawing/2014/main" id="{61467E67-A217-BD70-C7D8-CE8DDA832A0E}"/>
              </a:ext>
            </a:extLst>
          </p:cNvPr>
          <p:cNvCxnSpPr/>
          <p:nvPr/>
        </p:nvCxnSpPr>
        <p:spPr>
          <a:xfrm flipV="1">
            <a:off x="5775960" y="3931920"/>
            <a:ext cx="1501140" cy="9982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8" name="TextBox 87">
                <a:extLst>
                  <a:ext uri="{FF2B5EF4-FFF2-40B4-BE49-F238E27FC236}">
                    <a16:creationId xmlns:a16="http://schemas.microsoft.com/office/drawing/2014/main" id="{636B3FC2-1B54-EA32-C416-3155FAA07BF0}"/>
                  </a:ext>
                </a:extLst>
              </p:cNvPr>
              <p:cNvSpPr txBox="1"/>
              <p:nvPr/>
            </p:nvSpPr>
            <p:spPr>
              <a:xfrm>
                <a:off x="4701540" y="5600700"/>
                <a:ext cx="4479431" cy="369332"/>
              </a:xfrm>
              <a:prstGeom prst="rect">
                <a:avLst/>
              </a:prstGeom>
              <a:noFill/>
            </p:spPr>
            <p:txBody>
              <a:bodyPr wrap="none" rtlCol="0">
                <a:spAutoFit/>
              </a:bodyPr>
              <a:lstStyle/>
              <a:p>
                <a:r>
                  <a:rPr lang="en-US" dirty="0"/>
                  <a:t>Vertical distance from the opposite point of </a:t>
                </a:r>
                <a14:m>
                  <m:oMath xmlns:m="http://schemas.openxmlformats.org/officeDocument/2006/math">
                    <m:r>
                      <a:rPr lang="en-US" b="0" i="1" smtClean="0">
                        <a:latin typeface="Cambria Math" panose="02040503050406030204" pitchFamily="18" charset="0"/>
                      </a:rPr>
                      <m:t>𝜓</m:t>
                    </m:r>
                  </m:oMath>
                </a14:m>
                <a:endParaRPr lang="en-US" dirty="0"/>
              </a:p>
            </p:txBody>
          </p:sp>
        </mc:Choice>
        <mc:Fallback>
          <p:sp>
            <p:nvSpPr>
              <p:cNvPr id="88" name="TextBox 87">
                <a:extLst>
                  <a:ext uri="{FF2B5EF4-FFF2-40B4-BE49-F238E27FC236}">
                    <a16:creationId xmlns:a16="http://schemas.microsoft.com/office/drawing/2014/main" id="{636B3FC2-1B54-EA32-C416-3155FAA07BF0}"/>
                  </a:ext>
                </a:extLst>
              </p:cNvPr>
              <p:cNvSpPr txBox="1">
                <a:spLocks noRot="1" noChangeAspect="1" noMove="1" noResize="1" noEditPoints="1" noAdjustHandles="1" noChangeArrowheads="1" noChangeShapeType="1" noTextEdit="1"/>
              </p:cNvSpPr>
              <p:nvPr/>
            </p:nvSpPr>
            <p:spPr>
              <a:xfrm>
                <a:off x="4701540" y="5600700"/>
                <a:ext cx="4479431" cy="369332"/>
              </a:xfrm>
              <a:prstGeom prst="rect">
                <a:avLst/>
              </a:prstGeom>
              <a:blipFill>
                <a:blip r:embed="rId7"/>
                <a:stretch>
                  <a:fillRect l="-1088" t="-10000" b="-26667"/>
                </a:stretch>
              </a:blipFill>
            </p:spPr>
            <p:txBody>
              <a:bodyPr/>
              <a:lstStyle/>
              <a:p>
                <a:r>
                  <a:rPr lang="en-US">
                    <a:noFill/>
                  </a:rPr>
                  <a:t> </a:t>
                </a:r>
              </a:p>
            </p:txBody>
          </p:sp>
        </mc:Fallback>
      </mc:AlternateContent>
    </p:spTree>
    <p:extLst>
      <p:ext uri="{BB962C8B-B14F-4D97-AF65-F5344CB8AC3E}">
        <p14:creationId xmlns:p14="http://schemas.microsoft.com/office/powerpoint/2010/main" val="2275132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4" grpId="0"/>
      <p:bldP spid="7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DEA7F-4706-37B0-33CD-D03712A0A94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BECB2741-0410-DE62-8A37-9CA081AF8028}"/>
                  </a:ext>
                </a:extLst>
              </p:cNvPr>
              <p:cNvSpPr txBox="1"/>
              <p:nvPr/>
            </p:nvSpPr>
            <p:spPr>
              <a:xfrm>
                <a:off x="1252078" y="2597426"/>
                <a:ext cx="9687845" cy="831574"/>
              </a:xfrm>
              <a:prstGeom prst="rect">
                <a:avLst/>
              </a:prstGeom>
              <a:noFill/>
            </p:spPr>
            <p:txBody>
              <a:bodyPr wrap="none" rtlCol="0">
                <a:spAutoFit/>
              </a:bodyPr>
              <a:lstStyle/>
              <a:p>
                <a:pPr/>
                <a14:m>
                  <m:oMath xmlns:m="http://schemas.openxmlformats.org/officeDocument/2006/math">
                    <m:r>
                      <a:rPr lang="en-US" sz="4800" b="0" i="1" smtClean="0">
                        <a:latin typeface="Cambria Math" panose="02040503050406030204" pitchFamily="18" charset="0"/>
                      </a:rPr>
                      <m:t>𝑆</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e>
                    </m:d>
                    <m:r>
                      <a:rPr lang="en-US" sz="4800" i="1">
                        <a:latin typeface="Cambria Math" panose="02040503050406030204" pitchFamily="18" charset="0"/>
                      </a:rPr>
                      <m:t>=</m:t>
                    </m:r>
                    <m:r>
                      <a:rPr lang="en-US" sz="4800" b="0" i="1" smtClean="0">
                        <a:latin typeface="Cambria Math" panose="02040503050406030204" pitchFamily="18" charset="0"/>
                      </a:rPr>
                      <m:t>−</m:t>
                    </m:r>
                    <m:r>
                      <a:rPr lang="en-US" sz="4800" b="0" i="1" smtClean="0">
                        <a:latin typeface="Cambria Math" panose="02040503050406030204" pitchFamily="18" charset="0"/>
                      </a:rPr>
                      <m:t>𝑡𝑟</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r>
                              <a:rPr lang="en-US" sz="4800" b="0" i="1" smtClean="0">
                                <a:latin typeface="Cambria Math" panose="02040503050406030204" pitchFamily="18" charset="0"/>
                              </a:rPr>
                              <m:t>𝜌</m:t>
                            </m:r>
                          </m:e>
                        </m:func>
                      </m:e>
                    </m:d>
                    <m:r>
                      <a:rPr lang="en-US" sz="4800" b="0" i="1" smtClean="0">
                        <a:latin typeface="Cambria Math" panose="02040503050406030204" pitchFamily="18" charset="0"/>
                      </a:rPr>
                      <m:t>=−</m:t>
                    </m:r>
                    <m:nary>
                      <m:naryPr>
                        <m:chr m:val="∑"/>
                        <m:supHide m:val="on"/>
                        <m:ctrlPr>
                          <a:rPr lang="en-US" sz="4800" b="0" i="1" smtClean="0">
                            <a:latin typeface="Cambria Math" panose="02040503050406030204" pitchFamily="18" charset="0"/>
                          </a:rPr>
                        </m:ctrlPr>
                      </m:naryPr>
                      <m:sub>
                        <m:r>
                          <a:rPr lang="en-US" sz="4800" b="0" i="1" smtClean="0">
                            <a:latin typeface="Cambria Math" panose="02040503050406030204" pitchFamily="18" charset="0"/>
                          </a:rPr>
                          <m:t>𝑖</m:t>
                        </m:r>
                      </m:sub>
                      <m:sup/>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e>
                        </m:func>
                      </m:e>
                    </m:nary>
                  </m:oMath>
                </a14:m>
                <a:r>
                  <a:rPr lang="en-US" sz="4800" dirty="0"/>
                  <a:t> </a:t>
                </a:r>
              </a:p>
            </p:txBody>
          </p:sp>
        </mc:Choice>
        <mc:Fallback>
          <p:sp>
            <p:nvSpPr>
              <p:cNvPr id="2" name="TextBox 1">
                <a:extLst>
                  <a:ext uri="{FF2B5EF4-FFF2-40B4-BE49-F238E27FC236}">
                    <a16:creationId xmlns:a16="http://schemas.microsoft.com/office/drawing/2014/main" id="{BECB2741-0410-DE62-8A37-9CA081AF8028}"/>
                  </a:ext>
                </a:extLst>
              </p:cNvPr>
              <p:cNvSpPr txBox="1">
                <a:spLocks noRot="1" noChangeAspect="1" noMove="1" noResize="1" noEditPoints="1" noAdjustHandles="1" noChangeArrowheads="1" noChangeShapeType="1" noTextEdit="1"/>
              </p:cNvSpPr>
              <p:nvPr/>
            </p:nvSpPr>
            <p:spPr>
              <a:xfrm>
                <a:off x="1252078" y="2597426"/>
                <a:ext cx="9687845" cy="831574"/>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762B486-DE90-56CC-4A2B-351F92AF2AB1}"/>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1D0411D8-4B3B-57F4-5DBB-ED496ECB0AE0}"/>
                  </a:ext>
                </a:extLst>
              </p:cNvPr>
              <p:cNvSpPr txBox="1"/>
              <p:nvPr/>
            </p:nvSpPr>
            <p:spPr>
              <a:xfrm>
                <a:off x="193198" y="1481430"/>
                <a:ext cx="8883394" cy="708399"/>
              </a:xfrm>
              <a:prstGeom prst="rect">
                <a:avLst/>
              </a:prstGeom>
              <a:noFill/>
            </p:spPr>
            <p:txBody>
              <a:bodyPr wrap="none" rtlCol="0">
                <a:spAutoFit/>
              </a:bodyPr>
              <a:lstStyle/>
              <a:p>
                <a:r>
                  <a:rPr lang="en-US" sz="4000" dirty="0"/>
                  <a:t>Entropy of a mixed state </a:t>
                </a:r>
                <a14:m>
                  <m:oMath xmlns:m="http://schemas.openxmlformats.org/officeDocument/2006/math">
                    <m:r>
                      <a:rPr lang="en-US" sz="4000" b="0" i="1" smtClean="0">
                        <a:latin typeface="Cambria Math" panose="02040503050406030204" pitchFamily="18" charset="0"/>
                      </a:rPr>
                      <m:t>𝜌</m:t>
                    </m:r>
                    <m:r>
                      <a:rPr lang="en-US" sz="4000" b="0" i="1" smtClean="0">
                        <a:latin typeface="Cambria Math" panose="02040503050406030204" pitchFamily="18" charset="0"/>
                      </a:rPr>
                      <m:t>=</m:t>
                    </m:r>
                    <m:nary>
                      <m:naryPr>
                        <m:chr m:val="∑"/>
                        <m:supHide m:val="on"/>
                        <m:ctrlPr>
                          <a:rPr lang="en-US" sz="4000" b="0" i="1" smtClean="0">
                            <a:latin typeface="Cambria Math" panose="02040503050406030204" pitchFamily="18" charset="0"/>
                          </a:rPr>
                        </m:ctrlPr>
                      </m:naryPr>
                      <m:sub>
                        <m:r>
                          <a:rPr lang="en-US" sz="4000" b="0" i="1" smtClean="0">
                            <a:latin typeface="Cambria Math" panose="02040503050406030204" pitchFamily="18" charset="0"/>
                          </a:rPr>
                          <m:t>𝑖</m:t>
                        </m:r>
                      </m:sub>
                      <m:sup/>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𝑝</m:t>
                            </m:r>
                          </m:e>
                          <m:sub>
                            <m:r>
                              <a:rPr lang="en-US" sz="4000" b="0" i="1" smtClean="0">
                                <a:latin typeface="Cambria Math" panose="02040503050406030204" pitchFamily="18" charset="0"/>
                              </a:rPr>
                              <m:t>𝑖</m:t>
                            </m:r>
                          </m:sub>
                        </m:sSub>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e>
                    </m:nary>
                  </m:oMath>
                </a14:m>
                <a:endParaRPr lang="en-US" sz="4000" dirty="0"/>
              </a:p>
            </p:txBody>
          </p:sp>
        </mc:Choice>
        <mc:Fallback>
          <p:sp>
            <p:nvSpPr>
              <p:cNvPr id="31" name="TextBox 30">
                <a:extLst>
                  <a:ext uri="{FF2B5EF4-FFF2-40B4-BE49-F238E27FC236}">
                    <a16:creationId xmlns:a16="http://schemas.microsoft.com/office/drawing/2014/main" id="{1D0411D8-4B3B-57F4-5DBB-ED496ECB0AE0}"/>
                  </a:ext>
                </a:extLst>
              </p:cNvPr>
              <p:cNvSpPr txBox="1">
                <a:spLocks noRot="1" noChangeAspect="1" noMove="1" noResize="1" noEditPoints="1" noAdjustHandles="1" noChangeArrowheads="1" noChangeShapeType="1" noTextEdit="1"/>
              </p:cNvSpPr>
              <p:nvPr/>
            </p:nvSpPr>
            <p:spPr>
              <a:xfrm>
                <a:off x="193198" y="1481430"/>
                <a:ext cx="8883394" cy="708399"/>
              </a:xfrm>
              <a:prstGeom prst="rect">
                <a:avLst/>
              </a:prstGeom>
              <a:blipFill>
                <a:blip r:embed="rId3"/>
                <a:stretch>
                  <a:fillRect l="-2471" t="-15517" b="-36207"/>
                </a:stretch>
              </a:blipFill>
            </p:spPr>
            <p:txBody>
              <a:bodyPr/>
              <a:lstStyle/>
              <a:p>
                <a:r>
                  <a:rPr lang="en-US">
                    <a:noFill/>
                  </a:rPr>
                  <a:t> </a:t>
                </a:r>
              </a:p>
            </p:txBody>
          </p:sp>
        </mc:Fallback>
      </mc:AlternateContent>
    </p:spTree>
    <p:extLst>
      <p:ext uri="{BB962C8B-B14F-4D97-AF65-F5344CB8AC3E}">
        <p14:creationId xmlns:p14="http://schemas.microsoft.com/office/powerpoint/2010/main" val="365809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6409D-9E9F-B8C5-DE3E-D8D1B834CE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7FF3A2-1B60-0F66-0F1F-7E9814866114}"/>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grpSp>
        <p:nvGrpSpPr>
          <p:cNvPr id="5" name="Group 4">
            <a:extLst>
              <a:ext uri="{FF2B5EF4-FFF2-40B4-BE49-F238E27FC236}">
                <a16:creationId xmlns:a16="http://schemas.microsoft.com/office/drawing/2014/main" id="{162D8510-FDF2-0F54-723F-8093EF4C9FD4}"/>
              </a:ext>
            </a:extLst>
          </p:cNvPr>
          <p:cNvGrpSpPr/>
          <p:nvPr/>
        </p:nvGrpSpPr>
        <p:grpSpPr>
          <a:xfrm>
            <a:off x="1037397" y="1511028"/>
            <a:ext cx="3577706" cy="3538485"/>
            <a:chOff x="1202189" y="1744892"/>
            <a:chExt cx="3077365" cy="3077101"/>
          </a:xfrm>
        </p:grpSpPr>
        <p:cxnSp>
          <p:nvCxnSpPr>
            <p:cNvPr id="6" name="Straight Connector 5">
              <a:extLst>
                <a:ext uri="{FF2B5EF4-FFF2-40B4-BE49-F238E27FC236}">
                  <a16:creationId xmlns:a16="http://schemas.microsoft.com/office/drawing/2014/main" id="{9CA776D6-0224-C02A-EEE6-087A877C9D3E}"/>
                </a:ext>
              </a:extLst>
            </p:cNvPr>
            <p:cNvCxnSpPr>
              <a:stCxn id="19" idx="0"/>
              <a:endCxn id="19"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5D9AEE4A-3556-2C34-758F-E39F51D17494}"/>
                </a:ext>
              </a:extLst>
            </p:cNvPr>
            <p:cNvGrpSpPr/>
            <p:nvPr/>
          </p:nvGrpSpPr>
          <p:grpSpPr>
            <a:xfrm>
              <a:off x="1202189" y="1744892"/>
              <a:ext cx="3077365" cy="3077101"/>
              <a:chOff x="2521889" y="2808131"/>
              <a:chExt cx="1916430" cy="1916266"/>
            </a:xfrm>
          </p:grpSpPr>
          <p:sp>
            <p:nvSpPr>
              <p:cNvPr id="11" name="Oval 10">
                <a:extLst>
                  <a:ext uri="{FF2B5EF4-FFF2-40B4-BE49-F238E27FC236}">
                    <a16:creationId xmlns:a16="http://schemas.microsoft.com/office/drawing/2014/main" id="{CB493138-B9E5-1473-86C2-78A400164750}"/>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12" name="Oval 31">
                <a:extLst>
                  <a:ext uri="{FF2B5EF4-FFF2-40B4-BE49-F238E27FC236}">
                    <a16:creationId xmlns:a16="http://schemas.microsoft.com/office/drawing/2014/main" id="{C2E41697-2476-7CA5-CEB3-D7F93E570D02}"/>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3" name="Oval 12">
                <a:extLst>
                  <a:ext uri="{FF2B5EF4-FFF2-40B4-BE49-F238E27FC236}">
                    <a16:creationId xmlns:a16="http://schemas.microsoft.com/office/drawing/2014/main" id="{4D6B597D-F89D-968D-87EB-6FEB037EAF8B}"/>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14" name="Group 13">
                <a:extLst>
                  <a:ext uri="{FF2B5EF4-FFF2-40B4-BE49-F238E27FC236}">
                    <a16:creationId xmlns:a16="http://schemas.microsoft.com/office/drawing/2014/main" id="{8F803762-AB09-D3C9-7016-467FF7AB8956}"/>
                  </a:ext>
                </a:extLst>
              </p:cNvPr>
              <p:cNvGrpSpPr/>
              <p:nvPr/>
            </p:nvGrpSpPr>
            <p:grpSpPr>
              <a:xfrm>
                <a:off x="2923755" y="2808131"/>
                <a:ext cx="1112528" cy="1916266"/>
                <a:chOff x="2734489" y="2655731"/>
                <a:chExt cx="1186260" cy="1916266"/>
              </a:xfrm>
            </p:grpSpPr>
            <p:sp>
              <p:nvSpPr>
                <p:cNvPr id="18" name="Oval 17">
                  <a:extLst>
                    <a:ext uri="{FF2B5EF4-FFF2-40B4-BE49-F238E27FC236}">
                      <a16:creationId xmlns:a16="http://schemas.microsoft.com/office/drawing/2014/main" id="{503B4924-0F60-FD98-C4E4-9719655F2193}"/>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9" name="Oval 9">
                  <a:extLst>
                    <a:ext uri="{FF2B5EF4-FFF2-40B4-BE49-F238E27FC236}">
                      <a16:creationId xmlns:a16="http://schemas.microsoft.com/office/drawing/2014/main" id="{A7B0B5D2-44E9-60D2-7C46-A43B7ECF2C26}"/>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15" name="Group 14">
                <a:extLst>
                  <a:ext uri="{FF2B5EF4-FFF2-40B4-BE49-F238E27FC236}">
                    <a16:creationId xmlns:a16="http://schemas.microsoft.com/office/drawing/2014/main" id="{C93E5218-F41C-2754-23C2-D1A9240B8E38}"/>
                  </a:ext>
                </a:extLst>
              </p:cNvPr>
              <p:cNvGrpSpPr/>
              <p:nvPr/>
            </p:nvGrpSpPr>
            <p:grpSpPr>
              <a:xfrm rot="16200000">
                <a:off x="2923922" y="2810085"/>
                <a:ext cx="1112528" cy="1916266"/>
                <a:chOff x="2734489" y="2655731"/>
                <a:chExt cx="1186260" cy="1916266"/>
              </a:xfrm>
            </p:grpSpPr>
            <p:sp>
              <p:nvSpPr>
                <p:cNvPr id="16" name="Oval 15">
                  <a:extLst>
                    <a:ext uri="{FF2B5EF4-FFF2-40B4-BE49-F238E27FC236}">
                      <a16:creationId xmlns:a16="http://schemas.microsoft.com/office/drawing/2014/main" id="{EE687337-1A49-633C-7F94-7B67DC8A345C}"/>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7" name="Oval 9">
                  <a:extLst>
                    <a:ext uri="{FF2B5EF4-FFF2-40B4-BE49-F238E27FC236}">
                      <a16:creationId xmlns:a16="http://schemas.microsoft.com/office/drawing/2014/main" id="{B0FB68C5-E121-449C-AE7A-2F9342A49B48}"/>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grpSp>
      <p:sp>
        <p:nvSpPr>
          <p:cNvPr id="22" name="Oval 21">
            <a:extLst>
              <a:ext uri="{FF2B5EF4-FFF2-40B4-BE49-F238E27FC236}">
                <a16:creationId xmlns:a16="http://schemas.microsoft.com/office/drawing/2014/main" id="{8EE908D1-70F6-CC7D-29FF-461D1D647B7E}"/>
              </a:ext>
            </a:extLst>
          </p:cNvPr>
          <p:cNvSpPr/>
          <p:nvPr/>
        </p:nvSpPr>
        <p:spPr>
          <a:xfrm>
            <a:off x="2779829" y="2023379"/>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93507CAA-9A9E-567E-5711-BB292B991FF3}"/>
              </a:ext>
            </a:extLst>
          </p:cNvPr>
          <p:cNvGrpSpPr/>
          <p:nvPr/>
        </p:nvGrpSpPr>
        <p:grpSpPr>
          <a:xfrm>
            <a:off x="6403959" y="1555785"/>
            <a:ext cx="3577708" cy="3577703"/>
            <a:chOff x="2521889" y="2808131"/>
            <a:chExt cx="1916265" cy="1916264"/>
          </a:xfrm>
        </p:grpSpPr>
        <p:sp>
          <p:nvSpPr>
            <p:cNvPr id="24" name="Oval 23">
              <a:extLst>
                <a:ext uri="{FF2B5EF4-FFF2-40B4-BE49-F238E27FC236}">
                  <a16:creationId xmlns:a16="http://schemas.microsoft.com/office/drawing/2014/main" id="{669A39D5-DE05-D3D8-5BCE-A4A83F765928}"/>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Oval 31">
              <a:extLst>
                <a:ext uri="{FF2B5EF4-FFF2-40B4-BE49-F238E27FC236}">
                  <a16:creationId xmlns:a16="http://schemas.microsoft.com/office/drawing/2014/main" id="{F920152F-5DB0-DEBD-402B-5FC37EFA0DC2}"/>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D8E62215-7C6C-9532-58D1-212DCF0E4A11}"/>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27" name="Straight Connector 26">
            <a:extLst>
              <a:ext uri="{FF2B5EF4-FFF2-40B4-BE49-F238E27FC236}">
                <a16:creationId xmlns:a16="http://schemas.microsoft.com/office/drawing/2014/main" id="{5D234AE0-DBC1-9C49-83BC-352CC3D32B1A}"/>
              </a:ext>
            </a:extLst>
          </p:cNvPr>
          <p:cNvCxnSpPr>
            <a:cxnSpLocks/>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34BB65DF-926D-B4EA-EF18-56C63974CA81}"/>
              </a:ext>
            </a:extLst>
          </p:cNvPr>
          <p:cNvSpPr/>
          <p:nvPr/>
        </p:nvSpPr>
        <p:spPr>
          <a:xfrm flipH="1">
            <a:off x="8008688"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Oval 29">
            <a:extLst>
              <a:ext uri="{FF2B5EF4-FFF2-40B4-BE49-F238E27FC236}">
                <a16:creationId xmlns:a16="http://schemas.microsoft.com/office/drawing/2014/main" id="{90232DC1-22D2-294F-BDA2-E5F794FA9D61}"/>
              </a:ext>
            </a:extLst>
          </p:cNvPr>
          <p:cNvSpPr/>
          <p:nvPr/>
        </p:nvSpPr>
        <p:spPr>
          <a:xfrm>
            <a:off x="8143130"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9E6C0371-80AA-8046-4211-B271B6D04466}"/>
                  </a:ext>
                </a:extLst>
              </p:cNvPr>
              <p:cNvSpPr txBox="1"/>
              <p:nvPr/>
            </p:nvSpPr>
            <p:spPr>
              <a:xfrm>
                <a:off x="818313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p:sp>
            <p:nvSpPr>
              <p:cNvPr id="37" name="TextBox 36">
                <a:extLst>
                  <a:ext uri="{FF2B5EF4-FFF2-40B4-BE49-F238E27FC236}">
                    <a16:creationId xmlns:a16="http://schemas.microsoft.com/office/drawing/2014/main" id="{9E6C0371-80AA-8046-4211-B271B6D04466}"/>
                  </a:ext>
                </a:extLst>
              </p:cNvPr>
              <p:cNvSpPr txBox="1">
                <a:spLocks noRot="1" noChangeAspect="1" noMove="1" noResize="1" noEditPoints="1" noAdjustHandles="1" noChangeArrowheads="1" noChangeShapeType="1" noTextEdit="1"/>
              </p:cNvSpPr>
              <p:nvPr/>
            </p:nvSpPr>
            <p:spPr>
              <a:xfrm>
                <a:off x="8183132" y="1681023"/>
                <a:ext cx="430502" cy="461665"/>
              </a:xfrm>
              <a:prstGeom prst="rect">
                <a:avLst/>
              </a:prstGeom>
              <a:blipFill>
                <a:blip r:embed="rId2"/>
                <a:stretch>
                  <a:fillRect b="-10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F3B1C195-51FB-5D23-A6AD-59C02F9ADC61}"/>
                  </a:ext>
                </a:extLst>
              </p:cNvPr>
              <p:cNvSpPr txBox="1"/>
              <p:nvPr/>
            </p:nvSpPr>
            <p:spPr>
              <a:xfrm>
                <a:off x="244527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p:sp>
            <p:nvSpPr>
              <p:cNvPr id="39" name="TextBox 38">
                <a:extLst>
                  <a:ext uri="{FF2B5EF4-FFF2-40B4-BE49-F238E27FC236}">
                    <a16:creationId xmlns:a16="http://schemas.microsoft.com/office/drawing/2014/main" id="{F3B1C195-51FB-5D23-A6AD-59C02F9ADC61}"/>
                  </a:ext>
                </a:extLst>
              </p:cNvPr>
              <p:cNvSpPr txBox="1">
                <a:spLocks noRot="1" noChangeAspect="1" noMove="1" noResize="1" noEditPoints="1" noAdjustHandles="1" noChangeArrowheads="1" noChangeShapeType="1" noTextEdit="1"/>
              </p:cNvSpPr>
              <p:nvPr/>
            </p:nvSpPr>
            <p:spPr>
              <a:xfrm>
                <a:off x="2445272" y="1681023"/>
                <a:ext cx="430502" cy="461665"/>
              </a:xfrm>
              <a:prstGeom prst="rect">
                <a:avLst/>
              </a:prstGeom>
              <a:blipFill>
                <a:blip r:embed="rId3"/>
                <a:stretch>
                  <a:fillRect b="-10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61771697-0815-3669-31BD-DCDEA12706F6}"/>
                  </a:ext>
                </a:extLst>
              </p:cNvPr>
              <p:cNvSpPr txBox="1"/>
              <p:nvPr/>
            </p:nvSpPr>
            <p:spPr>
              <a:xfrm>
                <a:off x="261003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p:sp>
            <p:nvSpPr>
              <p:cNvPr id="40" name="TextBox 39">
                <a:extLst>
                  <a:ext uri="{FF2B5EF4-FFF2-40B4-BE49-F238E27FC236}">
                    <a16:creationId xmlns:a16="http://schemas.microsoft.com/office/drawing/2014/main" id="{61771697-0815-3669-31BD-DCDEA12706F6}"/>
                  </a:ext>
                </a:extLst>
              </p:cNvPr>
              <p:cNvSpPr txBox="1">
                <a:spLocks noRot="1" noChangeAspect="1" noMove="1" noResize="1" noEditPoints="1" noAdjustHandles="1" noChangeArrowheads="1" noChangeShapeType="1" noTextEdit="1"/>
              </p:cNvSpPr>
              <p:nvPr/>
            </p:nvSpPr>
            <p:spPr>
              <a:xfrm>
                <a:off x="2610039" y="5087963"/>
                <a:ext cx="553164" cy="461665"/>
              </a:xfrm>
              <a:prstGeom prst="rect">
                <a:avLst/>
              </a:prstGeom>
              <a:blipFill>
                <a:blip r:embed="rId4"/>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302A1EFE-004A-ED1C-B76F-6687719C4CE8}"/>
                  </a:ext>
                </a:extLst>
              </p:cNvPr>
              <p:cNvSpPr txBox="1"/>
              <p:nvPr/>
            </p:nvSpPr>
            <p:spPr>
              <a:xfrm>
                <a:off x="261003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p:sp>
            <p:nvSpPr>
              <p:cNvPr id="41" name="TextBox 40">
                <a:extLst>
                  <a:ext uri="{FF2B5EF4-FFF2-40B4-BE49-F238E27FC236}">
                    <a16:creationId xmlns:a16="http://schemas.microsoft.com/office/drawing/2014/main" id="{302A1EFE-004A-ED1C-B76F-6687719C4CE8}"/>
                  </a:ext>
                </a:extLst>
              </p:cNvPr>
              <p:cNvSpPr txBox="1">
                <a:spLocks noRot="1" noChangeAspect="1" noMove="1" noResize="1" noEditPoints="1" noAdjustHandles="1" noChangeArrowheads="1" noChangeShapeType="1" noTextEdit="1"/>
              </p:cNvSpPr>
              <p:nvPr/>
            </p:nvSpPr>
            <p:spPr>
              <a:xfrm>
                <a:off x="2610039" y="1049363"/>
                <a:ext cx="546047" cy="461665"/>
              </a:xfrm>
              <a:prstGeom prst="rect">
                <a:avLst/>
              </a:prstGeom>
              <a:blipFill>
                <a:blip r:embed="rId5"/>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50CBA529-9721-EBA5-78BD-5635A581FE7A}"/>
                  </a:ext>
                </a:extLst>
              </p:cNvPr>
              <p:cNvSpPr txBox="1"/>
              <p:nvPr/>
            </p:nvSpPr>
            <p:spPr>
              <a:xfrm>
                <a:off x="7577442"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p:sp>
            <p:nvSpPr>
              <p:cNvPr id="42" name="TextBox 41">
                <a:extLst>
                  <a:ext uri="{FF2B5EF4-FFF2-40B4-BE49-F238E27FC236}">
                    <a16:creationId xmlns:a16="http://schemas.microsoft.com/office/drawing/2014/main" id="{50CBA529-9721-EBA5-78BD-5635A581FE7A}"/>
                  </a:ext>
                </a:extLst>
              </p:cNvPr>
              <p:cNvSpPr txBox="1">
                <a:spLocks noRot="1" noChangeAspect="1" noMove="1" noResize="1" noEditPoints="1" noAdjustHandles="1" noChangeArrowheads="1" noChangeShapeType="1" noTextEdit="1"/>
              </p:cNvSpPr>
              <p:nvPr/>
            </p:nvSpPr>
            <p:spPr>
              <a:xfrm>
                <a:off x="7577442" y="1508317"/>
                <a:ext cx="557973" cy="461665"/>
              </a:xfrm>
              <a:prstGeom prst="rect">
                <a:avLst/>
              </a:prstGeom>
              <a:blipFill>
                <a:blip r:embed="rId6"/>
                <a:stretch>
                  <a:fillRect b="-1052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C1033978-C97C-CC1F-E885-5973BCB21961}"/>
                  </a:ext>
                </a:extLst>
              </p:cNvPr>
              <p:cNvSpPr txBox="1"/>
              <p:nvPr/>
            </p:nvSpPr>
            <p:spPr>
              <a:xfrm>
                <a:off x="7577442"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p:sp>
            <p:nvSpPr>
              <p:cNvPr id="43" name="TextBox 42">
                <a:extLst>
                  <a:ext uri="{FF2B5EF4-FFF2-40B4-BE49-F238E27FC236}">
                    <a16:creationId xmlns:a16="http://schemas.microsoft.com/office/drawing/2014/main" id="{C1033978-C97C-CC1F-E885-5973BCB21961}"/>
                  </a:ext>
                </a:extLst>
              </p:cNvPr>
              <p:cNvSpPr txBox="1">
                <a:spLocks noRot="1" noChangeAspect="1" noMove="1" noResize="1" noEditPoints="1" noAdjustHandles="1" noChangeArrowheads="1" noChangeShapeType="1" noTextEdit="1"/>
              </p:cNvSpPr>
              <p:nvPr/>
            </p:nvSpPr>
            <p:spPr>
              <a:xfrm>
                <a:off x="7577442" y="3321877"/>
                <a:ext cx="550856" cy="461665"/>
              </a:xfrm>
              <a:prstGeom prst="rect">
                <a:avLst/>
              </a:prstGeom>
              <a:blipFill>
                <a:blip r:embed="rId7"/>
                <a:stretch>
                  <a:fillRect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E453F8CD-58A4-B388-B64C-80A28CB6882D}"/>
                  </a:ext>
                </a:extLst>
              </p:cNvPr>
              <p:cNvSpPr txBox="1"/>
              <p:nvPr/>
            </p:nvSpPr>
            <p:spPr>
              <a:xfrm>
                <a:off x="792879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p:sp>
            <p:nvSpPr>
              <p:cNvPr id="44" name="TextBox 43">
                <a:extLst>
                  <a:ext uri="{FF2B5EF4-FFF2-40B4-BE49-F238E27FC236}">
                    <a16:creationId xmlns:a16="http://schemas.microsoft.com/office/drawing/2014/main" id="{E453F8CD-58A4-B388-B64C-80A28CB6882D}"/>
                  </a:ext>
                </a:extLst>
              </p:cNvPr>
              <p:cNvSpPr txBox="1">
                <a:spLocks noRot="1" noChangeAspect="1" noMove="1" noResize="1" noEditPoints="1" noAdjustHandles="1" noChangeArrowheads="1" noChangeShapeType="1" noTextEdit="1"/>
              </p:cNvSpPr>
              <p:nvPr/>
            </p:nvSpPr>
            <p:spPr>
              <a:xfrm>
                <a:off x="7928799" y="5087963"/>
                <a:ext cx="553164"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D807FCD9-F9B6-4552-AF3B-6F24D9C65727}"/>
                  </a:ext>
                </a:extLst>
              </p:cNvPr>
              <p:cNvSpPr txBox="1"/>
              <p:nvPr/>
            </p:nvSpPr>
            <p:spPr>
              <a:xfrm>
                <a:off x="792879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p:sp>
            <p:nvSpPr>
              <p:cNvPr id="45" name="TextBox 44">
                <a:extLst>
                  <a:ext uri="{FF2B5EF4-FFF2-40B4-BE49-F238E27FC236}">
                    <a16:creationId xmlns:a16="http://schemas.microsoft.com/office/drawing/2014/main" id="{D807FCD9-F9B6-4552-AF3B-6F24D9C65727}"/>
                  </a:ext>
                </a:extLst>
              </p:cNvPr>
              <p:cNvSpPr txBox="1">
                <a:spLocks noRot="1" noChangeAspect="1" noMove="1" noResize="1" noEditPoints="1" noAdjustHandles="1" noChangeArrowheads="1" noChangeShapeType="1" noTextEdit="1"/>
              </p:cNvSpPr>
              <p:nvPr/>
            </p:nvSpPr>
            <p:spPr>
              <a:xfrm>
                <a:off x="7928799" y="1049363"/>
                <a:ext cx="546047" cy="461665"/>
              </a:xfrm>
              <a:prstGeom prst="rect">
                <a:avLst/>
              </a:prstGeom>
              <a:blipFill>
                <a:blip r:embed="rId9"/>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CF8371DE-47F2-95FF-D0D5-F7D20CF23417}"/>
                  </a:ext>
                </a:extLst>
              </p:cNvPr>
              <p:cNvSpPr txBox="1"/>
              <p:nvPr/>
            </p:nvSpPr>
            <p:spPr>
              <a:xfrm>
                <a:off x="1037397" y="5646613"/>
                <a:ext cx="7294754" cy="7694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400" b="0" i="1" smtClean="0">
                          <a:latin typeface="Cambria Math" panose="02040503050406030204" pitchFamily="18" charset="0"/>
                        </a:rPr>
                        <m:t>𝑆</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𝜌</m:t>
                          </m:r>
                        </m:e>
                      </m:d>
                      <m:r>
                        <a:rPr lang="en-US" sz="4400" i="1">
                          <a:latin typeface="Cambria Math" panose="02040503050406030204" pitchFamily="18" charset="0"/>
                        </a:rPr>
                        <m:t>=</m:t>
                      </m:r>
                      <m:r>
                        <a:rPr lang="en-US" sz="4400" b="0" i="1" smtClean="0">
                          <a:latin typeface="Cambria Math" panose="02040503050406030204" pitchFamily="18" charset="0"/>
                        </a:rPr>
                        <m:t>−</m:t>
                      </m:r>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1</m:t>
                          </m:r>
                        </m:sub>
                      </m:sSub>
                      <m:func>
                        <m:funcPr>
                          <m:ctrlPr>
                            <a:rPr lang="en-US" sz="4400" i="1">
                              <a:latin typeface="Cambria Math" panose="02040503050406030204" pitchFamily="18" charset="0"/>
                            </a:rPr>
                          </m:ctrlPr>
                        </m:funcPr>
                        <m:fName>
                          <m:r>
                            <m:rPr>
                              <m:sty m:val="p"/>
                            </m:rPr>
                            <a:rPr lang="en-US" sz="4400">
                              <a:latin typeface="Cambria Math" panose="02040503050406030204" pitchFamily="18" charset="0"/>
                            </a:rPr>
                            <m:t>log</m:t>
                          </m:r>
                        </m:fName>
                        <m:e>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1</m:t>
                              </m:r>
                            </m:sub>
                          </m:sSub>
                        </m:e>
                      </m:func>
                      <m:r>
                        <a:rPr lang="en-US" sz="4400" i="1">
                          <a:latin typeface="Cambria Math" panose="02040503050406030204" pitchFamily="18" charset="0"/>
                        </a:rPr>
                        <m:t>−</m:t>
                      </m:r>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2</m:t>
                          </m:r>
                        </m:sub>
                      </m:sSub>
                      <m:func>
                        <m:funcPr>
                          <m:ctrlPr>
                            <a:rPr lang="en-US" sz="4400" i="1">
                              <a:latin typeface="Cambria Math" panose="02040503050406030204" pitchFamily="18" charset="0"/>
                            </a:rPr>
                          </m:ctrlPr>
                        </m:funcPr>
                        <m:fName>
                          <m:r>
                            <m:rPr>
                              <m:sty m:val="p"/>
                            </m:rPr>
                            <a:rPr lang="en-US" sz="4400">
                              <a:latin typeface="Cambria Math" panose="02040503050406030204" pitchFamily="18" charset="0"/>
                            </a:rPr>
                            <m:t>log</m:t>
                          </m:r>
                        </m:fName>
                        <m:e>
                          <m:sSub>
                            <m:sSubPr>
                              <m:ctrlPr>
                                <a:rPr lang="en-US" sz="4400" i="1">
                                  <a:latin typeface="Cambria Math" panose="02040503050406030204" pitchFamily="18" charset="0"/>
                                </a:rPr>
                              </m:ctrlPr>
                            </m:sSubPr>
                            <m:e>
                              <m:r>
                                <a:rPr lang="en-US" sz="4400" i="1">
                                  <a:latin typeface="Cambria Math" panose="02040503050406030204" pitchFamily="18" charset="0"/>
                                </a:rPr>
                                <m:t>𝑝</m:t>
                              </m:r>
                            </m:e>
                            <m:sub>
                              <m:r>
                                <a:rPr lang="en-US" sz="4400" i="1">
                                  <a:latin typeface="Cambria Math" panose="02040503050406030204" pitchFamily="18" charset="0"/>
                                </a:rPr>
                                <m:t>2</m:t>
                              </m:r>
                            </m:sub>
                          </m:sSub>
                        </m:e>
                      </m:func>
                    </m:oMath>
                  </m:oMathPara>
                </a14:m>
                <a:endParaRPr lang="en-US" sz="4400" dirty="0"/>
              </a:p>
            </p:txBody>
          </p:sp>
        </mc:Choice>
        <mc:Fallback>
          <p:sp>
            <p:nvSpPr>
              <p:cNvPr id="46" name="TextBox 45">
                <a:extLst>
                  <a:ext uri="{FF2B5EF4-FFF2-40B4-BE49-F238E27FC236}">
                    <a16:creationId xmlns:a16="http://schemas.microsoft.com/office/drawing/2014/main" id="{CF8371DE-47F2-95FF-D0D5-F7D20CF23417}"/>
                  </a:ext>
                </a:extLst>
              </p:cNvPr>
              <p:cNvSpPr txBox="1">
                <a:spLocks noRot="1" noChangeAspect="1" noMove="1" noResize="1" noEditPoints="1" noAdjustHandles="1" noChangeArrowheads="1" noChangeShapeType="1" noTextEdit="1"/>
              </p:cNvSpPr>
              <p:nvPr/>
            </p:nvSpPr>
            <p:spPr>
              <a:xfrm>
                <a:off x="1037397" y="5646613"/>
                <a:ext cx="7294754" cy="769441"/>
              </a:xfrm>
              <a:prstGeom prst="rect">
                <a:avLst/>
              </a:prstGeom>
              <a:blipFill>
                <a:blip r:embed="rId10"/>
                <a:stretch>
                  <a:fillRect/>
                </a:stretch>
              </a:blipFill>
            </p:spPr>
            <p:txBody>
              <a:bodyPr/>
              <a:lstStyle/>
              <a:p>
                <a:r>
                  <a:rPr lang="en-US">
                    <a:noFill/>
                  </a:rPr>
                  <a:t> </a:t>
                </a:r>
              </a:p>
            </p:txBody>
          </p:sp>
        </mc:Fallback>
      </mc:AlternateContent>
      <p:sp>
        <p:nvSpPr>
          <p:cNvPr id="47" name="Right Brace 46">
            <a:extLst>
              <a:ext uri="{FF2B5EF4-FFF2-40B4-BE49-F238E27FC236}">
                <a16:creationId xmlns:a16="http://schemas.microsoft.com/office/drawing/2014/main" id="{3C4850D3-8A6A-C8CF-7418-EAF5071576D1}"/>
              </a:ext>
            </a:extLst>
          </p:cNvPr>
          <p:cNvSpPr/>
          <p:nvPr/>
        </p:nvSpPr>
        <p:spPr>
          <a:xfrm flipH="1">
            <a:off x="8008688"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037358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40" grpId="0"/>
      <p:bldP spid="41" grpId="0"/>
      <p:bldP spid="42" grpId="0"/>
      <p:bldP spid="43" grpId="0"/>
      <p:bldP spid="44" grpId="0"/>
      <p:bldP spid="45" grpId="0"/>
      <p:bldP spid="46" grpId="0"/>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1A33CFD9-0740-43BF-C687-9100143E4D3C}"/>
              </a:ext>
            </a:extLst>
          </p:cNvPr>
          <p:cNvSpPr/>
          <p:nvPr/>
        </p:nvSpPr>
        <p:spPr>
          <a:xfrm>
            <a:off x="7988847" y="438149"/>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5AE4B3B0-58B5-3507-ED27-1E1191D6605A}"/>
              </a:ext>
            </a:extLst>
          </p:cNvPr>
          <p:cNvCxnSpPr>
            <a:stCxn id="2" idx="2"/>
            <a:endCxn id="2" idx="6"/>
          </p:cNvCxnSpPr>
          <p:nvPr/>
        </p:nvCxnSpPr>
        <p:spPr>
          <a:xfrm>
            <a:off x="7988847" y="2004191"/>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AE26FFA-E5AD-9B72-E92F-49F23B0C1D36}"/>
              </a:ext>
            </a:extLst>
          </p:cNvPr>
          <p:cNvCxnSpPr>
            <a:cxnSpLocks/>
          </p:cNvCxnSpPr>
          <p:nvPr/>
        </p:nvCxnSpPr>
        <p:spPr>
          <a:xfrm>
            <a:off x="10774089" y="1023938"/>
            <a:ext cx="0" cy="1961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A535D8C-52F8-357D-3665-94DC20C1A1AF}"/>
              </a:ext>
            </a:extLst>
          </p:cNvPr>
          <p:cNvCxnSpPr/>
          <p:nvPr/>
        </p:nvCxnSpPr>
        <p:spPr>
          <a:xfrm flipV="1">
            <a:off x="9554888" y="1023938"/>
            <a:ext cx="1198837" cy="98025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03EBAAC-CF16-7DEC-F9A6-2A8F48C4307B}"/>
              </a:ext>
            </a:extLst>
          </p:cNvPr>
          <p:cNvCxnSpPr>
            <a:cxnSpLocks/>
          </p:cNvCxnSpPr>
          <p:nvPr/>
        </p:nvCxnSpPr>
        <p:spPr>
          <a:xfrm>
            <a:off x="9554888" y="2005028"/>
            <a:ext cx="1198837" cy="98025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2DEB013-1D9C-99C3-D2AE-1CFE30A5620C}"/>
                  </a:ext>
                </a:extLst>
              </p:cNvPr>
              <p:cNvSpPr txBox="1"/>
              <p:nvPr/>
            </p:nvSpPr>
            <p:spPr>
              <a:xfrm>
                <a:off x="10753725" y="6671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82DEB013-1D9C-99C3-D2AE-1CFE30A5620C}"/>
                  </a:ext>
                </a:extLst>
              </p:cNvPr>
              <p:cNvSpPr txBox="1">
                <a:spLocks noRot="1" noChangeAspect="1" noMove="1" noResize="1" noEditPoints="1" noAdjustHandles="1" noChangeArrowheads="1" noChangeShapeType="1" noTextEdit="1"/>
              </p:cNvSpPr>
              <p:nvPr/>
            </p:nvSpPr>
            <p:spPr>
              <a:xfrm>
                <a:off x="10753725" y="667172"/>
                <a:ext cx="402866" cy="369332"/>
              </a:xfrm>
              <a:prstGeom prst="rect">
                <a:avLst/>
              </a:prstGeom>
              <a:blipFill>
                <a:blip r:embed="rId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788A3F1-BA8C-9A81-4172-FB30901B2EC6}"/>
                  </a:ext>
                </a:extLst>
              </p:cNvPr>
              <p:cNvSpPr txBox="1"/>
              <p:nvPr/>
            </p:nvSpPr>
            <p:spPr>
              <a:xfrm>
                <a:off x="10774089" y="288821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3" name="TextBox 12">
                <a:extLst>
                  <a:ext uri="{FF2B5EF4-FFF2-40B4-BE49-F238E27FC236}">
                    <a16:creationId xmlns:a16="http://schemas.microsoft.com/office/drawing/2014/main" id="{0788A3F1-BA8C-9A81-4172-FB30901B2EC6}"/>
                  </a:ext>
                </a:extLst>
              </p:cNvPr>
              <p:cNvSpPr txBox="1">
                <a:spLocks noRot="1" noChangeAspect="1" noMove="1" noResize="1" noEditPoints="1" noAdjustHandles="1" noChangeArrowheads="1" noChangeShapeType="1" noTextEdit="1"/>
              </p:cNvSpPr>
              <p:nvPr/>
            </p:nvSpPr>
            <p:spPr>
              <a:xfrm>
                <a:off x="10774089" y="2888218"/>
                <a:ext cx="39959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29F5574-B0E2-0F66-A7AE-17EBD9027D0B}"/>
                  </a:ext>
                </a:extLst>
              </p:cNvPr>
              <p:cNvSpPr txBox="1"/>
              <p:nvPr/>
            </p:nvSpPr>
            <p:spPr>
              <a:xfrm>
                <a:off x="11120930" y="1819524"/>
                <a:ext cx="367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4" name="TextBox 13">
                <a:extLst>
                  <a:ext uri="{FF2B5EF4-FFF2-40B4-BE49-F238E27FC236}">
                    <a16:creationId xmlns:a16="http://schemas.microsoft.com/office/drawing/2014/main" id="{529F5574-B0E2-0F66-A7AE-17EBD9027D0B}"/>
                  </a:ext>
                </a:extLst>
              </p:cNvPr>
              <p:cNvSpPr txBox="1">
                <a:spLocks noRot="1" noChangeAspect="1" noMove="1" noResize="1" noEditPoints="1" noAdjustHandles="1" noChangeArrowheads="1" noChangeShapeType="1" noTextEdit="1"/>
              </p:cNvSpPr>
              <p:nvPr/>
            </p:nvSpPr>
            <p:spPr>
              <a:xfrm>
                <a:off x="11120930" y="1819524"/>
                <a:ext cx="367665"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CEF2418-AF5B-D99B-3A13-4EC673CF93A8}"/>
                  </a:ext>
                </a:extLst>
              </p:cNvPr>
              <p:cNvSpPr txBox="1"/>
              <p:nvPr/>
            </p:nvSpPr>
            <p:spPr>
              <a:xfrm>
                <a:off x="7577280" y="1819524"/>
                <a:ext cx="37144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5" name="TextBox 14">
                <a:extLst>
                  <a:ext uri="{FF2B5EF4-FFF2-40B4-BE49-F238E27FC236}">
                    <a16:creationId xmlns:a16="http://schemas.microsoft.com/office/drawing/2014/main" id="{7CEF2418-AF5B-D99B-3A13-4EC673CF93A8}"/>
                  </a:ext>
                </a:extLst>
              </p:cNvPr>
              <p:cNvSpPr txBox="1">
                <a:spLocks noRot="1" noChangeAspect="1" noMove="1" noResize="1" noEditPoints="1" noAdjustHandles="1" noChangeArrowheads="1" noChangeShapeType="1" noTextEdit="1"/>
              </p:cNvSpPr>
              <p:nvPr/>
            </p:nvSpPr>
            <p:spPr>
              <a:xfrm>
                <a:off x="7577280" y="1819524"/>
                <a:ext cx="37144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98365A0-9972-6AD2-F4E8-4FCE478E1593}"/>
                  </a:ext>
                </a:extLst>
              </p:cNvPr>
              <p:cNvSpPr txBox="1"/>
              <p:nvPr/>
            </p:nvSpPr>
            <p:spPr>
              <a:xfrm>
                <a:off x="10730335" y="160653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398365A0-9972-6AD2-F4E8-4FCE478E1593}"/>
                  </a:ext>
                </a:extLst>
              </p:cNvPr>
              <p:cNvSpPr txBox="1">
                <a:spLocks noRot="1" noChangeAspect="1" noMove="1" noResize="1" noEditPoints="1" noAdjustHandles="1" noChangeArrowheads="1" noChangeShapeType="1" noTextEdit="1"/>
              </p:cNvSpPr>
              <p:nvPr/>
            </p:nvSpPr>
            <p:spPr>
              <a:xfrm>
                <a:off x="10730335" y="1606533"/>
                <a:ext cx="370230" cy="369332"/>
              </a:xfrm>
              <a:prstGeom prst="rect">
                <a:avLst/>
              </a:prstGeom>
              <a:blipFill>
                <a:blip r:embed="rId6"/>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F2F714B-2E13-F015-99D0-F62326A83604}"/>
                  </a:ext>
                </a:extLst>
              </p:cNvPr>
              <p:cNvSpPr txBox="1"/>
              <p:nvPr/>
            </p:nvSpPr>
            <p:spPr>
              <a:xfrm>
                <a:off x="433444" y="297457"/>
                <a:ext cx="6967680" cy="1982659"/>
              </a:xfrm>
              <a:prstGeom prst="rect">
                <a:avLst/>
              </a:prstGeom>
              <a:noFill/>
            </p:spPr>
            <p:txBody>
              <a:bodyPr wrap="square" rtlCol="0">
                <a:spAutoFit/>
              </a:bodyPr>
              <a:lstStyle/>
              <a:p>
                <a:pPr algn="ctr"/>
                <a:r>
                  <a:rPr lang="en-US" sz="3600" dirty="0"/>
                  <a:t>The entropy of the mixed state</a:t>
                </a:r>
                <a:br>
                  <a:rPr lang="en-US" sz="3600" dirty="0"/>
                </a:br>
                <a14:m>
                  <m:oMath xmlns:m="http://schemas.openxmlformats.org/officeDocument/2006/math">
                    <m:r>
                      <a:rPr lang="en-US" sz="3600" b="0" i="1" smtClean="0">
                        <a:latin typeface="Cambria Math" panose="02040503050406030204" pitchFamily="18" charset="0"/>
                      </a:rPr>
                      <m:t>𝜌</m:t>
                    </m:r>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1</m:t>
                        </m:r>
                      </m:num>
                      <m:den>
                        <m:r>
                          <a:rPr lang="en-US" sz="3600" b="0" i="1" smtClean="0">
                            <a:latin typeface="Cambria Math" panose="02040503050406030204" pitchFamily="18" charset="0"/>
                          </a:rPr>
                          <m:t>2</m:t>
                        </m:r>
                      </m:den>
                    </m:f>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𝜓</m:t>
                        </m:r>
                      </m:e>
                    </m:d>
                    <m:d>
                      <m:dPr>
                        <m:begChr m:val="⟨"/>
                        <m:endChr m:val="|"/>
                        <m:ctrlPr>
                          <a:rPr lang="en-US" sz="3600" b="0" i="1" smtClean="0">
                            <a:latin typeface="Cambria Math" panose="02040503050406030204" pitchFamily="18" charset="0"/>
                          </a:rPr>
                        </m:ctrlPr>
                      </m:dPr>
                      <m:e>
                        <m:r>
                          <a:rPr lang="en-US" sz="3600" b="0" i="1" smtClean="0">
                            <a:latin typeface="Cambria Math" panose="02040503050406030204" pitchFamily="18" charset="0"/>
                          </a:rPr>
                          <m:t>𝜓</m:t>
                        </m:r>
                      </m:e>
                    </m:d>
                    <m:r>
                      <a:rPr lang="en-US" sz="3600" b="0" i="1" smtClean="0">
                        <a:latin typeface="Cambria Math" panose="02040503050406030204" pitchFamily="18" charset="0"/>
                      </a:rPr>
                      <m:t>+</m:t>
                    </m:r>
                    <m:f>
                      <m:fPr>
                        <m:ctrlPr>
                          <a:rPr lang="en-US" sz="3600" i="1">
                            <a:latin typeface="Cambria Math" panose="02040503050406030204" pitchFamily="18" charset="0"/>
                          </a:rPr>
                        </m:ctrlPr>
                      </m:fPr>
                      <m:num>
                        <m:r>
                          <a:rPr lang="en-US" sz="3600" i="1">
                            <a:latin typeface="Cambria Math" panose="02040503050406030204" pitchFamily="18" charset="0"/>
                          </a:rPr>
                          <m:t>1</m:t>
                        </m:r>
                      </m:num>
                      <m:den>
                        <m:r>
                          <a:rPr lang="en-US" sz="3600" i="1">
                            <a:latin typeface="Cambria Math" panose="02040503050406030204" pitchFamily="18" charset="0"/>
                          </a:rPr>
                          <m:t>2</m:t>
                        </m:r>
                      </m:den>
                    </m:f>
                    <m:d>
                      <m:dPr>
                        <m:begChr m:val="|"/>
                        <m:endChr m:val="⟩"/>
                        <m:ctrlPr>
                          <a:rPr lang="en-US" sz="3600" i="1">
                            <a:latin typeface="Cambria Math" panose="02040503050406030204" pitchFamily="18" charset="0"/>
                          </a:rPr>
                        </m:ctrlPr>
                      </m:dPr>
                      <m:e>
                        <m:r>
                          <a:rPr lang="en-US" sz="3600" b="0" i="1" smtClean="0">
                            <a:latin typeface="Cambria Math" panose="02040503050406030204" pitchFamily="18" charset="0"/>
                          </a:rPr>
                          <m:t>𝜙</m:t>
                        </m:r>
                      </m:e>
                    </m:d>
                    <m:d>
                      <m:dPr>
                        <m:begChr m:val="⟨"/>
                        <m:endChr m:val="|"/>
                        <m:ctrlPr>
                          <a:rPr lang="en-US" sz="3600" i="1">
                            <a:latin typeface="Cambria Math" panose="02040503050406030204" pitchFamily="18" charset="0"/>
                          </a:rPr>
                        </m:ctrlPr>
                      </m:dPr>
                      <m:e>
                        <m:r>
                          <a:rPr lang="en-US" sz="3600" b="0" i="1" smtClean="0">
                            <a:latin typeface="Cambria Math" panose="02040503050406030204" pitchFamily="18" charset="0"/>
                          </a:rPr>
                          <m:t>𝜙</m:t>
                        </m:r>
                      </m:e>
                    </m:d>
                  </m:oMath>
                </a14:m>
                <a:r>
                  <a:rPr lang="en-US" sz="3600" dirty="0"/>
                  <a:t> </a:t>
                </a:r>
                <a:br>
                  <a:rPr lang="en-US" sz="3600" dirty="0"/>
                </a:br>
                <a:r>
                  <a:rPr lang="en-US" sz="3600" dirty="0"/>
                  <a:t>depends uniquely on </a:t>
                </a:r>
                <a14:m>
                  <m:oMath xmlns:m="http://schemas.openxmlformats.org/officeDocument/2006/math">
                    <m:sSup>
                      <m:sSupPr>
                        <m:ctrlPr>
                          <a:rPr lang="en-US" sz="3600" i="1">
                            <a:latin typeface="Cambria Math" panose="02040503050406030204" pitchFamily="18" charset="0"/>
                          </a:rPr>
                        </m:ctrlPr>
                      </m:sSupPr>
                      <m:e>
                        <m:d>
                          <m:dPr>
                            <m:begChr m:val="|"/>
                            <m:endChr m:val="|"/>
                            <m:ctrlPr>
                              <a:rPr lang="en-US" sz="3600" i="1">
                                <a:latin typeface="Cambria Math" panose="02040503050406030204" pitchFamily="18" charset="0"/>
                              </a:rPr>
                            </m:ctrlPr>
                          </m:dPr>
                          <m:e>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𝜓</m:t>
                                </m:r>
                              </m:e>
                              <m:e>
                                <m:r>
                                  <a:rPr lang="en-US" sz="3600" i="1">
                                    <a:latin typeface="Cambria Math" panose="02040503050406030204" pitchFamily="18" charset="0"/>
                                  </a:rPr>
                                  <m:t>𝜙</m:t>
                                </m:r>
                              </m:e>
                            </m:d>
                          </m:e>
                        </m:d>
                      </m:e>
                      <m:sup>
                        <m:r>
                          <a:rPr lang="en-US" sz="3600" i="1">
                            <a:latin typeface="Cambria Math" panose="02040503050406030204" pitchFamily="18" charset="0"/>
                          </a:rPr>
                          <m:t>2</m:t>
                        </m:r>
                      </m:sup>
                    </m:sSup>
                  </m:oMath>
                </a14:m>
                <a:endParaRPr lang="en-US" sz="3600" dirty="0"/>
              </a:p>
            </p:txBody>
          </p:sp>
        </mc:Choice>
        <mc:Fallback xmlns="">
          <p:sp>
            <p:nvSpPr>
              <p:cNvPr id="17" name="TextBox 16">
                <a:extLst>
                  <a:ext uri="{FF2B5EF4-FFF2-40B4-BE49-F238E27FC236}">
                    <a16:creationId xmlns:a16="http://schemas.microsoft.com/office/drawing/2014/main" id="{6F2F714B-2E13-F015-99D0-F62326A83604}"/>
                  </a:ext>
                </a:extLst>
              </p:cNvPr>
              <p:cNvSpPr txBox="1">
                <a:spLocks noRot="1" noChangeAspect="1" noMove="1" noResize="1" noEditPoints="1" noAdjustHandles="1" noChangeArrowheads="1" noChangeShapeType="1" noTextEdit="1"/>
              </p:cNvSpPr>
              <p:nvPr/>
            </p:nvSpPr>
            <p:spPr>
              <a:xfrm>
                <a:off x="433444" y="297457"/>
                <a:ext cx="6967680" cy="1982659"/>
              </a:xfrm>
              <a:prstGeom prst="rect">
                <a:avLst/>
              </a:prstGeom>
              <a:blipFill>
                <a:blip r:embed="rId7"/>
                <a:stretch>
                  <a:fillRect t="-4923" b="-11077"/>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336E2B6-47AE-26E9-46BB-4F99E8117303}"/>
              </a:ext>
            </a:extLst>
          </p:cNvPr>
          <p:cNvSpPr txBox="1"/>
          <p:nvPr/>
        </p:nvSpPr>
        <p:spPr>
          <a:xfrm>
            <a:off x="2124036" y="2842051"/>
            <a:ext cx="3586495" cy="830997"/>
          </a:xfrm>
          <a:prstGeom prst="rect">
            <a:avLst/>
          </a:prstGeom>
          <a:noFill/>
        </p:spPr>
        <p:txBody>
          <a:bodyPr wrap="none" rtlCol="0">
            <a:spAutoFit/>
          </a:bodyPr>
          <a:lstStyle/>
          <a:p>
            <a:r>
              <a:rPr lang="en-US" sz="4800" dirty="0">
                <a:solidFill>
                  <a:schemeClr val="accent6">
                    <a:lumMod val="75000"/>
                  </a:schemeClr>
                </a:solidFill>
              </a:rPr>
              <a:t>Let’s prove it!</a:t>
            </a:r>
          </a:p>
        </p:txBody>
      </p:sp>
    </p:spTree>
    <p:extLst>
      <p:ext uri="{BB962C8B-B14F-4D97-AF65-F5344CB8AC3E}">
        <p14:creationId xmlns:p14="http://schemas.microsoft.com/office/powerpoint/2010/main" val="2942342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07FC7-5D4D-3155-BA05-93177B999966}"/>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A266DE09-45F0-6FDB-D443-B9965D9392E2}"/>
              </a:ext>
            </a:extLst>
          </p:cNvPr>
          <p:cNvSpPr/>
          <p:nvPr/>
        </p:nvSpPr>
        <p:spPr>
          <a:xfrm>
            <a:off x="7988847" y="438149"/>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99AD3B53-D2EE-CA6F-CCC7-55E7B931EF31}"/>
              </a:ext>
            </a:extLst>
          </p:cNvPr>
          <p:cNvCxnSpPr>
            <a:stCxn id="2" idx="2"/>
            <a:endCxn id="2" idx="6"/>
          </p:cNvCxnSpPr>
          <p:nvPr/>
        </p:nvCxnSpPr>
        <p:spPr>
          <a:xfrm>
            <a:off x="7988847" y="2004191"/>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0A93B5A-5CAC-6D2E-166D-B32E98E5C55A}"/>
              </a:ext>
            </a:extLst>
          </p:cNvPr>
          <p:cNvCxnSpPr>
            <a:cxnSpLocks/>
          </p:cNvCxnSpPr>
          <p:nvPr/>
        </p:nvCxnSpPr>
        <p:spPr>
          <a:xfrm>
            <a:off x="10774089" y="1023938"/>
            <a:ext cx="0" cy="1961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F70B067-3DBA-C4DE-35ED-67C6A4748EAA}"/>
              </a:ext>
            </a:extLst>
          </p:cNvPr>
          <p:cNvCxnSpPr/>
          <p:nvPr/>
        </p:nvCxnSpPr>
        <p:spPr>
          <a:xfrm flipV="1">
            <a:off x="9554888" y="1023938"/>
            <a:ext cx="1198837" cy="98025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595C3A2-3F89-D593-F021-D2EAA9A59B6F}"/>
              </a:ext>
            </a:extLst>
          </p:cNvPr>
          <p:cNvCxnSpPr>
            <a:cxnSpLocks/>
          </p:cNvCxnSpPr>
          <p:nvPr/>
        </p:nvCxnSpPr>
        <p:spPr>
          <a:xfrm>
            <a:off x="9554888" y="2005028"/>
            <a:ext cx="1198837" cy="98025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4FABC6D-736B-64BA-49F8-CDAB5853DC14}"/>
                  </a:ext>
                </a:extLst>
              </p:cNvPr>
              <p:cNvSpPr txBox="1"/>
              <p:nvPr/>
            </p:nvSpPr>
            <p:spPr>
              <a:xfrm>
                <a:off x="10753725" y="6671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74FABC6D-736B-64BA-49F8-CDAB5853DC14}"/>
                  </a:ext>
                </a:extLst>
              </p:cNvPr>
              <p:cNvSpPr txBox="1">
                <a:spLocks noRot="1" noChangeAspect="1" noMove="1" noResize="1" noEditPoints="1" noAdjustHandles="1" noChangeArrowheads="1" noChangeShapeType="1" noTextEdit="1"/>
              </p:cNvSpPr>
              <p:nvPr/>
            </p:nvSpPr>
            <p:spPr>
              <a:xfrm>
                <a:off x="10753725" y="667172"/>
                <a:ext cx="402866" cy="369332"/>
              </a:xfrm>
              <a:prstGeom prst="rect">
                <a:avLst/>
              </a:prstGeom>
              <a:blipFill>
                <a:blip r:embed="rId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B7C1734-797F-08E2-5899-4DA2ABF07759}"/>
                  </a:ext>
                </a:extLst>
              </p:cNvPr>
              <p:cNvSpPr txBox="1"/>
              <p:nvPr/>
            </p:nvSpPr>
            <p:spPr>
              <a:xfrm>
                <a:off x="10774089" y="288821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3" name="TextBox 12">
                <a:extLst>
                  <a:ext uri="{FF2B5EF4-FFF2-40B4-BE49-F238E27FC236}">
                    <a16:creationId xmlns:a16="http://schemas.microsoft.com/office/drawing/2014/main" id="{7B7C1734-797F-08E2-5899-4DA2ABF07759}"/>
                  </a:ext>
                </a:extLst>
              </p:cNvPr>
              <p:cNvSpPr txBox="1">
                <a:spLocks noRot="1" noChangeAspect="1" noMove="1" noResize="1" noEditPoints="1" noAdjustHandles="1" noChangeArrowheads="1" noChangeShapeType="1" noTextEdit="1"/>
              </p:cNvSpPr>
              <p:nvPr/>
            </p:nvSpPr>
            <p:spPr>
              <a:xfrm>
                <a:off x="10774089" y="2888218"/>
                <a:ext cx="39959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D93FB4A-37AC-5D2F-AEFD-E207C859755A}"/>
                  </a:ext>
                </a:extLst>
              </p:cNvPr>
              <p:cNvSpPr txBox="1"/>
              <p:nvPr/>
            </p:nvSpPr>
            <p:spPr>
              <a:xfrm>
                <a:off x="11120930" y="1819524"/>
                <a:ext cx="367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4" name="TextBox 13">
                <a:extLst>
                  <a:ext uri="{FF2B5EF4-FFF2-40B4-BE49-F238E27FC236}">
                    <a16:creationId xmlns:a16="http://schemas.microsoft.com/office/drawing/2014/main" id="{6D93FB4A-37AC-5D2F-AEFD-E207C859755A}"/>
                  </a:ext>
                </a:extLst>
              </p:cNvPr>
              <p:cNvSpPr txBox="1">
                <a:spLocks noRot="1" noChangeAspect="1" noMove="1" noResize="1" noEditPoints="1" noAdjustHandles="1" noChangeArrowheads="1" noChangeShapeType="1" noTextEdit="1"/>
              </p:cNvSpPr>
              <p:nvPr/>
            </p:nvSpPr>
            <p:spPr>
              <a:xfrm>
                <a:off x="11120930" y="1819524"/>
                <a:ext cx="367665"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36A5428-F3E8-A757-1A47-9B00432D3063}"/>
                  </a:ext>
                </a:extLst>
              </p:cNvPr>
              <p:cNvSpPr txBox="1"/>
              <p:nvPr/>
            </p:nvSpPr>
            <p:spPr>
              <a:xfrm>
                <a:off x="10730335" y="160653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E36A5428-F3E8-A757-1A47-9B00432D3063}"/>
                  </a:ext>
                </a:extLst>
              </p:cNvPr>
              <p:cNvSpPr txBox="1">
                <a:spLocks noRot="1" noChangeAspect="1" noMove="1" noResize="1" noEditPoints="1" noAdjustHandles="1" noChangeArrowheads="1" noChangeShapeType="1" noTextEdit="1"/>
              </p:cNvSpPr>
              <p:nvPr/>
            </p:nvSpPr>
            <p:spPr>
              <a:xfrm>
                <a:off x="10730335" y="1606533"/>
                <a:ext cx="370230" cy="369332"/>
              </a:xfrm>
              <a:prstGeom prst="rect">
                <a:avLst/>
              </a:prstGeom>
              <a:blipFill>
                <a:blip r:embed="rId5"/>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F06675A-69F6-A9A3-FF66-D4F5D900A6C5}"/>
                  </a:ext>
                </a:extLst>
              </p:cNvPr>
              <p:cNvSpPr txBox="1"/>
              <p:nvPr/>
            </p:nvSpPr>
            <p:spPr>
              <a:xfrm>
                <a:off x="578081" y="273827"/>
                <a:ext cx="4789709" cy="117564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𝑎</m:t>
                              </m:r>
                              <m:r>
                                <a:rPr lang="en-US" sz="3200" b="0" i="1" smtClean="0">
                                  <a:latin typeface="Cambria Math" panose="02040503050406030204" pitchFamily="18" charset="0"/>
                                </a:rPr>
                                <m:t>𝜌</m:t>
                              </m:r>
                            </m:e>
                          </m:bar>
                        </m:num>
                        <m:den>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i="1">
                                  <a:latin typeface="Cambria Math" panose="02040503050406030204" pitchFamily="18" charset="0"/>
                                </a:rPr>
                              </m:ctrlPr>
                            </m:barPr>
                            <m:e>
                              <m:r>
                                <a:rPr lang="en-US" sz="3200" i="1">
                                  <a:latin typeface="Cambria Math" panose="02040503050406030204" pitchFamily="18" charset="0"/>
                                </a:rPr>
                                <m:t>𝜌</m:t>
                              </m:r>
                              <m:r>
                                <a:rPr lang="en-US" sz="3200" b="0" i="1" smtClean="0">
                                  <a:latin typeface="Cambria Math" panose="02040503050406030204" pitchFamily="18" charset="0"/>
                                </a:rPr>
                                <m:t>𝑏</m:t>
                              </m:r>
                            </m:e>
                          </m:bar>
                        </m:num>
                        <m:den>
                          <m:acc>
                            <m:accPr>
                              <m:chr m:val="̅"/>
                              <m:ctrlPr>
                                <a:rPr lang="en-US" sz="3200" i="1">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3" name="TextBox 2">
                <a:extLst>
                  <a:ext uri="{FF2B5EF4-FFF2-40B4-BE49-F238E27FC236}">
                    <a16:creationId xmlns:a16="http://schemas.microsoft.com/office/drawing/2014/main" id="{3F06675A-69F6-A9A3-FF66-D4F5D900A6C5}"/>
                  </a:ext>
                </a:extLst>
              </p:cNvPr>
              <p:cNvSpPr txBox="1">
                <a:spLocks noRot="1" noChangeAspect="1" noMove="1" noResize="1" noEditPoints="1" noAdjustHandles="1" noChangeArrowheads="1" noChangeShapeType="1" noTextEdit="1"/>
              </p:cNvSpPr>
              <p:nvPr/>
            </p:nvSpPr>
            <p:spPr>
              <a:xfrm>
                <a:off x="578081" y="273827"/>
                <a:ext cx="4789709" cy="11756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27EA35-AC90-E529-5A8E-ABE9F1BAC0FF}"/>
                  </a:ext>
                </a:extLst>
              </p:cNvPr>
              <p:cNvSpPr txBox="1"/>
              <p:nvPr/>
            </p:nvSpPr>
            <p:spPr>
              <a:xfrm>
                <a:off x="9292918" y="1634858"/>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C927EA35-AC90-E529-5A8E-ABE9F1BAC0FF}"/>
                  </a:ext>
                </a:extLst>
              </p:cNvPr>
              <p:cNvSpPr txBox="1">
                <a:spLocks noRot="1" noChangeAspect="1" noMove="1" noResize="1" noEditPoints="1" noAdjustHandles="1" noChangeArrowheads="1" noChangeShapeType="1" noTextEdit="1"/>
              </p:cNvSpPr>
              <p:nvPr/>
            </p:nvSpPr>
            <p:spPr>
              <a:xfrm>
                <a:off x="9292918" y="1634858"/>
                <a:ext cx="385555"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0634965-E90C-C2E5-F7F0-6701362626A1}"/>
                  </a:ext>
                </a:extLst>
              </p:cNvPr>
              <p:cNvSpPr txBox="1"/>
              <p:nvPr/>
            </p:nvSpPr>
            <p:spPr>
              <a:xfrm>
                <a:off x="920222" y="1514064"/>
                <a:ext cx="5889754" cy="11367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𝐶</m:t>
                              </m:r>
                              <m:r>
                                <a:rPr lang="en-US" sz="3200" b="0" i="1" smtClean="0">
                                  <a:latin typeface="Cambria Math" panose="02040503050406030204" pitchFamily="18" charset="0"/>
                                </a:rPr>
                                <m:t>𝜌</m:t>
                              </m:r>
                            </m:e>
                          </m:bar>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bar>
                            <m:barPr>
                              <m:pos m:val="top"/>
                              <m:ctrlPr>
                                <a:rPr lang="en-US" sz="3200" i="1">
                                  <a:latin typeface="Cambria Math" panose="02040503050406030204" pitchFamily="18" charset="0"/>
                                </a:rPr>
                              </m:ctrlPr>
                            </m:barPr>
                            <m:e>
                              <m:r>
                                <a:rPr lang="en-US" sz="3200" b="0" i="1" smtClean="0">
                                  <a:latin typeface="Cambria Math" panose="02040503050406030204" pitchFamily="18" charset="0"/>
                                </a:rPr>
                                <m:t>𝐶</m:t>
                              </m:r>
                              <m:r>
                                <a:rPr lang="en-US" sz="3200" i="1">
                                  <a:latin typeface="Cambria Math" panose="02040503050406030204" pitchFamily="18" charset="0"/>
                                </a:rPr>
                                <m:t>𝜌</m:t>
                              </m:r>
                            </m:e>
                          </m:bar>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5" name="TextBox 4">
                <a:extLst>
                  <a:ext uri="{FF2B5EF4-FFF2-40B4-BE49-F238E27FC236}">
                    <a16:creationId xmlns:a16="http://schemas.microsoft.com/office/drawing/2014/main" id="{60634965-E90C-C2E5-F7F0-6701362626A1}"/>
                  </a:ext>
                </a:extLst>
              </p:cNvPr>
              <p:cNvSpPr txBox="1">
                <a:spLocks noRot="1" noChangeAspect="1" noMove="1" noResize="1" noEditPoints="1" noAdjustHandles="1" noChangeArrowheads="1" noChangeShapeType="1" noTextEdit="1"/>
              </p:cNvSpPr>
              <p:nvPr/>
            </p:nvSpPr>
            <p:spPr>
              <a:xfrm>
                <a:off x="920222" y="1514064"/>
                <a:ext cx="5889754" cy="11367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DF29CFB-6F66-85EB-0B02-1F5C3A7C4BAD}"/>
                  </a:ext>
                </a:extLst>
              </p:cNvPr>
              <p:cNvSpPr txBox="1"/>
              <p:nvPr/>
            </p:nvSpPr>
            <p:spPr>
              <a:xfrm>
                <a:off x="766270" y="2985280"/>
                <a:ext cx="6448817" cy="10368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bar>
                        <m:barPr>
                          <m:pos m:val="top"/>
                          <m:ctrlPr>
                            <a:rPr lang="en-US" sz="3200" i="1" smtClean="0">
                              <a:latin typeface="Cambria Math" panose="02040503050406030204" pitchFamily="18" charset="0"/>
                            </a:rPr>
                          </m:ctrlPr>
                        </m:barPr>
                        <m:e>
                          <m:r>
                            <a:rPr lang="en-US" sz="3200" i="1">
                              <a:latin typeface="Cambria Math" panose="02040503050406030204" pitchFamily="18" charset="0"/>
                            </a:rPr>
                            <m:t>𝐶</m:t>
                          </m:r>
                          <m:r>
                            <a:rPr lang="en-US" sz="3200" i="1">
                              <a:latin typeface="Cambria Math" panose="02040503050406030204" pitchFamily="18" charset="0"/>
                            </a:rPr>
                            <m:t>𝜌</m:t>
                          </m:r>
                        </m:e>
                      </m:ba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m:t>
                              </m:r>
                              <m:r>
                                <a:rPr lang="en-US" sz="3200" b="0" i="1" smtClean="0">
                                  <a:latin typeface="Cambria Math" panose="02040503050406030204" pitchFamily="18" charset="0"/>
                                </a:rPr>
                                <m:t>𝑏</m:t>
                              </m:r>
                            </m:sub>
                          </m:sSub>
                        </m:e>
                      </m:func>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f>
                            <m:fPr>
                              <m:ctrlPr>
                                <a:rPr lang="en-US" sz="3200" b="0" i="1" smtClean="0">
                                  <a:latin typeface="Cambria Math" panose="02040503050406030204" pitchFamily="18" charset="0"/>
                                </a:rPr>
                              </m:ctrlPr>
                            </m:fPr>
                            <m:num>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𝜃</m:t>
                                  </m:r>
                                </m:e>
                                <m:sub>
                                  <m:r>
                                    <a:rPr lang="en-US" sz="3200" b="0" i="1" smtClean="0">
                                      <a:latin typeface="Cambria Math" panose="02040503050406030204" pitchFamily="18" charset="0"/>
                                    </a:rPr>
                                    <m:t>𝜓𝜙</m:t>
                                  </m:r>
                                </m:sub>
                              </m:sSub>
                            </m:num>
                            <m:den>
                              <m:r>
                                <a:rPr lang="en-US" sz="3200" b="0" i="1" smtClean="0">
                                  <a:latin typeface="Cambria Math" panose="02040503050406030204" pitchFamily="18" charset="0"/>
                                </a:rPr>
                                <m:t>2</m:t>
                              </m:r>
                            </m:den>
                          </m:f>
                        </m:e>
                      </m:func>
                      <m:r>
                        <a:rPr lang="en-US" sz="3200" b="0" i="1" smtClean="0">
                          <a:latin typeface="Cambria Math" panose="02040503050406030204" pitchFamily="18" charset="0"/>
                        </a:rPr>
                        <m:t>=</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oMath>
                  </m:oMathPara>
                </a14:m>
                <a:endParaRPr lang="en-US" sz="3200" dirty="0"/>
              </a:p>
            </p:txBody>
          </p:sp>
        </mc:Choice>
        <mc:Fallback xmlns="">
          <p:sp>
            <p:nvSpPr>
              <p:cNvPr id="17" name="TextBox 16">
                <a:extLst>
                  <a:ext uri="{FF2B5EF4-FFF2-40B4-BE49-F238E27FC236}">
                    <a16:creationId xmlns:a16="http://schemas.microsoft.com/office/drawing/2014/main" id="{0DF29CFB-6F66-85EB-0B02-1F5C3A7C4BAD}"/>
                  </a:ext>
                </a:extLst>
              </p:cNvPr>
              <p:cNvSpPr txBox="1">
                <a:spLocks noRot="1" noChangeAspect="1" noMove="1" noResize="1" noEditPoints="1" noAdjustHandles="1" noChangeArrowheads="1" noChangeShapeType="1" noTextEdit="1"/>
              </p:cNvSpPr>
              <p:nvPr/>
            </p:nvSpPr>
            <p:spPr>
              <a:xfrm>
                <a:off x="766270" y="2985280"/>
                <a:ext cx="6448817" cy="103688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48B9B74-F84D-3BA5-F2A4-E6A942AC2F99}"/>
                  </a:ext>
                </a:extLst>
              </p:cNvPr>
              <p:cNvSpPr txBox="1"/>
              <p:nvPr/>
            </p:nvSpPr>
            <p:spPr>
              <a:xfrm>
                <a:off x="7577280" y="1819524"/>
                <a:ext cx="3714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D48B9B74-F84D-3BA5-F2A4-E6A942AC2F99}"/>
                  </a:ext>
                </a:extLst>
              </p:cNvPr>
              <p:cNvSpPr txBox="1">
                <a:spLocks noRot="1" noChangeAspect="1" noMove="1" noResize="1" noEditPoints="1" noAdjustHandles="1" noChangeArrowheads="1" noChangeShapeType="1" noTextEdit="1"/>
              </p:cNvSpPr>
              <p:nvPr/>
            </p:nvSpPr>
            <p:spPr>
              <a:xfrm>
                <a:off x="7577280" y="1819524"/>
                <a:ext cx="371447"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E9A6969-F840-EC2E-FF01-0B453C77D76F}"/>
                  </a:ext>
                </a:extLst>
              </p:cNvPr>
              <p:cNvSpPr txBox="1"/>
              <p:nvPr/>
            </p:nvSpPr>
            <p:spPr>
              <a:xfrm>
                <a:off x="578081" y="4448405"/>
                <a:ext cx="7812652" cy="10422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20" name="TextBox 19">
                <a:extLst>
                  <a:ext uri="{FF2B5EF4-FFF2-40B4-BE49-F238E27FC236}">
                    <a16:creationId xmlns:a16="http://schemas.microsoft.com/office/drawing/2014/main" id="{4E9A6969-F840-EC2E-FF01-0B453C77D76F}"/>
                  </a:ext>
                </a:extLst>
              </p:cNvPr>
              <p:cNvSpPr txBox="1">
                <a:spLocks noRot="1" noChangeAspect="1" noMove="1" noResize="1" noEditPoints="1" noAdjustHandles="1" noChangeArrowheads="1" noChangeShapeType="1" noTextEdit="1"/>
              </p:cNvSpPr>
              <p:nvPr/>
            </p:nvSpPr>
            <p:spPr>
              <a:xfrm>
                <a:off x="578081" y="4448405"/>
                <a:ext cx="7812652" cy="1042208"/>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81343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C7697-7B0C-E13A-AF39-F6F31D57BEA4}"/>
            </a:ext>
          </a:extLst>
        </p:cNvPr>
        <p:cNvGrpSpPr/>
        <p:nvPr/>
      </p:nvGrpSpPr>
      <p:grpSpPr>
        <a:xfrm>
          <a:off x="0" y="0"/>
          <a:ext cx="0" cy="0"/>
          <a:chOff x="0" y="0"/>
          <a:chExt cx="0" cy="0"/>
        </a:xfrm>
      </p:grpSpPr>
      <p:grpSp>
        <p:nvGrpSpPr>
          <p:cNvPr id="59" name="Group 58">
            <a:extLst>
              <a:ext uri="{FF2B5EF4-FFF2-40B4-BE49-F238E27FC236}">
                <a16:creationId xmlns:a16="http://schemas.microsoft.com/office/drawing/2014/main" id="{0BF19EE3-CA95-4FBB-9A54-4D67CD3CF9AA}"/>
              </a:ext>
            </a:extLst>
          </p:cNvPr>
          <p:cNvGrpSpPr/>
          <p:nvPr/>
        </p:nvGrpSpPr>
        <p:grpSpPr>
          <a:xfrm>
            <a:off x="3834765" y="1130667"/>
            <a:ext cx="3934933" cy="3378028"/>
            <a:chOff x="3834765" y="1130667"/>
            <a:chExt cx="3934933" cy="3378028"/>
          </a:xfrm>
        </p:grpSpPr>
        <p:sp>
          <p:nvSpPr>
            <p:cNvPr id="2" name="Oval 1">
              <a:extLst>
                <a:ext uri="{FF2B5EF4-FFF2-40B4-BE49-F238E27FC236}">
                  <a16:creationId xmlns:a16="http://schemas.microsoft.com/office/drawing/2014/main" id="{39BB1732-DEDF-591E-7344-517595029D42}"/>
                </a:ext>
              </a:extLst>
            </p:cNvPr>
            <p:cNvSpPr/>
            <p:nvPr/>
          </p:nvSpPr>
          <p:spPr>
            <a:xfrm>
              <a:off x="4291141" y="1376612"/>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77FE09A2-6520-75CD-2DB2-1D239F6B946D}"/>
                </a:ext>
              </a:extLst>
            </p:cNvPr>
            <p:cNvCxnSpPr>
              <a:stCxn id="2" idx="2"/>
              <a:endCxn id="2" idx="6"/>
            </p:cNvCxnSpPr>
            <p:nvPr/>
          </p:nvCxnSpPr>
          <p:spPr>
            <a:xfrm>
              <a:off x="4291141" y="2942654"/>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51E1C39-EBE5-C48C-8F70-02C250D560CE}"/>
                </a:ext>
              </a:extLst>
            </p:cNvPr>
            <p:cNvCxnSpPr>
              <a:cxnSpLocks/>
              <a:endCxn id="2" idx="6"/>
            </p:cNvCxnSpPr>
            <p:nvPr/>
          </p:nvCxnSpPr>
          <p:spPr>
            <a:xfrm>
              <a:off x="6475678" y="1499999"/>
              <a:ext cx="947546" cy="14426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585A972-EF9E-A096-8F6F-292AFFF237BA}"/>
                </a:ext>
              </a:extLst>
            </p:cNvPr>
            <p:cNvCxnSpPr>
              <a:cxnSpLocks/>
            </p:cNvCxnSpPr>
            <p:nvPr/>
          </p:nvCxnSpPr>
          <p:spPr>
            <a:xfrm flipV="1">
              <a:off x="4556760" y="2082165"/>
              <a:ext cx="2611755" cy="171069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BCFFC53-23FA-6F02-816D-6418468B5DA6}"/>
                    </a:ext>
                  </a:extLst>
                </p:cNvPr>
                <p:cNvSpPr txBox="1"/>
                <p:nvPr/>
              </p:nvSpPr>
              <p:spPr>
                <a:xfrm>
                  <a:off x="7366832" y="2752844"/>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p:sp>
              <p:nvSpPr>
                <p:cNvPr id="12" name="TextBox 11">
                  <a:extLst>
                    <a:ext uri="{FF2B5EF4-FFF2-40B4-BE49-F238E27FC236}">
                      <a16:creationId xmlns:a16="http://schemas.microsoft.com/office/drawing/2014/main" id="{9BCFFC53-23FA-6F02-816D-6418468B5DA6}"/>
                    </a:ext>
                  </a:extLst>
                </p:cNvPr>
                <p:cNvSpPr txBox="1">
                  <a:spLocks noRot="1" noChangeAspect="1" noMove="1" noResize="1" noEditPoints="1" noAdjustHandles="1" noChangeArrowheads="1" noChangeShapeType="1" noTextEdit="1"/>
                </p:cNvSpPr>
                <p:nvPr/>
              </p:nvSpPr>
              <p:spPr>
                <a:xfrm>
                  <a:off x="7366832" y="2752844"/>
                  <a:ext cx="402866" cy="369332"/>
                </a:xfrm>
                <a:prstGeom prst="rect">
                  <a:avLst/>
                </a:prstGeom>
                <a:blipFill>
                  <a:blip r:embed="rId2"/>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78FD217-A485-A654-30A9-E724C00A3C5C}"/>
                    </a:ext>
                  </a:extLst>
                </p:cNvPr>
                <p:cNvSpPr txBox="1"/>
                <p:nvPr/>
              </p:nvSpPr>
              <p:spPr>
                <a:xfrm>
                  <a:off x="6333564" y="1130667"/>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p:sp>
              <p:nvSpPr>
                <p:cNvPr id="14" name="TextBox 13">
                  <a:extLst>
                    <a:ext uri="{FF2B5EF4-FFF2-40B4-BE49-F238E27FC236}">
                      <a16:creationId xmlns:a16="http://schemas.microsoft.com/office/drawing/2014/main" id="{578FD217-A485-A654-30A9-E724C00A3C5C}"/>
                    </a:ext>
                  </a:extLst>
                </p:cNvPr>
                <p:cNvSpPr txBox="1">
                  <a:spLocks noRot="1" noChangeAspect="1" noMove="1" noResize="1" noEditPoints="1" noAdjustHandles="1" noChangeArrowheads="1" noChangeShapeType="1" noTextEdit="1"/>
                </p:cNvSpPr>
                <p:nvPr/>
              </p:nvSpPr>
              <p:spPr>
                <a:xfrm>
                  <a:off x="6333564" y="1130667"/>
                  <a:ext cx="399597" cy="369332"/>
                </a:xfrm>
                <a:prstGeom prst="rect">
                  <a:avLst/>
                </a:prstGeom>
                <a:blipFill>
                  <a:blip r:embed="rId3"/>
                  <a:stretch>
                    <a:fillRect b="-114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654E6951-2398-0BD8-F8E7-8BC324618903}"/>
                    </a:ext>
                  </a:extLst>
                </p:cNvPr>
                <p:cNvSpPr txBox="1"/>
                <p:nvPr/>
              </p:nvSpPr>
              <p:spPr>
                <a:xfrm>
                  <a:off x="6838405" y="182844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p:sp>
              <p:nvSpPr>
                <p:cNvPr id="16" name="TextBox 15">
                  <a:extLst>
                    <a:ext uri="{FF2B5EF4-FFF2-40B4-BE49-F238E27FC236}">
                      <a16:creationId xmlns:a16="http://schemas.microsoft.com/office/drawing/2014/main" id="{654E6951-2398-0BD8-F8E7-8BC324618903}"/>
                    </a:ext>
                  </a:extLst>
                </p:cNvPr>
                <p:cNvSpPr txBox="1">
                  <a:spLocks noRot="1" noChangeAspect="1" noMove="1" noResize="1" noEditPoints="1" noAdjustHandles="1" noChangeArrowheads="1" noChangeShapeType="1" noTextEdit="1"/>
                </p:cNvSpPr>
                <p:nvPr/>
              </p:nvSpPr>
              <p:spPr>
                <a:xfrm>
                  <a:off x="6838405" y="1828443"/>
                  <a:ext cx="370230" cy="369332"/>
                </a:xfrm>
                <a:prstGeom prst="rect">
                  <a:avLst/>
                </a:prstGeom>
                <a:blipFill>
                  <a:blip r:embed="rId4"/>
                  <a:stretch>
                    <a:fillRect b="-491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D7E57A0B-9214-56B3-4553-7C91D528C78C}"/>
                    </a:ext>
                  </a:extLst>
                </p:cNvPr>
                <p:cNvSpPr txBox="1"/>
                <p:nvPr/>
              </p:nvSpPr>
              <p:spPr>
                <a:xfrm>
                  <a:off x="6282900" y="2955989"/>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p:sp>
              <p:nvSpPr>
                <p:cNvPr id="19" name="TextBox 18">
                  <a:extLst>
                    <a:ext uri="{FF2B5EF4-FFF2-40B4-BE49-F238E27FC236}">
                      <a16:creationId xmlns:a16="http://schemas.microsoft.com/office/drawing/2014/main" id="{D7E57A0B-9214-56B3-4553-7C91D528C78C}"/>
                    </a:ext>
                  </a:extLst>
                </p:cNvPr>
                <p:cNvSpPr txBox="1">
                  <a:spLocks noRot="1" noChangeAspect="1" noMove="1" noResize="1" noEditPoints="1" noAdjustHandles="1" noChangeArrowheads="1" noChangeShapeType="1" noTextEdit="1"/>
                </p:cNvSpPr>
                <p:nvPr/>
              </p:nvSpPr>
              <p:spPr>
                <a:xfrm>
                  <a:off x="6282900" y="2955989"/>
                  <a:ext cx="385555" cy="369332"/>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71A34CCA-0D50-6549-446E-4843DF0E28B5}"/>
                </a:ext>
              </a:extLst>
            </p:cNvPr>
            <p:cNvCxnSpPr>
              <a:cxnSpLocks/>
            </p:cNvCxnSpPr>
            <p:nvPr/>
          </p:nvCxnSpPr>
          <p:spPr>
            <a:xfrm flipV="1">
              <a:off x="5857182" y="1514475"/>
              <a:ext cx="612094" cy="142303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6CBACCD-3D50-F267-94ED-1B11CF5B386A}"/>
                </a:ext>
              </a:extLst>
            </p:cNvPr>
            <p:cNvSpPr/>
            <p:nvPr/>
          </p:nvSpPr>
          <p:spPr>
            <a:xfrm>
              <a:off x="6928496" y="2197776"/>
              <a:ext cx="49530" cy="4953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5B570509-5FB0-B8C0-CBD8-5D9A84BD06BA}"/>
                </a:ext>
              </a:extLst>
            </p:cNvPr>
            <p:cNvCxnSpPr>
              <a:cxnSpLocks/>
            </p:cNvCxnSpPr>
            <p:nvPr/>
          </p:nvCxnSpPr>
          <p:spPr>
            <a:xfrm>
              <a:off x="6479488" y="1514475"/>
              <a:ext cx="1322" cy="143637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8EED1AFB-28D8-0901-E626-990305AEEAC4}"/>
                    </a:ext>
                  </a:extLst>
                </p:cNvPr>
                <p:cNvSpPr txBox="1"/>
                <p:nvPr/>
              </p:nvSpPr>
              <p:spPr>
                <a:xfrm>
                  <a:off x="3834765" y="2727601"/>
                  <a:ext cx="53668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𝜓</m:t>
                            </m:r>
                          </m:e>
                          <m:sup>
                            <m:r>
                              <a:rPr lang="en-US" b="0" i="1" smtClean="0">
                                <a:latin typeface="Cambria Math" panose="02040503050406030204" pitchFamily="18" charset="0"/>
                              </a:rPr>
                              <m:t>⊥</m:t>
                            </m:r>
                          </m:sup>
                        </m:sSup>
                      </m:oMath>
                    </m:oMathPara>
                  </a14:m>
                  <a:endParaRPr lang="en-US" dirty="0"/>
                </a:p>
              </p:txBody>
            </p:sp>
          </mc:Choice>
          <mc:Fallback>
            <p:sp>
              <p:nvSpPr>
                <p:cNvPr id="57" name="TextBox 56">
                  <a:extLst>
                    <a:ext uri="{FF2B5EF4-FFF2-40B4-BE49-F238E27FC236}">
                      <a16:creationId xmlns:a16="http://schemas.microsoft.com/office/drawing/2014/main" id="{8EED1AFB-28D8-0901-E626-990305AEEAC4}"/>
                    </a:ext>
                  </a:extLst>
                </p:cNvPr>
                <p:cNvSpPr txBox="1">
                  <a:spLocks noRot="1" noChangeAspect="1" noMove="1" noResize="1" noEditPoints="1" noAdjustHandles="1" noChangeArrowheads="1" noChangeShapeType="1" noTextEdit="1"/>
                </p:cNvSpPr>
                <p:nvPr/>
              </p:nvSpPr>
              <p:spPr>
                <a:xfrm>
                  <a:off x="3834765" y="2727601"/>
                  <a:ext cx="536685"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B6A5267B-FF24-81CB-0AFB-49F396615DB0}"/>
                    </a:ext>
                  </a:extLst>
                </p:cNvPr>
                <p:cNvSpPr txBox="1"/>
                <p:nvPr/>
              </p:nvSpPr>
              <p:spPr>
                <a:xfrm>
                  <a:off x="5586905" y="2628329"/>
                  <a:ext cx="39869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𝑂</m:t>
                        </m:r>
                      </m:oMath>
                    </m:oMathPara>
                  </a14:m>
                  <a:endParaRPr lang="en-US" dirty="0"/>
                </a:p>
              </p:txBody>
            </p:sp>
          </mc:Choice>
          <mc:Fallback>
            <p:sp>
              <p:nvSpPr>
                <p:cNvPr id="58" name="TextBox 57">
                  <a:extLst>
                    <a:ext uri="{FF2B5EF4-FFF2-40B4-BE49-F238E27FC236}">
                      <a16:creationId xmlns:a16="http://schemas.microsoft.com/office/drawing/2014/main" id="{B6A5267B-FF24-81CB-0AFB-49F396615DB0}"/>
                    </a:ext>
                  </a:extLst>
                </p:cNvPr>
                <p:cNvSpPr txBox="1">
                  <a:spLocks noRot="1" noChangeAspect="1" noMove="1" noResize="1" noEditPoints="1" noAdjustHandles="1" noChangeArrowheads="1" noChangeShapeType="1" noTextEdit="1"/>
                </p:cNvSpPr>
                <p:nvPr/>
              </p:nvSpPr>
              <p:spPr>
                <a:xfrm>
                  <a:off x="5586905" y="2628329"/>
                  <a:ext cx="398699" cy="369332"/>
                </a:xfrm>
                <a:prstGeom prst="rect">
                  <a:avLst/>
                </a:prstGeom>
                <a:blipFill>
                  <a:blip r:embed="rId7"/>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279871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C3026-6C12-3D98-1E44-2F355537E130}"/>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45D9EF22-903C-B574-22B3-2596596BDA4C}"/>
              </a:ext>
            </a:extLst>
          </p:cNvPr>
          <p:cNvCxnSpPr>
            <a:cxnSpLocks/>
          </p:cNvCxnSpPr>
          <p:nvPr/>
        </p:nvCxnSpPr>
        <p:spPr>
          <a:xfrm flipV="1">
            <a:off x="2008736" y="1991173"/>
            <a:ext cx="3927085" cy="2599830"/>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72A8AE86-5E87-F887-3F82-3B6D216A35E6}"/>
              </a:ext>
            </a:extLst>
          </p:cNvPr>
          <p:cNvSpPr/>
          <p:nvPr/>
        </p:nvSpPr>
        <p:spPr>
          <a:xfrm>
            <a:off x="1609346" y="918905"/>
            <a:ext cx="4709460" cy="4760000"/>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9F3271B5-BC9B-367C-1559-14AC7FAB13C8}"/>
              </a:ext>
            </a:extLst>
          </p:cNvPr>
          <p:cNvCxnSpPr>
            <a:stCxn id="2" idx="2"/>
            <a:endCxn id="2" idx="6"/>
          </p:cNvCxnSpPr>
          <p:nvPr/>
        </p:nvCxnSpPr>
        <p:spPr>
          <a:xfrm>
            <a:off x="1609346" y="3298906"/>
            <a:ext cx="470946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51B9878-EB4D-6345-30FC-5E97127C408B}"/>
              </a:ext>
            </a:extLst>
          </p:cNvPr>
          <p:cNvCxnSpPr>
            <a:cxnSpLocks/>
            <a:endCxn id="2" idx="6"/>
          </p:cNvCxnSpPr>
          <p:nvPr/>
        </p:nvCxnSpPr>
        <p:spPr>
          <a:xfrm>
            <a:off x="4894058" y="1106423"/>
            <a:ext cx="1424748" cy="2192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0D3F94E-E9B4-08A4-5D47-A5FC00302FCA}"/>
              </a:ext>
            </a:extLst>
          </p:cNvPr>
          <p:cNvCxnSpPr>
            <a:cxnSpLocks/>
          </p:cNvCxnSpPr>
          <p:nvPr/>
        </p:nvCxnSpPr>
        <p:spPr>
          <a:xfrm flipV="1">
            <a:off x="3964076" y="2194560"/>
            <a:ext cx="1664526" cy="110195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807EE68-0299-814C-4475-A12678C0D745}"/>
                  </a:ext>
                </a:extLst>
              </p:cNvPr>
              <p:cNvSpPr txBox="1"/>
              <p:nvPr/>
            </p:nvSpPr>
            <p:spPr>
              <a:xfrm>
                <a:off x="6274122" y="3010441"/>
                <a:ext cx="49802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𝑃</m:t>
                      </m:r>
                    </m:oMath>
                  </m:oMathPara>
                </a14:m>
                <a:endParaRPr lang="en-US" sz="2800" dirty="0"/>
              </a:p>
            </p:txBody>
          </p:sp>
        </mc:Choice>
        <mc:Fallback>
          <p:sp>
            <p:nvSpPr>
              <p:cNvPr id="12" name="TextBox 11">
                <a:extLst>
                  <a:ext uri="{FF2B5EF4-FFF2-40B4-BE49-F238E27FC236}">
                    <a16:creationId xmlns:a16="http://schemas.microsoft.com/office/drawing/2014/main" id="{9807EE68-0299-814C-4475-A12678C0D745}"/>
                  </a:ext>
                </a:extLst>
              </p:cNvPr>
              <p:cNvSpPr txBox="1">
                <a:spLocks noRot="1" noChangeAspect="1" noMove="1" noResize="1" noEditPoints="1" noAdjustHandles="1" noChangeArrowheads="1" noChangeShapeType="1" noTextEdit="1"/>
              </p:cNvSpPr>
              <p:nvPr/>
            </p:nvSpPr>
            <p:spPr>
              <a:xfrm>
                <a:off x="6274122" y="3010441"/>
                <a:ext cx="498020" cy="52322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DA49219A-FD0C-235B-0CE6-1B14A5451A76}"/>
                  </a:ext>
                </a:extLst>
              </p:cNvPr>
              <p:cNvSpPr txBox="1"/>
              <p:nvPr/>
            </p:nvSpPr>
            <p:spPr>
              <a:xfrm>
                <a:off x="4680373" y="545129"/>
                <a:ext cx="500072"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𝐹</m:t>
                      </m:r>
                    </m:oMath>
                  </m:oMathPara>
                </a14:m>
                <a:endParaRPr lang="en-US" sz="2800" dirty="0"/>
              </a:p>
            </p:txBody>
          </p:sp>
        </mc:Choice>
        <mc:Fallback>
          <p:sp>
            <p:nvSpPr>
              <p:cNvPr id="14" name="TextBox 13">
                <a:extLst>
                  <a:ext uri="{FF2B5EF4-FFF2-40B4-BE49-F238E27FC236}">
                    <a16:creationId xmlns:a16="http://schemas.microsoft.com/office/drawing/2014/main" id="{DA49219A-FD0C-235B-0CE6-1B14A5451A76}"/>
                  </a:ext>
                </a:extLst>
              </p:cNvPr>
              <p:cNvSpPr txBox="1">
                <a:spLocks noRot="1" noChangeAspect="1" noMove="1" noResize="1" noEditPoints="1" noAdjustHandles="1" noChangeArrowheads="1" noChangeShapeType="1" noTextEdit="1"/>
              </p:cNvSpPr>
              <p:nvPr/>
            </p:nvSpPr>
            <p:spPr>
              <a:xfrm>
                <a:off x="4680373" y="545129"/>
                <a:ext cx="500072"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9514FF1D-3428-69FB-432E-6932768B925D}"/>
                  </a:ext>
                </a:extLst>
              </p:cNvPr>
              <p:cNvSpPr txBox="1"/>
              <p:nvPr/>
            </p:nvSpPr>
            <p:spPr>
              <a:xfrm>
                <a:off x="5439462" y="1605578"/>
                <a:ext cx="58137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𝑀</m:t>
                      </m:r>
                    </m:oMath>
                  </m:oMathPara>
                </a14:m>
                <a:endParaRPr lang="en-US" sz="2800" dirty="0"/>
              </a:p>
            </p:txBody>
          </p:sp>
        </mc:Choice>
        <mc:Fallback>
          <p:sp>
            <p:nvSpPr>
              <p:cNvPr id="16" name="TextBox 15">
                <a:extLst>
                  <a:ext uri="{FF2B5EF4-FFF2-40B4-BE49-F238E27FC236}">
                    <a16:creationId xmlns:a16="http://schemas.microsoft.com/office/drawing/2014/main" id="{9514FF1D-3428-69FB-432E-6932768B925D}"/>
                  </a:ext>
                </a:extLst>
              </p:cNvPr>
              <p:cNvSpPr txBox="1">
                <a:spLocks noRot="1" noChangeAspect="1" noMove="1" noResize="1" noEditPoints="1" noAdjustHandles="1" noChangeArrowheads="1" noChangeShapeType="1" noTextEdit="1"/>
              </p:cNvSpPr>
              <p:nvPr/>
            </p:nvSpPr>
            <p:spPr>
              <a:xfrm>
                <a:off x="5439462" y="1605578"/>
                <a:ext cx="581377"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93204C8A-D7A5-A395-6417-E51AAB1B99E7}"/>
                  </a:ext>
                </a:extLst>
              </p:cNvPr>
              <p:cNvSpPr txBox="1"/>
              <p:nvPr/>
            </p:nvSpPr>
            <p:spPr>
              <a:xfrm>
                <a:off x="4604194" y="3319172"/>
                <a:ext cx="537612"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m:t>
                      </m:r>
                    </m:oMath>
                  </m:oMathPara>
                </a14:m>
                <a:endParaRPr lang="en-US" sz="2800" dirty="0"/>
              </a:p>
            </p:txBody>
          </p:sp>
        </mc:Choice>
        <mc:Fallback>
          <p:sp>
            <p:nvSpPr>
              <p:cNvPr id="19" name="TextBox 18">
                <a:extLst>
                  <a:ext uri="{FF2B5EF4-FFF2-40B4-BE49-F238E27FC236}">
                    <a16:creationId xmlns:a16="http://schemas.microsoft.com/office/drawing/2014/main" id="{93204C8A-D7A5-A395-6417-E51AAB1B99E7}"/>
                  </a:ext>
                </a:extLst>
              </p:cNvPr>
              <p:cNvSpPr txBox="1">
                <a:spLocks noRot="1" noChangeAspect="1" noMove="1" noResize="1" noEditPoints="1" noAdjustHandles="1" noChangeArrowheads="1" noChangeShapeType="1" noTextEdit="1"/>
              </p:cNvSpPr>
              <p:nvPr/>
            </p:nvSpPr>
            <p:spPr>
              <a:xfrm>
                <a:off x="4604194" y="3319172"/>
                <a:ext cx="537612" cy="572051"/>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2B6B5469-3EE5-731F-5886-B2D98404F8B9}"/>
              </a:ext>
            </a:extLst>
          </p:cNvPr>
          <p:cNvCxnSpPr>
            <a:cxnSpLocks/>
          </p:cNvCxnSpPr>
          <p:nvPr/>
        </p:nvCxnSpPr>
        <p:spPr>
          <a:xfrm flipV="1">
            <a:off x="3964076" y="1128423"/>
            <a:ext cx="920356" cy="216266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7C242EBD-4E83-5554-BC26-D294CB36275F}"/>
              </a:ext>
            </a:extLst>
          </p:cNvPr>
          <p:cNvSpPr/>
          <p:nvPr/>
        </p:nvSpPr>
        <p:spPr>
          <a:xfrm>
            <a:off x="5574924" y="2166874"/>
            <a:ext cx="74474" cy="75273"/>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54" name="Straight Connector 53">
            <a:extLst>
              <a:ext uri="{FF2B5EF4-FFF2-40B4-BE49-F238E27FC236}">
                <a16:creationId xmlns:a16="http://schemas.microsoft.com/office/drawing/2014/main" id="{243EFC29-AF10-DDBD-8290-749445995836}"/>
              </a:ext>
            </a:extLst>
          </p:cNvPr>
          <p:cNvCxnSpPr>
            <a:cxnSpLocks/>
          </p:cNvCxnSpPr>
          <p:nvPr/>
        </p:nvCxnSpPr>
        <p:spPr>
          <a:xfrm>
            <a:off x="4899787" y="1128423"/>
            <a:ext cx="1988" cy="218293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52B317B7-94E0-00F7-5864-E83BEFBA81CF}"/>
                  </a:ext>
                </a:extLst>
              </p:cNvPr>
              <p:cNvSpPr txBox="1"/>
              <p:nvPr/>
            </p:nvSpPr>
            <p:spPr>
              <a:xfrm>
                <a:off x="1115627" y="2972078"/>
                <a:ext cx="51898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oMath>
                  </m:oMathPara>
                </a14:m>
                <a:endParaRPr lang="en-US" sz="2800" dirty="0"/>
              </a:p>
            </p:txBody>
          </p:sp>
        </mc:Choice>
        <mc:Fallback>
          <p:sp>
            <p:nvSpPr>
              <p:cNvPr id="57" name="TextBox 56">
                <a:extLst>
                  <a:ext uri="{FF2B5EF4-FFF2-40B4-BE49-F238E27FC236}">
                    <a16:creationId xmlns:a16="http://schemas.microsoft.com/office/drawing/2014/main" id="{52B317B7-94E0-00F7-5864-E83BEFBA81CF}"/>
                  </a:ext>
                </a:extLst>
              </p:cNvPr>
              <p:cNvSpPr txBox="1">
                <a:spLocks noRot="1" noChangeAspect="1" noMove="1" noResize="1" noEditPoints="1" noAdjustHandles="1" noChangeArrowheads="1" noChangeShapeType="1" noTextEdit="1"/>
              </p:cNvSpPr>
              <p:nvPr/>
            </p:nvSpPr>
            <p:spPr>
              <a:xfrm>
                <a:off x="1115627" y="2972078"/>
                <a:ext cx="518988"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3F98573E-24FE-9ED1-B34B-912A283FE75E}"/>
                  </a:ext>
                </a:extLst>
              </p:cNvPr>
              <p:cNvSpPr txBox="1"/>
              <p:nvPr/>
            </p:nvSpPr>
            <p:spPr>
              <a:xfrm>
                <a:off x="3557682" y="2821209"/>
                <a:ext cx="559528"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oMath>
                  </m:oMathPara>
                </a14:m>
                <a:endParaRPr lang="en-US" sz="2800" dirty="0"/>
              </a:p>
            </p:txBody>
          </p:sp>
        </mc:Choice>
        <mc:Fallback>
          <p:sp>
            <p:nvSpPr>
              <p:cNvPr id="58" name="TextBox 57">
                <a:extLst>
                  <a:ext uri="{FF2B5EF4-FFF2-40B4-BE49-F238E27FC236}">
                    <a16:creationId xmlns:a16="http://schemas.microsoft.com/office/drawing/2014/main" id="{3F98573E-24FE-9ED1-B34B-912A283FE75E}"/>
                  </a:ext>
                </a:extLst>
              </p:cNvPr>
              <p:cNvSpPr txBox="1">
                <a:spLocks noRot="1" noChangeAspect="1" noMove="1" noResize="1" noEditPoints="1" noAdjustHandles="1" noChangeArrowheads="1" noChangeShapeType="1" noTextEdit="1"/>
              </p:cNvSpPr>
              <p:nvPr/>
            </p:nvSpPr>
            <p:spPr>
              <a:xfrm>
                <a:off x="3557682" y="2821209"/>
                <a:ext cx="559528" cy="572051"/>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7EFA11-0E5D-0592-D77A-DEF5A2254F49}"/>
              </a:ext>
            </a:extLst>
          </p:cNvPr>
          <p:cNvCxnSpPr>
            <a:cxnSpLocks/>
          </p:cNvCxnSpPr>
          <p:nvPr/>
        </p:nvCxnSpPr>
        <p:spPr>
          <a:xfrm>
            <a:off x="1609346" y="3298906"/>
            <a:ext cx="32924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2FEC03F-8908-1CA3-D71C-D52F04A37D8A}"/>
                  </a:ext>
                </a:extLst>
              </p:cNvPr>
              <p:cNvSpPr txBox="1"/>
              <p:nvPr/>
            </p:nvSpPr>
            <p:spPr>
              <a:xfrm>
                <a:off x="4516600" y="2300783"/>
                <a:ext cx="44582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𝑟</m:t>
                      </m:r>
                    </m:oMath>
                  </m:oMathPara>
                </a14:m>
                <a:endParaRPr lang="en-US" sz="2800" dirty="0"/>
              </a:p>
            </p:txBody>
          </p:sp>
        </mc:Choice>
        <mc:Fallback>
          <p:sp>
            <p:nvSpPr>
              <p:cNvPr id="17" name="TextBox 16">
                <a:extLst>
                  <a:ext uri="{FF2B5EF4-FFF2-40B4-BE49-F238E27FC236}">
                    <a16:creationId xmlns:a16="http://schemas.microsoft.com/office/drawing/2014/main" id="{92FEC03F-8908-1CA3-D71C-D52F04A37D8A}"/>
                  </a:ext>
                </a:extLst>
              </p:cNvPr>
              <p:cNvSpPr txBox="1">
                <a:spLocks noRot="1" noChangeAspect="1" noMove="1" noResize="1" noEditPoints="1" noAdjustHandles="1" noChangeArrowheads="1" noChangeShapeType="1" noTextEdit="1"/>
              </p:cNvSpPr>
              <p:nvPr/>
            </p:nvSpPr>
            <p:spPr>
              <a:xfrm>
                <a:off x="4516600" y="2300783"/>
                <a:ext cx="445828"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9B4E0356-9C94-710D-F714-D37A1422466E}"/>
                  </a:ext>
                </a:extLst>
              </p:cNvPr>
              <p:cNvSpPr txBox="1"/>
              <p:nvPr/>
            </p:nvSpPr>
            <p:spPr>
              <a:xfrm>
                <a:off x="2886650" y="3224822"/>
                <a:ext cx="47115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𝑝</m:t>
                      </m:r>
                    </m:oMath>
                  </m:oMathPara>
                </a14:m>
                <a:endParaRPr lang="en-US" sz="2800" dirty="0"/>
              </a:p>
            </p:txBody>
          </p:sp>
        </mc:Choice>
        <mc:Fallback>
          <p:sp>
            <p:nvSpPr>
              <p:cNvPr id="18" name="TextBox 17">
                <a:extLst>
                  <a:ext uri="{FF2B5EF4-FFF2-40B4-BE49-F238E27FC236}">
                    <a16:creationId xmlns:a16="http://schemas.microsoft.com/office/drawing/2014/main" id="{9B4E0356-9C94-710D-F714-D37A1422466E}"/>
                  </a:ext>
                </a:extLst>
              </p:cNvPr>
              <p:cNvSpPr txBox="1">
                <a:spLocks noRot="1" noChangeAspect="1" noMove="1" noResize="1" noEditPoints="1" noAdjustHandles="1" noChangeArrowheads="1" noChangeShapeType="1" noTextEdit="1"/>
              </p:cNvSpPr>
              <p:nvPr/>
            </p:nvSpPr>
            <p:spPr>
              <a:xfrm>
                <a:off x="2886650" y="3224822"/>
                <a:ext cx="471155" cy="523220"/>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32408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A883F-E897-EBAB-FFC8-A16CCE7D126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421D2E6-EB5E-C48B-C550-B48E5631CE2E}"/>
              </a:ext>
            </a:extLst>
          </p:cNvPr>
          <p:cNvSpPr/>
          <p:nvPr/>
        </p:nvSpPr>
        <p:spPr>
          <a:xfrm rot="19598101">
            <a:off x="3259929" y="936631"/>
            <a:ext cx="1971539" cy="197153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7E8830D-DE33-DE5A-D3F5-9A19A6831F28}"/>
              </a:ext>
            </a:extLst>
          </p:cNvPr>
          <p:cNvSpPr/>
          <p:nvPr/>
        </p:nvSpPr>
        <p:spPr>
          <a:xfrm>
            <a:off x="1612444" y="3311353"/>
            <a:ext cx="3289331" cy="4706361"/>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04EA11B-6196-AD91-026E-992A067C3A8E}"/>
              </a:ext>
            </a:extLst>
          </p:cNvPr>
          <p:cNvSpPr/>
          <p:nvPr/>
        </p:nvSpPr>
        <p:spPr>
          <a:xfrm>
            <a:off x="3964077" y="3298857"/>
            <a:ext cx="1635414" cy="2339943"/>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DC0559F2-4E3B-AFB1-51F2-A6DC5119D1B9}"/>
              </a:ext>
            </a:extLst>
          </p:cNvPr>
          <p:cNvCxnSpPr>
            <a:cxnSpLocks/>
          </p:cNvCxnSpPr>
          <p:nvPr/>
        </p:nvCxnSpPr>
        <p:spPr>
          <a:xfrm flipV="1">
            <a:off x="2008736" y="1991173"/>
            <a:ext cx="3927085" cy="2599830"/>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527B0356-2EFC-E210-1109-9FF71C1AC866}"/>
              </a:ext>
            </a:extLst>
          </p:cNvPr>
          <p:cNvSpPr/>
          <p:nvPr/>
        </p:nvSpPr>
        <p:spPr>
          <a:xfrm>
            <a:off x="1609346" y="918905"/>
            <a:ext cx="4709460" cy="4760000"/>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E64D1309-A9FF-26F8-9878-09E7B2E0B00B}"/>
              </a:ext>
            </a:extLst>
          </p:cNvPr>
          <p:cNvCxnSpPr>
            <a:stCxn id="2" idx="2"/>
            <a:endCxn id="2" idx="6"/>
          </p:cNvCxnSpPr>
          <p:nvPr/>
        </p:nvCxnSpPr>
        <p:spPr>
          <a:xfrm>
            <a:off x="1609346" y="3298906"/>
            <a:ext cx="470946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51D17AD-6080-AA2A-2D68-D259D3F13F09}"/>
              </a:ext>
            </a:extLst>
          </p:cNvPr>
          <p:cNvCxnSpPr>
            <a:cxnSpLocks/>
            <a:endCxn id="2" idx="6"/>
          </p:cNvCxnSpPr>
          <p:nvPr/>
        </p:nvCxnSpPr>
        <p:spPr>
          <a:xfrm>
            <a:off x="4894058" y="1106423"/>
            <a:ext cx="1424748" cy="2192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69029B1-FF00-61CE-6C49-82408497DC24}"/>
              </a:ext>
            </a:extLst>
          </p:cNvPr>
          <p:cNvCxnSpPr>
            <a:cxnSpLocks/>
          </p:cNvCxnSpPr>
          <p:nvPr/>
        </p:nvCxnSpPr>
        <p:spPr>
          <a:xfrm flipV="1">
            <a:off x="3964076" y="2194560"/>
            <a:ext cx="1664526" cy="110195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753A6F35-239D-3236-01A9-CCE4FDB08F3A}"/>
                  </a:ext>
                </a:extLst>
              </p:cNvPr>
              <p:cNvSpPr txBox="1"/>
              <p:nvPr/>
            </p:nvSpPr>
            <p:spPr>
              <a:xfrm>
                <a:off x="6274122" y="3010441"/>
                <a:ext cx="49802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𝑃</m:t>
                      </m:r>
                    </m:oMath>
                  </m:oMathPara>
                </a14:m>
                <a:endParaRPr lang="en-US" sz="2800" dirty="0"/>
              </a:p>
            </p:txBody>
          </p:sp>
        </mc:Choice>
        <mc:Fallback>
          <p:sp>
            <p:nvSpPr>
              <p:cNvPr id="12" name="TextBox 11">
                <a:extLst>
                  <a:ext uri="{FF2B5EF4-FFF2-40B4-BE49-F238E27FC236}">
                    <a16:creationId xmlns:a16="http://schemas.microsoft.com/office/drawing/2014/main" id="{753A6F35-239D-3236-01A9-CCE4FDB08F3A}"/>
                  </a:ext>
                </a:extLst>
              </p:cNvPr>
              <p:cNvSpPr txBox="1">
                <a:spLocks noRot="1" noChangeAspect="1" noMove="1" noResize="1" noEditPoints="1" noAdjustHandles="1" noChangeArrowheads="1" noChangeShapeType="1" noTextEdit="1"/>
              </p:cNvSpPr>
              <p:nvPr/>
            </p:nvSpPr>
            <p:spPr>
              <a:xfrm>
                <a:off x="6274122" y="3010441"/>
                <a:ext cx="498020" cy="52322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9C995D8-DA1B-CBD0-2FC8-D2EAA021D421}"/>
                  </a:ext>
                </a:extLst>
              </p:cNvPr>
              <p:cNvSpPr txBox="1"/>
              <p:nvPr/>
            </p:nvSpPr>
            <p:spPr>
              <a:xfrm>
                <a:off x="4680373" y="545129"/>
                <a:ext cx="500072"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𝐹</m:t>
                      </m:r>
                    </m:oMath>
                  </m:oMathPara>
                </a14:m>
                <a:endParaRPr lang="en-US" sz="2800" dirty="0"/>
              </a:p>
            </p:txBody>
          </p:sp>
        </mc:Choice>
        <mc:Fallback>
          <p:sp>
            <p:nvSpPr>
              <p:cNvPr id="14" name="TextBox 13">
                <a:extLst>
                  <a:ext uri="{FF2B5EF4-FFF2-40B4-BE49-F238E27FC236}">
                    <a16:creationId xmlns:a16="http://schemas.microsoft.com/office/drawing/2014/main" id="{09C995D8-DA1B-CBD0-2FC8-D2EAA021D421}"/>
                  </a:ext>
                </a:extLst>
              </p:cNvPr>
              <p:cNvSpPr txBox="1">
                <a:spLocks noRot="1" noChangeAspect="1" noMove="1" noResize="1" noEditPoints="1" noAdjustHandles="1" noChangeArrowheads="1" noChangeShapeType="1" noTextEdit="1"/>
              </p:cNvSpPr>
              <p:nvPr/>
            </p:nvSpPr>
            <p:spPr>
              <a:xfrm>
                <a:off x="4680373" y="545129"/>
                <a:ext cx="500072"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E430D8E6-93D5-2ACF-C5FA-3D3553C77ADA}"/>
                  </a:ext>
                </a:extLst>
              </p:cNvPr>
              <p:cNvSpPr txBox="1"/>
              <p:nvPr/>
            </p:nvSpPr>
            <p:spPr>
              <a:xfrm>
                <a:off x="5439462" y="1605578"/>
                <a:ext cx="58137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𝑀</m:t>
                      </m:r>
                    </m:oMath>
                  </m:oMathPara>
                </a14:m>
                <a:endParaRPr lang="en-US" sz="2800" dirty="0"/>
              </a:p>
            </p:txBody>
          </p:sp>
        </mc:Choice>
        <mc:Fallback>
          <p:sp>
            <p:nvSpPr>
              <p:cNvPr id="16" name="TextBox 15">
                <a:extLst>
                  <a:ext uri="{FF2B5EF4-FFF2-40B4-BE49-F238E27FC236}">
                    <a16:creationId xmlns:a16="http://schemas.microsoft.com/office/drawing/2014/main" id="{E430D8E6-93D5-2ACF-C5FA-3D3553C77ADA}"/>
                  </a:ext>
                </a:extLst>
              </p:cNvPr>
              <p:cNvSpPr txBox="1">
                <a:spLocks noRot="1" noChangeAspect="1" noMove="1" noResize="1" noEditPoints="1" noAdjustHandles="1" noChangeArrowheads="1" noChangeShapeType="1" noTextEdit="1"/>
              </p:cNvSpPr>
              <p:nvPr/>
            </p:nvSpPr>
            <p:spPr>
              <a:xfrm>
                <a:off x="5439462" y="1605578"/>
                <a:ext cx="581377"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BDBBCA22-3ED4-C7EB-3353-12B3078C56FD}"/>
                  </a:ext>
                </a:extLst>
              </p:cNvPr>
              <p:cNvSpPr txBox="1"/>
              <p:nvPr/>
            </p:nvSpPr>
            <p:spPr>
              <a:xfrm>
                <a:off x="4604194" y="3319172"/>
                <a:ext cx="537612"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m:t>
                      </m:r>
                    </m:oMath>
                  </m:oMathPara>
                </a14:m>
                <a:endParaRPr lang="en-US" sz="2800" dirty="0"/>
              </a:p>
            </p:txBody>
          </p:sp>
        </mc:Choice>
        <mc:Fallback>
          <p:sp>
            <p:nvSpPr>
              <p:cNvPr id="19" name="TextBox 18">
                <a:extLst>
                  <a:ext uri="{FF2B5EF4-FFF2-40B4-BE49-F238E27FC236}">
                    <a16:creationId xmlns:a16="http://schemas.microsoft.com/office/drawing/2014/main" id="{BDBBCA22-3ED4-C7EB-3353-12B3078C56FD}"/>
                  </a:ext>
                </a:extLst>
              </p:cNvPr>
              <p:cNvSpPr txBox="1">
                <a:spLocks noRot="1" noChangeAspect="1" noMove="1" noResize="1" noEditPoints="1" noAdjustHandles="1" noChangeArrowheads="1" noChangeShapeType="1" noTextEdit="1"/>
              </p:cNvSpPr>
              <p:nvPr/>
            </p:nvSpPr>
            <p:spPr>
              <a:xfrm>
                <a:off x="4604194" y="3319172"/>
                <a:ext cx="537612" cy="572051"/>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607C5078-9845-D328-889E-6997F4980BE7}"/>
              </a:ext>
            </a:extLst>
          </p:cNvPr>
          <p:cNvCxnSpPr>
            <a:cxnSpLocks/>
          </p:cNvCxnSpPr>
          <p:nvPr/>
        </p:nvCxnSpPr>
        <p:spPr>
          <a:xfrm flipV="1">
            <a:off x="3964076" y="1128423"/>
            <a:ext cx="920356" cy="2162665"/>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AA4F979F-71E3-AFE0-0E2A-77C4E3028A0F}"/>
              </a:ext>
            </a:extLst>
          </p:cNvPr>
          <p:cNvSpPr/>
          <p:nvPr/>
        </p:nvSpPr>
        <p:spPr>
          <a:xfrm>
            <a:off x="5574924" y="2166874"/>
            <a:ext cx="74474" cy="75273"/>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54" name="Straight Connector 53">
            <a:extLst>
              <a:ext uri="{FF2B5EF4-FFF2-40B4-BE49-F238E27FC236}">
                <a16:creationId xmlns:a16="http://schemas.microsoft.com/office/drawing/2014/main" id="{D1BE67FA-3259-BC68-B981-7EDB3A081764}"/>
              </a:ext>
            </a:extLst>
          </p:cNvPr>
          <p:cNvCxnSpPr>
            <a:cxnSpLocks/>
          </p:cNvCxnSpPr>
          <p:nvPr/>
        </p:nvCxnSpPr>
        <p:spPr>
          <a:xfrm>
            <a:off x="4899787" y="1128423"/>
            <a:ext cx="1988" cy="218293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1A834679-2C42-1595-7B86-1586A5AA40D8}"/>
                  </a:ext>
                </a:extLst>
              </p:cNvPr>
              <p:cNvSpPr txBox="1"/>
              <p:nvPr/>
            </p:nvSpPr>
            <p:spPr>
              <a:xfrm>
                <a:off x="801097" y="2963212"/>
                <a:ext cx="51898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oMath>
                  </m:oMathPara>
                </a14:m>
                <a:endParaRPr lang="en-US" sz="2800" dirty="0"/>
              </a:p>
            </p:txBody>
          </p:sp>
        </mc:Choice>
        <mc:Fallback>
          <p:sp>
            <p:nvSpPr>
              <p:cNvPr id="57" name="TextBox 56">
                <a:extLst>
                  <a:ext uri="{FF2B5EF4-FFF2-40B4-BE49-F238E27FC236}">
                    <a16:creationId xmlns:a16="http://schemas.microsoft.com/office/drawing/2014/main" id="{1A834679-2C42-1595-7B86-1586A5AA40D8}"/>
                  </a:ext>
                </a:extLst>
              </p:cNvPr>
              <p:cNvSpPr txBox="1">
                <a:spLocks noRot="1" noChangeAspect="1" noMove="1" noResize="1" noEditPoints="1" noAdjustHandles="1" noChangeArrowheads="1" noChangeShapeType="1" noTextEdit="1"/>
              </p:cNvSpPr>
              <p:nvPr/>
            </p:nvSpPr>
            <p:spPr>
              <a:xfrm>
                <a:off x="801097" y="2963212"/>
                <a:ext cx="518988"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18016CED-F796-649D-EAAF-2118FDC5738C}"/>
                  </a:ext>
                </a:extLst>
              </p:cNvPr>
              <p:cNvSpPr txBox="1"/>
              <p:nvPr/>
            </p:nvSpPr>
            <p:spPr>
              <a:xfrm>
                <a:off x="3557682" y="2821209"/>
                <a:ext cx="559528" cy="5720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𝑂</m:t>
                      </m:r>
                    </m:oMath>
                  </m:oMathPara>
                </a14:m>
                <a:endParaRPr lang="en-US" sz="2800" dirty="0"/>
              </a:p>
            </p:txBody>
          </p:sp>
        </mc:Choice>
        <mc:Fallback>
          <p:sp>
            <p:nvSpPr>
              <p:cNvPr id="58" name="TextBox 57">
                <a:extLst>
                  <a:ext uri="{FF2B5EF4-FFF2-40B4-BE49-F238E27FC236}">
                    <a16:creationId xmlns:a16="http://schemas.microsoft.com/office/drawing/2014/main" id="{18016CED-F796-649D-EAAF-2118FDC5738C}"/>
                  </a:ext>
                </a:extLst>
              </p:cNvPr>
              <p:cNvSpPr txBox="1">
                <a:spLocks noRot="1" noChangeAspect="1" noMove="1" noResize="1" noEditPoints="1" noAdjustHandles="1" noChangeArrowheads="1" noChangeShapeType="1" noTextEdit="1"/>
              </p:cNvSpPr>
              <p:nvPr/>
            </p:nvSpPr>
            <p:spPr>
              <a:xfrm>
                <a:off x="3557682" y="2821209"/>
                <a:ext cx="559528" cy="572051"/>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D3EDA78A-C79F-2E9C-1279-CFB7EE34BA2E}"/>
              </a:ext>
            </a:extLst>
          </p:cNvPr>
          <p:cNvCxnSpPr>
            <a:cxnSpLocks/>
          </p:cNvCxnSpPr>
          <p:nvPr/>
        </p:nvCxnSpPr>
        <p:spPr>
          <a:xfrm>
            <a:off x="1609346" y="3298906"/>
            <a:ext cx="32924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0F6B6E24-D591-D7C3-D84F-5D3BDD37E7A7}"/>
                  </a:ext>
                </a:extLst>
              </p:cNvPr>
              <p:cNvSpPr txBox="1"/>
              <p:nvPr/>
            </p:nvSpPr>
            <p:spPr>
              <a:xfrm>
                <a:off x="4516600" y="2300783"/>
                <a:ext cx="44582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𝑟</m:t>
                      </m:r>
                    </m:oMath>
                  </m:oMathPara>
                </a14:m>
                <a:endParaRPr lang="en-US" sz="2800" dirty="0"/>
              </a:p>
            </p:txBody>
          </p:sp>
        </mc:Choice>
        <mc:Fallback>
          <p:sp>
            <p:nvSpPr>
              <p:cNvPr id="17" name="TextBox 16">
                <a:extLst>
                  <a:ext uri="{FF2B5EF4-FFF2-40B4-BE49-F238E27FC236}">
                    <a16:creationId xmlns:a16="http://schemas.microsoft.com/office/drawing/2014/main" id="{0F6B6E24-D591-D7C3-D84F-5D3BDD37E7A7}"/>
                  </a:ext>
                </a:extLst>
              </p:cNvPr>
              <p:cNvSpPr txBox="1">
                <a:spLocks noRot="1" noChangeAspect="1" noMove="1" noResize="1" noEditPoints="1" noAdjustHandles="1" noChangeArrowheads="1" noChangeShapeType="1" noTextEdit="1"/>
              </p:cNvSpPr>
              <p:nvPr/>
            </p:nvSpPr>
            <p:spPr>
              <a:xfrm>
                <a:off x="4516600" y="2300783"/>
                <a:ext cx="445828"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17C881B-695F-2DED-5BB8-13A00DB590C3}"/>
                  </a:ext>
                </a:extLst>
              </p:cNvPr>
              <p:cNvSpPr txBox="1"/>
              <p:nvPr/>
            </p:nvSpPr>
            <p:spPr>
              <a:xfrm>
                <a:off x="2886650" y="3224822"/>
                <a:ext cx="47115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𝑝</m:t>
                      </m:r>
                    </m:oMath>
                  </m:oMathPara>
                </a14:m>
                <a:endParaRPr lang="en-US" sz="2800" dirty="0"/>
              </a:p>
            </p:txBody>
          </p:sp>
        </mc:Choice>
        <mc:Fallback>
          <p:sp>
            <p:nvSpPr>
              <p:cNvPr id="18" name="TextBox 17">
                <a:extLst>
                  <a:ext uri="{FF2B5EF4-FFF2-40B4-BE49-F238E27FC236}">
                    <a16:creationId xmlns:a16="http://schemas.microsoft.com/office/drawing/2014/main" id="{617C881B-695F-2DED-5BB8-13A00DB590C3}"/>
                  </a:ext>
                </a:extLst>
              </p:cNvPr>
              <p:cNvSpPr txBox="1">
                <a:spLocks noRot="1" noChangeAspect="1" noMove="1" noResize="1" noEditPoints="1" noAdjustHandles="1" noChangeArrowheads="1" noChangeShapeType="1" noTextEdit="1"/>
              </p:cNvSpPr>
              <p:nvPr/>
            </p:nvSpPr>
            <p:spPr>
              <a:xfrm>
                <a:off x="2886650" y="3224822"/>
                <a:ext cx="471155" cy="523220"/>
              </a:xfrm>
              <a:prstGeom prst="rect">
                <a:avLst/>
              </a:prstGeom>
              <a:blipFill>
                <a:blip r:embed="rId9"/>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2F9C7FEB-F14A-F467-4D38-3C8E9A710C73}"/>
              </a:ext>
            </a:extLst>
          </p:cNvPr>
          <p:cNvCxnSpPr>
            <a:cxnSpLocks/>
            <a:stCxn id="2" idx="2"/>
          </p:cNvCxnSpPr>
          <p:nvPr/>
        </p:nvCxnSpPr>
        <p:spPr>
          <a:xfrm flipV="1">
            <a:off x="1609346" y="1108158"/>
            <a:ext cx="3284712" cy="2190747"/>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579DAD9E-4782-C1B9-F421-D651A5B45E8E}"/>
              </a:ext>
            </a:extLst>
          </p:cNvPr>
          <p:cNvSpPr/>
          <p:nvPr/>
        </p:nvSpPr>
        <p:spPr>
          <a:xfrm rot="19598101">
            <a:off x="200944" y="-1388990"/>
            <a:ext cx="3928893" cy="3928893"/>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21595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EE211-52C9-B9CB-A112-097DFE23A17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39D47A7-CDB7-5471-EBF9-57A436CCB356}"/>
              </a:ext>
            </a:extLst>
          </p:cNvPr>
          <p:cNvSpPr/>
          <p:nvPr/>
        </p:nvSpPr>
        <p:spPr>
          <a:xfrm rot="19598101">
            <a:off x="2980286" y="2219742"/>
            <a:ext cx="1224349" cy="1224349"/>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 name="Rectangle 6">
            <a:extLst>
              <a:ext uri="{FF2B5EF4-FFF2-40B4-BE49-F238E27FC236}">
                <a16:creationId xmlns:a16="http://schemas.microsoft.com/office/drawing/2014/main" id="{1AC42096-B8CA-A214-4B39-D1B0D4F8AC6B}"/>
              </a:ext>
            </a:extLst>
          </p:cNvPr>
          <p:cNvSpPr/>
          <p:nvPr/>
        </p:nvSpPr>
        <p:spPr>
          <a:xfrm>
            <a:off x="1957178" y="3694472"/>
            <a:ext cx="2042713" cy="2922705"/>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Rectangle 9">
            <a:extLst>
              <a:ext uri="{FF2B5EF4-FFF2-40B4-BE49-F238E27FC236}">
                <a16:creationId xmlns:a16="http://schemas.microsoft.com/office/drawing/2014/main" id="{FD3641AE-DD83-98EB-FC30-950A25336E10}"/>
              </a:ext>
            </a:extLst>
          </p:cNvPr>
          <p:cNvSpPr/>
          <p:nvPr/>
        </p:nvSpPr>
        <p:spPr>
          <a:xfrm>
            <a:off x="3417570" y="3686712"/>
            <a:ext cx="1015611" cy="1478038"/>
          </a:xfrm>
          <a:prstGeom prst="rect">
            <a:avLst/>
          </a:prstGeom>
          <a:solidFill>
            <a:srgbClr val="548235">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 name="Straight Connector 12">
            <a:extLst>
              <a:ext uri="{FF2B5EF4-FFF2-40B4-BE49-F238E27FC236}">
                <a16:creationId xmlns:a16="http://schemas.microsoft.com/office/drawing/2014/main" id="{50E42FE5-45C0-533D-9604-08AD3A3DCD59}"/>
              </a:ext>
            </a:extLst>
          </p:cNvPr>
          <p:cNvCxnSpPr>
            <a:cxnSpLocks/>
          </p:cNvCxnSpPr>
          <p:nvPr/>
        </p:nvCxnSpPr>
        <p:spPr>
          <a:xfrm flipV="1">
            <a:off x="2203280" y="2874625"/>
            <a:ext cx="2438766" cy="1614525"/>
          </a:xfrm>
          <a:prstGeom prst="line">
            <a:avLst/>
          </a:prstGeom>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27AADA78-0D71-54F8-29DF-46956FD06D6F}"/>
              </a:ext>
            </a:extLst>
          </p:cNvPr>
          <p:cNvSpPr/>
          <p:nvPr/>
        </p:nvSpPr>
        <p:spPr>
          <a:xfrm>
            <a:off x="1955254" y="2208734"/>
            <a:ext cx="2924630" cy="2956016"/>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4" name="Straight Connector 3">
            <a:extLst>
              <a:ext uri="{FF2B5EF4-FFF2-40B4-BE49-F238E27FC236}">
                <a16:creationId xmlns:a16="http://schemas.microsoft.com/office/drawing/2014/main" id="{0C00810C-91AB-2728-BDD5-2CF1536332D5}"/>
              </a:ext>
            </a:extLst>
          </p:cNvPr>
          <p:cNvCxnSpPr>
            <a:stCxn id="2" idx="2"/>
            <a:endCxn id="2" idx="6"/>
          </p:cNvCxnSpPr>
          <p:nvPr/>
        </p:nvCxnSpPr>
        <p:spPr>
          <a:xfrm>
            <a:off x="1955254" y="3686742"/>
            <a:ext cx="2924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0D00DC4-B848-6EBC-C5DF-1DD5CD9C8C51}"/>
              </a:ext>
            </a:extLst>
          </p:cNvPr>
          <p:cNvCxnSpPr>
            <a:cxnSpLocks/>
            <a:endCxn id="2" idx="6"/>
          </p:cNvCxnSpPr>
          <p:nvPr/>
        </p:nvCxnSpPr>
        <p:spPr>
          <a:xfrm>
            <a:off x="3995099" y="2325185"/>
            <a:ext cx="884785" cy="1361558"/>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5029283-F6E5-4689-9601-FD69FE4DE942}"/>
              </a:ext>
            </a:extLst>
          </p:cNvPr>
          <p:cNvCxnSpPr>
            <a:cxnSpLocks/>
          </p:cNvCxnSpPr>
          <p:nvPr/>
        </p:nvCxnSpPr>
        <p:spPr>
          <a:xfrm flipV="1">
            <a:off x="3417569" y="3000930"/>
            <a:ext cx="1033690" cy="6843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7ADD5179-D767-1AED-1FC6-D47F14BE0F45}"/>
                  </a:ext>
                </a:extLst>
              </p:cNvPr>
              <p:cNvSpPr txBox="1"/>
              <p:nvPr/>
            </p:nvSpPr>
            <p:spPr>
              <a:xfrm>
                <a:off x="4852135" y="3507602"/>
                <a:ext cx="40735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oMath>
                  </m:oMathPara>
                </a14:m>
                <a:endParaRPr lang="en-US" sz="2000" dirty="0"/>
              </a:p>
            </p:txBody>
          </p:sp>
        </mc:Choice>
        <mc:Fallback>
          <p:sp>
            <p:nvSpPr>
              <p:cNvPr id="12" name="TextBox 11">
                <a:extLst>
                  <a:ext uri="{FF2B5EF4-FFF2-40B4-BE49-F238E27FC236}">
                    <a16:creationId xmlns:a16="http://schemas.microsoft.com/office/drawing/2014/main" id="{7ADD5179-D767-1AED-1FC6-D47F14BE0F45}"/>
                  </a:ext>
                </a:extLst>
              </p:cNvPr>
              <p:cNvSpPr txBox="1">
                <a:spLocks noRot="1" noChangeAspect="1" noMove="1" noResize="1" noEditPoints="1" noAdjustHandles="1" noChangeArrowheads="1" noChangeShapeType="1" noTextEdit="1"/>
              </p:cNvSpPr>
              <p:nvPr/>
            </p:nvSpPr>
            <p:spPr>
              <a:xfrm>
                <a:off x="4852135" y="3507602"/>
                <a:ext cx="407356" cy="40011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4F307847-3D1E-B0B3-4F79-91D7BB0CDD18}"/>
                  </a:ext>
                </a:extLst>
              </p:cNvPr>
              <p:cNvSpPr txBox="1"/>
              <p:nvPr/>
            </p:nvSpPr>
            <p:spPr>
              <a:xfrm>
                <a:off x="3862398" y="1976614"/>
                <a:ext cx="40947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𝐹</m:t>
                      </m:r>
                    </m:oMath>
                  </m:oMathPara>
                </a14:m>
                <a:endParaRPr lang="en-US" sz="2000" dirty="0"/>
              </a:p>
            </p:txBody>
          </p:sp>
        </mc:Choice>
        <mc:Fallback>
          <p:sp>
            <p:nvSpPr>
              <p:cNvPr id="14" name="TextBox 13">
                <a:extLst>
                  <a:ext uri="{FF2B5EF4-FFF2-40B4-BE49-F238E27FC236}">
                    <a16:creationId xmlns:a16="http://schemas.microsoft.com/office/drawing/2014/main" id="{4F307847-3D1E-B0B3-4F79-91D7BB0CDD18}"/>
                  </a:ext>
                </a:extLst>
              </p:cNvPr>
              <p:cNvSpPr txBox="1">
                <a:spLocks noRot="1" noChangeAspect="1" noMove="1" noResize="1" noEditPoints="1" noAdjustHandles="1" noChangeArrowheads="1" noChangeShapeType="1" noTextEdit="1"/>
              </p:cNvSpPr>
              <p:nvPr/>
            </p:nvSpPr>
            <p:spPr>
              <a:xfrm>
                <a:off x="3862398" y="1976614"/>
                <a:ext cx="409471" cy="40011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70DEA38B-BEEA-B23F-FE0E-68923BF5EF38}"/>
                  </a:ext>
                </a:extLst>
              </p:cNvPr>
              <p:cNvSpPr txBox="1"/>
              <p:nvPr/>
            </p:nvSpPr>
            <p:spPr>
              <a:xfrm>
                <a:off x="4333801" y="2635166"/>
                <a:ext cx="46666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𝑀</m:t>
                      </m:r>
                    </m:oMath>
                  </m:oMathPara>
                </a14:m>
                <a:endParaRPr lang="en-US" sz="2000" dirty="0"/>
              </a:p>
            </p:txBody>
          </p:sp>
        </mc:Choice>
        <mc:Fallback>
          <p:sp>
            <p:nvSpPr>
              <p:cNvPr id="16" name="TextBox 15">
                <a:extLst>
                  <a:ext uri="{FF2B5EF4-FFF2-40B4-BE49-F238E27FC236}">
                    <a16:creationId xmlns:a16="http://schemas.microsoft.com/office/drawing/2014/main" id="{70DEA38B-BEEA-B23F-FE0E-68923BF5EF38}"/>
                  </a:ext>
                </a:extLst>
              </p:cNvPr>
              <p:cNvSpPr txBox="1">
                <a:spLocks noRot="1" noChangeAspect="1" noMove="1" noResize="1" noEditPoints="1" noAdjustHandles="1" noChangeArrowheads="1" noChangeShapeType="1" noTextEdit="1"/>
              </p:cNvSpPr>
              <p:nvPr/>
            </p:nvSpPr>
            <p:spPr>
              <a:xfrm>
                <a:off x="4333801" y="2635166"/>
                <a:ext cx="466666" cy="40011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2EB2357-FDEF-BAA7-F75F-32D7E208F8E1}"/>
                  </a:ext>
                </a:extLst>
              </p:cNvPr>
              <p:cNvSpPr txBox="1"/>
              <p:nvPr/>
            </p:nvSpPr>
            <p:spPr>
              <a:xfrm>
                <a:off x="3888219" y="3611509"/>
                <a:ext cx="405944"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m:t>
                      </m:r>
                    </m:oMath>
                  </m:oMathPara>
                </a14:m>
                <a:endParaRPr lang="en-US" sz="2000" dirty="0"/>
              </a:p>
            </p:txBody>
          </p:sp>
        </mc:Choice>
        <mc:Fallback>
          <p:sp>
            <p:nvSpPr>
              <p:cNvPr id="19" name="TextBox 18">
                <a:extLst>
                  <a:ext uri="{FF2B5EF4-FFF2-40B4-BE49-F238E27FC236}">
                    <a16:creationId xmlns:a16="http://schemas.microsoft.com/office/drawing/2014/main" id="{A2EB2357-FDEF-BAA7-F75F-32D7E208F8E1}"/>
                  </a:ext>
                </a:extLst>
              </p:cNvPr>
              <p:cNvSpPr txBox="1">
                <a:spLocks noRot="1" noChangeAspect="1" noMove="1" noResize="1" noEditPoints="1" noAdjustHandles="1" noChangeArrowheads="1" noChangeShapeType="1" noTextEdit="1"/>
              </p:cNvSpPr>
              <p:nvPr/>
            </p:nvSpPr>
            <p:spPr>
              <a:xfrm>
                <a:off x="3888219" y="3611509"/>
                <a:ext cx="405944" cy="400110"/>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F1253115-7673-5025-7C1A-8F356A157A38}"/>
              </a:ext>
            </a:extLst>
          </p:cNvPr>
          <p:cNvCxnSpPr>
            <a:cxnSpLocks/>
          </p:cNvCxnSpPr>
          <p:nvPr/>
        </p:nvCxnSpPr>
        <p:spPr>
          <a:xfrm flipV="1">
            <a:off x="3417569" y="2338847"/>
            <a:ext cx="571552" cy="13430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8F284C7A-490D-DCA1-1A80-1041987D2BE6}"/>
              </a:ext>
            </a:extLst>
          </p:cNvPr>
          <p:cNvSpPr/>
          <p:nvPr/>
        </p:nvSpPr>
        <p:spPr>
          <a:xfrm>
            <a:off x="4417925" y="2983737"/>
            <a:ext cx="46249" cy="46745"/>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54" name="Straight Connector 53">
            <a:extLst>
              <a:ext uri="{FF2B5EF4-FFF2-40B4-BE49-F238E27FC236}">
                <a16:creationId xmlns:a16="http://schemas.microsoft.com/office/drawing/2014/main" id="{AE813FE5-13B8-BD54-E66B-0D05865A384F}"/>
              </a:ext>
            </a:extLst>
          </p:cNvPr>
          <p:cNvCxnSpPr>
            <a:cxnSpLocks/>
          </p:cNvCxnSpPr>
          <p:nvPr/>
        </p:nvCxnSpPr>
        <p:spPr>
          <a:xfrm>
            <a:off x="3998657" y="2338847"/>
            <a:ext cx="1235" cy="135562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5DE8E31B-D3E6-43DF-A397-6E5A94C60155}"/>
                  </a:ext>
                </a:extLst>
              </p:cNvPr>
              <p:cNvSpPr txBox="1"/>
              <p:nvPr/>
            </p:nvSpPr>
            <p:spPr>
              <a:xfrm>
                <a:off x="1548893" y="3468793"/>
                <a:ext cx="42300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𝑄</m:t>
                      </m:r>
                    </m:oMath>
                  </m:oMathPara>
                </a14:m>
                <a:endParaRPr lang="en-US" sz="2000" dirty="0"/>
              </a:p>
            </p:txBody>
          </p:sp>
        </mc:Choice>
        <mc:Fallback>
          <p:sp>
            <p:nvSpPr>
              <p:cNvPr id="57" name="TextBox 56">
                <a:extLst>
                  <a:ext uri="{FF2B5EF4-FFF2-40B4-BE49-F238E27FC236}">
                    <a16:creationId xmlns:a16="http://schemas.microsoft.com/office/drawing/2014/main" id="{5DE8E31B-D3E6-43DF-A397-6E5A94C60155}"/>
                  </a:ext>
                </a:extLst>
              </p:cNvPr>
              <p:cNvSpPr txBox="1">
                <a:spLocks noRot="1" noChangeAspect="1" noMove="1" noResize="1" noEditPoints="1" noAdjustHandles="1" noChangeArrowheads="1" noChangeShapeType="1" noTextEdit="1"/>
              </p:cNvSpPr>
              <p:nvPr/>
            </p:nvSpPr>
            <p:spPr>
              <a:xfrm>
                <a:off x="1548893" y="3468793"/>
                <a:ext cx="423001" cy="400110"/>
              </a:xfrm>
              <a:prstGeom prst="rect">
                <a:avLst/>
              </a:prstGeom>
              <a:blipFill>
                <a:blip r:embed="rId6"/>
                <a:stretch>
                  <a:fillRect b="-909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F1EF5F9B-5E58-44CC-FC60-F8730B4DA8BA}"/>
                  </a:ext>
                </a:extLst>
              </p:cNvPr>
              <p:cNvSpPr txBox="1"/>
              <p:nvPr/>
            </p:nvSpPr>
            <p:spPr>
              <a:xfrm>
                <a:off x="3215940" y="3630679"/>
                <a:ext cx="42178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𝑂</m:t>
                      </m:r>
                    </m:oMath>
                  </m:oMathPara>
                </a14:m>
                <a:endParaRPr lang="en-US" sz="2000" dirty="0"/>
              </a:p>
            </p:txBody>
          </p:sp>
        </mc:Choice>
        <mc:Fallback>
          <p:sp>
            <p:nvSpPr>
              <p:cNvPr id="58" name="TextBox 57">
                <a:extLst>
                  <a:ext uri="{FF2B5EF4-FFF2-40B4-BE49-F238E27FC236}">
                    <a16:creationId xmlns:a16="http://schemas.microsoft.com/office/drawing/2014/main" id="{F1EF5F9B-5E58-44CC-FC60-F8730B4DA8BA}"/>
                  </a:ext>
                </a:extLst>
              </p:cNvPr>
              <p:cNvSpPr txBox="1">
                <a:spLocks noRot="1" noChangeAspect="1" noMove="1" noResize="1" noEditPoints="1" noAdjustHandles="1" noChangeArrowheads="1" noChangeShapeType="1" noTextEdit="1"/>
              </p:cNvSpPr>
              <p:nvPr/>
            </p:nvSpPr>
            <p:spPr>
              <a:xfrm>
                <a:off x="3215940" y="3630679"/>
                <a:ext cx="421782" cy="400110"/>
              </a:xfrm>
              <a:prstGeom prst="rect">
                <a:avLst/>
              </a:prstGeom>
              <a:blipFill>
                <a:blip r:embed="rId7"/>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8B24F9CA-BFB6-BF96-ADC2-34BE9C7B4889}"/>
              </a:ext>
            </a:extLst>
          </p:cNvPr>
          <p:cNvCxnSpPr>
            <a:cxnSpLocks/>
          </p:cNvCxnSpPr>
          <p:nvPr/>
        </p:nvCxnSpPr>
        <p:spPr>
          <a:xfrm>
            <a:off x="1955254" y="3686742"/>
            <a:ext cx="20446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5D26CE5-F1CD-CB10-717F-A0684F1E6609}"/>
                  </a:ext>
                </a:extLst>
              </p:cNvPr>
              <p:cNvSpPr txBox="1"/>
              <p:nvPr/>
            </p:nvSpPr>
            <p:spPr>
              <a:xfrm>
                <a:off x="3721345" y="2981017"/>
                <a:ext cx="36984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𝑟</m:t>
                      </m:r>
                    </m:oMath>
                  </m:oMathPara>
                </a14:m>
                <a:endParaRPr lang="en-US" sz="2000" dirty="0"/>
              </a:p>
            </p:txBody>
          </p:sp>
        </mc:Choice>
        <mc:Fallback>
          <p:sp>
            <p:nvSpPr>
              <p:cNvPr id="17" name="TextBox 16">
                <a:extLst>
                  <a:ext uri="{FF2B5EF4-FFF2-40B4-BE49-F238E27FC236}">
                    <a16:creationId xmlns:a16="http://schemas.microsoft.com/office/drawing/2014/main" id="{95D26CE5-F1CD-CB10-717F-A0684F1E6609}"/>
                  </a:ext>
                </a:extLst>
              </p:cNvPr>
              <p:cNvSpPr txBox="1">
                <a:spLocks noRot="1" noChangeAspect="1" noMove="1" noResize="1" noEditPoints="1" noAdjustHandles="1" noChangeArrowheads="1" noChangeShapeType="1" noTextEdit="1"/>
              </p:cNvSpPr>
              <p:nvPr/>
            </p:nvSpPr>
            <p:spPr>
              <a:xfrm>
                <a:off x="3721345" y="2981017"/>
                <a:ext cx="369845" cy="40011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E94E842-349A-194B-E6F2-B00CAC088A6B}"/>
                  </a:ext>
                </a:extLst>
              </p:cNvPr>
              <p:cNvSpPr txBox="1"/>
              <p:nvPr/>
            </p:nvSpPr>
            <p:spPr>
              <a:xfrm>
                <a:off x="2938223" y="3292879"/>
                <a:ext cx="38818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𝑝</m:t>
                      </m:r>
                    </m:oMath>
                  </m:oMathPara>
                </a14:m>
                <a:endParaRPr lang="en-US" sz="2000" dirty="0"/>
              </a:p>
            </p:txBody>
          </p:sp>
        </mc:Choice>
        <mc:Fallback>
          <p:sp>
            <p:nvSpPr>
              <p:cNvPr id="18" name="TextBox 17">
                <a:extLst>
                  <a:ext uri="{FF2B5EF4-FFF2-40B4-BE49-F238E27FC236}">
                    <a16:creationId xmlns:a16="http://schemas.microsoft.com/office/drawing/2014/main" id="{6E94E842-349A-194B-E6F2-B00CAC088A6B}"/>
                  </a:ext>
                </a:extLst>
              </p:cNvPr>
              <p:cNvSpPr txBox="1">
                <a:spLocks noRot="1" noChangeAspect="1" noMove="1" noResize="1" noEditPoints="1" noAdjustHandles="1" noChangeArrowheads="1" noChangeShapeType="1" noTextEdit="1"/>
              </p:cNvSpPr>
              <p:nvPr/>
            </p:nvSpPr>
            <p:spPr>
              <a:xfrm>
                <a:off x="2938223" y="3292879"/>
                <a:ext cx="388183" cy="400110"/>
              </a:xfrm>
              <a:prstGeom prst="rect">
                <a:avLst/>
              </a:prstGeom>
              <a:blipFill>
                <a:blip r:embed="rId9"/>
                <a:stretch>
                  <a:fillRect b="-7576"/>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01C99F26-26E6-ABF1-C5B8-1570322CF362}"/>
              </a:ext>
            </a:extLst>
          </p:cNvPr>
          <p:cNvCxnSpPr>
            <a:cxnSpLocks/>
            <a:stCxn id="2" idx="2"/>
          </p:cNvCxnSpPr>
          <p:nvPr/>
        </p:nvCxnSpPr>
        <p:spPr>
          <a:xfrm flipV="1">
            <a:off x="1955254" y="2326262"/>
            <a:ext cx="2039845" cy="1360479"/>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211901-D40F-940C-9231-478853AC1F49}"/>
              </a:ext>
            </a:extLst>
          </p:cNvPr>
          <p:cNvSpPr/>
          <p:nvPr/>
        </p:nvSpPr>
        <p:spPr>
          <a:xfrm rot="19598101">
            <a:off x="1080620" y="775504"/>
            <a:ext cx="2439889" cy="2439888"/>
          </a:xfrm>
          <a:prstGeom prst="rect">
            <a:avLst/>
          </a:prstGeom>
          <a:solidFill>
            <a:srgbClr val="7030A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D8353E56-A4DE-A113-B811-CF77FED1523C}"/>
                  </a:ext>
                </a:extLst>
              </p:cNvPr>
              <p:cNvSpPr txBox="1"/>
              <p:nvPr/>
            </p:nvSpPr>
            <p:spPr>
              <a:xfrm>
                <a:off x="6324600" y="925002"/>
                <a:ext cx="2190408"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𝑄𝐹𝑃</m:t>
                      </m:r>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90</m:t>
                          </m:r>
                        </m:e>
                        <m:sup>
                          <m:r>
                            <a:rPr lang="en-US" sz="2800" b="0" i="1" smtClean="0">
                              <a:latin typeface="Cambria Math" panose="02040503050406030204" pitchFamily="18" charset="0"/>
                            </a:rPr>
                            <m:t>∘</m:t>
                          </m:r>
                        </m:sup>
                      </m:sSup>
                    </m:oMath>
                  </m:oMathPara>
                </a14:m>
                <a:endParaRPr lang="en-US" sz="2800" dirty="0"/>
              </a:p>
            </p:txBody>
          </p:sp>
        </mc:Choice>
        <mc:Fallback>
          <p:sp>
            <p:nvSpPr>
              <p:cNvPr id="15" name="TextBox 14">
                <a:extLst>
                  <a:ext uri="{FF2B5EF4-FFF2-40B4-BE49-F238E27FC236}">
                    <a16:creationId xmlns:a16="http://schemas.microsoft.com/office/drawing/2014/main" id="{D8353E56-A4DE-A113-B811-CF77FED1523C}"/>
                  </a:ext>
                </a:extLst>
              </p:cNvPr>
              <p:cNvSpPr txBox="1">
                <a:spLocks noRot="1" noChangeAspect="1" noMove="1" noResize="1" noEditPoints="1" noAdjustHandles="1" noChangeArrowheads="1" noChangeShapeType="1" noTextEdit="1"/>
              </p:cNvSpPr>
              <p:nvPr/>
            </p:nvSpPr>
            <p:spPr>
              <a:xfrm>
                <a:off x="6324600" y="925002"/>
                <a:ext cx="2190408"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5C35DFC-01F9-E319-0B73-D00FC5CC17AB}"/>
                  </a:ext>
                </a:extLst>
              </p:cNvPr>
              <p:cNvSpPr txBox="1"/>
              <p:nvPr/>
            </p:nvSpPr>
            <p:spPr>
              <a:xfrm>
                <a:off x="6395136" y="1685514"/>
                <a:ext cx="2593851"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𝑄</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𝐹</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b="0" i="1" smtClean="0">
                          <a:latin typeface="Cambria Math" panose="02040503050406030204" pitchFamily="18" charset="0"/>
                        </a:rPr>
                        <m:t>𝑄𝐶</m:t>
                      </m:r>
                      <m:r>
                        <a:rPr lang="en-US" sz="2800" b="0" i="1" smtClean="0">
                          <a:latin typeface="Cambria Math" panose="02040503050406030204" pitchFamily="18" charset="0"/>
                        </a:rPr>
                        <m:t>⋅</m:t>
                      </m:r>
                      <m:r>
                        <a:rPr lang="en-US" sz="2800" b="0" i="1" smtClean="0">
                          <a:latin typeface="Cambria Math" panose="02040503050406030204" pitchFamily="18" charset="0"/>
                        </a:rPr>
                        <m:t>𝑄𝑃</m:t>
                      </m:r>
                    </m:oMath>
                  </m:oMathPara>
                </a14:m>
                <a:endParaRPr lang="en-US" sz="2800" dirty="0"/>
              </a:p>
            </p:txBody>
          </p:sp>
        </mc:Choice>
        <mc:Fallback>
          <p:sp>
            <p:nvSpPr>
              <p:cNvPr id="20" name="TextBox 19">
                <a:extLst>
                  <a:ext uri="{FF2B5EF4-FFF2-40B4-BE49-F238E27FC236}">
                    <a16:creationId xmlns:a16="http://schemas.microsoft.com/office/drawing/2014/main" id="{95C35DFC-01F9-E319-0B73-D00FC5CC17AB}"/>
                  </a:ext>
                </a:extLst>
              </p:cNvPr>
              <p:cNvSpPr txBox="1">
                <a:spLocks noRot="1" noChangeAspect="1" noMove="1" noResize="1" noEditPoints="1" noAdjustHandles="1" noChangeArrowheads="1" noChangeShapeType="1" noTextEdit="1"/>
              </p:cNvSpPr>
              <p:nvPr/>
            </p:nvSpPr>
            <p:spPr>
              <a:xfrm>
                <a:off x="6395136" y="1685514"/>
                <a:ext cx="2593851" cy="52322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4CEEDCC8-F7B9-3438-5749-2094416439D6}"/>
                  </a:ext>
                </a:extLst>
              </p:cNvPr>
              <p:cNvSpPr txBox="1"/>
              <p:nvPr/>
            </p:nvSpPr>
            <p:spPr>
              <a:xfrm>
                <a:off x="6395136" y="3707657"/>
                <a:ext cx="2795060"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m:rPr>
                          <m:nor/>
                        </m:rPr>
                        <a:rPr lang="en-US" sz="2800" smtClean="0"/>
                        <m:t>△</m:t>
                      </m:r>
                      <m:r>
                        <a:rPr lang="en-US" sz="2800" b="0" i="1" smtClean="0">
                          <a:latin typeface="Cambria Math" panose="02040503050406030204" pitchFamily="18" charset="0"/>
                          <a:ea typeface="Cambria Math" panose="02040503050406030204" pitchFamily="18" charset="0"/>
                        </a:rPr>
                        <m:t>𝑄𝐹𝑃</m:t>
                      </m:r>
                      <m:r>
                        <a:rPr lang="en-US" sz="2800" b="0" i="1" smtClean="0">
                          <a:latin typeface="Cambria Math" panose="02040503050406030204" pitchFamily="18" charset="0"/>
                          <a:ea typeface="Cambria Math" panose="02040503050406030204" pitchFamily="18" charset="0"/>
                        </a:rPr>
                        <m:t>∼</m:t>
                      </m:r>
                      <m:r>
                        <m:rPr>
                          <m:nor/>
                        </m:rPr>
                        <a:rPr lang="en-US" sz="2800"/>
                        <m:t>△</m:t>
                      </m:r>
                      <m:r>
                        <a:rPr lang="en-US" sz="2800" b="0" i="1" smtClean="0">
                          <a:latin typeface="Cambria Math" panose="02040503050406030204" pitchFamily="18" charset="0"/>
                          <a:ea typeface="Cambria Math" panose="02040503050406030204" pitchFamily="18" charset="0"/>
                        </a:rPr>
                        <m:t>𝑂𝑀</m:t>
                      </m:r>
                      <m:r>
                        <a:rPr lang="en-US" sz="2800" i="1">
                          <a:latin typeface="Cambria Math" panose="02040503050406030204" pitchFamily="18" charset="0"/>
                          <a:ea typeface="Cambria Math" panose="02040503050406030204" pitchFamily="18" charset="0"/>
                        </a:rPr>
                        <m:t>𝑃</m:t>
                      </m:r>
                    </m:oMath>
                  </m:oMathPara>
                </a14:m>
                <a:endParaRPr lang="en-US" sz="2800" dirty="0"/>
              </a:p>
            </p:txBody>
          </p:sp>
        </mc:Choice>
        <mc:Fallback>
          <p:sp>
            <p:nvSpPr>
              <p:cNvPr id="21" name="TextBox 20">
                <a:extLst>
                  <a:ext uri="{FF2B5EF4-FFF2-40B4-BE49-F238E27FC236}">
                    <a16:creationId xmlns:a16="http://schemas.microsoft.com/office/drawing/2014/main" id="{4CEEDCC8-F7B9-3438-5749-2094416439D6}"/>
                  </a:ext>
                </a:extLst>
              </p:cNvPr>
              <p:cNvSpPr txBox="1">
                <a:spLocks noRot="1" noChangeAspect="1" noMove="1" noResize="1" noEditPoints="1" noAdjustHandles="1" noChangeArrowheads="1" noChangeShapeType="1" noTextEdit="1"/>
              </p:cNvSpPr>
              <p:nvPr/>
            </p:nvSpPr>
            <p:spPr>
              <a:xfrm>
                <a:off x="6395136" y="3707657"/>
                <a:ext cx="2795060"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4EB4E088-5E2A-C9E1-4AA6-DCDD762EE0F2}"/>
                  </a:ext>
                </a:extLst>
              </p:cNvPr>
              <p:cNvSpPr txBox="1"/>
              <p:nvPr/>
            </p:nvSpPr>
            <p:spPr>
              <a:xfrm>
                <a:off x="6724681" y="2497492"/>
                <a:ext cx="1921423"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𝐹𝑃</m:t>
                    </m:r>
                    <m:r>
                      <a:rPr lang="en-US" sz="2800" b="0" i="1" smtClean="0">
                        <a:latin typeface="Cambria Math" panose="02040503050406030204" pitchFamily="18" charset="0"/>
                      </a:rPr>
                      <m:t>=2</m:t>
                    </m:r>
                    <m:r>
                      <a:rPr lang="en-US" sz="2800" b="0" i="1" smtClean="0">
                        <a:latin typeface="Cambria Math" panose="02040503050406030204" pitchFamily="18" charset="0"/>
                      </a:rPr>
                      <m:t>𝑀𝑃</m:t>
                    </m:r>
                  </m:oMath>
                </a14:m>
                <a:r>
                  <a:rPr lang="en-US" sz="2800" dirty="0"/>
                  <a:t> </a:t>
                </a:r>
              </a:p>
            </p:txBody>
          </p:sp>
        </mc:Choice>
        <mc:Fallback>
          <p:sp>
            <p:nvSpPr>
              <p:cNvPr id="24" name="TextBox 23">
                <a:extLst>
                  <a:ext uri="{FF2B5EF4-FFF2-40B4-BE49-F238E27FC236}">
                    <a16:creationId xmlns:a16="http://schemas.microsoft.com/office/drawing/2014/main" id="{4EB4E088-5E2A-C9E1-4AA6-DCDD762EE0F2}"/>
                  </a:ext>
                </a:extLst>
              </p:cNvPr>
              <p:cNvSpPr txBox="1">
                <a:spLocks noRot="1" noChangeAspect="1" noMove="1" noResize="1" noEditPoints="1" noAdjustHandles="1" noChangeArrowheads="1" noChangeShapeType="1" noTextEdit="1"/>
              </p:cNvSpPr>
              <p:nvPr/>
            </p:nvSpPr>
            <p:spPr>
              <a:xfrm>
                <a:off x="6724681" y="2497492"/>
                <a:ext cx="1921423" cy="52322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94BE22A4-F3C2-B05B-5147-4B4ABEFADCA9}"/>
                  </a:ext>
                </a:extLst>
              </p:cNvPr>
              <p:cNvSpPr txBox="1"/>
              <p:nvPr/>
            </p:nvSpPr>
            <p:spPr>
              <a:xfrm>
                <a:off x="6878966" y="3136602"/>
                <a:ext cx="1879745"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𝑄𝑃</m:t>
                    </m:r>
                    <m:r>
                      <a:rPr lang="en-US" sz="2800" b="0" i="1" smtClean="0">
                        <a:latin typeface="Cambria Math" panose="02040503050406030204" pitchFamily="18" charset="0"/>
                      </a:rPr>
                      <m:t>=2</m:t>
                    </m:r>
                    <m:r>
                      <a:rPr lang="en-US" sz="2800" b="0" i="1" smtClean="0">
                        <a:latin typeface="Cambria Math" panose="02040503050406030204" pitchFamily="18" charset="0"/>
                      </a:rPr>
                      <m:t>𝑂𝑃</m:t>
                    </m:r>
                  </m:oMath>
                </a14:m>
                <a:r>
                  <a:rPr lang="en-US" sz="2800" dirty="0"/>
                  <a:t> </a:t>
                </a:r>
              </a:p>
            </p:txBody>
          </p:sp>
        </mc:Choice>
        <mc:Fallback>
          <p:sp>
            <p:nvSpPr>
              <p:cNvPr id="26" name="TextBox 25">
                <a:extLst>
                  <a:ext uri="{FF2B5EF4-FFF2-40B4-BE49-F238E27FC236}">
                    <a16:creationId xmlns:a16="http://schemas.microsoft.com/office/drawing/2014/main" id="{94BE22A4-F3C2-B05B-5147-4B4ABEFADCA9}"/>
                  </a:ext>
                </a:extLst>
              </p:cNvPr>
              <p:cNvSpPr txBox="1">
                <a:spLocks noRot="1" noChangeAspect="1" noMove="1" noResize="1" noEditPoints="1" noAdjustHandles="1" noChangeArrowheads="1" noChangeShapeType="1" noTextEdit="1"/>
              </p:cNvSpPr>
              <p:nvPr/>
            </p:nvSpPr>
            <p:spPr>
              <a:xfrm>
                <a:off x="6878966" y="3136602"/>
                <a:ext cx="1879745" cy="523220"/>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E44E5424-8844-C268-1B15-27F281AF0EED}"/>
                  </a:ext>
                </a:extLst>
              </p:cNvPr>
              <p:cNvSpPr txBox="1"/>
              <p:nvPr/>
            </p:nvSpPr>
            <p:spPr>
              <a:xfrm>
                <a:off x="6724681" y="4346767"/>
                <a:ext cx="1965153" cy="523220"/>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𝑄𝐹</m:t>
                    </m:r>
                    <m:r>
                      <a:rPr lang="en-US" sz="2800" b="0" i="1" smtClean="0">
                        <a:latin typeface="Cambria Math" panose="02040503050406030204" pitchFamily="18" charset="0"/>
                      </a:rPr>
                      <m:t>=2</m:t>
                    </m:r>
                    <m:r>
                      <a:rPr lang="en-US" sz="2800" b="0" i="1" smtClean="0">
                        <a:latin typeface="Cambria Math" panose="02040503050406030204" pitchFamily="18" charset="0"/>
                      </a:rPr>
                      <m:t>𝑂𝑀</m:t>
                    </m:r>
                  </m:oMath>
                </a14:m>
                <a:r>
                  <a:rPr lang="en-US" sz="2800" dirty="0"/>
                  <a:t> </a:t>
                </a:r>
              </a:p>
            </p:txBody>
          </p:sp>
        </mc:Choice>
        <mc:Fallback>
          <p:sp>
            <p:nvSpPr>
              <p:cNvPr id="27" name="TextBox 26">
                <a:extLst>
                  <a:ext uri="{FF2B5EF4-FFF2-40B4-BE49-F238E27FC236}">
                    <a16:creationId xmlns:a16="http://schemas.microsoft.com/office/drawing/2014/main" id="{E44E5424-8844-C268-1B15-27F281AF0EED}"/>
                  </a:ext>
                </a:extLst>
              </p:cNvPr>
              <p:cNvSpPr txBox="1">
                <a:spLocks noRot="1" noChangeAspect="1" noMove="1" noResize="1" noEditPoints="1" noAdjustHandles="1" noChangeArrowheads="1" noChangeShapeType="1" noTextEdit="1"/>
              </p:cNvSpPr>
              <p:nvPr/>
            </p:nvSpPr>
            <p:spPr>
              <a:xfrm>
                <a:off x="6724681" y="4346767"/>
                <a:ext cx="1965153" cy="523220"/>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F28668CD-1A52-4A2F-DCB9-B64215E80442}"/>
                  </a:ext>
                </a:extLst>
              </p:cNvPr>
              <p:cNvSpPr txBox="1"/>
              <p:nvPr/>
            </p:nvSpPr>
            <p:spPr>
              <a:xfrm>
                <a:off x="6395136" y="5232293"/>
                <a:ext cx="3070969"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4</m:t>
                      </m:r>
                      <m:r>
                        <a:rPr lang="en-US" sz="2800" b="0" i="1" smtClean="0">
                          <a:latin typeface="Cambria Math" panose="02040503050406030204" pitchFamily="18" charset="0"/>
                        </a:rPr>
                        <m:t>𝑂</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𝑀</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b="0" i="1" smtClean="0">
                          <a:latin typeface="Cambria Math" panose="02040503050406030204" pitchFamily="18" charset="0"/>
                        </a:rPr>
                        <m:t>𝑄𝐶</m:t>
                      </m:r>
                      <m:r>
                        <a:rPr lang="en-US" sz="2800" b="0" i="1" smtClean="0">
                          <a:latin typeface="Cambria Math" panose="02040503050406030204" pitchFamily="18" charset="0"/>
                        </a:rPr>
                        <m:t>⋅2</m:t>
                      </m:r>
                      <m:r>
                        <a:rPr lang="en-US" sz="2800" b="0" i="1" smtClean="0">
                          <a:latin typeface="Cambria Math" panose="02040503050406030204" pitchFamily="18" charset="0"/>
                        </a:rPr>
                        <m:t>𝑂𝑃</m:t>
                      </m:r>
                    </m:oMath>
                  </m:oMathPara>
                </a14:m>
                <a:endParaRPr lang="en-US" sz="2800" dirty="0"/>
              </a:p>
            </p:txBody>
          </p:sp>
        </mc:Choice>
        <mc:Fallback>
          <p:sp>
            <p:nvSpPr>
              <p:cNvPr id="28" name="TextBox 27">
                <a:extLst>
                  <a:ext uri="{FF2B5EF4-FFF2-40B4-BE49-F238E27FC236}">
                    <a16:creationId xmlns:a16="http://schemas.microsoft.com/office/drawing/2014/main" id="{F28668CD-1A52-4A2F-DCB9-B64215E80442}"/>
                  </a:ext>
                </a:extLst>
              </p:cNvPr>
              <p:cNvSpPr txBox="1">
                <a:spLocks noRot="1" noChangeAspect="1" noMove="1" noResize="1" noEditPoints="1" noAdjustHandles="1" noChangeArrowheads="1" noChangeShapeType="1" noTextEdit="1"/>
              </p:cNvSpPr>
              <p:nvPr/>
            </p:nvSpPr>
            <p:spPr>
              <a:xfrm>
                <a:off x="6395136" y="5232293"/>
                <a:ext cx="3070969" cy="523220"/>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26837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9984-6E26-0352-8071-4B9E4807F8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CB8A5E-5A32-1856-97BD-0CC81EB0C474}"/>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sp>
        <p:nvSpPr>
          <p:cNvPr id="33" name="Right Brace 32">
            <a:extLst>
              <a:ext uri="{FF2B5EF4-FFF2-40B4-BE49-F238E27FC236}">
                <a16:creationId xmlns:a16="http://schemas.microsoft.com/office/drawing/2014/main" id="{1040D1B4-7184-14AC-3640-732120808AB9}"/>
              </a:ext>
            </a:extLst>
          </p:cNvPr>
          <p:cNvSpPr/>
          <p:nvPr/>
        </p:nvSpPr>
        <p:spPr>
          <a:xfrm>
            <a:off x="2885640" y="2104994"/>
            <a:ext cx="130054" cy="127173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E9C26546-1A85-F52A-D7EE-A300D5954980}"/>
                  </a:ext>
                </a:extLst>
              </p:cNvPr>
              <p:cNvSpPr txBox="1"/>
              <p:nvPr/>
            </p:nvSpPr>
            <p:spPr>
              <a:xfrm>
                <a:off x="4990976" y="2072909"/>
                <a:ext cx="6562117"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800" i="1">
                          <a:latin typeface="Cambria Math" panose="02040503050406030204" pitchFamily="18" charset="0"/>
                        </a:rPr>
                        <m:t>=</m:t>
                      </m:r>
                      <m:r>
                        <a:rPr lang="en-US" sz="4800" b="0" i="1" smtClean="0">
                          <a:latin typeface="Cambria Math" panose="02040503050406030204" pitchFamily="18" charset="0"/>
                        </a:rPr>
                        <m:t>−</m:t>
                      </m:r>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1</m:t>
                          </m:r>
                        </m:sub>
                      </m:sSub>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1</m:t>
                              </m:r>
                            </m:sub>
                          </m:sSub>
                        </m:e>
                      </m:func>
                      <m:r>
                        <a:rPr lang="en-US" sz="4800" b="0" i="1" smtClean="0">
                          <a:latin typeface="Cambria Math" panose="02040503050406030204" pitchFamily="18" charset="0"/>
                        </a:rPr>
                        <m:t>−</m:t>
                      </m:r>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2</m:t>
                          </m:r>
                        </m:sub>
                      </m:sSub>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2</m:t>
                              </m:r>
                            </m:sub>
                          </m:sSub>
                        </m:e>
                      </m:func>
                    </m:oMath>
                  </m:oMathPara>
                </a14:m>
                <a:endParaRPr lang="en-US" sz="4800" dirty="0"/>
              </a:p>
            </p:txBody>
          </p:sp>
        </mc:Choice>
        <mc:Fallback>
          <p:sp>
            <p:nvSpPr>
              <p:cNvPr id="46" name="TextBox 45">
                <a:extLst>
                  <a:ext uri="{FF2B5EF4-FFF2-40B4-BE49-F238E27FC236}">
                    <a16:creationId xmlns:a16="http://schemas.microsoft.com/office/drawing/2014/main" id="{E9C26546-1A85-F52A-D7EE-A300D5954980}"/>
                  </a:ext>
                </a:extLst>
              </p:cNvPr>
              <p:cNvSpPr txBox="1">
                <a:spLocks noRot="1" noChangeAspect="1" noMove="1" noResize="1" noEditPoints="1" noAdjustHandles="1" noChangeArrowheads="1" noChangeShapeType="1" noTextEdit="1"/>
              </p:cNvSpPr>
              <p:nvPr/>
            </p:nvSpPr>
            <p:spPr>
              <a:xfrm>
                <a:off x="4990976" y="2072909"/>
                <a:ext cx="6562117" cy="83099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5D7D210F-50CE-228C-7AD6-044D6620E3AA}"/>
                  </a:ext>
                </a:extLst>
              </p:cNvPr>
              <p:cNvSpPr txBox="1"/>
              <p:nvPr/>
            </p:nvSpPr>
            <p:spPr>
              <a:xfrm>
                <a:off x="2991632" y="2470678"/>
                <a:ext cx="4062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𝑟</m:t>
                      </m:r>
                    </m:oMath>
                  </m:oMathPara>
                </a14:m>
                <a:endParaRPr lang="en-US" sz="2400" dirty="0"/>
              </a:p>
            </p:txBody>
          </p:sp>
        </mc:Choice>
        <mc:Fallback>
          <p:sp>
            <p:nvSpPr>
              <p:cNvPr id="48" name="TextBox 47">
                <a:extLst>
                  <a:ext uri="{FF2B5EF4-FFF2-40B4-BE49-F238E27FC236}">
                    <a16:creationId xmlns:a16="http://schemas.microsoft.com/office/drawing/2014/main" id="{5D7D210F-50CE-228C-7AD6-044D6620E3AA}"/>
                  </a:ext>
                </a:extLst>
              </p:cNvPr>
              <p:cNvSpPr txBox="1">
                <a:spLocks noRot="1" noChangeAspect="1" noMove="1" noResize="1" noEditPoints="1" noAdjustHandles="1" noChangeArrowheads="1" noChangeShapeType="1" noTextEdit="1"/>
              </p:cNvSpPr>
              <p:nvPr/>
            </p:nvSpPr>
            <p:spPr>
              <a:xfrm>
                <a:off x="2991632" y="2470678"/>
                <a:ext cx="406200"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B12519EA-6720-BCC2-A3B5-767295E7B76C}"/>
                  </a:ext>
                </a:extLst>
              </p:cNvPr>
              <p:cNvSpPr txBox="1"/>
              <p:nvPr/>
            </p:nvSpPr>
            <p:spPr>
              <a:xfrm>
                <a:off x="5105412" y="2988389"/>
                <a:ext cx="6999480" cy="1048429"/>
              </a:xfrm>
              <a:prstGeom prst="rect">
                <a:avLst/>
              </a:prstGeom>
              <a:noFill/>
            </p:spPr>
            <p:txBody>
              <a:bodyPr wrap="none" rtlCol="0">
                <a:spAutoFit/>
              </a:bodyPr>
              <a:lstStyle/>
              <a:p>
                <a:pPr/>
                <a14:m>
                  <m:oMath xmlns:m="http://schemas.openxmlformats.org/officeDocument/2006/math">
                    <m:r>
                      <a:rPr lang="en-US" sz="4400" i="1">
                        <a:latin typeface="Cambria Math" panose="02040503050406030204" pitchFamily="18" charset="0"/>
                      </a:rPr>
                      <m:t>=</m:t>
                    </m:r>
                    <m:r>
                      <a:rPr lang="en-US" sz="4400" b="0" i="1" smtClean="0">
                        <a:latin typeface="Cambria Math" panose="02040503050406030204" pitchFamily="18" charset="0"/>
                      </a:rPr>
                      <m:t>−</m:t>
                    </m:r>
                    <m:f>
                      <m:fPr>
                        <m:ctrlPr>
                          <a:rPr lang="en-US" sz="4400" b="0" i="1" smtClean="0">
                            <a:latin typeface="Cambria Math" panose="02040503050406030204" pitchFamily="18" charset="0"/>
                          </a:rPr>
                        </m:ctrlPr>
                      </m:fPr>
                      <m:num>
                        <m:r>
                          <a:rPr lang="en-US" sz="4400" b="0" i="1" smtClean="0">
                            <a:latin typeface="Cambria Math" panose="02040503050406030204" pitchFamily="18" charset="0"/>
                          </a:rPr>
                          <m:t>1+</m:t>
                        </m:r>
                        <m:r>
                          <a:rPr lang="en-US" sz="4400" b="0" i="1" smtClean="0">
                            <a:latin typeface="Cambria Math" panose="02040503050406030204" pitchFamily="18" charset="0"/>
                          </a:rPr>
                          <m:t>𝑟</m:t>
                        </m:r>
                      </m:num>
                      <m:den>
                        <m:r>
                          <a:rPr lang="en-US" sz="4400" b="0" i="1" smtClean="0">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𝑟</m:t>
                            </m:r>
                          </m:num>
                          <m:den>
                            <m:r>
                              <a:rPr lang="en-US" sz="4400" i="1">
                                <a:latin typeface="Cambria Math" panose="02040503050406030204" pitchFamily="18" charset="0"/>
                              </a:rPr>
                              <m:t>2</m:t>
                            </m:r>
                          </m:den>
                        </m:f>
                      </m:e>
                    </m:func>
                    <m:r>
                      <a:rPr lang="en-US" sz="4400" b="0" i="1" smtClean="0">
                        <a:latin typeface="Cambria Math" panose="02040503050406030204" pitchFamily="18" charset="0"/>
                      </a:rPr>
                      <m:t>−</m:t>
                    </m:r>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b="0" i="1" smtClean="0">
                            <a:latin typeface="Cambria Math" panose="02040503050406030204" pitchFamily="18" charset="0"/>
                          </a:rPr>
                          <m:t>−</m:t>
                        </m:r>
                        <m:r>
                          <a:rPr lang="en-US" sz="4400" i="1">
                            <a:latin typeface="Cambria Math" panose="02040503050406030204" pitchFamily="18" charset="0"/>
                          </a:rPr>
                          <m:t>𝑟</m:t>
                        </m:r>
                      </m:num>
                      <m:den>
                        <m:r>
                          <a:rPr lang="en-US" sz="4400" i="1">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m:t>
                            </m:r>
                            <m:r>
                              <a:rPr lang="en-US" sz="4400" i="1">
                                <a:latin typeface="Cambria Math" panose="02040503050406030204" pitchFamily="18" charset="0"/>
                              </a:rPr>
                              <m:t>𝑟</m:t>
                            </m:r>
                          </m:num>
                          <m:den>
                            <m:r>
                              <a:rPr lang="en-US" sz="4400" i="1">
                                <a:latin typeface="Cambria Math" panose="02040503050406030204" pitchFamily="18" charset="0"/>
                              </a:rPr>
                              <m:t>2</m:t>
                            </m:r>
                          </m:den>
                        </m:f>
                      </m:e>
                    </m:func>
                  </m:oMath>
                </a14:m>
                <a:r>
                  <a:rPr lang="en-US" sz="4400" dirty="0"/>
                  <a:t> </a:t>
                </a:r>
              </a:p>
            </p:txBody>
          </p:sp>
        </mc:Choice>
        <mc:Fallback>
          <p:sp>
            <p:nvSpPr>
              <p:cNvPr id="49" name="TextBox 48">
                <a:extLst>
                  <a:ext uri="{FF2B5EF4-FFF2-40B4-BE49-F238E27FC236}">
                    <a16:creationId xmlns:a16="http://schemas.microsoft.com/office/drawing/2014/main" id="{B12519EA-6720-BCC2-A3B5-767295E7B76C}"/>
                  </a:ext>
                </a:extLst>
              </p:cNvPr>
              <p:cNvSpPr txBox="1">
                <a:spLocks noRot="1" noChangeAspect="1" noMove="1" noResize="1" noEditPoints="1" noAdjustHandles="1" noChangeArrowheads="1" noChangeShapeType="1" noTextEdit="1"/>
              </p:cNvSpPr>
              <p:nvPr/>
            </p:nvSpPr>
            <p:spPr>
              <a:xfrm>
                <a:off x="5105412" y="2988389"/>
                <a:ext cx="6999480" cy="104842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2AABA85C-07DC-4D11-893E-2B170BE9EE81}"/>
                  </a:ext>
                </a:extLst>
              </p:cNvPr>
              <p:cNvSpPr txBox="1"/>
              <p:nvPr/>
            </p:nvSpPr>
            <p:spPr>
              <a:xfrm>
                <a:off x="6212319" y="1157429"/>
                <a:ext cx="1527854"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800" b="0" i="1" smtClean="0">
                          <a:latin typeface="Cambria Math" panose="02040503050406030204" pitchFamily="18" charset="0"/>
                        </a:rPr>
                        <m:t>𝑆</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e>
                      </m:d>
                    </m:oMath>
                  </m:oMathPara>
                </a14:m>
                <a:endParaRPr lang="en-US" sz="4800" dirty="0"/>
              </a:p>
            </p:txBody>
          </p:sp>
        </mc:Choice>
        <mc:Fallback>
          <p:sp>
            <p:nvSpPr>
              <p:cNvPr id="50" name="TextBox 49">
                <a:extLst>
                  <a:ext uri="{FF2B5EF4-FFF2-40B4-BE49-F238E27FC236}">
                    <a16:creationId xmlns:a16="http://schemas.microsoft.com/office/drawing/2014/main" id="{2AABA85C-07DC-4D11-893E-2B170BE9EE81}"/>
                  </a:ext>
                </a:extLst>
              </p:cNvPr>
              <p:cNvSpPr txBox="1">
                <a:spLocks noRot="1" noChangeAspect="1" noMove="1" noResize="1" noEditPoints="1" noAdjustHandles="1" noChangeArrowheads="1" noChangeShapeType="1" noTextEdit="1"/>
              </p:cNvSpPr>
              <p:nvPr/>
            </p:nvSpPr>
            <p:spPr>
              <a:xfrm>
                <a:off x="6212319" y="1157429"/>
                <a:ext cx="1527854" cy="830997"/>
              </a:xfrm>
              <a:prstGeom prst="rect">
                <a:avLst/>
              </a:prstGeom>
              <a:blipFill>
                <a:blip r:embed="rId5"/>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1862510C-2693-A8F4-CA59-B5BF6CF3C57B}"/>
              </a:ext>
            </a:extLst>
          </p:cNvPr>
          <p:cNvGrpSpPr/>
          <p:nvPr/>
        </p:nvGrpSpPr>
        <p:grpSpPr>
          <a:xfrm>
            <a:off x="1053900" y="1555785"/>
            <a:ext cx="3577708" cy="3577703"/>
            <a:chOff x="2521889" y="2808131"/>
            <a:chExt cx="1916265" cy="1916264"/>
          </a:xfrm>
        </p:grpSpPr>
        <p:sp>
          <p:nvSpPr>
            <p:cNvPr id="52" name="Oval 51">
              <a:extLst>
                <a:ext uri="{FF2B5EF4-FFF2-40B4-BE49-F238E27FC236}">
                  <a16:creationId xmlns:a16="http://schemas.microsoft.com/office/drawing/2014/main" id="{C47E0C44-6E4F-02D1-3850-857E8D263BDE}"/>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Oval 31">
              <a:extLst>
                <a:ext uri="{FF2B5EF4-FFF2-40B4-BE49-F238E27FC236}">
                  <a16:creationId xmlns:a16="http://schemas.microsoft.com/office/drawing/2014/main" id="{B1783656-B943-9A38-B199-D27ADD6FB6FC}"/>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3374847F-1BAF-16C2-44FC-5386848E66A2}"/>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55" name="Straight Connector 54">
            <a:extLst>
              <a:ext uri="{FF2B5EF4-FFF2-40B4-BE49-F238E27FC236}">
                <a16:creationId xmlns:a16="http://schemas.microsoft.com/office/drawing/2014/main" id="{056A8AF6-2DF9-672D-1672-3780C0E2E312}"/>
              </a:ext>
            </a:extLst>
          </p:cNvPr>
          <p:cNvCxnSpPr>
            <a:cxnSpLocks/>
          </p:cNvCxnSpPr>
          <p:nvPr/>
        </p:nvCxnSpPr>
        <p:spPr>
          <a:xfrm>
            <a:off x="2842754"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56" name="Right Brace 55">
            <a:extLst>
              <a:ext uri="{FF2B5EF4-FFF2-40B4-BE49-F238E27FC236}">
                <a16:creationId xmlns:a16="http://schemas.microsoft.com/office/drawing/2014/main" id="{147E229F-DC8A-CFA7-FE73-77044A4030BC}"/>
              </a:ext>
            </a:extLst>
          </p:cNvPr>
          <p:cNvSpPr/>
          <p:nvPr/>
        </p:nvSpPr>
        <p:spPr>
          <a:xfrm flipH="1">
            <a:off x="2658629"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0CC4514C-6F18-AEDF-2A77-CD07D7831CE4}"/>
                  </a:ext>
                </a:extLst>
              </p:cNvPr>
              <p:cNvSpPr txBox="1"/>
              <p:nvPr/>
            </p:nvSpPr>
            <p:spPr>
              <a:xfrm>
                <a:off x="2817031" y="1656960"/>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p:sp>
            <p:nvSpPr>
              <p:cNvPr id="58" name="TextBox 57">
                <a:extLst>
                  <a:ext uri="{FF2B5EF4-FFF2-40B4-BE49-F238E27FC236}">
                    <a16:creationId xmlns:a16="http://schemas.microsoft.com/office/drawing/2014/main" id="{0CC4514C-6F18-AEDF-2A77-CD07D7831CE4}"/>
                  </a:ext>
                </a:extLst>
              </p:cNvPr>
              <p:cNvSpPr txBox="1">
                <a:spLocks noRot="1" noChangeAspect="1" noMove="1" noResize="1" noEditPoints="1" noAdjustHandles="1" noChangeArrowheads="1" noChangeShapeType="1" noTextEdit="1"/>
              </p:cNvSpPr>
              <p:nvPr/>
            </p:nvSpPr>
            <p:spPr>
              <a:xfrm>
                <a:off x="2817031" y="1656960"/>
                <a:ext cx="430502" cy="461665"/>
              </a:xfrm>
              <a:prstGeom prst="rect">
                <a:avLst/>
              </a:prstGeom>
              <a:blipFill>
                <a:blip r:embed="rId6"/>
                <a:stretch>
                  <a:fillRect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60C4E1F7-4962-5AE4-3B05-2D33519D0D98}"/>
                  </a:ext>
                </a:extLst>
              </p:cNvPr>
              <p:cNvSpPr txBox="1"/>
              <p:nvPr/>
            </p:nvSpPr>
            <p:spPr>
              <a:xfrm>
                <a:off x="2227383"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p:sp>
            <p:nvSpPr>
              <p:cNvPr id="59" name="TextBox 58">
                <a:extLst>
                  <a:ext uri="{FF2B5EF4-FFF2-40B4-BE49-F238E27FC236}">
                    <a16:creationId xmlns:a16="http://schemas.microsoft.com/office/drawing/2014/main" id="{60C4E1F7-4962-5AE4-3B05-2D33519D0D98}"/>
                  </a:ext>
                </a:extLst>
              </p:cNvPr>
              <p:cNvSpPr txBox="1">
                <a:spLocks noRot="1" noChangeAspect="1" noMove="1" noResize="1" noEditPoints="1" noAdjustHandles="1" noChangeArrowheads="1" noChangeShapeType="1" noTextEdit="1"/>
              </p:cNvSpPr>
              <p:nvPr/>
            </p:nvSpPr>
            <p:spPr>
              <a:xfrm>
                <a:off x="2227383" y="1508317"/>
                <a:ext cx="557973" cy="461665"/>
              </a:xfrm>
              <a:prstGeom prst="rect">
                <a:avLst/>
              </a:prstGeom>
              <a:blipFill>
                <a:blip r:embed="rId7"/>
                <a:stretch>
                  <a:fillRect b="-1052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CC352445-6D04-BBF9-ECC8-254A8A14B4A7}"/>
                  </a:ext>
                </a:extLst>
              </p:cNvPr>
              <p:cNvSpPr txBox="1"/>
              <p:nvPr/>
            </p:nvSpPr>
            <p:spPr>
              <a:xfrm>
                <a:off x="2227383"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p:sp>
            <p:nvSpPr>
              <p:cNvPr id="60" name="TextBox 59">
                <a:extLst>
                  <a:ext uri="{FF2B5EF4-FFF2-40B4-BE49-F238E27FC236}">
                    <a16:creationId xmlns:a16="http://schemas.microsoft.com/office/drawing/2014/main" id="{CC352445-6D04-BBF9-ECC8-254A8A14B4A7}"/>
                  </a:ext>
                </a:extLst>
              </p:cNvPr>
              <p:cNvSpPr txBox="1">
                <a:spLocks noRot="1" noChangeAspect="1" noMove="1" noResize="1" noEditPoints="1" noAdjustHandles="1" noChangeArrowheads="1" noChangeShapeType="1" noTextEdit="1"/>
              </p:cNvSpPr>
              <p:nvPr/>
            </p:nvSpPr>
            <p:spPr>
              <a:xfrm>
                <a:off x="2227383" y="3321877"/>
                <a:ext cx="550856" cy="461665"/>
              </a:xfrm>
              <a:prstGeom prst="rect">
                <a:avLst/>
              </a:prstGeom>
              <a:blipFill>
                <a:blip r:embed="rId8"/>
                <a:stretch>
                  <a:fillRect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1" name="TextBox 60">
                <a:extLst>
                  <a:ext uri="{FF2B5EF4-FFF2-40B4-BE49-F238E27FC236}">
                    <a16:creationId xmlns:a16="http://schemas.microsoft.com/office/drawing/2014/main" id="{E06D0794-C996-5D47-8C5D-D5AEE8FF11AD}"/>
                  </a:ext>
                </a:extLst>
              </p:cNvPr>
              <p:cNvSpPr txBox="1"/>
              <p:nvPr/>
            </p:nvSpPr>
            <p:spPr>
              <a:xfrm>
                <a:off x="2578740"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p:sp>
            <p:nvSpPr>
              <p:cNvPr id="61" name="TextBox 60">
                <a:extLst>
                  <a:ext uri="{FF2B5EF4-FFF2-40B4-BE49-F238E27FC236}">
                    <a16:creationId xmlns:a16="http://schemas.microsoft.com/office/drawing/2014/main" id="{E06D0794-C996-5D47-8C5D-D5AEE8FF11AD}"/>
                  </a:ext>
                </a:extLst>
              </p:cNvPr>
              <p:cNvSpPr txBox="1">
                <a:spLocks noRot="1" noChangeAspect="1" noMove="1" noResize="1" noEditPoints="1" noAdjustHandles="1" noChangeArrowheads="1" noChangeShapeType="1" noTextEdit="1"/>
              </p:cNvSpPr>
              <p:nvPr/>
            </p:nvSpPr>
            <p:spPr>
              <a:xfrm>
                <a:off x="2578740" y="5087963"/>
                <a:ext cx="553164"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2" name="TextBox 61">
                <a:extLst>
                  <a:ext uri="{FF2B5EF4-FFF2-40B4-BE49-F238E27FC236}">
                    <a16:creationId xmlns:a16="http://schemas.microsoft.com/office/drawing/2014/main" id="{FF1B31E6-AAE3-22B7-050F-1C617FBB0448}"/>
                  </a:ext>
                </a:extLst>
              </p:cNvPr>
              <p:cNvSpPr txBox="1"/>
              <p:nvPr/>
            </p:nvSpPr>
            <p:spPr>
              <a:xfrm>
                <a:off x="2578740"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p:sp>
            <p:nvSpPr>
              <p:cNvPr id="62" name="TextBox 61">
                <a:extLst>
                  <a:ext uri="{FF2B5EF4-FFF2-40B4-BE49-F238E27FC236}">
                    <a16:creationId xmlns:a16="http://schemas.microsoft.com/office/drawing/2014/main" id="{FF1B31E6-AAE3-22B7-050F-1C617FBB0448}"/>
                  </a:ext>
                </a:extLst>
              </p:cNvPr>
              <p:cNvSpPr txBox="1">
                <a:spLocks noRot="1" noChangeAspect="1" noMove="1" noResize="1" noEditPoints="1" noAdjustHandles="1" noChangeArrowheads="1" noChangeShapeType="1" noTextEdit="1"/>
              </p:cNvSpPr>
              <p:nvPr/>
            </p:nvSpPr>
            <p:spPr>
              <a:xfrm>
                <a:off x="2578740" y="1049363"/>
                <a:ext cx="546047" cy="461665"/>
              </a:xfrm>
              <a:prstGeom prst="rect">
                <a:avLst/>
              </a:prstGeom>
              <a:blipFill>
                <a:blip r:embed="rId10"/>
                <a:stretch>
                  <a:fillRect b="-1316"/>
                </a:stretch>
              </a:blipFill>
            </p:spPr>
            <p:txBody>
              <a:bodyPr/>
              <a:lstStyle/>
              <a:p>
                <a:r>
                  <a:rPr lang="en-US">
                    <a:noFill/>
                  </a:rPr>
                  <a:t> </a:t>
                </a:r>
              </a:p>
            </p:txBody>
          </p:sp>
        </mc:Fallback>
      </mc:AlternateContent>
      <p:sp>
        <p:nvSpPr>
          <p:cNvPr id="63" name="Right Brace 62">
            <a:extLst>
              <a:ext uri="{FF2B5EF4-FFF2-40B4-BE49-F238E27FC236}">
                <a16:creationId xmlns:a16="http://schemas.microsoft.com/office/drawing/2014/main" id="{FEE9EBEA-1C8D-E45C-D7DC-C4497CA4336E}"/>
              </a:ext>
            </a:extLst>
          </p:cNvPr>
          <p:cNvSpPr/>
          <p:nvPr/>
        </p:nvSpPr>
        <p:spPr>
          <a:xfrm flipH="1">
            <a:off x="2658629"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7" name="Oval 56">
            <a:extLst>
              <a:ext uri="{FF2B5EF4-FFF2-40B4-BE49-F238E27FC236}">
                <a16:creationId xmlns:a16="http://schemas.microsoft.com/office/drawing/2014/main" id="{D6D8A295-375E-4E09-7822-11808BD4BCBB}"/>
              </a:ext>
            </a:extLst>
          </p:cNvPr>
          <p:cNvSpPr/>
          <p:nvPr/>
        </p:nvSpPr>
        <p:spPr>
          <a:xfrm>
            <a:off x="2793071"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6855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46" grpId="0"/>
      <p:bldP spid="48" grpId="0"/>
      <p:bldP spid="49" grpId="0"/>
      <p:bldP spid="50" grpId="0"/>
      <p:bldP spid="56" grpId="0" animBg="1"/>
      <p:bldP spid="59" grpId="0"/>
      <p:bldP spid="60" grpId="0"/>
      <p:bldP spid="61" grpId="0"/>
      <p:bldP spid="62" grpId="0"/>
      <p:bldP spid="6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496E6-8E8B-43DA-723A-7E740AA679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5DD74A-9E8C-34EF-E147-E501D4C60D20}"/>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p:grpSp>
        <p:nvGrpSpPr>
          <p:cNvPr id="5" name="Group 4">
            <a:extLst>
              <a:ext uri="{FF2B5EF4-FFF2-40B4-BE49-F238E27FC236}">
                <a16:creationId xmlns:a16="http://schemas.microsoft.com/office/drawing/2014/main" id="{F8613324-7DE7-7644-5E35-136F0B7A1FB1}"/>
              </a:ext>
            </a:extLst>
          </p:cNvPr>
          <p:cNvGrpSpPr/>
          <p:nvPr/>
        </p:nvGrpSpPr>
        <p:grpSpPr>
          <a:xfrm>
            <a:off x="1037397" y="1511028"/>
            <a:ext cx="3577706" cy="3538485"/>
            <a:chOff x="1202189" y="1744892"/>
            <a:chExt cx="3077365" cy="3077101"/>
          </a:xfrm>
        </p:grpSpPr>
        <p:cxnSp>
          <p:nvCxnSpPr>
            <p:cNvPr id="6" name="Straight Connector 5">
              <a:extLst>
                <a:ext uri="{FF2B5EF4-FFF2-40B4-BE49-F238E27FC236}">
                  <a16:creationId xmlns:a16="http://schemas.microsoft.com/office/drawing/2014/main" id="{790682BA-7997-EBDB-26CD-703E428F7835}"/>
                </a:ext>
              </a:extLst>
            </p:cNvPr>
            <p:cNvCxnSpPr>
              <a:stCxn id="19" idx="0"/>
              <a:endCxn id="19" idx="2"/>
            </p:cNvCxnSpPr>
            <p:nvPr/>
          </p:nvCxnSpPr>
          <p:spPr>
            <a:xfrm>
              <a:off x="2740735" y="1744892"/>
              <a:ext cx="0" cy="3077101"/>
            </a:xfrm>
            <a:prstGeom prst="line">
              <a:avLst/>
            </a:prstGeom>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824C9196-3668-3366-2D82-9286A2E9EA79}"/>
                </a:ext>
              </a:extLst>
            </p:cNvPr>
            <p:cNvGrpSpPr/>
            <p:nvPr/>
          </p:nvGrpSpPr>
          <p:grpSpPr>
            <a:xfrm>
              <a:off x="1202189" y="1744892"/>
              <a:ext cx="3077365" cy="3077101"/>
              <a:chOff x="2521889" y="2808131"/>
              <a:chExt cx="1916430" cy="1916266"/>
            </a:xfrm>
          </p:grpSpPr>
          <p:sp>
            <p:nvSpPr>
              <p:cNvPr id="11" name="Oval 10">
                <a:extLst>
                  <a:ext uri="{FF2B5EF4-FFF2-40B4-BE49-F238E27FC236}">
                    <a16:creationId xmlns:a16="http://schemas.microsoft.com/office/drawing/2014/main" id="{181C1B7D-789E-3E45-BB98-CA40F15CCEF3}"/>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3200"/>
              </a:p>
            </p:txBody>
          </p:sp>
          <p:sp>
            <p:nvSpPr>
              <p:cNvPr id="12" name="Oval 31">
                <a:extLst>
                  <a:ext uri="{FF2B5EF4-FFF2-40B4-BE49-F238E27FC236}">
                    <a16:creationId xmlns:a16="http://schemas.microsoft.com/office/drawing/2014/main" id="{250D64A8-BDBB-FFE0-8CAB-08A12804D07C}"/>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3" name="Oval 12">
                <a:extLst>
                  <a:ext uri="{FF2B5EF4-FFF2-40B4-BE49-F238E27FC236}">
                    <a16:creationId xmlns:a16="http://schemas.microsoft.com/office/drawing/2014/main" id="{B640C1F2-CB6D-6076-AE35-DC22BC0D4710}"/>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nvGrpSpPr>
              <p:cNvPr id="14" name="Group 13">
                <a:extLst>
                  <a:ext uri="{FF2B5EF4-FFF2-40B4-BE49-F238E27FC236}">
                    <a16:creationId xmlns:a16="http://schemas.microsoft.com/office/drawing/2014/main" id="{40062561-544E-7359-5497-CF4BE54E0DD2}"/>
                  </a:ext>
                </a:extLst>
              </p:cNvPr>
              <p:cNvGrpSpPr/>
              <p:nvPr/>
            </p:nvGrpSpPr>
            <p:grpSpPr>
              <a:xfrm>
                <a:off x="2923755" y="2808131"/>
                <a:ext cx="1112528" cy="1916266"/>
                <a:chOff x="2734489" y="2655731"/>
                <a:chExt cx="1186260" cy="1916266"/>
              </a:xfrm>
            </p:grpSpPr>
            <p:sp>
              <p:nvSpPr>
                <p:cNvPr id="18" name="Oval 17">
                  <a:extLst>
                    <a:ext uri="{FF2B5EF4-FFF2-40B4-BE49-F238E27FC236}">
                      <a16:creationId xmlns:a16="http://schemas.microsoft.com/office/drawing/2014/main" id="{E0FE49E5-150A-C38C-FD82-279ECCFECF86}"/>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9" name="Oval 9">
                  <a:extLst>
                    <a:ext uri="{FF2B5EF4-FFF2-40B4-BE49-F238E27FC236}">
                      <a16:creationId xmlns:a16="http://schemas.microsoft.com/office/drawing/2014/main" id="{13808E36-DCDB-E82A-2E95-163EACE48A45}"/>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nvGrpSpPr>
              <p:cNvPr id="15" name="Group 14">
                <a:extLst>
                  <a:ext uri="{FF2B5EF4-FFF2-40B4-BE49-F238E27FC236}">
                    <a16:creationId xmlns:a16="http://schemas.microsoft.com/office/drawing/2014/main" id="{9AC5E856-0736-4DCA-C900-0FCC972BBB54}"/>
                  </a:ext>
                </a:extLst>
              </p:cNvPr>
              <p:cNvGrpSpPr/>
              <p:nvPr/>
            </p:nvGrpSpPr>
            <p:grpSpPr>
              <a:xfrm rot="16200000">
                <a:off x="2923922" y="2810085"/>
                <a:ext cx="1112528" cy="1916266"/>
                <a:chOff x="2734489" y="2655731"/>
                <a:chExt cx="1186260" cy="1916266"/>
              </a:xfrm>
            </p:grpSpPr>
            <p:sp>
              <p:nvSpPr>
                <p:cNvPr id="16" name="Oval 15">
                  <a:extLst>
                    <a:ext uri="{FF2B5EF4-FFF2-40B4-BE49-F238E27FC236}">
                      <a16:creationId xmlns:a16="http://schemas.microsoft.com/office/drawing/2014/main" id="{08FC7BE9-2521-EEA3-A3C2-274B1088CAEA}"/>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lt1"/>
                    </a:solidFill>
                  </a:endParaRPr>
                </a:p>
              </p:txBody>
            </p:sp>
            <p:sp>
              <p:nvSpPr>
                <p:cNvPr id="17" name="Oval 9">
                  <a:extLst>
                    <a:ext uri="{FF2B5EF4-FFF2-40B4-BE49-F238E27FC236}">
                      <a16:creationId xmlns:a16="http://schemas.microsoft.com/office/drawing/2014/main" id="{3EF429FE-E0A6-1BEC-C35B-514DE71EAD9C}"/>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solidFill>
                      <a:schemeClr val="lt1"/>
                    </a:solidFill>
                  </a:endParaRPr>
                </a:p>
              </p:txBody>
            </p:sp>
          </p:grpSp>
        </p:grpSp>
      </p:grpSp>
      <p:sp>
        <p:nvSpPr>
          <p:cNvPr id="22" name="Oval 21">
            <a:extLst>
              <a:ext uri="{FF2B5EF4-FFF2-40B4-BE49-F238E27FC236}">
                <a16:creationId xmlns:a16="http://schemas.microsoft.com/office/drawing/2014/main" id="{1F107EF0-F317-7102-D754-93AB473CAB75}"/>
              </a:ext>
            </a:extLst>
          </p:cNvPr>
          <p:cNvSpPr/>
          <p:nvPr/>
        </p:nvSpPr>
        <p:spPr>
          <a:xfrm>
            <a:off x="2779829" y="2023379"/>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AE7CF28A-7077-E7B4-B292-841E922FB62A}"/>
              </a:ext>
            </a:extLst>
          </p:cNvPr>
          <p:cNvGrpSpPr/>
          <p:nvPr/>
        </p:nvGrpSpPr>
        <p:grpSpPr>
          <a:xfrm>
            <a:off x="6403959" y="1555785"/>
            <a:ext cx="3577708" cy="3577703"/>
            <a:chOff x="2521889" y="2808131"/>
            <a:chExt cx="1916265" cy="1916264"/>
          </a:xfrm>
        </p:grpSpPr>
        <p:sp>
          <p:nvSpPr>
            <p:cNvPr id="24" name="Oval 23">
              <a:extLst>
                <a:ext uri="{FF2B5EF4-FFF2-40B4-BE49-F238E27FC236}">
                  <a16:creationId xmlns:a16="http://schemas.microsoft.com/office/drawing/2014/main" id="{D5DD5AF8-B795-7A60-E99E-A86467A6212B}"/>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Oval 31">
              <a:extLst>
                <a:ext uri="{FF2B5EF4-FFF2-40B4-BE49-F238E27FC236}">
                  <a16:creationId xmlns:a16="http://schemas.microsoft.com/office/drawing/2014/main" id="{0C4607B5-65C7-308F-9E44-342CB3652605}"/>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73866154-1A37-1D38-6DF0-F37CF4BF75B5}"/>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27" name="Straight Connector 26">
            <a:extLst>
              <a:ext uri="{FF2B5EF4-FFF2-40B4-BE49-F238E27FC236}">
                <a16:creationId xmlns:a16="http://schemas.microsoft.com/office/drawing/2014/main" id="{56AC6D03-030B-7E72-5877-F1E28F0F62A6}"/>
              </a:ext>
            </a:extLst>
          </p:cNvPr>
          <p:cNvCxnSpPr>
            <a:cxnSpLocks/>
          </p:cNvCxnSpPr>
          <p:nvPr/>
        </p:nvCxnSpPr>
        <p:spPr>
          <a:xfrm>
            <a:off x="8192813" y="1555785"/>
            <a:ext cx="0" cy="3577703"/>
          </a:xfrm>
          <a:prstGeom prst="line">
            <a:avLst/>
          </a:prstGeom>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F22FCA9E-C2D4-AA9C-1D32-605FD1D34525}"/>
              </a:ext>
            </a:extLst>
          </p:cNvPr>
          <p:cNvSpPr/>
          <p:nvPr/>
        </p:nvSpPr>
        <p:spPr>
          <a:xfrm flipH="1">
            <a:off x="8008688" y="1578808"/>
            <a:ext cx="169816" cy="49410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Right Brace 32">
            <a:extLst>
              <a:ext uri="{FF2B5EF4-FFF2-40B4-BE49-F238E27FC236}">
                <a16:creationId xmlns:a16="http://schemas.microsoft.com/office/drawing/2014/main" id="{617C61CB-E140-D5F6-3D5C-F9E1745A289D}"/>
              </a:ext>
            </a:extLst>
          </p:cNvPr>
          <p:cNvSpPr/>
          <p:nvPr/>
        </p:nvSpPr>
        <p:spPr>
          <a:xfrm flipH="1">
            <a:off x="2628968" y="2093158"/>
            <a:ext cx="169816" cy="12514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Oval 29">
            <a:extLst>
              <a:ext uri="{FF2B5EF4-FFF2-40B4-BE49-F238E27FC236}">
                <a16:creationId xmlns:a16="http://schemas.microsoft.com/office/drawing/2014/main" id="{B54E8F16-113F-D7F1-C004-AB66C4C59615}"/>
              </a:ext>
            </a:extLst>
          </p:cNvPr>
          <p:cNvSpPr/>
          <p:nvPr/>
        </p:nvSpPr>
        <p:spPr>
          <a:xfrm>
            <a:off x="8143130" y="2043628"/>
            <a:ext cx="99060" cy="9906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3A43225E-66AF-8B28-9DC7-5F9A7895EA40}"/>
                  </a:ext>
                </a:extLst>
              </p:cNvPr>
              <p:cNvSpPr txBox="1"/>
              <p:nvPr/>
            </p:nvSpPr>
            <p:spPr>
              <a:xfrm>
                <a:off x="818313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p:sp>
            <p:nvSpPr>
              <p:cNvPr id="37" name="TextBox 36">
                <a:extLst>
                  <a:ext uri="{FF2B5EF4-FFF2-40B4-BE49-F238E27FC236}">
                    <a16:creationId xmlns:a16="http://schemas.microsoft.com/office/drawing/2014/main" id="{3A43225E-66AF-8B28-9DC7-5F9A7895EA40}"/>
                  </a:ext>
                </a:extLst>
              </p:cNvPr>
              <p:cNvSpPr txBox="1">
                <a:spLocks noRot="1" noChangeAspect="1" noMove="1" noResize="1" noEditPoints="1" noAdjustHandles="1" noChangeArrowheads="1" noChangeShapeType="1" noTextEdit="1"/>
              </p:cNvSpPr>
              <p:nvPr/>
            </p:nvSpPr>
            <p:spPr>
              <a:xfrm>
                <a:off x="8183132" y="1681023"/>
                <a:ext cx="430502" cy="461665"/>
              </a:xfrm>
              <a:prstGeom prst="rect">
                <a:avLst/>
              </a:prstGeom>
              <a:blipFill>
                <a:blip r:embed="rId2"/>
                <a:stretch>
                  <a:fillRect b="-10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138B1A30-DA91-4768-7099-2F9A009E77D7}"/>
                  </a:ext>
                </a:extLst>
              </p:cNvPr>
              <p:cNvSpPr txBox="1"/>
              <p:nvPr/>
            </p:nvSpPr>
            <p:spPr>
              <a:xfrm>
                <a:off x="2445272" y="1681023"/>
                <a:ext cx="43050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𝜌</m:t>
                      </m:r>
                    </m:oMath>
                  </m:oMathPara>
                </a14:m>
                <a:endParaRPr lang="en-US" sz="2400" dirty="0"/>
              </a:p>
            </p:txBody>
          </p:sp>
        </mc:Choice>
        <mc:Fallback>
          <p:sp>
            <p:nvSpPr>
              <p:cNvPr id="39" name="TextBox 38">
                <a:extLst>
                  <a:ext uri="{FF2B5EF4-FFF2-40B4-BE49-F238E27FC236}">
                    <a16:creationId xmlns:a16="http://schemas.microsoft.com/office/drawing/2014/main" id="{138B1A30-DA91-4768-7099-2F9A009E77D7}"/>
                  </a:ext>
                </a:extLst>
              </p:cNvPr>
              <p:cNvSpPr txBox="1">
                <a:spLocks noRot="1" noChangeAspect="1" noMove="1" noResize="1" noEditPoints="1" noAdjustHandles="1" noChangeArrowheads="1" noChangeShapeType="1" noTextEdit="1"/>
              </p:cNvSpPr>
              <p:nvPr/>
            </p:nvSpPr>
            <p:spPr>
              <a:xfrm>
                <a:off x="2445272" y="1681023"/>
                <a:ext cx="430502" cy="461665"/>
              </a:xfrm>
              <a:prstGeom prst="rect">
                <a:avLst/>
              </a:prstGeom>
              <a:blipFill>
                <a:blip r:embed="rId3"/>
                <a:stretch>
                  <a:fillRect b="-10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0E575EF-5300-089E-59C3-B3A454951464}"/>
                  </a:ext>
                </a:extLst>
              </p:cNvPr>
              <p:cNvSpPr txBox="1"/>
              <p:nvPr/>
            </p:nvSpPr>
            <p:spPr>
              <a:xfrm>
                <a:off x="261003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p:sp>
            <p:nvSpPr>
              <p:cNvPr id="40" name="TextBox 39">
                <a:extLst>
                  <a:ext uri="{FF2B5EF4-FFF2-40B4-BE49-F238E27FC236}">
                    <a16:creationId xmlns:a16="http://schemas.microsoft.com/office/drawing/2014/main" id="{E0E575EF-5300-089E-59C3-B3A454951464}"/>
                  </a:ext>
                </a:extLst>
              </p:cNvPr>
              <p:cNvSpPr txBox="1">
                <a:spLocks noRot="1" noChangeAspect="1" noMove="1" noResize="1" noEditPoints="1" noAdjustHandles="1" noChangeArrowheads="1" noChangeShapeType="1" noTextEdit="1"/>
              </p:cNvSpPr>
              <p:nvPr/>
            </p:nvSpPr>
            <p:spPr>
              <a:xfrm>
                <a:off x="2610039" y="5087963"/>
                <a:ext cx="553164" cy="461665"/>
              </a:xfrm>
              <a:prstGeom prst="rect">
                <a:avLst/>
              </a:prstGeom>
              <a:blipFill>
                <a:blip r:embed="rId4"/>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96944EAF-97E1-E27D-6E0F-A5116D11BD0D}"/>
                  </a:ext>
                </a:extLst>
              </p:cNvPr>
              <p:cNvSpPr txBox="1"/>
              <p:nvPr/>
            </p:nvSpPr>
            <p:spPr>
              <a:xfrm>
                <a:off x="261003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p:sp>
            <p:nvSpPr>
              <p:cNvPr id="41" name="TextBox 40">
                <a:extLst>
                  <a:ext uri="{FF2B5EF4-FFF2-40B4-BE49-F238E27FC236}">
                    <a16:creationId xmlns:a16="http://schemas.microsoft.com/office/drawing/2014/main" id="{96944EAF-97E1-E27D-6E0F-A5116D11BD0D}"/>
                  </a:ext>
                </a:extLst>
              </p:cNvPr>
              <p:cNvSpPr txBox="1">
                <a:spLocks noRot="1" noChangeAspect="1" noMove="1" noResize="1" noEditPoints="1" noAdjustHandles="1" noChangeArrowheads="1" noChangeShapeType="1" noTextEdit="1"/>
              </p:cNvSpPr>
              <p:nvPr/>
            </p:nvSpPr>
            <p:spPr>
              <a:xfrm>
                <a:off x="2610039" y="1049363"/>
                <a:ext cx="546047" cy="461665"/>
              </a:xfrm>
              <a:prstGeom prst="rect">
                <a:avLst/>
              </a:prstGeom>
              <a:blipFill>
                <a:blip r:embed="rId5"/>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6A6ED460-F23D-492E-A6CC-9463F3714A79}"/>
                  </a:ext>
                </a:extLst>
              </p:cNvPr>
              <p:cNvSpPr txBox="1"/>
              <p:nvPr/>
            </p:nvSpPr>
            <p:spPr>
              <a:xfrm>
                <a:off x="7577442" y="1508317"/>
                <a:ext cx="55797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2</m:t>
                          </m:r>
                        </m:sub>
                      </m:sSub>
                    </m:oMath>
                  </m:oMathPara>
                </a14:m>
                <a:endParaRPr lang="en-US" sz="2400" dirty="0"/>
              </a:p>
            </p:txBody>
          </p:sp>
        </mc:Choice>
        <mc:Fallback>
          <p:sp>
            <p:nvSpPr>
              <p:cNvPr id="42" name="TextBox 41">
                <a:extLst>
                  <a:ext uri="{FF2B5EF4-FFF2-40B4-BE49-F238E27FC236}">
                    <a16:creationId xmlns:a16="http://schemas.microsoft.com/office/drawing/2014/main" id="{6A6ED460-F23D-492E-A6CC-9463F3714A79}"/>
                  </a:ext>
                </a:extLst>
              </p:cNvPr>
              <p:cNvSpPr txBox="1">
                <a:spLocks noRot="1" noChangeAspect="1" noMove="1" noResize="1" noEditPoints="1" noAdjustHandles="1" noChangeArrowheads="1" noChangeShapeType="1" noTextEdit="1"/>
              </p:cNvSpPr>
              <p:nvPr/>
            </p:nvSpPr>
            <p:spPr>
              <a:xfrm>
                <a:off x="7577442" y="1508317"/>
                <a:ext cx="557973" cy="461665"/>
              </a:xfrm>
              <a:prstGeom prst="rect">
                <a:avLst/>
              </a:prstGeom>
              <a:blipFill>
                <a:blip r:embed="rId6"/>
                <a:stretch>
                  <a:fillRect b="-1052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0B63C9AD-AB0A-C73F-0608-C32BE92A53E6}"/>
                  </a:ext>
                </a:extLst>
              </p:cNvPr>
              <p:cNvSpPr txBox="1"/>
              <p:nvPr/>
            </p:nvSpPr>
            <p:spPr>
              <a:xfrm>
                <a:off x="7577442" y="3321877"/>
                <a:ext cx="55085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𝑝</m:t>
                          </m:r>
                        </m:e>
                        <m:sub>
                          <m:r>
                            <a:rPr lang="en-US" sz="2400" b="0" i="1" dirty="0" smtClean="0">
                              <a:latin typeface="Cambria Math" panose="02040503050406030204" pitchFamily="18" charset="0"/>
                            </a:rPr>
                            <m:t>1</m:t>
                          </m:r>
                        </m:sub>
                      </m:sSub>
                    </m:oMath>
                  </m:oMathPara>
                </a14:m>
                <a:endParaRPr lang="en-US" sz="2400" dirty="0"/>
              </a:p>
            </p:txBody>
          </p:sp>
        </mc:Choice>
        <mc:Fallback>
          <p:sp>
            <p:nvSpPr>
              <p:cNvPr id="43" name="TextBox 42">
                <a:extLst>
                  <a:ext uri="{FF2B5EF4-FFF2-40B4-BE49-F238E27FC236}">
                    <a16:creationId xmlns:a16="http://schemas.microsoft.com/office/drawing/2014/main" id="{0B63C9AD-AB0A-C73F-0608-C32BE92A53E6}"/>
                  </a:ext>
                </a:extLst>
              </p:cNvPr>
              <p:cNvSpPr txBox="1">
                <a:spLocks noRot="1" noChangeAspect="1" noMove="1" noResize="1" noEditPoints="1" noAdjustHandles="1" noChangeArrowheads="1" noChangeShapeType="1" noTextEdit="1"/>
              </p:cNvSpPr>
              <p:nvPr/>
            </p:nvSpPr>
            <p:spPr>
              <a:xfrm>
                <a:off x="7577442" y="3321877"/>
                <a:ext cx="550856" cy="461665"/>
              </a:xfrm>
              <a:prstGeom prst="rect">
                <a:avLst/>
              </a:prstGeom>
              <a:blipFill>
                <a:blip r:embed="rId7"/>
                <a:stretch>
                  <a:fillRect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64C7A3C3-D536-61FA-2C6A-5702CB7E277C}"/>
                  </a:ext>
                </a:extLst>
              </p:cNvPr>
              <p:cNvSpPr txBox="1"/>
              <p:nvPr/>
            </p:nvSpPr>
            <p:spPr>
              <a:xfrm>
                <a:off x="7928799" y="5087963"/>
                <a:ext cx="5531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2</m:t>
                          </m:r>
                        </m:sub>
                      </m:sSub>
                    </m:oMath>
                  </m:oMathPara>
                </a14:m>
                <a:endParaRPr lang="en-US" sz="2400" dirty="0"/>
              </a:p>
            </p:txBody>
          </p:sp>
        </mc:Choice>
        <mc:Fallback>
          <p:sp>
            <p:nvSpPr>
              <p:cNvPr id="44" name="TextBox 43">
                <a:extLst>
                  <a:ext uri="{FF2B5EF4-FFF2-40B4-BE49-F238E27FC236}">
                    <a16:creationId xmlns:a16="http://schemas.microsoft.com/office/drawing/2014/main" id="{64C7A3C3-D536-61FA-2C6A-5702CB7E277C}"/>
                  </a:ext>
                </a:extLst>
              </p:cNvPr>
              <p:cNvSpPr txBox="1">
                <a:spLocks noRot="1" noChangeAspect="1" noMove="1" noResize="1" noEditPoints="1" noAdjustHandles="1" noChangeArrowheads="1" noChangeShapeType="1" noTextEdit="1"/>
              </p:cNvSpPr>
              <p:nvPr/>
            </p:nvSpPr>
            <p:spPr>
              <a:xfrm>
                <a:off x="7928799" y="5087963"/>
                <a:ext cx="553164"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685D9870-5FBE-2F0F-EFE5-A9E3F8317B68}"/>
                  </a:ext>
                </a:extLst>
              </p:cNvPr>
              <p:cNvSpPr txBox="1"/>
              <p:nvPr/>
            </p:nvSpPr>
            <p:spPr>
              <a:xfrm>
                <a:off x="7928799" y="1049363"/>
                <a:ext cx="54604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𝑏</m:t>
                          </m:r>
                        </m:e>
                        <m:sub>
                          <m:r>
                            <a:rPr lang="en-US" sz="2400" b="0" i="1" dirty="0" smtClean="0">
                              <a:latin typeface="Cambria Math" panose="02040503050406030204" pitchFamily="18" charset="0"/>
                            </a:rPr>
                            <m:t>1</m:t>
                          </m:r>
                        </m:sub>
                      </m:sSub>
                    </m:oMath>
                  </m:oMathPara>
                </a14:m>
                <a:endParaRPr lang="en-US" sz="2400" dirty="0"/>
              </a:p>
            </p:txBody>
          </p:sp>
        </mc:Choice>
        <mc:Fallback>
          <p:sp>
            <p:nvSpPr>
              <p:cNvPr id="45" name="TextBox 44">
                <a:extLst>
                  <a:ext uri="{FF2B5EF4-FFF2-40B4-BE49-F238E27FC236}">
                    <a16:creationId xmlns:a16="http://schemas.microsoft.com/office/drawing/2014/main" id="{685D9870-5FBE-2F0F-EFE5-A9E3F8317B68}"/>
                  </a:ext>
                </a:extLst>
              </p:cNvPr>
              <p:cNvSpPr txBox="1">
                <a:spLocks noRot="1" noChangeAspect="1" noMove="1" noResize="1" noEditPoints="1" noAdjustHandles="1" noChangeArrowheads="1" noChangeShapeType="1" noTextEdit="1"/>
              </p:cNvSpPr>
              <p:nvPr/>
            </p:nvSpPr>
            <p:spPr>
              <a:xfrm>
                <a:off x="7928799" y="1049363"/>
                <a:ext cx="546047" cy="461665"/>
              </a:xfrm>
              <a:prstGeom prst="rect">
                <a:avLst/>
              </a:prstGeom>
              <a:blipFill>
                <a:blip r:embed="rId9"/>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45BDC70F-FDB1-3545-A295-D333947A94FF}"/>
                  </a:ext>
                </a:extLst>
              </p:cNvPr>
              <p:cNvSpPr txBox="1"/>
              <p:nvPr/>
            </p:nvSpPr>
            <p:spPr>
              <a:xfrm>
                <a:off x="664937" y="5530157"/>
                <a:ext cx="8259569" cy="1048429"/>
              </a:xfrm>
              <a:prstGeom prst="rect">
                <a:avLst/>
              </a:prstGeom>
              <a:noFill/>
            </p:spPr>
            <p:txBody>
              <a:bodyPr wrap="none" rtlCol="0">
                <a:spAutoFit/>
              </a:bodyPr>
              <a:lstStyle/>
              <a:p>
                <a:pPr/>
                <a14:m>
                  <m:oMath xmlns:m="http://schemas.openxmlformats.org/officeDocument/2006/math">
                    <m:r>
                      <a:rPr lang="en-US" sz="4400" b="0" i="1" smtClean="0">
                        <a:latin typeface="Cambria Math" panose="02040503050406030204" pitchFamily="18" charset="0"/>
                      </a:rPr>
                      <m:t>𝑆</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𝜌</m:t>
                        </m:r>
                      </m:e>
                    </m:d>
                    <m:r>
                      <a:rPr lang="en-US" sz="4400" i="1">
                        <a:latin typeface="Cambria Math" panose="02040503050406030204" pitchFamily="18" charset="0"/>
                      </a:rPr>
                      <m:t>=</m:t>
                    </m:r>
                    <m:r>
                      <a:rPr lang="en-US" sz="4400" b="0" i="1" smtClean="0">
                        <a:latin typeface="Cambria Math" panose="02040503050406030204" pitchFamily="18" charset="0"/>
                      </a:rPr>
                      <m:t>−</m:t>
                    </m:r>
                    <m:f>
                      <m:fPr>
                        <m:ctrlPr>
                          <a:rPr lang="en-US" sz="4400" b="0" i="1" smtClean="0">
                            <a:latin typeface="Cambria Math" panose="02040503050406030204" pitchFamily="18" charset="0"/>
                          </a:rPr>
                        </m:ctrlPr>
                      </m:fPr>
                      <m:num>
                        <m:r>
                          <a:rPr lang="en-US" sz="4400" b="0" i="1" smtClean="0">
                            <a:latin typeface="Cambria Math" panose="02040503050406030204" pitchFamily="18" charset="0"/>
                          </a:rPr>
                          <m:t>1+</m:t>
                        </m:r>
                        <m:r>
                          <a:rPr lang="en-US" sz="4400" b="0" i="1" smtClean="0">
                            <a:latin typeface="Cambria Math" panose="02040503050406030204" pitchFamily="18" charset="0"/>
                          </a:rPr>
                          <m:t>𝑟</m:t>
                        </m:r>
                      </m:num>
                      <m:den>
                        <m:r>
                          <a:rPr lang="en-US" sz="4400" b="0" i="1" smtClean="0">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𝑟</m:t>
                            </m:r>
                          </m:num>
                          <m:den>
                            <m:r>
                              <a:rPr lang="en-US" sz="4400" i="1">
                                <a:latin typeface="Cambria Math" panose="02040503050406030204" pitchFamily="18" charset="0"/>
                              </a:rPr>
                              <m:t>2</m:t>
                            </m:r>
                          </m:den>
                        </m:f>
                      </m:e>
                    </m:func>
                    <m:r>
                      <a:rPr lang="en-US" sz="4400" b="0" i="1" smtClean="0">
                        <a:latin typeface="Cambria Math" panose="02040503050406030204" pitchFamily="18" charset="0"/>
                      </a:rPr>
                      <m:t>−</m:t>
                    </m:r>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b="0" i="1" smtClean="0">
                            <a:latin typeface="Cambria Math" panose="02040503050406030204" pitchFamily="18" charset="0"/>
                          </a:rPr>
                          <m:t>−</m:t>
                        </m:r>
                        <m:r>
                          <a:rPr lang="en-US" sz="4400" i="1">
                            <a:latin typeface="Cambria Math" panose="02040503050406030204" pitchFamily="18" charset="0"/>
                          </a:rPr>
                          <m:t>𝑟</m:t>
                        </m:r>
                      </m:num>
                      <m:den>
                        <m:r>
                          <a:rPr lang="en-US" sz="4400" i="1">
                            <a:latin typeface="Cambria Math" panose="02040503050406030204" pitchFamily="18" charset="0"/>
                          </a:rPr>
                          <m:t>2</m:t>
                        </m:r>
                      </m:den>
                    </m:f>
                    <m:func>
                      <m:funcPr>
                        <m:ctrlPr>
                          <a:rPr lang="en-US" sz="4400" b="0" i="1" smtClean="0">
                            <a:latin typeface="Cambria Math" panose="02040503050406030204" pitchFamily="18" charset="0"/>
                          </a:rPr>
                        </m:ctrlPr>
                      </m:funcPr>
                      <m:fName>
                        <m:r>
                          <m:rPr>
                            <m:sty m:val="p"/>
                          </m:rPr>
                          <a:rPr lang="en-US" sz="4400" b="0" i="0" smtClean="0">
                            <a:latin typeface="Cambria Math" panose="02040503050406030204" pitchFamily="18" charset="0"/>
                          </a:rPr>
                          <m:t>log</m:t>
                        </m:r>
                      </m:fName>
                      <m:e>
                        <m:f>
                          <m:fPr>
                            <m:ctrlPr>
                              <a:rPr lang="en-US" sz="4400" i="1">
                                <a:latin typeface="Cambria Math" panose="02040503050406030204" pitchFamily="18" charset="0"/>
                              </a:rPr>
                            </m:ctrlPr>
                          </m:fPr>
                          <m:num>
                            <m:r>
                              <a:rPr lang="en-US" sz="4400" i="1">
                                <a:latin typeface="Cambria Math" panose="02040503050406030204" pitchFamily="18" charset="0"/>
                              </a:rPr>
                              <m:t>1</m:t>
                            </m:r>
                            <m:r>
                              <a:rPr lang="en-US" sz="4400" i="1">
                                <a:latin typeface="Cambria Math" panose="02040503050406030204" pitchFamily="18" charset="0"/>
                              </a:rPr>
                              <m:t>−</m:t>
                            </m:r>
                            <m:r>
                              <a:rPr lang="en-US" sz="4400" i="1">
                                <a:latin typeface="Cambria Math" panose="02040503050406030204" pitchFamily="18" charset="0"/>
                              </a:rPr>
                              <m:t>𝑟</m:t>
                            </m:r>
                          </m:num>
                          <m:den>
                            <m:r>
                              <a:rPr lang="en-US" sz="4400" i="1">
                                <a:latin typeface="Cambria Math" panose="02040503050406030204" pitchFamily="18" charset="0"/>
                              </a:rPr>
                              <m:t>2</m:t>
                            </m:r>
                          </m:den>
                        </m:f>
                      </m:e>
                    </m:func>
                  </m:oMath>
                </a14:m>
                <a:r>
                  <a:rPr lang="en-US" sz="4400" dirty="0"/>
                  <a:t> </a:t>
                </a:r>
              </a:p>
            </p:txBody>
          </p:sp>
        </mc:Choice>
        <mc:Fallback>
          <p:sp>
            <p:nvSpPr>
              <p:cNvPr id="46" name="TextBox 45">
                <a:extLst>
                  <a:ext uri="{FF2B5EF4-FFF2-40B4-BE49-F238E27FC236}">
                    <a16:creationId xmlns:a16="http://schemas.microsoft.com/office/drawing/2014/main" id="{45BDC70F-FDB1-3545-A295-D333947A94FF}"/>
                  </a:ext>
                </a:extLst>
              </p:cNvPr>
              <p:cNvSpPr txBox="1">
                <a:spLocks noRot="1" noChangeAspect="1" noMove="1" noResize="1" noEditPoints="1" noAdjustHandles="1" noChangeArrowheads="1" noChangeShapeType="1" noTextEdit="1"/>
              </p:cNvSpPr>
              <p:nvPr/>
            </p:nvSpPr>
            <p:spPr>
              <a:xfrm>
                <a:off x="664937" y="5530157"/>
                <a:ext cx="8259569" cy="1048429"/>
              </a:xfrm>
              <a:prstGeom prst="rect">
                <a:avLst/>
              </a:prstGeom>
              <a:blipFill>
                <a:blip r:embed="rId10"/>
                <a:stretch>
                  <a:fillRect/>
                </a:stretch>
              </a:blipFill>
            </p:spPr>
            <p:txBody>
              <a:bodyPr/>
              <a:lstStyle/>
              <a:p>
                <a:r>
                  <a:rPr lang="en-US">
                    <a:noFill/>
                  </a:rPr>
                  <a:t> </a:t>
                </a:r>
              </a:p>
            </p:txBody>
          </p:sp>
        </mc:Fallback>
      </mc:AlternateContent>
      <p:sp>
        <p:nvSpPr>
          <p:cNvPr id="47" name="Right Brace 46">
            <a:extLst>
              <a:ext uri="{FF2B5EF4-FFF2-40B4-BE49-F238E27FC236}">
                <a16:creationId xmlns:a16="http://schemas.microsoft.com/office/drawing/2014/main" id="{F4A7BFCE-702F-62CA-AA5C-16C891F688FD}"/>
              </a:ext>
            </a:extLst>
          </p:cNvPr>
          <p:cNvSpPr/>
          <p:nvPr/>
        </p:nvSpPr>
        <p:spPr>
          <a:xfrm flipH="1">
            <a:off x="8008688" y="2093158"/>
            <a:ext cx="169816" cy="301747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8226A9A5-5E45-54B1-7D6B-C6281C43A7CF}"/>
                  </a:ext>
                </a:extLst>
              </p:cNvPr>
              <p:cNvSpPr txBox="1"/>
              <p:nvPr/>
            </p:nvSpPr>
            <p:spPr>
              <a:xfrm>
                <a:off x="2237658" y="2414531"/>
                <a:ext cx="4062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𝑟</m:t>
                      </m:r>
                    </m:oMath>
                  </m:oMathPara>
                </a14:m>
                <a:endParaRPr lang="en-US" sz="2400" dirty="0"/>
              </a:p>
            </p:txBody>
          </p:sp>
        </mc:Choice>
        <mc:Fallback>
          <p:sp>
            <p:nvSpPr>
              <p:cNvPr id="48" name="TextBox 47">
                <a:extLst>
                  <a:ext uri="{FF2B5EF4-FFF2-40B4-BE49-F238E27FC236}">
                    <a16:creationId xmlns:a16="http://schemas.microsoft.com/office/drawing/2014/main" id="{8226A9A5-5E45-54B1-7D6B-C6281C43A7CF}"/>
                  </a:ext>
                </a:extLst>
              </p:cNvPr>
              <p:cNvSpPr txBox="1">
                <a:spLocks noRot="1" noChangeAspect="1" noMove="1" noResize="1" noEditPoints="1" noAdjustHandles="1" noChangeArrowheads="1" noChangeShapeType="1" noTextEdit="1"/>
              </p:cNvSpPr>
              <p:nvPr/>
            </p:nvSpPr>
            <p:spPr>
              <a:xfrm>
                <a:off x="2237658" y="2414531"/>
                <a:ext cx="406200" cy="461665"/>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6429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40" grpId="0"/>
      <p:bldP spid="41" grpId="0"/>
      <p:bldP spid="42" grpId="0"/>
      <p:bldP spid="43" grpId="0"/>
      <p:bldP spid="44" grpId="0"/>
      <p:bldP spid="45" grpId="0"/>
      <p:bldP spid="46" grpId="0"/>
      <p:bldP spid="47" grpId="0" animBg="1"/>
      <p:bldP spid="4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53401-99D1-6908-0566-F53CD56A675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3DC2C0AB-7616-8482-CA28-380D44691D09}"/>
                  </a:ext>
                </a:extLst>
              </p:cNvPr>
              <p:cNvSpPr txBox="1"/>
              <p:nvPr/>
            </p:nvSpPr>
            <p:spPr>
              <a:xfrm>
                <a:off x="1252078" y="2597426"/>
                <a:ext cx="9687845" cy="831574"/>
              </a:xfrm>
              <a:prstGeom prst="rect">
                <a:avLst/>
              </a:prstGeom>
              <a:noFill/>
            </p:spPr>
            <p:txBody>
              <a:bodyPr wrap="none" rtlCol="0">
                <a:spAutoFit/>
              </a:bodyPr>
              <a:lstStyle/>
              <a:p>
                <a:pPr/>
                <a14:m>
                  <m:oMath xmlns:m="http://schemas.openxmlformats.org/officeDocument/2006/math">
                    <m:r>
                      <a:rPr lang="en-US" sz="4800" b="0" i="1" smtClean="0">
                        <a:latin typeface="Cambria Math" panose="02040503050406030204" pitchFamily="18" charset="0"/>
                      </a:rPr>
                      <m:t>𝑆</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e>
                    </m:d>
                    <m:r>
                      <a:rPr lang="en-US" sz="4800" i="1">
                        <a:latin typeface="Cambria Math" panose="02040503050406030204" pitchFamily="18" charset="0"/>
                      </a:rPr>
                      <m:t>=</m:t>
                    </m:r>
                    <m:r>
                      <a:rPr lang="en-US" sz="4800" b="0" i="1" smtClean="0">
                        <a:latin typeface="Cambria Math" panose="02040503050406030204" pitchFamily="18" charset="0"/>
                      </a:rPr>
                      <m:t>−</m:t>
                    </m:r>
                    <m:r>
                      <a:rPr lang="en-US" sz="4800" b="0" i="1" smtClean="0">
                        <a:latin typeface="Cambria Math" panose="02040503050406030204" pitchFamily="18" charset="0"/>
                      </a:rPr>
                      <m:t>𝑡𝑟</m:t>
                    </m:r>
                    <m:d>
                      <m:dPr>
                        <m:ctrlPr>
                          <a:rPr lang="en-US" sz="4800" b="0" i="1" smtClean="0">
                            <a:latin typeface="Cambria Math" panose="02040503050406030204" pitchFamily="18" charset="0"/>
                          </a:rPr>
                        </m:ctrlPr>
                      </m:dPr>
                      <m:e>
                        <m:r>
                          <a:rPr lang="en-US" sz="4800" b="0" i="1" smtClean="0">
                            <a:latin typeface="Cambria Math" panose="02040503050406030204" pitchFamily="18" charset="0"/>
                          </a:rPr>
                          <m:t>𝜌</m:t>
                        </m:r>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r>
                              <a:rPr lang="en-US" sz="4800" b="0" i="1" smtClean="0">
                                <a:latin typeface="Cambria Math" panose="02040503050406030204" pitchFamily="18" charset="0"/>
                              </a:rPr>
                              <m:t>𝜌</m:t>
                            </m:r>
                          </m:e>
                        </m:func>
                      </m:e>
                    </m:d>
                    <m:r>
                      <a:rPr lang="en-US" sz="4800" b="0" i="1" smtClean="0">
                        <a:latin typeface="Cambria Math" panose="02040503050406030204" pitchFamily="18" charset="0"/>
                      </a:rPr>
                      <m:t>=−</m:t>
                    </m:r>
                    <m:nary>
                      <m:naryPr>
                        <m:chr m:val="∑"/>
                        <m:supHide m:val="on"/>
                        <m:ctrlPr>
                          <a:rPr lang="en-US" sz="4800" b="0" i="1" smtClean="0">
                            <a:latin typeface="Cambria Math" panose="02040503050406030204" pitchFamily="18" charset="0"/>
                          </a:rPr>
                        </m:ctrlPr>
                      </m:naryPr>
                      <m:sub>
                        <m:r>
                          <a:rPr lang="en-US" sz="4800" b="0" i="1" smtClean="0">
                            <a:latin typeface="Cambria Math" panose="02040503050406030204" pitchFamily="18" charset="0"/>
                          </a:rPr>
                          <m:t>𝑖</m:t>
                        </m:r>
                      </m:sub>
                      <m:sup/>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func>
                          <m:funcPr>
                            <m:ctrlPr>
                              <a:rPr lang="en-US" sz="4800" b="0" i="1" smtClean="0">
                                <a:latin typeface="Cambria Math" panose="02040503050406030204" pitchFamily="18" charset="0"/>
                              </a:rPr>
                            </m:ctrlPr>
                          </m:funcPr>
                          <m:fName>
                            <m:r>
                              <m:rPr>
                                <m:sty m:val="p"/>
                              </m:rPr>
                              <a:rPr lang="en-US" sz="4800" b="0" i="0" smtClean="0">
                                <a:latin typeface="Cambria Math" panose="02040503050406030204" pitchFamily="18" charset="0"/>
                              </a:rPr>
                              <m:t>log</m:t>
                            </m:r>
                          </m:fName>
                          <m:e>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𝑝</m:t>
                                </m:r>
                              </m:e>
                              <m:sub>
                                <m:r>
                                  <a:rPr lang="en-US" sz="4800" b="0" i="1" smtClean="0">
                                    <a:latin typeface="Cambria Math" panose="02040503050406030204" pitchFamily="18" charset="0"/>
                                  </a:rPr>
                                  <m:t>𝑖</m:t>
                                </m:r>
                              </m:sub>
                            </m:sSub>
                          </m:e>
                        </m:func>
                      </m:e>
                    </m:nary>
                  </m:oMath>
                </a14:m>
                <a:r>
                  <a:rPr lang="en-US" sz="4800" dirty="0"/>
                  <a:t> </a:t>
                </a:r>
              </a:p>
            </p:txBody>
          </p:sp>
        </mc:Choice>
        <mc:Fallback>
          <p:sp>
            <p:nvSpPr>
              <p:cNvPr id="2" name="TextBox 1">
                <a:extLst>
                  <a:ext uri="{FF2B5EF4-FFF2-40B4-BE49-F238E27FC236}">
                    <a16:creationId xmlns:a16="http://schemas.microsoft.com/office/drawing/2014/main" id="{3DC2C0AB-7616-8482-CA28-380D44691D09}"/>
                  </a:ext>
                </a:extLst>
              </p:cNvPr>
              <p:cNvSpPr txBox="1">
                <a:spLocks noRot="1" noChangeAspect="1" noMove="1" noResize="1" noEditPoints="1" noAdjustHandles="1" noChangeArrowheads="1" noChangeShapeType="1" noTextEdit="1"/>
              </p:cNvSpPr>
              <p:nvPr/>
            </p:nvSpPr>
            <p:spPr>
              <a:xfrm>
                <a:off x="1252078" y="2597426"/>
                <a:ext cx="9687845" cy="831574"/>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77F13B1-46B6-E5F3-B760-4948DCC86CFF}"/>
              </a:ext>
            </a:extLst>
          </p:cNvPr>
          <p:cNvSpPr txBox="1"/>
          <p:nvPr/>
        </p:nvSpPr>
        <p:spPr>
          <a:xfrm>
            <a:off x="3166159" y="232975"/>
            <a:ext cx="5859681" cy="830997"/>
          </a:xfrm>
          <a:prstGeom prst="rect">
            <a:avLst/>
          </a:prstGeom>
          <a:noFill/>
        </p:spPr>
        <p:txBody>
          <a:bodyPr wrap="none" rtlCol="0">
            <a:spAutoFit/>
          </a:bodyPr>
          <a:lstStyle/>
          <a:p>
            <a:pPr algn="ctr"/>
            <a:r>
              <a:rPr lang="en-US" sz="4800" dirty="0"/>
              <a:t>Von Neumann entropy</a:t>
            </a:r>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3765B8E6-4EB3-0EBD-DEB0-58104EE8A2BE}"/>
                  </a:ext>
                </a:extLst>
              </p:cNvPr>
              <p:cNvSpPr txBox="1"/>
              <p:nvPr/>
            </p:nvSpPr>
            <p:spPr>
              <a:xfrm>
                <a:off x="193198" y="1481430"/>
                <a:ext cx="8883394" cy="708399"/>
              </a:xfrm>
              <a:prstGeom prst="rect">
                <a:avLst/>
              </a:prstGeom>
              <a:noFill/>
            </p:spPr>
            <p:txBody>
              <a:bodyPr wrap="none" rtlCol="0">
                <a:spAutoFit/>
              </a:bodyPr>
              <a:lstStyle/>
              <a:p>
                <a:r>
                  <a:rPr lang="en-US" sz="4000" dirty="0"/>
                  <a:t>Entropy of a mixed state </a:t>
                </a:r>
                <a14:m>
                  <m:oMath xmlns:m="http://schemas.openxmlformats.org/officeDocument/2006/math">
                    <m:r>
                      <a:rPr lang="en-US" sz="4000" b="0" i="1" smtClean="0">
                        <a:latin typeface="Cambria Math" panose="02040503050406030204" pitchFamily="18" charset="0"/>
                      </a:rPr>
                      <m:t>𝜌</m:t>
                    </m:r>
                    <m:r>
                      <a:rPr lang="en-US" sz="4000" b="0" i="1" smtClean="0">
                        <a:latin typeface="Cambria Math" panose="02040503050406030204" pitchFamily="18" charset="0"/>
                      </a:rPr>
                      <m:t>=</m:t>
                    </m:r>
                    <m:nary>
                      <m:naryPr>
                        <m:chr m:val="∑"/>
                        <m:supHide m:val="on"/>
                        <m:ctrlPr>
                          <a:rPr lang="en-US" sz="4000" b="0" i="1" smtClean="0">
                            <a:latin typeface="Cambria Math" panose="02040503050406030204" pitchFamily="18" charset="0"/>
                          </a:rPr>
                        </m:ctrlPr>
                      </m:naryPr>
                      <m:sub>
                        <m:r>
                          <a:rPr lang="en-US" sz="4000" b="0" i="1" smtClean="0">
                            <a:latin typeface="Cambria Math" panose="02040503050406030204" pitchFamily="18" charset="0"/>
                          </a:rPr>
                          <m:t>𝑖</m:t>
                        </m:r>
                      </m:sub>
                      <m:sup/>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𝑝</m:t>
                            </m:r>
                          </m:e>
                          <m:sub>
                            <m:r>
                              <a:rPr lang="en-US" sz="4000" b="0" i="1" smtClean="0">
                                <a:latin typeface="Cambria Math" panose="02040503050406030204" pitchFamily="18" charset="0"/>
                              </a:rPr>
                              <m:t>𝑖</m:t>
                            </m:r>
                          </m:sub>
                        </m:sSub>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d>
                          <m:dPr>
                            <m:begChr m:val="⟨"/>
                            <m:endChr m:val="|"/>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𝑏</m:t>
                                </m:r>
                              </m:e>
                              <m:sub>
                                <m:r>
                                  <a:rPr lang="en-US" sz="4000" b="0" i="1" smtClean="0">
                                    <a:latin typeface="Cambria Math" panose="02040503050406030204" pitchFamily="18" charset="0"/>
                                  </a:rPr>
                                  <m:t>𝑖</m:t>
                                </m:r>
                              </m:sub>
                            </m:sSub>
                          </m:e>
                        </m:d>
                      </m:e>
                    </m:nary>
                  </m:oMath>
                </a14:m>
                <a:endParaRPr lang="en-US" sz="4000" dirty="0"/>
              </a:p>
            </p:txBody>
          </p:sp>
        </mc:Choice>
        <mc:Fallback>
          <p:sp>
            <p:nvSpPr>
              <p:cNvPr id="31" name="TextBox 30">
                <a:extLst>
                  <a:ext uri="{FF2B5EF4-FFF2-40B4-BE49-F238E27FC236}">
                    <a16:creationId xmlns:a16="http://schemas.microsoft.com/office/drawing/2014/main" id="{3765B8E6-4EB3-0EBD-DEB0-58104EE8A2BE}"/>
                  </a:ext>
                </a:extLst>
              </p:cNvPr>
              <p:cNvSpPr txBox="1">
                <a:spLocks noRot="1" noChangeAspect="1" noMove="1" noResize="1" noEditPoints="1" noAdjustHandles="1" noChangeArrowheads="1" noChangeShapeType="1" noTextEdit="1"/>
              </p:cNvSpPr>
              <p:nvPr/>
            </p:nvSpPr>
            <p:spPr>
              <a:xfrm>
                <a:off x="193198" y="1481430"/>
                <a:ext cx="8883394" cy="708399"/>
              </a:xfrm>
              <a:prstGeom prst="rect">
                <a:avLst/>
              </a:prstGeom>
              <a:blipFill>
                <a:blip r:embed="rId3"/>
                <a:stretch>
                  <a:fillRect l="-2471" t="-15517" b="-36207"/>
                </a:stretch>
              </a:blipFill>
            </p:spPr>
            <p:txBody>
              <a:bodyPr/>
              <a:lstStyle/>
              <a:p>
                <a:r>
                  <a:rPr lang="en-US">
                    <a:noFill/>
                  </a:rPr>
                  <a:t> </a:t>
                </a:r>
              </a:p>
            </p:txBody>
          </p:sp>
        </mc:Fallback>
      </mc:AlternateContent>
    </p:spTree>
    <p:extLst>
      <p:ext uri="{BB962C8B-B14F-4D97-AF65-F5344CB8AC3E}">
        <p14:creationId xmlns:p14="http://schemas.microsoft.com/office/powerpoint/2010/main" val="2662398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6B510-FC36-9244-3774-C175BFEDD71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0BBC811-27D4-E924-4924-8F057F1C3ADB}"/>
                  </a:ext>
                </a:extLst>
              </p:cNvPr>
              <p:cNvSpPr txBox="1"/>
              <p:nvPr/>
            </p:nvSpPr>
            <p:spPr>
              <a:xfrm>
                <a:off x="5033317" y="1423826"/>
                <a:ext cx="2511200"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4800" b="0" i="1" smtClean="0">
                              <a:latin typeface="Cambria Math" panose="02040503050406030204" pitchFamily="18" charset="0"/>
                            </a:rPr>
                          </m:ctrlPr>
                        </m:sSupPr>
                        <m:e>
                          <m:d>
                            <m:dPr>
                              <m:begChr m:val="|"/>
                              <m:endChr m:val="|"/>
                              <m:ctrlPr>
                                <a:rPr lang="en-US" sz="4800" b="0" i="1" smtClean="0">
                                  <a:latin typeface="Cambria Math" panose="02040503050406030204" pitchFamily="18" charset="0"/>
                                </a:rPr>
                              </m:ctrlPr>
                            </m:dPr>
                            <m:e>
                              <m:d>
                                <m:dPr>
                                  <m:begChr m:val="⟨"/>
                                  <m:endChr m:val="⟩"/>
                                  <m:ctrlPr>
                                    <a:rPr lang="en-US" sz="4800" b="0" i="1" smtClean="0">
                                      <a:latin typeface="Cambria Math" panose="02040503050406030204" pitchFamily="18" charset="0"/>
                                    </a:rPr>
                                  </m:ctrlPr>
                                </m:dPr>
                                <m:e>
                                  <m:r>
                                    <a:rPr lang="en-US" sz="4800" b="0" i="1" smtClean="0">
                                      <a:latin typeface="Cambria Math" panose="02040503050406030204" pitchFamily="18" charset="0"/>
                                    </a:rPr>
                                    <m:t>𝜓</m:t>
                                  </m:r>
                                </m:e>
                                <m:e>
                                  <m:r>
                                    <a:rPr lang="en-US" sz="4800" b="0" i="1" smtClean="0">
                                      <a:latin typeface="Cambria Math" panose="02040503050406030204" pitchFamily="18" charset="0"/>
                                    </a:rPr>
                                    <m:t>𝜙</m:t>
                                  </m:r>
                                </m:e>
                              </m:d>
                            </m:e>
                          </m:d>
                        </m:e>
                        <m:sup>
                          <m:r>
                            <a:rPr lang="en-US" sz="4800" b="0" i="1" smtClean="0">
                              <a:latin typeface="Cambria Math" panose="02040503050406030204" pitchFamily="18" charset="0"/>
                            </a:rPr>
                            <m:t>2</m:t>
                          </m:r>
                        </m:sup>
                      </m:sSup>
                    </m:oMath>
                  </m:oMathPara>
                </a14:m>
                <a:endParaRPr lang="en-US" sz="4800" dirty="0"/>
              </a:p>
            </p:txBody>
          </p:sp>
        </mc:Choice>
        <mc:Fallback xmlns="">
          <p:sp>
            <p:nvSpPr>
              <p:cNvPr id="2" name="TextBox 1">
                <a:extLst>
                  <a:ext uri="{FF2B5EF4-FFF2-40B4-BE49-F238E27FC236}">
                    <a16:creationId xmlns:a16="http://schemas.microsoft.com/office/drawing/2014/main" id="{2F4C9BC4-E94A-0851-0A4C-2906C6C2EF81}"/>
                  </a:ext>
                </a:extLst>
              </p:cNvPr>
              <p:cNvSpPr txBox="1">
                <a:spLocks noRot="1" noChangeAspect="1" noMove="1" noResize="1" noEditPoints="1" noAdjustHandles="1" noChangeArrowheads="1" noChangeShapeType="1" noTextEdit="1"/>
              </p:cNvSpPr>
              <p:nvPr/>
            </p:nvSpPr>
            <p:spPr>
              <a:xfrm>
                <a:off x="5033317" y="1423826"/>
                <a:ext cx="2511200" cy="830997"/>
              </a:xfrm>
              <a:prstGeom prst="rect">
                <a:avLst/>
              </a:prstGeom>
              <a:blipFill>
                <a:blip r:embed="rId2"/>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01D715B-1589-3DCB-B27B-7549CFEBC44B}"/>
              </a:ext>
            </a:extLst>
          </p:cNvPr>
          <p:cNvSpPr txBox="1"/>
          <p:nvPr/>
        </p:nvSpPr>
        <p:spPr>
          <a:xfrm>
            <a:off x="515007" y="536028"/>
            <a:ext cx="6180153" cy="1323439"/>
          </a:xfrm>
          <a:prstGeom prst="rect">
            <a:avLst/>
          </a:prstGeom>
          <a:noFill/>
        </p:spPr>
        <p:txBody>
          <a:bodyPr wrap="none" rtlCol="0">
            <a:spAutoFit/>
          </a:bodyPr>
          <a:lstStyle/>
          <a:p>
            <a:r>
              <a:rPr lang="en-US" sz="4000" dirty="0"/>
              <a:t>Geometry given by the norm</a:t>
            </a:r>
            <a:br>
              <a:rPr lang="en-US" sz="4000" dirty="0"/>
            </a:br>
            <a:r>
              <a:rPr lang="en-US" sz="4000" dirty="0"/>
              <a:t>of inner product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06D4309-9435-F89F-D853-EBE2A80FE66A}"/>
                  </a:ext>
                </a:extLst>
              </p:cNvPr>
              <p:cNvSpPr txBox="1"/>
              <p:nvPr/>
            </p:nvSpPr>
            <p:spPr>
              <a:xfrm>
                <a:off x="515007" y="2721114"/>
                <a:ext cx="6842386" cy="707886"/>
              </a:xfrm>
              <a:prstGeom prst="rect">
                <a:avLst/>
              </a:prstGeom>
              <a:noFill/>
            </p:spPr>
            <p:txBody>
              <a:bodyPr wrap="none" rtlCol="0">
                <a:spAutoFit/>
              </a:bodyPr>
              <a:lstStyle/>
              <a:p>
                <a:r>
                  <a:rPr lang="en-US" sz="4000" dirty="0"/>
                  <a:t>E.g. spatial direction of spin </a:t>
                </a:r>
                <a14:m>
                  <m:oMath xmlns:m="http://schemas.openxmlformats.org/officeDocument/2006/math">
                    <m:r>
                      <a:rPr lang="en-US" sz="4000" b="0" i="1" smtClean="0">
                        <a:latin typeface="Cambria Math" panose="02040503050406030204" pitchFamily="18" charset="0"/>
                      </a:rPr>
                      <m:t>1/2</m:t>
                    </m:r>
                  </m:oMath>
                </a14:m>
                <a:endParaRPr lang="en-US" sz="4000" dirty="0"/>
              </a:p>
            </p:txBody>
          </p:sp>
        </mc:Choice>
        <mc:Fallback xmlns="">
          <p:sp>
            <p:nvSpPr>
              <p:cNvPr id="4" name="TextBox 3">
                <a:extLst>
                  <a:ext uri="{FF2B5EF4-FFF2-40B4-BE49-F238E27FC236}">
                    <a16:creationId xmlns:a16="http://schemas.microsoft.com/office/drawing/2014/main" id="{4BB46655-7FF7-B7F1-FF3B-894BEB838A20}"/>
                  </a:ext>
                </a:extLst>
              </p:cNvPr>
              <p:cNvSpPr txBox="1">
                <a:spLocks noRot="1" noChangeAspect="1" noMove="1" noResize="1" noEditPoints="1" noAdjustHandles="1" noChangeArrowheads="1" noChangeShapeType="1" noTextEdit="1"/>
              </p:cNvSpPr>
              <p:nvPr/>
            </p:nvSpPr>
            <p:spPr>
              <a:xfrm>
                <a:off x="515007" y="2721114"/>
                <a:ext cx="6842386" cy="707886"/>
              </a:xfrm>
              <a:prstGeom prst="rect">
                <a:avLst/>
              </a:prstGeom>
              <a:blipFill>
                <a:blip r:embed="rId3"/>
                <a:stretch>
                  <a:fillRect l="-3117" t="-15385" b="-35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80D98D-C476-7F09-31D2-A44A755DAAD6}"/>
                  </a:ext>
                </a:extLst>
              </p:cNvPr>
              <p:cNvSpPr txBox="1"/>
              <p:nvPr/>
            </p:nvSpPr>
            <p:spPr>
              <a:xfrm>
                <a:off x="3890187" y="3465879"/>
                <a:ext cx="5508303" cy="1219373"/>
              </a:xfrm>
              <a:prstGeom prst="rect">
                <a:avLst/>
              </a:prstGeom>
              <a:noFill/>
            </p:spPr>
            <p:txBody>
              <a:bodyPr wrap="none" rtlCol="0">
                <a:spAutoFit/>
              </a:bodyPr>
              <a:lstStyle/>
              <a:p>
                <a14:m>
                  <m:oMath xmlns:m="http://schemas.openxmlformats.org/officeDocument/2006/math">
                    <m:sSup>
                      <m:sSupPr>
                        <m:ctrlPr>
                          <a:rPr lang="en-US" sz="4800" b="0" i="1" smtClean="0">
                            <a:latin typeface="Cambria Math" panose="02040503050406030204" pitchFamily="18" charset="0"/>
                          </a:rPr>
                        </m:ctrlPr>
                      </m:sSupPr>
                      <m:e>
                        <m:d>
                          <m:dPr>
                            <m:begChr m:val="|"/>
                            <m:endChr m:val="|"/>
                            <m:ctrlPr>
                              <a:rPr lang="en-US" sz="4800" b="0" i="1" smtClean="0">
                                <a:latin typeface="Cambria Math" panose="02040503050406030204" pitchFamily="18" charset="0"/>
                              </a:rPr>
                            </m:ctrlPr>
                          </m:dPr>
                          <m:e>
                            <m:d>
                              <m:dPr>
                                <m:begChr m:val="⟨"/>
                                <m:endChr m:val="⟩"/>
                                <m:ctrlPr>
                                  <a:rPr lang="en-US" sz="4800" b="0" i="1" smtClean="0">
                                    <a:latin typeface="Cambria Math" panose="02040503050406030204" pitchFamily="18" charset="0"/>
                                  </a:rPr>
                                </m:ctrlPr>
                              </m:dPr>
                              <m:e>
                                <m:r>
                                  <a:rPr lang="en-US" sz="4800" b="0" i="1" smtClean="0">
                                    <a:latin typeface="Cambria Math" panose="02040503050406030204" pitchFamily="18" charset="0"/>
                                  </a:rPr>
                                  <m:t>𝜓</m:t>
                                </m:r>
                              </m:e>
                              <m:e>
                                <m:r>
                                  <a:rPr lang="en-US" sz="4800" b="0" i="1" smtClean="0">
                                    <a:latin typeface="Cambria Math" panose="02040503050406030204" pitchFamily="18" charset="0"/>
                                  </a:rPr>
                                  <m:t>𝜙</m:t>
                                </m:r>
                              </m:e>
                            </m:d>
                          </m:e>
                        </m:d>
                      </m:e>
                      <m:sup>
                        <m:r>
                          <a:rPr lang="en-US" sz="4800" b="0" i="1" smtClean="0">
                            <a:latin typeface="Cambria Math" panose="02040503050406030204" pitchFamily="18" charset="0"/>
                          </a:rPr>
                          <m:t>2</m:t>
                        </m:r>
                      </m:sup>
                    </m:sSup>
                    <m:r>
                      <a:rPr lang="en-US" sz="4800" b="0" i="1" smtClean="0">
                        <a:latin typeface="Cambria Math" panose="02040503050406030204" pitchFamily="18" charset="0"/>
                      </a:rPr>
                      <m:t>=</m:t>
                    </m:r>
                    <m:func>
                      <m:funcPr>
                        <m:ctrlPr>
                          <a:rPr lang="en-US" sz="4800" b="0" i="1" smtClean="0">
                            <a:latin typeface="Cambria Math" panose="02040503050406030204" pitchFamily="18" charset="0"/>
                          </a:rPr>
                        </m:ctrlPr>
                      </m:funcPr>
                      <m:fName>
                        <m:sSup>
                          <m:sSupPr>
                            <m:ctrlPr>
                              <a:rPr lang="en-US" sz="4800" b="0" i="1" smtClean="0">
                                <a:latin typeface="Cambria Math" panose="02040503050406030204" pitchFamily="18" charset="0"/>
                              </a:rPr>
                            </m:ctrlPr>
                          </m:sSupPr>
                          <m:e>
                            <m:r>
                              <m:rPr>
                                <m:sty m:val="p"/>
                              </m:rPr>
                              <a:rPr lang="en-US" sz="4800" b="0" i="0" smtClean="0">
                                <a:latin typeface="Cambria Math" panose="02040503050406030204" pitchFamily="18" charset="0"/>
                              </a:rPr>
                              <m:t>cos</m:t>
                            </m:r>
                          </m:e>
                          <m:sup>
                            <m:r>
                              <a:rPr lang="en-US" sz="4800" b="0" i="1" smtClean="0">
                                <a:latin typeface="Cambria Math" panose="02040503050406030204" pitchFamily="18" charset="0"/>
                              </a:rPr>
                              <m:t>2</m:t>
                            </m:r>
                          </m:sup>
                        </m:sSup>
                      </m:fName>
                      <m:e>
                        <m:f>
                          <m:fPr>
                            <m:ctrlPr>
                              <a:rPr lang="en-US" sz="4800" b="0" i="1" smtClean="0">
                                <a:latin typeface="Cambria Math" panose="02040503050406030204" pitchFamily="18" charset="0"/>
                              </a:rPr>
                            </m:ctrlPr>
                          </m:fPr>
                          <m:num>
                            <m:sSub>
                              <m:sSubPr>
                                <m:ctrlPr>
                                  <a:rPr lang="en-US" sz="4800" b="0" i="1" smtClean="0">
                                    <a:latin typeface="Cambria Math" panose="02040503050406030204" pitchFamily="18" charset="0"/>
                                  </a:rPr>
                                </m:ctrlPr>
                              </m:sSubPr>
                              <m:e>
                                <m:r>
                                  <a:rPr lang="en-US" sz="4800" b="0" i="1" smtClean="0">
                                    <a:latin typeface="Cambria Math" panose="02040503050406030204" pitchFamily="18" charset="0"/>
                                  </a:rPr>
                                  <m:t>𝜃</m:t>
                                </m:r>
                              </m:e>
                              <m:sub>
                                <m:r>
                                  <a:rPr lang="en-US" sz="4800" b="0" i="1" smtClean="0">
                                    <a:latin typeface="Cambria Math" panose="02040503050406030204" pitchFamily="18" charset="0"/>
                                  </a:rPr>
                                  <m:t>𝜓𝜙</m:t>
                                </m:r>
                              </m:sub>
                            </m:sSub>
                          </m:num>
                          <m:den>
                            <m:r>
                              <a:rPr lang="en-US" sz="4800" b="0" i="1" smtClean="0">
                                <a:latin typeface="Cambria Math" panose="02040503050406030204" pitchFamily="18" charset="0"/>
                              </a:rPr>
                              <m:t>2</m:t>
                            </m:r>
                          </m:den>
                        </m:f>
                      </m:e>
                    </m:func>
                  </m:oMath>
                </a14:m>
                <a:r>
                  <a:rPr lang="en-US" sz="4800" dirty="0"/>
                  <a:t> </a:t>
                </a:r>
              </a:p>
            </p:txBody>
          </p:sp>
        </mc:Choice>
        <mc:Fallback xmlns="">
          <p:sp>
            <p:nvSpPr>
              <p:cNvPr id="5" name="TextBox 4">
                <a:extLst>
                  <a:ext uri="{FF2B5EF4-FFF2-40B4-BE49-F238E27FC236}">
                    <a16:creationId xmlns:a16="http://schemas.microsoft.com/office/drawing/2014/main" id="{EA12F40D-8D0E-94A3-4834-3035D509D44C}"/>
                  </a:ext>
                </a:extLst>
              </p:cNvPr>
              <p:cNvSpPr txBox="1">
                <a:spLocks noRot="1" noChangeAspect="1" noMove="1" noResize="1" noEditPoints="1" noAdjustHandles="1" noChangeArrowheads="1" noChangeShapeType="1" noTextEdit="1"/>
              </p:cNvSpPr>
              <p:nvPr/>
            </p:nvSpPr>
            <p:spPr>
              <a:xfrm>
                <a:off x="3890187" y="3465879"/>
                <a:ext cx="5508303" cy="1219373"/>
              </a:xfrm>
              <a:prstGeom prst="rect">
                <a:avLst/>
              </a:prstGeom>
              <a:blipFill>
                <a:blip r:embed="rId4"/>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14D3AE11-4E68-1942-E54E-97C3A6439F17}"/>
              </a:ext>
            </a:extLst>
          </p:cNvPr>
          <p:cNvSpPr txBox="1"/>
          <p:nvPr/>
        </p:nvSpPr>
        <p:spPr>
          <a:xfrm>
            <a:off x="1422384" y="4943079"/>
            <a:ext cx="7606249" cy="769441"/>
          </a:xfrm>
          <a:prstGeom prst="rect">
            <a:avLst/>
          </a:prstGeom>
          <a:noFill/>
        </p:spPr>
        <p:txBody>
          <a:bodyPr wrap="none" rtlCol="0">
            <a:spAutoFit/>
          </a:bodyPr>
          <a:lstStyle/>
          <a:p>
            <a:r>
              <a:rPr lang="en-US" sz="4400" dirty="0">
                <a:solidFill>
                  <a:schemeClr val="accent6">
                    <a:lumMod val="75000"/>
                  </a:schemeClr>
                </a:solidFill>
              </a:rPr>
              <a:t>How is it related to the entropy?</a:t>
            </a:r>
          </a:p>
        </p:txBody>
      </p:sp>
      <p:grpSp>
        <p:nvGrpSpPr>
          <p:cNvPr id="7" name="Group 6">
            <a:extLst>
              <a:ext uri="{FF2B5EF4-FFF2-40B4-BE49-F238E27FC236}">
                <a16:creationId xmlns:a16="http://schemas.microsoft.com/office/drawing/2014/main" id="{2D4AD08D-F4D2-B0FD-97F7-3D97775E7165}"/>
              </a:ext>
            </a:extLst>
          </p:cNvPr>
          <p:cNvGrpSpPr/>
          <p:nvPr/>
        </p:nvGrpSpPr>
        <p:grpSpPr>
          <a:xfrm>
            <a:off x="8771716" y="754385"/>
            <a:ext cx="3187388" cy="2711494"/>
            <a:chOff x="5576873" y="3733497"/>
            <a:chExt cx="3187388" cy="2711494"/>
          </a:xfrm>
        </p:grpSpPr>
        <p:grpSp>
          <p:nvGrpSpPr>
            <p:cNvPr id="8" name="Group 7">
              <a:extLst>
                <a:ext uri="{FF2B5EF4-FFF2-40B4-BE49-F238E27FC236}">
                  <a16:creationId xmlns:a16="http://schemas.microsoft.com/office/drawing/2014/main" id="{F46A6E9C-FA14-5F5F-F33F-D894DAF41F98}"/>
                </a:ext>
              </a:extLst>
            </p:cNvPr>
            <p:cNvGrpSpPr/>
            <p:nvPr/>
          </p:nvGrpSpPr>
          <p:grpSpPr>
            <a:xfrm>
              <a:off x="5576873" y="3733497"/>
              <a:ext cx="3187388" cy="2711494"/>
              <a:chOff x="8866556" y="911557"/>
              <a:chExt cx="3187388" cy="2711494"/>
            </a:xfrm>
          </p:grpSpPr>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55F4074-4150-CF62-E3E1-EBF5BED12732}"/>
                      </a:ext>
                    </a:extLst>
                  </p:cNvPr>
                  <p:cNvSpPr txBox="1"/>
                  <p:nvPr/>
                </p:nvSpPr>
                <p:spPr>
                  <a:xfrm>
                    <a:off x="10832886" y="1462921"/>
                    <a:ext cx="66716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sSup>
                            <m:sSupPr>
                              <m:ctrlPr>
                                <a:rPr lang="en-US" i="1" dirty="0">
                                  <a:latin typeface="Cambria Math" panose="02040503050406030204" pitchFamily="18" charset="0"/>
                                </a:rPr>
                              </m:ctrlPr>
                            </m:sSupPr>
                            <m:e>
                              <m:r>
                                <a:rPr lang="en-US" b="0" i="1" dirty="0" smtClean="0">
                                  <a:latin typeface="Cambria Math" panose="02040503050406030204" pitchFamily="18" charset="0"/>
                                </a:rPr>
                                <m:t>𝑦</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A5B7FDA8-E8E8-50AB-306E-0A8F2F722714}"/>
                      </a:ext>
                    </a:extLst>
                  </p:cNvPr>
                  <p:cNvSpPr txBox="1">
                    <a:spLocks noRot="1" noChangeAspect="1" noMove="1" noResize="1" noEditPoints="1" noAdjustHandles="1" noChangeArrowheads="1" noChangeShapeType="1" noTextEdit="1"/>
                  </p:cNvSpPr>
                  <p:nvPr/>
                </p:nvSpPr>
                <p:spPr>
                  <a:xfrm>
                    <a:off x="10832886" y="1462921"/>
                    <a:ext cx="667169"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64269DD-24C3-3C41-A798-24B69FD432E5}"/>
                      </a:ext>
                    </a:extLst>
                  </p:cNvPr>
                  <p:cNvSpPr txBox="1"/>
                  <p:nvPr/>
                </p:nvSpPr>
                <p:spPr>
                  <a:xfrm>
                    <a:off x="10212375" y="911557"/>
                    <a:ext cx="6495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𝑧</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1B058DEE-B6C9-BDF3-A896-B6BB85FD3A8E}"/>
                      </a:ext>
                    </a:extLst>
                  </p:cNvPr>
                  <p:cNvSpPr txBox="1">
                    <a:spLocks noRot="1" noChangeAspect="1" noMove="1" noResize="1" noEditPoints="1" noAdjustHandles="1" noChangeArrowheads="1" noChangeShapeType="1" noTextEdit="1"/>
                  </p:cNvSpPr>
                  <p:nvPr/>
                </p:nvSpPr>
                <p:spPr>
                  <a:xfrm>
                    <a:off x="10212375" y="911557"/>
                    <a:ext cx="649537" cy="369332"/>
                  </a:xfrm>
                  <a:prstGeom prst="rect">
                    <a:avLst/>
                  </a:prstGeom>
                  <a:blipFill>
                    <a:blip r:embed="rId8"/>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D6C8181-56F9-92AC-AF1E-3EF18E7015C3}"/>
                      </a:ext>
                    </a:extLst>
                  </p:cNvPr>
                  <p:cNvSpPr txBox="1"/>
                  <p:nvPr/>
                </p:nvSpPr>
                <p:spPr>
                  <a:xfrm>
                    <a:off x="11391840" y="2049522"/>
                    <a:ext cx="6621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sSup>
                            <m:sSupPr>
                              <m:ctrlPr>
                                <a:rPr lang="en-US" i="1" dirty="0">
                                  <a:latin typeface="Cambria Math" panose="02040503050406030204" pitchFamily="18" charset="0"/>
                                </a:rPr>
                              </m:ctrlPr>
                            </m:sSupPr>
                            <m:e>
                              <m:r>
                                <a:rPr lang="en-US" b="0" i="1" dirty="0" smtClean="0">
                                  <a:latin typeface="Cambria Math" panose="02040503050406030204" pitchFamily="18" charset="0"/>
                                </a:rPr>
                                <m:t>𝑥</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94" name="TextBox 93">
                    <a:extLst>
                      <a:ext uri="{FF2B5EF4-FFF2-40B4-BE49-F238E27FC236}">
                        <a16:creationId xmlns:a16="http://schemas.microsoft.com/office/drawing/2014/main" id="{DCF022C1-4468-BB7C-292F-4C34404B0F51}"/>
                      </a:ext>
                    </a:extLst>
                  </p:cNvPr>
                  <p:cNvSpPr txBox="1">
                    <a:spLocks noRot="1" noChangeAspect="1" noMove="1" noResize="1" noEditPoints="1" noAdjustHandles="1" noChangeArrowheads="1" noChangeShapeType="1" noTextEdit="1"/>
                  </p:cNvSpPr>
                  <p:nvPr/>
                </p:nvSpPr>
                <p:spPr>
                  <a:xfrm>
                    <a:off x="11391840" y="2049522"/>
                    <a:ext cx="662104" cy="369332"/>
                  </a:xfrm>
                  <a:prstGeom prst="rect">
                    <a:avLst/>
                  </a:prstGeom>
                  <a:blipFill>
                    <a:blip r:embed="rId9"/>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7D96607-59C8-3C8A-8FA5-56305F8DD71C}"/>
                      </a:ext>
                    </a:extLst>
                  </p:cNvPr>
                  <p:cNvSpPr txBox="1"/>
                  <p:nvPr/>
                </p:nvSpPr>
                <p:spPr>
                  <a:xfrm>
                    <a:off x="8866556" y="2049522"/>
                    <a:ext cx="6621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sSup>
                            <m:sSupPr>
                              <m:ctrlPr>
                                <a:rPr lang="en-US" i="1" dirty="0">
                                  <a:latin typeface="Cambria Math" panose="02040503050406030204" pitchFamily="18" charset="0"/>
                                </a:rPr>
                              </m:ctrlPr>
                            </m:sSupPr>
                            <m:e>
                              <m:r>
                                <a:rPr lang="en-US" b="0" i="1" dirty="0" smtClean="0">
                                  <a:latin typeface="Cambria Math" panose="02040503050406030204" pitchFamily="18" charset="0"/>
                                </a:rPr>
                                <m:t>𝑥</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A184E67F-470C-849E-F55A-FEB9AA29F9A7}"/>
                      </a:ext>
                    </a:extLst>
                  </p:cNvPr>
                  <p:cNvSpPr txBox="1">
                    <a:spLocks noRot="1" noChangeAspect="1" noMove="1" noResize="1" noEditPoints="1" noAdjustHandles="1" noChangeArrowheads="1" noChangeShapeType="1" noTextEdit="1"/>
                  </p:cNvSpPr>
                  <p:nvPr/>
                </p:nvSpPr>
                <p:spPr>
                  <a:xfrm>
                    <a:off x="8866556" y="2049522"/>
                    <a:ext cx="662104" cy="369332"/>
                  </a:xfrm>
                  <a:prstGeom prst="rect">
                    <a:avLst/>
                  </a:prstGeom>
                  <a:blipFill>
                    <a:blip r:embed="rId10"/>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C8540AA-CE6E-9794-199F-7A0EB2250325}"/>
                      </a:ext>
                    </a:extLst>
                  </p:cNvPr>
                  <p:cNvSpPr txBox="1"/>
                  <p:nvPr/>
                </p:nvSpPr>
                <p:spPr>
                  <a:xfrm>
                    <a:off x="10193624" y="3253719"/>
                    <a:ext cx="64953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𝑧</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438983B0-EC48-5170-8AC7-0C4F51C2DDA0}"/>
                      </a:ext>
                    </a:extLst>
                  </p:cNvPr>
                  <p:cNvSpPr txBox="1">
                    <a:spLocks noRot="1" noChangeAspect="1" noMove="1" noResize="1" noEditPoints="1" noAdjustHandles="1" noChangeArrowheads="1" noChangeShapeType="1" noTextEdit="1"/>
                  </p:cNvSpPr>
                  <p:nvPr/>
                </p:nvSpPr>
                <p:spPr>
                  <a:xfrm>
                    <a:off x="10193624" y="3253719"/>
                    <a:ext cx="649537" cy="369332"/>
                  </a:xfrm>
                  <a:prstGeom prst="rect">
                    <a:avLst/>
                  </a:prstGeom>
                  <a:blipFill>
                    <a:blip r:embed="rId11"/>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2419AD2-1334-E258-C4E2-2A7387F7251B}"/>
                      </a:ext>
                    </a:extLst>
                  </p:cNvPr>
                  <p:cNvSpPr txBox="1"/>
                  <p:nvPr/>
                </p:nvSpPr>
                <p:spPr>
                  <a:xfrm>
                    <a:off x="9917959" y="2346906"/>
                    <a:ext cx="66716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sSup>
                            <m:sSupPr>
                              <m:ctrlPr>
                                <a:rPr lang="en-US" i="1" dirty="0">
                                  <a:latin typeface="Cambria Math" panose="02040503050406030204" pitchFamily="18" charset="0"/>
                                </a:rPr>
                              </m:ctrlPr>
                            </m:sSupPr>
                            <m:e>
                              <m:r>
                                <a:rPr lang="en-US" b="0" i="1" dirty="0" smtClean="0">
                                  <a:latin typeface="Cambria Math" panose="02040503050406030204" pitchFamily="18" charset="0"/>
                                </a:rPr>
                                <m:t>𝑦</m:t>
                              </m:r>
                            </m:e>
                            <m:sup>
                              <m:r>
                                <a:rPr lang="en-US" i="1" dirty="0">
                                  <a:latin typeface="Cambria Math" panose="02040503050406030204" pitchFamily="18" charset="0"/>
                                </a:rPr>
                                <m:t>−</m:t>
                              </m:r>
                            </m:sup>
                          </m:sSup>
                          <m:r>
                            <a:rPr lang="en-US" i="1" dirty="0">
                              <a:latin typeface="Cambria Math" panose="02040503050406030204" pitchFamily="18" charset="0"/>
                            </a:rPr>
                            <m:t>⟩</m:t>
                          </m:r>
                        </m:oMath>
                      </m:oMathPara>
                    </a14:m>
                    <a:endParaRPr lang="en-US" dirty="0"/>
                  </a:p>
                </p:txBody>
              </p:sp>
            </mc:Choice>
            <mc:Fallback xmlns="">
              <p:sp>
                <p:nvSpPr>
                  <p:cNvPr id="100" name="TextBox 99">
                    <a:extLst>
                      <a:ext uri="{FF2B5EF4-FFF2-40B4-BE49-F238E27FC236}">
                        <a16:creationId xmlns:a16="http://schemas.microsoft.com/office/drawing/2014/main" id="{CACC9AC8-9746-FA31-74A3-1AC28AE8EC9E}"/>
                      </a:ext>
                    </a:extLst>
                  </p:cNvPr>
                  <p:cNvSpPr txBox="1">
                    <a:spLocks noRot="1" noChangeAspect="1" noMove="1" noResize="1" noEditPoints="1" noAdjustHandles="1" noChangeArrowheads="1" noChangeShapeType="1" noTextEdit="1"/>
                  </p:cNvSpPr>
                  <p:nvPr/>
                </p:nvSpPr>
                <p:spPr>
                  <a:xfrm>
                    <a:off x="9917959" y="2346906"/>
                    <a:ext cx="667169" cy="369332"/>
                  </a:xfrm>
                  <a:prstGeom prst="rect">
                    <a:avLst/>
                  </a:prstGeom>
                  <a:blipFill>
                    <a:blip r:embed="rId12"/>
                    <a:stretch>
                      <a:fillRect b="-13333"/>
                    </a:stretch>
                  </a:blipFill>
                </p:spPr>
                <p:txBody>
                  <a:bodyPr/>
                  <a:lstStyle/>
                  <a:p>
                    <a:r>
                      <a:rPr lang="en-US">
                        <a:noFill/>
                      </a:rPr>
                      <a:t> </a:t>
                    </a:r>
                  </a:p>
                </p:txBody>
              </p:sp>
            </mc:Fallback>
          </mc:AlternateContent>
        </p:grpSp>
        <p:grpSp>
          <p:nvGrpSpPr>
            <p:cNvPr id="9" name="Group 8">
              <a:extLst>
                <a:ext uri="{FF2B5EF4-FFF2-40B4-BE49-F238E27FC236}">
                  <a16:creationId xmlns:a16="http://schemas.microsoft.com/office/drawing/2014/main" id="{B444A5F4-9772-EED3-6920-61DF2DE72ECB}"/>
                </a:ext>
              </a:extLst>
            </p:cNvPr>
            <p:cNvGrpSpPr/>
            <p:nvPr/>
          </p:nvGrpSpPr>
          <p:grpSpPr>
            <a:xfrm>
              <a:off x="6215083" y="4132791"/>
              <a:ext cx="1916430" cy="1916266"/>
              <a:chOff x="2521889" y="2808131"/>
              <a:chExt cx="1916430" cy="1916266"/>
            </a:xfrm>
          </p:grpSpPr>
          <p:sp>
            <p:nvSpPr>
              <p:cNvPr id="10" name="Oval 9">
                <a:extLst>
                  <a:ext uri="{FF2B5EF4-FFF2-40B4-BE49-F238E27FC236}">
                    <a16:creationId xmlns:a16="http://schemas.microsoft.com/office/drawing/2014/main" id="{C2A67AD4-8AB0-7127-49BB-BCB9CA812A9A}"/>
                  </a:ext>
                </a:extLst>
              </p:cNvPr>
              <p:cNvSpPr/>
              <p:nvPr/>
            </p:nvSpPr>
            <p:spPr>
              <a:xfrm>
                <a:off x="2521889" y="2808131"/>
                <a:ext cx="1916264" cy="1916264"/>
              </a:xfrm>
              <a:prstGeom prst="ellips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Oval 31">
                <a:extLst>
                  <a:ext uri="{FF2B5EF4-FFF2-40B4-BE49-F238E27FC236}">
                    <a16:creationId xmlns:a16="http://schemas.microsoft.com/office/drawing/2014/main" id="{8F25C4A0-4D68-306D-4ADD-425F7A2CBB3F}"/>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191A54F-B3B5-55F1-AFE4-0B181ED8A6B0}"/>
                  </a:ext>
                </a:extLst>
              </p:cNvPr>
              <p:cNvSpPr/>
              <p:nvPr/>
            </p:nvSpPr>
            <p:spPr>
              <a:xfrm>
                <a:off x="2521889" y="2808131"/>
                <a:ext cx="1916265" cy="1916264"/>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13" name="Group 12">
                <a:extLst>
                  <a:ext uri="{FF2B5EF4-FFF2-40B4-BE49-F238E27FC236}">
                    <a16:creationId xmlns:a16="http://schemas.microsoft.com/office/drawing/2014/main" id="{A7DE6EEF-079E-5C43-7737-408BA287BA05}"/>
                  </a:ext>
                </a:extLst>
              </p:cNvPr>
              <p:cNvGrpSpPr/>
              <p:nvPr/>
            </p:nvGrpSpPr>
            <p:grpSpPr>
              <a:xfrm>
                <a:off x="2923755" y="2808131"/>
                <a:ext cx="1112528" cy="1916266"/>
                <a:chOff x="2734489" y="2655731"/>
                <a:chExt cx="1186260" cy="1916266"/>
              </a:xfrm>
            </p:grpSpPr>
            <p:sp>
              <p:nvSpPr>
                <p:cNvPr id="17" name="Oval 16">
                  <a:extLst>
                    <a:ext uri="{FF2B5EF4-FFF2-40B4-BE49-F238E27FC236}">
                      <a16:creationId xmlns:a16="http://schemas.microsoft.com/office/drawing/2014/main" id="{05E86693-C2C9-BCA0-D793-EB7A1FF9ED42}"/>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8" name="Oval 9">
                  <a:extLst>
                    <a:ext uri="{FF2B5EF4-FFF2-40B4-BE49-F238E27FC236}">
                      <a16:creationId xmlns:a16="http://schemas.microsoft.com/office/drawing/2014/main" id="{DB9C48A7-A611-3C97-9FE2-58E20C312792}"/>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14" name="Group 13">
                <a:extLst>
                  <a:ext uri="{FF2B5EF4-FFF2-40B4-BE49-F238E27FC236}">
                    <a16:creationId xmlns:a16="http://schemas.microsoft.com/office/drawing/2014/main" id="{F9BFAA3B-891B-70F8-E715-6911BF0A3E01}"/>
                  </a:ext>
                </a:extLst>
              </p:cNvPr>
              <p:cNvGrpSpPr/>
              <p:nvPr/>
            </p:nvGrpSpPr>
            <p:grpSpPr>
              <a:xfrm rot="16200000">
                <a:off x="2923922" y="2810085"/>
                <a:ext cx="1112528" cy="1916266"/>
                <a:chOff x="2734489" y="2655731"/>
                <a:chExt cx="1186260" cy="1916266"/>
              </a:xfrm>
            </p:grpSpPr>
            <p:sp>
              <p:nvSpPr>
                <p:cNvPr id="15" name="Oval 14">
                  <a:extLst>
                    <a:ext uri="{FF2B5EF4-FFF2-40B4-BE49-F238E27FC236}">
                      <a16:creationId xmlns:a16="http://schemas.microsoft.com/office/drawing/2014/main" id="{2EADEB40-F33C-3A09-6A78-2ACFCA6D6291}"/>
                    </a:ext>
                  </a:extLst>
                </p:cNvPr>
                <p:cNvSpPr/>
                <p:nvPr/>
              </p:nvSpPr>
              <p:spPr>
                <a:xfrm>
                  <a:off x="2734490" y="2655731"/>
                  <a:ext cx="1186259" cy="1916264"/>
                </a:xfrm>
                <a:prstGeom prst="ellipse">
                  <a:avLst/>
                </a:prstGeom>
                <a:noFill/>
                <a:ln w="285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6" name="Oval 9">
                  <a:extLst>
                    <a:ext uri="{FF2B5EF4-FFF2-40B4-BE49-F238E27FC236}">
                      <a16:creationId xmlns:a16="http://schemas.microsoft.com/office/drawing/2014/main" id="{34F6E0A4-ED0E-1AF1-7A0E-065544764BD7}"/>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chemeClr val="accent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grpSp>
      <p:cxnSp>
        <p:nvCxnSpPr>
          <p:cNvPr id="26" name="Straight Arrow Connector 25">
            <a:extLst>
              <a:ext uri="{FF2B5EF4-FFF2-40B4-BE49-F238E27FC236}">
                <a16:creationId xmlns:a16="http://schemas.microsoft.com/office/drawing/2014/main" id="{B11328BF-B346-44AE-79AB-633DB39EA227}"/>
              </a:ext>
            </a:extLst>
          </p:cNvPr>
          <p:cNvCxnSpPr/>
          <p:nvPr/>
        </p:nvCxnSpPr>
        <p:spPr>
          <a:xfrm flipV="1">
            <a:off x="10423552" y="1315274"/>
            <a:ext cx="343520" cy="737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C8688FB-50FA-4179-798F-7AFE02A8099E}"/>
              </a:ext>
            </a:extLst>
          </p:cNvPr>
          <p:cNvCxnSpPr>
            <a:cxnSpLocks/>
          </p:cNvCxnSpPr>
          <p:nvPr/>
        </p:nvCxnSpPr>
        <p:spPr>
          <a:xfrm>
            <a:off x="10423552" y="2052912"/>
            <a:ext cx="556264" cy="4038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Arc 28">
            <a:extLst>
              <a:ext uri="{FF2B5EF4-FFF2-40B4-BE49-F238E27FC236}">
                <a16:creationId xmlns:a16="http://schemas.microsoft.com/office/drawing/2014/main" id="{8383637D-A54A-37A6-B8EF-D81568D8BC36}"/>
              </a:ext>
            </a:extLst>
          </p:cNvPr>
          <p:cNvSpPr/>
          <p:nvPr/>
        </p:nvSpPr>
        <p:spPr>
          <a:xfrm>
            <a:off x="10316050" y="1866901"/>
            <a:ext cx="237650" cy="440522"/>
          </a:xfrm>
          <a:prstGeom prst="arc">
            <a:avLst>
              <a:gd name="adj1" fmla="val 17264705"/>
              <a:gd name="adj2" fmla="val 182287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8B23A72-2C8D-1EE6-986D-7620318E8BBD}"/>
                  </a:ext>
                </a:extLst>
              </p:cNvPr>
              <p:cNvSpPr txBox="1"/>
              <p:nvPr/>
            </p:nvSpPr>
            <p:spPr>
              <a:xfrm>
                <a:off x="10466457" y="1741118"/>
                <a:ext cx="37414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𝜃</m:t>
                      </m:r>
                    </m:oMath>
                  </m:oMathPara>
                </a14:m>
                <a:endParaRPr lang="en-US" dirty="0"/>
              </a:p>
            </p:txBody>
          </p:sp>
        </mc:Choice>
        <mc:Fallback xmlns="">
          <p:sp>
            <p:nvSpPr>
              <p:cNvPr id="30" name="TextBox 29">
                <a:extLst>
                  <a:ext uri="{FF2B5EF4-FFF2-40B4-BE49-F238E27FC236}">
                    <a16:creationId xmlns:a16="http://schemas.microsoft.com/office/drawing/2014/main" id="{2E7BA46A-C675-362B-63D6-B6B4A5552A0E}"/>
                  </a:ext>
                </a:extLst>
              </p:cNvPr>
              <p:cNvSpPr txBox="1">
                <a:spLocks noRot="1" noChangeAspect="1" noMove="1" noResize="1" noEditPoints="1" noAdjustHandles="1" noChangeArrowheads="1" noChangeShapeType="1" noTextEdit="1"/>
              </p:cNvSpPr>
              <p:nvPr/>
            </p:nvSpPr>
            <p:spPr>
              <a:xfrm>
                <a:off x="10466457" y="1741118"/>
                <a:ext cx="374141" cy="369332"/>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48865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FEE90-9540-0F31-F1B2-2A0386402E1F}"/>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6EA04CFD-1EE4-6163-B7D9-5B77FB7B57BB}"/>
              </a:ext>
            </a:extLst>
          </p:cNvPr>
          <p:cNvSpPr/>
          <p:nvPr/>
        </p:nvSpPr>
        <p:spPr>
          <a:xfrm>
            <a:off x="7988847" y="438149"/>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9BDB842C-1265-9255-CD51-61C2FC717DAB}"/>
              </a:ext>
            </a:extLst>
          </p:cNvPr>
          <p:cNvCxnSpPr>
            <a:stCxn id="2" idx="2"/>
            <a:endCxn id="2" idx="6"/>
          </p:cNvCxnSpPr>
          <p:nvPr/>
        </p:nvCxnSpPr>
        <p:spPr>
          <a:xfrm>
            <a:off x="7988847" y="2004191"/>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30E39EAC-978C-B74E-5CFD-1323532D0065}"/>
              </a:ext>
            </a:extLst>
          </p:cNvPr>
          <p:cNvCxnSpPr>
            <a:cxnSpLocks/>
          </p:cNvCxnSpPr>
          <p:nvPr/>
        </p:nvCxnSpPr>
        <p:spPr>
          <a:xfrm>
            <a:off x="10774089" y="1023938"/>
            <a:ext cx="0" cy="1961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3A639E8-ABDB-7501-E336-9949A18FD697}"/>
              </a:ext>
            </a:extLst>
          </p:cNvPr>
          <p:cNvCxnSpPr/>
          <p:nvPr/>
        </p:nvCxnSpPr>
        <p:spPr>
          <a:xfrm flipV="1">
            <a:off x="9554888" y="1023938"/>
            <a:ext cx="1198837" cy="98025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89E68D8-87FF-7277-9CEA-4FC77CC1923E}"/>
              </a:ext>
            </a:extLst>
          </p:cNvPr>
          <p:cNvCxnSpPr>
            <a:cxnSpLocks/>
          </p:cNvCxnSpPr>
          <p:nvPr/>
        </p:nvCxnSpPr>
        <p:spPr>
          <a:xfrm>
            <a:off x="9554888" y="2005028"/>
            <a:ext cx="1198837" cy="98025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FB47F27-0B39-DAF9-3704-29905C81FD08}"/>
                  </a:ext>
                </a:extLst>
              </p:cNvPr>
              <p:cNvSpPr txBox="1"/>
              <p:nvPr/>
            </p:nvSpPr>
            <p:spPr>
              <a:xfrm>
                <a:off x="10753725" y="6671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9FB47F27-0B39-DAF9-3704-29905C81FD08}"/>
                  </a:ext>
                </a:extLst>
              </p:cNvPr>
              <p:cNvSpPr txBox="1">
                <a:spLocks noRot="1" noChangeAspect="1" noMove="1" noResize="1" noEditPoints="1" noAdjustHandles="1" noChangeArrowheads="1" noChangeShapeType="1" noTextEdit="1"/>
              </p:cNvSpPr>
              <p:nvPr/>
            </p:nvSpPr>
            <p:spPr>
              <a:xfrm>
                <a:off x="10753725" y="667172"/>
                <a:ext cx="402866" cy="369332"/>
              </a:xfrm>
              <a:prstGeom prst="rect">
                <a:avLst/>
              </a:prstGeom>
              <a:blipFill>
                <a:blip r:embed="rId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ADBBB7E-800E-0D6C-4D3F-51A13C202A88}"/>
                  </a:ext>
                </a:extLst>
              </p:cNvPr>
              <p:cNvSpPr txBox="1"/>
              <p:nvPr/>
            </p:nvSpPr>
            <p:spPr>
              <a:xfrm>
                <a:off x="10774089" y="288821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3" name="TextBox 12">
                <a:extLst>
                  <a:ext uri="{FF2B5EF4-FFF2-40B4-BE49-F238E27FC236}">
                    <a16:creationId xmlns:a16="http://schemas.microsoft.com/office/drawing/2014/main" id="{DADBBB7E-800E-0D6C-4D3F-51A13C202A88}"/>
                  </a:ext>
                </a:extLst>
              </p:cNvPr>
              <p:cNvSpPr txBox="1">
                <a:spLocks noRot="1" noChangeAspect="1" noMove="1" noResize="1" noEditPoints="1" noAdjustHandles="1" noChangeArrowheads="1" noChangeShapeType="1" noTextEdit="1"/>
              </p:cNvSpPr>
              <p:nvPr/>
            </p:nvSpPr>
            <p:spPr>
              <a:xfrm>
                <a:off x="10774089" y="2888218"/>
                <a:ext cx="39959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8CF22F-E781-57F0-921B-1FD58A099A3B}"/>
                  </a:ext>
                </a:extLst>
              </p:cNvPr>
              <p:cNvSpPr txBox="1"/>
              <p:nvPr/>
            </p:nvSpPr>
            <p:spPr>
              <a:xfrm>
                <a:off x="11120930" y="1819524"/>
                <a:ext cx="367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4" name="TextBox 13">
                <a:extLst>
                  <a:ext uri="{FF2B5EF4-FFF2-40B4-BE49-F238E27FC236}">
                    <a16:creationId xmlns:a16="http://schemas.microsoft.com/office/drawing/2014/main" id="{C98CF22F-E781-57F0-921B-1FD58A099A3B}"/>
                  </a:ext>
                </a:extLst>
              </p:cNvPr>
              <p:cNvSpPr txBox="1">
                <a:spLocks noRot="1" noChangeAspect="1" noMove="1" noResize="1" noEditPoints="1" noAdjustHandles="1" noChangeArrowheads="1" noChangeShapeType="1" noTextEdit="1"/>
              </p:cNvSpPr>
              <p:nvPr/>
            </p:nvSpPr>
            <p:spPr>
              <a:xfrm>
                <a:off x="11120930" y="1819524"/>
                <a:ext cx="367665"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2DE0389-1E8C-4546-455E-D6BA6128F33B}"/>
                  </a:ext>
                </a:extLst>
              </p:cNvPr>
              <p:cNvSpPr txBox="1"/>
              <p:nvPr/>
            </p:nvSpPr>
            <p:spPr>
              <a:xfrm>
                <a:off x="7577280" y="1819524"/>
                <a:ext cx="3714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5" name="TextBox 14">
                <a:extLst>
                  <a:ext uri="{FF2B5EF4-FFF2-40B4-BE49-F238E27FC236}">
                    <a16:creationId xmlns:a16="http://schemas.microsoft.com/office/drawing/2014/main" id="{42DE0389-1E8C-4546-455E-D6BA6128F33B}"/>
                  </a:ext>
                </a:extLst>
              </p:cNvPr>
              <p:cNvSpPr txBox="1">
                <a:spLocks noRot="1" noChangeAspect="1" noMove="1" noResize="1" noEditPoints="1" noAdjustHandles="1" noChangeArrowheads="1" noChangeShapeType="1" noTextEdit="1"/>
              </p:cNvSpPr>
              <p:nvPr/>
            </p:nvSpPr>
            <p:spPr>
              <a:xfrm>
                <a:off x="7577280" y="1819524"/>
                <a:ext cx="37144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4D3B147-9D2F-4292-8E51-1DFE614D0FE1}"/>
                  </a:ext>
                </a:extLst>
              </p:cNvPr>
              <p:cNvSpPr txBox="1"/>
              <p:nvPr/>
            </p:nvSpPr>
            <p:spPr>
              <a:xfrm>
                <a:off x="10730335" y="160653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B4D3B147-9D2F-4292-8E51-1DFE614D0FE1}"/>
                  </a:ext>
                </a:extLst>
              </p:cNvPr>
              <p:cNvSpPr txBox="1">
                <a:spLocks noRot="1" noChangeAspect="1" noMove="1" noResize="1" noEditPoints="1" noAdjustHandles="1" noChangeArrowheads="1" noChangeShapeType="1" noTextEdit="1"/>
              </p:cNvSpPr>
              <p:nvPr/>
            </p:nvSpPr>
            <p:spPr>
              <a:xfrm>
                <a:off x="10730335" y="1606533"/>
                <a:ext cx="370230" cy="369332"/>
              </a:xfrm>
              <a:prstGeom prst="rect">
                <a:avLst/>
              </a:prstGeom>
              <a:blipFill>
                <a:blip r:embed="rId6"/>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33A317A-86BA-F4C7-05D2-75CAB45975CF}"/>
                  </a:ext>
                </a:extLst>
              </p:cNvPr>
              <p:cNvSpPr txBox="1"/>
              <p:nvPr/>
            </p:nvSpPr>
            <p:spPr>
              <a:xfrm>
                <a:off x="2200275" y="4151257"/>
                <a:ext cx="4789709" cy="117564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b="0" i="1" smtClean="0">
                                  <a:latin typeface="Cambria Math" panose="02040503050406030204" pitchFamily="18" charset="0"/>
                                </a:rPr>
                              </m:ctrlPr>
                            </m:barPr>
                            <m:e>
                              <m:r>
                                <a:rPr lang="en-US" sz="3200" b="0" i="1" smtClean="0">
                                  <a:latin typeface="Cambria Math" panose="02040503050406030204" pitchFamily="18" charset="0"/>
                                </a:rPr>
                                <m:t>𝑎</m:t>
                              </m:r>
                              <m:r>
                                <a:rPr lang="en-US" sz="3200" b="0" i="1" smtClean="0">
                                  <a:latin typeface="Cambria Math" panose="02040503050406030204" pitchFamily="18" charset="0"/>
                                </a:rPr>
                                <m:t>𝜌</m:t>
                              </m:r>
                            </m:e>
                          </m:bar>
                        </m:num>
                        <m:den>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bar>
                            <m:barPr>
                              <m:pos m:val="top"/>
                              <m:ctrlPr>
                                <a:rPr lang="en-US" sz="3200" i="1">
                                  <a:latin typeface="Cambria Math" panose="02040503050406030204" pitchFamily="18" charset="0"/>
                                </a:rPr>
                              </m:ctrlPr>
                            </m:barPr>
                            <m:e>
                              <m:r>
                                <a:rPr lang="en-US" sz="3200" i="1">
                                  <a:latin typeface="Cambria Math" panose="02040503050406030204" pitchFamily="18" charset="0"/>
                                </a:rPr>
                                <m:t>𝜌</m:t>
                              </m:r>
                              <m:r>
                                <a:rPr lang="en-US" sz="3200" b="0" i="1" smtClean="0">
                                  <a:latin typeface="Cambria Math" panose="02040503050406030204" pitchFamily="18" charset="0"/>
                                </a:rPr>
                                <m:t>𝑏</m:t>
                              </m:r>
                            </m:e>
                          </m:bar>
                        </m:num>
                        <m:den>
                          <m:acc>
                            <m:accPr>
                              <m:chr m:val="̅"/>
                              <m:ctrlPr>
                                <a:rPr lang="en-US" sz="3200" i="1">
                                  <a:latin typeface="Cambria Math" panose="02040503050406030204" pitchFamily="18" charset="0"/>
                                </a:rPr>
                              </m:ctrlPr>
                            </m:accPr>
                            <m:e>
                              <m:r>
                                <a:rPr lang="en-US" sz="3200" b="0" i="1" smtClean="0">
                                  <a:latin typeface="Cambria Math" panose="02040503050406030204" pitchFamily="18" charset="0"/>
                                </a:rPr>
                                <m:t>𝑎𝑏</m:t>
                              </m:r>
                            </m:e>
                          </m:acc>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3" name="TextBox 2">
                <a:extLst>
                  <a:ext uri="{FF2B5EF4-FFF2-40B4-BE49-F238E27FC236}">
                    <a16:creationId xmlns:a16="http://schemas.microsoft.com/office/drawing/2014/main" id="{533A317A-86BA-F4C7-05D2-75CAB45975CF}"/>
                  </a:ext>
                </a:extLst>
              </p:cNvPr>
              <p:cNvSpPr txBox="1">
                <a:spLocks noRot="1" noChangeAspect="1" noMove="1" noResize="1" noEditPoints="1" noAdjustHandles="1" noChangeArrowheads="1" noChangeShapeType="1" noTextEdit="1"/>
              </p:cNvSpPr>
              <p:nvPr/>
            </p:nvSpPr>
            <p:spPr>
              <a:xfrm>
                <a:off x="2200275" y="4151257"/>
                <a:ext cx="4789709" cy="11756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7120C9C-D412-4867-ABE0-A5650242BC2E}"/>
                  </a:ext>
                </a:extLst>
              </p:cNvPr>
              <p:cNvSpPr txBox="1"/>
              <p:nvPr/>
            </p:nvSpPr>
            <p:spPr>
              <a:xfrm>
                <a:off x="695325" y="374784"/>
                <a:ext cx="6086025" cy="584775"/>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𝜌</m:t>
                    </m:r>
                  </m:oMath>
                </a14:m>
                <a:r>
                  <a:rPr lang="en-US" sz="3200" dirty="0"/>
                  <a:t> is the midpoint between </a:t>
                </a:r>
                <a14:m>
                  <m:oMath xmlns:m="http://schemas.openxmlformats.org/officeDocument/2006/math">
                    <m:r>
                      <a:rPr lang="en-US" sz="3200" b="0" i="1" smtClean="0">
                        <a:latin typeface="Cambria Math" panose="02040503050406030204" pitchFamily="18" charset="0"/>
                      </a:rPr>
                      <m:t>𝜓</m:t>
                    </m:r>
                  </m:oMath>
                </a14:m>
                <a:r>
                  <a:rPr lang="en-US" sz="3200" dirty="0"/>
                  <a:t> and </a:t>
                </a:r>
                <a14:m>
                  <m:oMath xmlns:m="http://schemas.openxmlformats.org/officeDocument/2006/math">
                    <m:r>
                      <a:rPr lang="en-US" sz="3200" b="0" i="1" smtClean="0">
                        <a:latin typeface="Cambria Math" panose="02040503050406030204" pitchFamily="18" charset="0"/>
                      </a:rPr>
                      <m:t>𝜙</m:t>
                    </m:r>
                  </m:oMath>
                </a14:m>
                <a:endParaRPr lang="en-US" sz="3200" dirty="0"/>
              </a:p>
            </p:txBody>
          </p:sp>
        </mc:Choice>
        <mc:Fallback xmlns="">
          <p:sp>
            <p:nvSpPr>
              <p:cNvPr id="7" name="TextBox 6">
                <a:extLst>
                  <a:ext uri="{FF2B5EF4-FFF2-40B4-BE49-F238E27FC236}">
                    <a16:creationId xmlns:a16="http://schemas.microsoft.com/office/drawing/2014/main" id="{27120C9C-D412-4867-ABE0-A5650242BC2E}"/>
                  </a:ext>
                </a:extLst>
              </p:cNvPr>
              <p:cNvSpPr txBox="1">
                <a:spLocks noRot="1" noChangeAspect="1" noMove="1" noResize="1" noEditPoints="1" noAdjustHandles="1" noChangeArrowheads="1" noChangeShapeType="1" noTextEdit="1"/>
              </p:cNvSpPr>
              <p:nvPr/>
            </p:nvSpPr>
            <p:spPr>
              <a:xfrm>
                <a:off x="695325" y="374784"/>
                <a:ext cx="6086025" cy="584775"/>
              </a:xfrm>
              <a:prstGeom prst="rect">
                <a:avLst/>
              </a:prstGeom>
              <a:blipFill>
                <a:blip r:embed="rId8"/>
                <a:stretch>
                  <a:fillRect t="-12500"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4B52000-F466-A359-8FCD-23374539D62E}"/>
                  </a:ext>
                </a:extLst>
              </p:cNvPr>
              <p:cNvSpPr txBox="1"/>
              <p:nvPr/>
            </p:nvSpPr>
            <p:spPr>
              <a:xfrm>
                <a:off x="660380" y="1361664"/>
                <a:ext cx="5759334" cy="584775"/>
              </a:xfrm>
              <a:prstGeom prst="rect">
                <a:avLst/>
              </a:prstGeom>
              <a:noFill/>
            </p:spPr>
            <p:txBody>
              <a:bodyPr wrap="none" rtlCol="0">
                <a:spAutoFit/>
              </a:bodyPr>
              <a:lstStyle/>
              <a:p>
                <a14:m>
                  <m:oMath xmlns:m="http://schemas.openxmlformats.org/officeDocument/2006/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𝑎</m:t>
                        </m:r>
                      </m:e>
                    </m:d>
                  </m:oMath>
                </a14:m>
                <a:r>
                  <a:rPr lang="en-US" sz="3200" dirty="0"/>
                  <a:t> and </a:t>
                </a:r>
                <a14:m>
                  <m:oMath xmlns:m="http://schemas.openxmlformats.org/officeDocument/2006/math">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oMath>
                </a14:m>
                <a:r>
                  <a:rPr lang="en-US" sz="3200" dirty="0"/>
                  <a:t> are orthogonal states </a:t>
                </a:r>
              </a:p>
            </p:txBody>
          </p:sp>
        </mc:Choice>
        <mc:Fallback xmlns="">
          <p:sp>
            <p:nvSpPr>
              <p:cNvPr id="10" name="TextBox 9">
                <a:extLst>
                  <a:ext uri="{FF2B5EF4-FFF2-40B4-BE49-F238E27FC236}">
                    <a16:creationId xmlns:a16="http://schemas.microsoft.com/office/drawing/2014/main" id="{04B52000-F466-A359-8FCD-23374539D62E}"/>
                  </a:ext>
                </a:extLst>
              </p:cNvPr>
              <p:cNvSpPr txBox="1">
                <a:spLocks noRot="1" noChangeAspect="1" noMove="1" noResize="1" noEditPoints="1" noAdjustHandles="1" noChangeArrowheads="1" noChangeShapeType="1" noTextEdit="1"/>
              </p:cNvSpPr>
              <p:nvPr/>
            </p:nvSpPr>
            <p:spPr>
              <a:xfrm>
                <a:off x="660380" y="1361664"/>
                <a:ext cx="5759334" cy="584775"/>
              </a:xfrm>
              <a:prstGeom prst="rect">
                <a:avLst/>
              </a:prstGeom>
              <a:blipFill>
                <a:blip r:embed="rId9"/>
                <a:stretch>
                  <a:fillRect t="-12500" r="-1693"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90D7254-B170-6575-31FA-3983BA19D65B}"/>
                  </a:ext>
                </a:extLst>
              </p:cNvPr>
              <p:cNvSpPr txBox="1"/>
              <p:nvPr/>
            </p:nvSpPr>
            <p:spPr>
              <a:xfrm>
                <a:off x="660379" y="2329130"/>
                <a:ext cx="7109447" cy="1077218"/>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𝜌</m:t>
                    </m:r>
                  </m:oMath>
                </a14:m>
                <a:r>
                  <a:rPr lang="en-US" sz="3200" dirty="0"/>
                  <a:t> is a convex combination of </a:t>
                </a:r>
                <a14:m>
                  <m:oMath xmlns:m="http://schemas.openxmlformats.org/officeDocument/2006/math">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r>
                      <a:rPr lang="en-US" sz="3200" i="1">
                        <a:latin typeface="Cambria Math" panose="02040503050406030204" pitchFamily="18" charset="0"/>
                      </a:rPr>
                      <m:t> </m:t>
                    </m:r>
                  </m:oMath>
                </a14:m>
                <a:r>
                  <a:rPr lang="en-US" sz="3200" dirty="0"/>
                  <a:t>and </a:t>
                </a:r>
                <a14:m>
                  <m:oMath xmlns:m="http://schemas.openxmlformats.org/officeDocument/2006/math">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oMath>
                </a14:m>
                <a:r>
                  <a:rPr lang="en-US" sz="3200" dirty="0"/>
                  <a:t>:</a:t>
                </a:r>
              </a:p>
              <a:p>
                <a14:m>
                  <m:oMath xmlns:m="http://schemas.openxmlformats.org/officeDocument/2006/math">
                    <m:d>
                      <m:dPr>
                        <m:begChr m:val="|"/>
                        <m:endChr m:val="⟩"/>
                        <m:ctrlPr>
                          <a:rPr lang="en-US" sz="3200" i="1" smtClean="0">
                            <a:latin typeface="Cambria Math" panose="02040503050406030204" pitchFamily="18" charset="0"/>
                          </a:rPr>
                        </m:ctrlPr>
                      </m:dPr>
                      <m:e>
                        <m:r>
                          <a:rPr lang="en-US" sz="3200" b="0" i="1" smtClean="0">
                            <a:latin typeface="Cambria Math" panose="02040503050406030204" pitchFamily="18" charset="0"/>
                          </a:rPr>
                          <m:t>𝑎</m:t>
                        </m:r>
                      </m:e>
                    </m:d>
                    <m:r>
                      <a:rPr lang="en-US" sz="3200" i="1">
                        <a:latin typeface="Cambria Math" panose="02040503050406030204" pitchFamily="18" charset="0"/>
                      </a:rPr>
                      <m:t> </m:t>
                    </m:r>
                  </m:oMath>
                </a14:m>
                <a:r>
                  <a:rPr lang="en-US" sz="3200" dirty="0"/>
                  <a:t>and </a:t>
                </a:r>
                <a14:m>
                  <m:oMath xmlns:m="http://schemas.openxmlformats.org/officeDocument/2006/math">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oMath>
                </a14:m>
                <a:r>
                  <a:rPr lang="en-US" sz="3200" dirty="0"/>
                  <a:t> diagonalize </a:t>
                </a:r>
                <a14:m>
                  <m:oMath xmlns:m="http://schemas.openxmlformats.org/officeDocument/2006/math">
                    <m:r>
                      <a:rPr lang="en-US" sz="3200" b="0" i="1" smtClean="0">
                        <a:latin typeface="Cambria Math" panose="02040503050406030204" pitchFamily="18" charset="0"/>
                      </a:rPr>
                      <m:t>𝜌</m:t>
                    </m:r>
                  </m:oMath>
                </a14:m>
                <a:endParaRPr lang="en-US" sz="3200" dirty="0"/>
              </a:p>
            </p:txBody>
          </p:sp>
        </mc:Choice>
        <mc:Fallback xmlns="">
          <p:sp>
            <p:nvSpPr>
              <p:cNvPr id="11" name="TextBox 10">
                <a:extLst>
                  <a:ext uri="{FF2B5EF4-FFF2-40B4-BE49-F238E27FC236}">
                    <a16:creationId xmlns:a16="http://schemas.microsoft.com/office/drawing/2014/main" id="{E90D7254-B170-6575-31FA-3983BA19D65B}"/>
                  </a:ext>
                </a:extLst>
              </p:cNvPr>
              <p:cNvSpPr txBox="1">
                <a:spLocks noRot="1" noChangeAspect="1" noMove="1" noResize="1" noEditPoints="1" noAdjustHandles="1" noChangeArrowheads="1" noChangeShapeType="1" noTextEdit="1"/>
              </p:cNvSpPr>
              <p:nvPr/>
            </p:nvSpPr>
            <p:spPr>
              <a:xfrm>
                <a:off x="660379" y="2329130"/>
                <a:ext cx="7109447" cy="1077218"/>
              </a:xfrm>
              <a:prstGeom prst="rect">
                <a:avLst/>
              </a:prstGeom>
              <a:blipFill>
                <a:blip r:embed="rId10"/>
                <a:stretch>
                  <a:fillRect t="-6780" b="-180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C2D94AE-E367-F911-F447-CD37E54BEFA1}"/>
                  </a:ext>
                </a:extLst>
              </p:cNvPr>
              <p:cNvSpPr txBox="1"/>
              <p:nvPr/>
            </p:nvSpPr>
            <p:spPr>
              <a:xfrm>
                <a:off x="9292918" y="1634858"/>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8C2D94AE-E367-F911-F447-CD37E54BEFA1}"/>
                  </a:ext>
                </a:extLst>
              </p:cNvPr>
              <p:cNvSpPr txBox="1">
                <a:spLocks noRot="1" noChangeAspect="1" noMove="1" noResize="1" noEditPoints="1" noAdjustHandles="1" noChangeArrowheads="1" noChangeShapeType="1" noTextEdit="1"/>
              </p:cNvSpPr>
              <p:nvPr/>
            </p:nvSpPr>
            <p:spPr>
              <a:xfrm>
                <a:off x="9292918" y="1634858"/>
                <a:ext cx="385555" cy="369332"/>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226273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22155-A883-9B2E-6109-213F1E02306E}"/>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24DA0B22-5925-56F0-6342-583F97E784D5}"/>
              </a:ext>
            </a:extLst>
          </p:cNvPr>
          <p:cNvSpPr/>
          <p:nvPr/>
        </p:nvSpPr>
        <p:spPr>
          <a:xfrm>
            <a:off x="7988847" y="438149"/>
            <a:ext cx="3132083" cy="3132083"/>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BD88BB0A-E518-1550-535F-E3B5C5E016DB}"/>
              </a:ext>
            </a:extLst>
          </p:cNvPr>
          <p:cNvCxnSpPr>
            <a:stCxn id="2" idx="2"/>
            <a:endCxn id="2" idx="6"/>
          </p:cNvCxnSpPr>
          <p:nvPr/>
        </p:nvCxnSpPr>
        <p:spPr>
          <a:xfrm>
            <a:off x="7988847" y="2004191"/>
            <a:ext cx="313208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5CA8812-EE56-1A93-17E6-BCE0AA366F39}"/>
              </a:ext>
            </a:extLst>
          </p:cNvPr>
          <p:cNvCxnSpPr>
            <a:cxnSpLocks/>
          </p:cNvCxnSpPr>
          <p:nvPr/>
        </p:nvCxnSpPr>
        <p:spPr>
          <a:xfrm>
            <a:off x="10774089" y="1023938"/>
            <a:ext cx="0" cy="1961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F708816-A823-2116-B4AA-B10B1634870C}"/>
              </a:ext>
            </a:extLst>
          </p:cNvPr>
          <p:cNvCxnSpPr/>
          <p:nvPr/>
        </p:nvCxnSpPr>
        <p:spPr>
          <a:xfrm flipV="1">
            <a:off x="9554888" y="1023938"/>
            <a:ext cx="1198837" cy="98025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E9B571A-49F2-911E-BBFD-B39BA370155F}"/>
              </a:ext>
            </a:extLst>
          </p:cNvPr>
          <p:cNvCxnSpPr>
            <a:cxnSpLocks/>
          </p:cNvCxnSpPr>
          <p:nvPr/>
        </p:nvCxnSpPr>
        <p:spPr>
          <a:xfrm>
            <a:off x="9554888" y="2005028"/>
            <a:ext cx="1198837" cy="98025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3D96797-EE41-3B15-9AFF-97CBEB575984}"/>
                  </a:ext>
                </a:extLst>
              </p:cNvPr>
              <p:cNvSpPr txBox="1"/>
              <p:nvPr/>
            </p:nvSpPr>
            <p:spPr>
              <a:xfrm>
                <a:off x="10753725" y="667172"/>
                <a:ext cx="4028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𝜓</m:t>
                      </m:r>
                    </m:oMath>
                  </m:oMathPara>
                </a14:m>
                <a:endParaRPr lang="en-US" dirty="0"/>
              </a:p>
            </p:txBody>
          </p:sp>
        </mc:Choice>
        <mc:Fallback xmlns="">
          <p:sp>
            <p:nvSpPr>
              <p:cNvPr id="12" name="TextBox 11">
                <a:extLst>
                  <a:ext uri="{FF2B5EF4-FFF2-40B4-BE49-F238E27FC236}">
                    <a16:creationId xmlns:a16="http://schemas.microsoft.com/office/drawing/2014/main" id="{13D96797-EE41-3B15-9AFF-97CBEB575984}"/>
                  </a:ext>
                </a:extLst>
              </p:cNvPr>
              <p:cNvSpPr txBox="1">
                <a:spLocks noRot="1" noChangeAspect="1" noMove="1" noResize="1" noEditPoints="1" noAdjustHandles="1" noChangeArrowheads="1" noChangeShapeType="1" noTextEdit="1"/>
              </p:cNvSpPr>
              <p:nvPr/>
            </p:nvSpPr>
            <p:spPr>
              <a:xfrm>
                <a:off x="10753725" y="667172"/>
                <a:ext cx="402866" cy="369332"/>
              </a:xfrm>
              <a:prstGeom prst="rect">
                <a:avLst/>
              </a:prstGeom>
              <a:blipFill>
                <a:blip r:embed="rId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0055FC5-B1EB-5FD3-0875-199BB2ECAE62}"/>
                  </a:ext>
                </a:extLst>
              </p:cNvPr>
              <p:cNvSpPr txBox="1"/>
              <p:nvPr/>
            </p:nvSpPr>
            <p:spPr>
              <a:xfrm>
                <a:off x="10774089" y="288821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𝜙</m:t>
                      </m:r>
                    </m:oMath>
                  </m:oMathPara>
                </a14:m>
                <a:endParaRPr lang="en-US" dirty="0"/>
              </a:p>
            </p:txBody>
          </p:sp>
        </mc:Choice>
        <mc:Fallback xmlns="">
          <p:sp>
            <p:nvSpPr>
              <p:cNvPr id="13" name="TextBox 12">
                <a:extLst>
                  <a:ext uri="{FF2B5EF4-FFF2-40B4-BE49-F238E27FC236}">
                    <a16:creationId xmlns:a16="http://schemas.microsoft.com/office/drawing/2014/main" id="{D0055FC5-B1EB-5FD3-0875-199BB2ECAE62}"/>
                  </a:ext>
                </a:extLst>
              </p:cNvPr>
              <p:cNvSpPr txBox="1">
                <a:spLocks noRot="1" noChangeAspect="1" noMove="1" noResize="1" noEditPoints="1" noAdjustHandles="1" noChangeArrowheads="1" noChangeShapeType="1" noTextEdit="1"/>
              </p:cNvSpPr>
              <p:nvPr/>
            </p:nvSpPr>
            <p:spPr>
              <a:xfrm>
                <a:off x="10774089" y="2888218"/>
                <a:ext cx="39959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E5C0677-74D2-16E0-B7E9-4F638F2F508D}"/>
                  </a:ext>
                </a:extLst>
              </p:cNvPr>
              <p:cNvSpPr txBox="1"/>
              <p:nvPr/>
            </p:nvSpPr>
            <p:spPr>
              <a:xfrm>
                <a:off x="11120930" y="1819524"/>
                <a:ext cx="367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4" name="TextBox 13">
                <a:extLst>
                  <a:ext uri="{FF2B5EF4-FFF2-40B4-BE49-F238E27FC236}">
                    <a16:creationId xmlns:a16="http://schemas.microsoft.com/office/drawing/2014/main" id="{5E5C0677-74D2-16E0-B7E9-4F638F2F508D}"/>
                  </a:ext>
                </a:extLst>
              </p:cNvPr>
              <p:cNvSpPr txBox="1">
                <a:spLocks noRot="1" noChangeAspect="1" noMove="1" noResize="1" noEditPoints="1" noAdjustHandles="1" noChangeArrowheads="1" noChangeShapeType="1" noTextEdit="1"/>
              </p:cNvSpPr>
              <p:nvPr/>
            </p:nvSpPr>
            <p:spPr>
              <a:xfrm>
                <a:off x="11120930" y="1819524"/>
                <a:ext cx="367665"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683E3DB-A5DF-5AB7-F99F-8E54A60EB689}"/>
                  </a:ext>
                </a:extLst>
              </p:cNvPr>
              <p:cNvSpPr txBox="1"/>
              <p:nvPr/>
            </p:nvSpPr>
            <p:spPr>
              <a:xfrm>
                <a:off x="10730335" y="1606533"/>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6" name="TextBox 15">
                <a:extLst>
                  <a:ext uri="{FF2B5EF4-FFF2-40B4-BE49-F238E27FC236}">
                    <a16:creationId xmlns:a16="http://schemas.microsoft.com/office/drawing/2014/main" id="{9683E3DB-A5DF-5AB7-F99F-8E54A60EB689}"/>
                  </a:ext>
                </a:extLst>
              </p:cNvPr>
              <p:cNvSpPr txBox="1">
                <a:spLocks noRot="1" noChangeAspect="1" noMove="1" noResize="1" noEditPoints="1" noAdjustHandles="1" noChangeArrowheads="1" noChangeShapeType="1" noTextEdit="1"/>
              </p:cNvSpPr>
              <p:nvPr/>
            </p:nvSpPr>
            <p:spPr>
              <a:xfrm>
                <a:off x="10730335" y="1606533"/>
                <a:ext cx="370230" cy="369332"/>
              </a:xfrm>
              <a:prstGeom prst="rect">
                <a:avLst/>
              </a:prstGeom>
              <a:blipFill>
                <a:blip r:embed="rId5"/>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5DE0A2C-7FAB-6C85-3BBC-D870A95EDB26}"/>
                  </a:ext>
                </a:extLst>
              </p:cNvPr>
              <p:cNvSpPr txBox="1"/>
              <p:nvPr/>
            </p:nvSpPr>
            <p:spPr>
              <a:xfrm>
                <a:off x="9292918" y="1634858"/>
                <a:ext cx="3855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Para>
                </a14:m>
                <a:endParaRPr lang="en-US" dirty="0"/>
              </a:p>
            </p:txBody>
          </p:sp>
        </mc:Choice>
        <mc:Fallback xmlns="">
          <p:sp>
            <p:nvSpPr>
              <p:cNvPr id="19" name="TextBox 18">
                <a:extLst>
                  <a:ext uri="{FF2B5EF4-FFF2-40B4-BE49-F238E27FC236}">
                    <a16:creationId xmlns:a16="http://schemas.microsoft.com/office/drawing/2014/main" id="{45DE0A2C-7FAB-6C85-3BBC-D870A95EDB26}"/>
                  </a:ext>
                </a:extLst>
              </p:cNvPr>
              <p:cNvSpPr txBox="1">
                <a:spLocks noRot="1" noChangeAspect="1" noMove="1" noResize="1" noEditPoints="1" noAdjustHandles="1" noChangeArrowheads="1" noChangeShapeType="1" noTextEdit="1"/>
              </p:cNvSpPr>
              <p:nvPr/>
            </p:nvSpPr>
            <p:spPr>
              <a:xfrm>
                <a:off x="9292918" y="1634858"/>
                <a:ext cx="385555"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B7DE7BC-9012-339B-DB3E-97BF4332DDDB}"/>
                  </a:ext>
                </a:extLst>
              </p:cNvPr>
              <p:cNvSpPr txBox="1"/>
              <p:nvPr/>
            </p:nvSpPr>
            <p:spPr>
              <a:xfrm>
                <a:off x="7577280" y="1819524"/>
                <a:ext cx="37144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FB7DE7BC-9012-339B-DB3E-97BF4332DDDB}"/>
                  </a:ext>
                </a:extLst>
              </p:cNvPr>
              <p:cNvSpPr txBox="1">
                <a:spLocks noRot="1" noChangeAspect="1" noMove="1" noResize="1" noEditPoints="1" noAdjustHandles="1" noChangeArrowheads="1" noChangeShapeType="1" noTextEdit="1"/>
              </p:cNvSpPr>
              <p:nvPr/>
            </p:nvSpPr>
            <p:spPr>
              <a:xfrm>
                <a:off x="7577280" y="1819524"/>
                <a:ext cx="371448"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75598FF-0231-10BA-E37D-48D4854D3C9D}"/>
                  </a:ext>
                </a:extLst>
              </p:cNvPr>
              <p:cNvSpPr txBox="1"/>
              <p:nvPr/>
            </p:nvSpPr>
            <p:spPr>
              <a:xfrm>
                <a:off x="301856" y="293473"/>
                <a:ext cx="7812652" cy="10422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b="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𝑏</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i="1" smtClean="0">
                              <a:latin typeface="Cambria Math" panose="02040503050406030204" pitchFamily="18" charset="0"/>
                            </a:rPr>
                            <m:t>2</m:t>
                          </m:r>
                        </m:den>
                      </m:f>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𝑎</m:t>
                          </m:r>
                        </m:e>
                      </m:d>
                    </m:oMath>
                  </m:oMathPara>
                </a14:m>
                <a:endParaRPr lang="en-US" sz="3200" dirty="0"/>
              </a:p>
            </p:txBody>
          </p:sp>
        </mc:Choice>
        <mc:Fallback xmlns="">
          <p:sp>
            <p:nvSpPr>
              <p:cNvPr id="20" name="TextBox 19">
                <a:extLst>
                  <a:ext uri="{FF2B5EF4-FFF2-40B4-BE49-F238E27FC236}">
                    <a16:creationId xmlns:a16="http://schemas.microsoft.com/office/drawing/2014/main" id="{275598FF-0231-10BA-E37D-48D4854D3C9D}"/>
                  </a:ext>
                </a:extLst>
              </p:cNvPr>
              <p:cNvSpPr txBox="1">
                <a:spLocks noRot="1" noChangeAspect="1" noMove="1" noResize="1" noEditPoints="1" noAdjustHandles="1" noChangeArrowheads="1" noChangeShapeType="1" noTextEdit="1"/>
              </p:cNvSpPr>
              <p:nvPr/>
            </p:nvSpPr>
            <p:spPr>
              <a:xfrm>
                <a:off x="301856" y="293473"/>
                <a:ext cx="7812652" cy="104220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782F86-F938-43B9-F5E6-011AC9B51A6C}"/>
                  </a:ext>
                </a:extLst>
              </p:cNvPr>
              <p:cNvSpPr txBox="1"/>
              <p:nvPr/>
            </p:nvSpPr>
            <p:spPr>
              <a:xfrm>
                <a:off x="301856" y="1895727"/>
                <a:ext cx="6514668" cy="11988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𝑆</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𝜌</m:t>
                          </m:r>
                        </m:e>
                      </m:d>
                      <m:r>
                        <a:rPr lang="en-US" sz="3200" b="0" i="1" smtClean="0">
                          <a:latin typeface="Cambria Math" panose="02040503050406030204" pitchFamily="18" charset="0"/>
                        </a:rPr>
                        <m:t>=</m:t>
                      </m:r>
                      <m:r>
                        <a:rPr lang="en-US" sz="3200" b="0" i="1" smtClean="0">
                          <a:latin typeface="Cambria Math" panose="02040503050406030204" pitchFamily="18" charset="0"/>
                        </a:rPr>
                        <m:t>𝐼</m:t>
                      </m:r>
                      <m:d>
                        <m:dPr>
                          <m:ctrlPr>
                            <a:rPr lang="en-US" sz="3200" b="0" i="1" smtClean="0">
                              <a:latin typeface="Cambria Math" panose="02040503050406030204" pitchFamily="18" charset="0"/>
                            </a:rPr>
                          </m:ctrlPr>
                        </m:dPr>
                        <m:e>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b="0" i="1" smtClean="0">
                                  <a:latin typeface="Cambria Math" panose="02040503050406030204" pitchFamily="18" charset="0"/>
                                </a:rPr>
                                <m:t>2</m:t>
                              </m:r>
                            </m:den>
                          </m:f>
                          <m:r>
                            <a:rPr lang="en-US" sz="320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i="1" smtClean="0">
                                  <a:latin typeface="Cambria Math" panose="02040503050406030204" pitchFamily="18" charset="0"/>
                                </a:rPr>
                                <m:t>2</m:t>
                              </m:r>
                            </m:den>
                          </m:f>
                        </m:e>
                      </m:d>
                    </m:oMath>
                  </m:oMathPara>
                </a14:m>
                <a:endParaRPr lang="en-US" sz="3200" dirty="0"/>
              </a:p>
            </p:txBody>
          </p:sp>
        </mc:Choice>
        <mc:Fallback xmlns="">
          <p:sp>
            <p:nvSpPr>
              <p:cNvPr id="7" name="TextBox 6">
                <a:extLst>
                  <a:ext uri="{FF2B5EF4-FFF2-40B4-BE49-F238E27FC236}">
                    <a16:creationId xmlns:a16="http://schemas.microsoft.com/office/drawing/2014/main" id="{2F782F86-F938-43B9-F5E6-011AC9B51A6C}"/>
                  </a:ext>
                </a:extLst>
              </p:cNvPr>
              <p:cNvSpPr txBox="1">
                <a:spLocks noRot="1" noChangeAspect="1" noMove="1" noResize="1" noEditPoints="1" noAdjustHandles="1" noChangeArrowheads="1" noChangeShapeType="1" noTextEdit="1"/>
              </p:cNvSpPr>
              <p:nvPr/>
            </p:nvSpPr>
            <p:spPr>
              <a:xfrm>
                <a:off x="301856" y="1895727"/>
                <a:ext cx="6514668" cy="119885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68E6F01-7EEF-293F-61F7-F391A812D4A7}"/>
                  </a:ext>
                </a:extLst>
              </p:cNvPr>
              <p:cNvSpPr txBox="1"/>
              <p:nvPr/>
            </p:nvSpPr>
            <p:spPr>
              <a:xfrm>
                <a:off x="1027750" y="3311616"/>
                <a:ext cx="6850722" cy="6860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f>
                            <m:fPr>
                              <m:ctrlPr>
                                <a:rPr lang="en-US" sz="2000" i="1">
                                  <a:latin typeface="Cambria Math" panose="02040503050406030204" pitchFamily="18" charset="0"/>
                                </a:rPr>
                              </m:ctrlPr>
                            </m:fPr>
                            <m:num>
                              <m:r>
                                <a:rPr lang="en-US" sz="2000" i="1">
                                  <a:latin typeface="Cambria Math" panose="02040503050406030204" pitchFamily="18" charset="0"/>
                                </a:rPr>
                                <m:t>1+</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e>
                      </m:func>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func>
                        <m:funcPr>
                          <m:ctrlPr>
                            <a:rPr lang="en-US" sz="2000" i="1">
                              <a:latin typeface="Cambria Math" panose="02040503050406030204" pitchFamily="18" charset="0"/>
                            </a:rPr>
                          </m:ctrlPr>
                        </m:funcPr>
                        <m:fName>
                          <m:r>
                            <m:rPr>
                              <m:sty m:val="p"/>
                            </m:rPr>
                            <a:rPr lang="en-US" sz="2000">
                              <a:latin typeface="Cambria Math" panose="02040503050406030204" pitchFamily="18" charset="0"/>
                            </a:rPr>
                            <m:t>log</m:t>
                          </m:r>
                        </m:fName>
                        <m:e>
                          <m:f>
                            <m:fPr>
                              <m:ctrlPr>
                                <a:rPr lang="en-US" sz="2000" i="1">
                                  <a:latin typeface="Cambria Math" panose="02040503050406030204" pitchFamily="18" charset="0"/>
                                </a:rPr>
                              </m:ctrlPr>
                            </m:fPr>
                            <m:num>
                              <m:r>
                                <a:rPr lang="en-US" sz="2000" i="1">
                                  <a:latin typeface="Cambria Math" panose="02040503050406030204" pitchFamily="18" charset="0"/>
                                </a:rPr>
                                <m:t>1</m:t>
                              </m:r>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e>
                      </m:func>
                    </m:oMath>
                  </m:oMathPara>
                </a14:m>
                <a:endParaRPr lang="en-US" sz="2000" dirty="0"/>
              </a:p>
            </p:txBody>
          </p:sp>
        </mc:Choice>
        <mc:Fallback xmlns="">
          <p:sp>
            <p:nvSpPr>
              <p:cNvPr id="10" name="TextBox 9">
                <a:extLst>
                  <a:ext uri="{FF2B5EF4-FFF2-40B4-BE49-F238E27FC236}">
                    <a16:creationId xmlns:a16="http://schemas.microsoft.com/office/drawing/2014/main" id="{268E6F01-7EEF-293F-61F7-F391A812D4A7}"/>
                  </a:ext>
                </a:extLst>
              </p:cNvPr>
              <p:cNvSpPr txBox="1">
                <a:spLocks noRot="1" noChangeAspect="1" noMove="1" noResize="1" noEditPoints="1" noAdjustHandles="1" noChangeArrowheads="1" noChangeShapeType="1" noTextEdit="1"/>
              </p:cNvSpPr>
              <p:nvPr/>
            </p:nvSpPr>
            <p:spPr>
              <a:xfrm>
                <a:off x="1027750" y="3311616"/>
                <a:ext cx="6850722" cy="68602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3C16D49-BF9B-64AC-B6A1-1CC7DA5F2B8B}"/>
                  </a:ext>
                </a:extLst>
              </p:cNvPr>
              <p:cNvSpPr txBox="1"/>
              <p:nvPr/>
            </p:nvSpPr>
            <p:spPr>
              <a:xfrm>
                <a:off x="1999319" y="4450185"/>
                <a:ext cx="5470024" cy="830997"/>
              </a:xfrm>
              <a:prstGeom prst="rect">
                <a:avLst/>
              </a:prstGeom>
              <a:noFill/>
            </p:spPr>
            <p:txBody>
              <a:bodyPr wrap="none" rtlCol="0">
                <a:spAutoFit/>
              </a:bodyPr>
              <a:lstStyle/>
              <a:p>
                <a:r>
                  <a:rPr lang="en-US" sz="4800" b="0" dirty="0">
                    <a:solidFill>
                      <a:schemeClr val="accent6">
                        <a:lumMod val="75000"/>
                      </a:schemeClr>
                    </a:solidFill>
                  </a:rPr>
                  <a:t>Geometry </a:t>
                </a:r>
                <a14:m>
                  <m:oMath xmlns:m="http://schemas.openxmlformats.org/officeDocument/2006/math">
                    <m:r>
                      <a:rPr lang="en-US" sz="4800" b="0" i="1" smtClean="0">
                        <a:solidFill>
                          <a:schemeClr val="accent6">
                            <a:lumMod val="75000"/>
                          </a:schemeClr>
                        </a:solidFill>
                        <a:latin typeface="Cambria Math" panose="02040503050406030204" pitchFamily="18" charset="0"/>
                      </a:rPr>
                      <m:t>⇒</m:t>
                    </m:r>
                  </m:oMath>
                </a14:m>
                <a:r>
                  <a:rPr lang="en-US" sz="4800" dirty="0">
                    <a:solidFill>
                      <a:schemeClr val="accent6">
                        <a:lumMod val="75000"/>
                      </a:schemeClr>
                    </a:solidFill>
                  </a:rPr>
                  <a:t> Entropy</a:t>
                </a:r>
              </a:p>
            </p:txBody>
          </p:sp>
        </mc:Choice>
        <mc:Fallback xmlns="">
          <p:sp>
            <p:nvSpPr>
              <p:cNvPr id="15" name="TextBox 14">
                <a:extLst>
                  <a:ext uri="{FF2B5EF4-FFF2-40B4-BE49-F238E27FC236}">
                    <a16:creationId xmlns:a16="http://schemas.microsoft.com/office/drawing/2014/main" id="{C3C16D49-BF9B-64AC-B6A1-1CC7DA5F2B8B}"/>
                  </a:ext>
                </a:extLst>
              </p:cNvPr>
              <p:cNvSpPr txBox="1">
                <a:spLocks noRot="1" noChangeAspect="1" noMove="1" noResize="1" noEditPoints="1" noAdjustHandles="1" noChangeArrowheads="1" noChangeShapeType="1" noTextEdit="1"/>
              </p:cNvSpPr>
              <p:nvPr/>
            </p:nvSpPr>
            <p:spPr>
              <a:xfrm>
                <a:off x="1999319" y="4450185"/>
                <a:ext cx="5470024" cy="830997"/>
              </a:xfrm>
              <a:prstGeom prst="rect">
                <a:avLst/>
              </a:prstGeom>
              <a:blipFill>
                <a:blip r:embed="rId11"/>
                <a:stretch>
                  <a:fillRect l="-5128" t="-16176" r="-4125" b="-3897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AAFBE91F-CB06-8C7A-5868-AC833C2DA382}"/>
              </a:ext>
            </a:extLst>
          </p:cNvPr>
          <p:cNvSpPr txBox="1"/>
          <p:nvPr/>
        </p:nvSpPr>
        <p:spPr>
          <a:xfrm>
            <a:off x="6566702" y="4214673"/>
            <a:ext cx="2623539" cy="369332"/>
          </a:xfrm>
          <a:prstGeom prst="rect">
            <a:avLst/>
          </a:prstGeom>
          <a:noFill/>
        </p:spPr>
        <p:txBody>
          <a:bodyPr wrap="none" rtlCol="0">
            <a:spAutoFit/>
          </a:bodyPr>
          <a:lstStyle/>
          <a:p>
            <a:r>
              <a:rPr lang="en-US" dirty="0"/>
              <a:t>Can we go the other way?</a:t>
            </a:r>
          </a:p>
        </p:txBody>
      </p:sp>
    </p:spTree>
    <p:extLst>
      <p:ext uri="{BB962C8B-B14F-4D97-AF65-F5344CB8AC3E}">
        <p14:creationId xmlns:p14="http://schemas.microsoft.com/office/powerpoint/2010/main" val="17578562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12216-F610-A7DA-7723-522D650F8D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FFA05DA-66D0-84D3-2907-DDA66116AA00}"/>
                  </a:ext>
                </a:extLst>
              </p:cNvPr>
              <p:cNvSpPr txBox="1"/>
              <p:nvPr/>
            </p:nvSpPr>
            <p:spPr>
              <a:xfrm>
                <a:off x="202988" y="315210"/>
                <a:ext cx="6514668" cy="11988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𝑆</m:t>
                      </m:r>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𝜌</m:t>
                          </m:r>
                        </m:e>
                      </m:d>
                      <m:r>
                        <a:rPr lang="en-US" sz="3200" b="0" i="1" smtClean="0">
                          <a:latin typeface="Cambria Math" panose="02040503050406030204" pitchFamily="18" charset="0"/>
                        </a:rPr>
                        <m:t>=</m:t>
                      </m:r>
                      <m:r>
                        <a:rPr lang="en-US" sz="3200" b="0" i="1" smtClean="0">
                          <a:latin typeface="Cambria Math" panose="02040503050406030204" pitchFamily="18" charset="0"/>
                        </a:rPr>
                        <m:t>𝐼</m:t>
                      </m:r>
                      <m:d>
                        <m:dPr>
                          <m:ctrlPr>
                            <a:rPr lang="en-US" sz="3200" b="0" i="1" smtClean="0">
                              <a:latin typeface="Cambria Math" panose="02040503050406030204" pitchFamily="18" charset="0"/>
                            </a:rPr>
                          </m:ctrlPr>
                        </m:dPr>
                        <m:e>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b="0" i="1" smtClean="0">
                                  <a:latin typeface="Cambria Math" panose="02040503050406030204" pitchFamily="18" charset="0"/>
                                </a:rPr>
                                <m:t>2</m:t>
                              </m:r>
                            </m:den>
                          </m:f>
                          <m:r>
                            <a:rPr lang="en-US" sz="3200" i="1" smtClean="0">
                              <a:latin typeface="Cambria Math" panose="02040503050406030204" pitchFamily="18" charset="0"/>
                            </a:rPr>
                            <m:t>,</m:t>
                          </m:r>
                          <m:f>
                            <m:fPr>
                              <m:ctrlPr>
                                <a:rPr lang="en-US" sz="3200" i="1">
                                  <a:latin typeface="Cambria Math" panose="02040503050406030204" pitchFamily="18" charset="0"/>
                                </a:rPr>
                              </m:ctrlPr>
                            </m:fPr>
                            <m:num>
                              <m:r>
                                <a:rPr lang="en-US" sz="3200" b="0" i="1" smtClean="0">
                                  <a:latin typeface="Cambria Math" panose="02040503050406030204" pitchFamily="18" charset="0"/>
                                </a:rPr>
                                <m:t>1−</m:t>
                              </m:r>
                              <m:d>
                                <m:dPr>
                                  <m:begChr m:val="|"/>
                                  <m:endChr m:val="|"/>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𝜓</m:t>
                                      </m:r>
                                    </m:e>
                                    <m:e>
                                      <m:r>
                                        <a:rPr lang="en-US" sz="3200" i="1">
                                          <a:latin typeface="Cambria Math" panose="02040503050406030204" pitchFamily="18" charset="0"/>
                                        </a:rPr>
                                        <m:t>𝜙</m:t>
                                      </m:r>
                                    </m:e>
                                  </m:d>
                                </m:e>
                              </m:d>
                            </m:num>
                            <m:den>
                              <m:r>
                                <a:rPr lang="en-US" sz="3200" i="1" smtClean="0">
                                  <a:latin typeface="Cambria Math" panose="02040503050406030204" pitchFamily="18" charset="0"/>
                                </a:rPr>
                                <m:t>2</m:t>
                              </m:r>
                            </m:den>
                          </m:f>
                        </m:e>
                      </m:d>
                    </m:oMath>
                  </m:oMathPara>
                </a14:m>
                <a:endParaRPr lang="en-US" sz="3200" dirty="0"/>
              </a:p>
            </p:txBody>
          </p:sp>
        </mc:Choice>
        <mc:Fallback xmlns="">
          <p:sp>
            <p:nvSpPr>
              <p:cNvPr id="7" name="TextBox 6">
                <a:extLst>
                  <a:ext uri="{FF2B5EF4-FFF2-40B4-BE49-F238E27FC236}">
                    <a16:creationId xmlns:a16="http://schemas.microsoft.com/office/drawing/2014/main" id="{1FFA05DA-66D0-84D3-2907-DDA66116AA00}"/>
                  </a:ext>
                </a:extLst>
              </p:cNvPr>
              <p:cNvSpPr txBox="1">
                <a:spLocks noRot="1" noChangeAspect="1" noMove="1" noResize="1" noEditPoints="1" noAdjustHandles="1" noChangeArrowheads="1" noChangeShapeType="1" noTextEdit="1"/>
              </p:cNvSpPr>
              <p:nvPr/>
            </p:nvSpPr>
            <p:spPr>
              <a:xfrm>
                <a:off x="202988" y="315210"/>
                <a:ext cx="6514668" cy="11988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D87D68-80A4-9978-3C38-3A05D84184B6}"/>
                  </a:ext>
                </a:extLst>
              </p:cNvPr>
              <p:cNvSpPr txBox="1"/>
              <p:nvPr/>
            </p:nvSpPr>
            <p:spPr>
              <a:xfrm>
                <a:off x="772319" y="1780557"/>
                <a:ext cx="6850722" cy="6860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f>
                            <m:fPr>
                              <m:ctrlPr>
                                <a:rPr lang="en-US" sz="2000" i="1">
                                  <a:latin typeface="Cambria Math" panose="02040503050406030204" pitchFamily="18" charset="0"/>
                                </a:rPr>
                              </m:ctrlPr>
                            </m:fPr>
                            <m:num>
                              <m:r>
                                <a:rPr lang="en-US" sz="2000" i="1">
                                  <a:latin typeface="Cambria Math" panose="02040503050406030204" pitchFamily="18" charset="0"/>
                                </a:rPr>
                                <m:t>1+</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e>
                      </m:func>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func>
                        <m:funcPr>
                          <m:ctrlPr>
                            <a:rPr lang="en-US" sz="2000" i="1">
                              <a:latin typeface="Cambria Math" panose="02040503050406030204" pitchFamily="18" charset="0"/>
                            </a:rPr>
                          </m:ctrlPr>
                        </m:funcPr>
                        <m:fName>
                          <m:r>
                            <m:rPr>
                              <m:sty m:val="p"/>
                            </m:rPr>
                            <a:rPr lang="en-US" sz="2000">
                              <a:latin typeface="Cambria Math" panose="02040503050406030204" pitchFamily="18" charset="0"/>
                            </a:rPr>
                            <m:t>log</m:t>
                          </m:r>
                        </m:fName>
                        <m:e>
                          <m:f>
                            <m:fPr>
                              <m:ctrlPr>
                                <a:rPr lang="en-US" sz="2000" i="1">
                                  <a:latin typeface="Cambria Math" panose="02040503050406030204" pitchFamily="18" charset="0"/>
                                </a:rPr>
                              </m:ctrlPr>
                            </m:fPr>
                            <m:num>
                              <m:r>
                                <a:rPr lang="en-US" sz="2000" i="1">
                                  <a:latin typeface="Cambria Math" panose="02040503050406030204" pitchFamily="18" charset="0"/>
                                </a:rPr>
                                <m:t>1</m:t>
                              </m:r>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num>
                            <m:den>
                              <m:r>
                                <a:rPr lang="en-US" sz="2000" i="1">
                                  <a:latin typeface="Cambria Math" panose="02040503050406030204" pitchFamily="18" charset="0"/>
                                </a:rPr>
                                <m:t>2</m:t>
                              </m:r>
                            </m:den>
                          </m:f>
                        </m:e>
                      </m:func>
                    </m:oMath>
                  </m:oMathPara>
                </a14:m>
                <a:endParaRPr lang="en-US" sz="2000" dirty="0"/>
              </a:p>
            </p:txBody>
          </p:sp>
        </mc:Choice>
        <mc:Fallback xmlns="">
          <p:sp>
            <p:nvSpPr>
              <p:cNvPr id="10" name="TextBox 9">
                <a:extLst>
                  <a:ext uri="{FF2B5EF4-FFF2-40B4-BE49-F238E27FC236}">
                    <a16:creationId xmlns:a16="http://schemas.microsoft.com/office/drawing/2014/main" id="{C8D87D68-80A4-9978-3C38-3A05D84184B6}"/>
                  </a:ext>
                </a:extLst>
              </p:cNvPr>
              <p:cNvSpPr txBox="1">
                <a:spLocks noRot="1" noChangeAspect="1" noMove="1" noResize="1" noEditPoints="1" noAdjustHandles="1" noChangeArrowheads="1" noChangeShapeType="1" noTextEdit="1"/>
              </p:cNvSpPr>
              <p:nvPr/>
            </p:nvSpPr>
            <p:spPr>
              <a:xfrm>
                <a:off x="772319" y="1780557"/>
                <a:ext cx="6850722" cy="686022"/>
              </a:xfrm>
              <a:prstGeom prst="rect">
                <a:avLst/>
              </a:prstGeom>
              <a:blipFill>
                <a:blip r:embed="rId3"/>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A587E013-3113-903E-E776-A79F55FBFD18}"/>
              </a:ext>
            </a:extLst>
          </p:cNvPr>
          <p:cNvSpPr txBox="1"/>
          <p:nvPr/>
        </p:nvSpPr>
        <p:spPr>
          <a:xfrm>
            <a:off x="1531276" y="2877518"/>
            <a:ext cx="5332807" cy="707886"/>
          </a:xfrm>
          <a:prstGeom prst="rect">
            <a:avLst/>
          </a:prstGeom>
          <a:noFill/>
        </p:spPr>
        <p:txBody>
          <a:bodyPr wrap="none" rtlCol="0">
            <a:spAutoFit/>
          </a:bodyPr>
          <a:lstStyle/>
          <a:p>
            <a:r>
              <a:rPr lang="en-US" sz="4000" dirty="0"/>
              <a:t>The function is invertible</a:t>
            </a:r>
          </a:p>
        </p:txBody>
      </p:sp>
      <p:pic>
        <p:nvPicPr>
          <p:cNvPr id="5" name="Picture 4">
            <a:extLst>
              <a:ext uri="{FF2B5EF4-FFF2-40B4-BE49-F238E27FC236}">
                <a16:creationId xmlns:a16="http://schemas.microsoft.com/office/drawing/2014/main" id="{F4F9B23B-EFCC-13D8-A51C-CCDF6AE4E245}"/>
              </a:ext>
            </a:extLst>
          </p:cNvPr>
          <p:cNvPicPr>
            <a:picLocks noChangeAspect="1"/>
          </p:cNvPicPr>
          <p:nvPr/>
        </p:nvPicPr>
        <p:blipFill>
          <a:blip r:embed="rId4"/>
          <a:stretch>
            <a:fillRect/>
          </a:stretch>
        </p:blipFill>
        <p:spPr>
          <a:xfrm>
            <a:off x="8340629" y="315210"/>
            <a:ext cx="3470372" cy="3462539"/>
          </a:xfrm>
          <a:prstGeom prst="rect">
            <a:avLst/>
          </a:prstGeom>
        </p:spPr>
      </p:pic>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2A215DC-2A7E-E6AE-73FB-73C5D6BEE3FF}"/>
                  </a:ext>
                </a:extLst>
              </p:cNvPr>
              <p:cNvSpPr txBox="1"/>
              <p:nvPr/>
            </p:nvSpPr>
            <p:spPr>
              <a:xfrm>
                <a:off x="7772399" y="115155"/>
                <a:ext cx="743922"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𝑆</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𝜌</m:t>
                          </m:r>
                        </m:e>
                      </m:d>
                    </m:oMath>
                  </m:oMathPara>
                </a14:m>
                <a:endParaRPr lang="en-US" sz="2000" dirty="0"/>
              </a:p>
            </p:txBody>
          </p:sp>
        </mc:Choice>
        <mc:Fallback xmlns="">
          <p:sp>
            <p:nvSpPr>
              <p:cNvPr id="22" name="TextBox 21">
                <a:extLst>
                  <a:ext uri="{FF2B5EF4-FFF2-40B4-BE49-F238E27FC236}">
                    <a16:creationId xmlns:a16="http://schemas.microsoft.com/office/drawing/2014/main" id="{C2A215DC-2A7E-E6AE-73FB-73C5D6BEE3FF}"/>
                  </a:ext>
                </a:extLst>
              </p:cNvPr>
              <p:cNvSpPr txBox="1">
                <a:spLocks noRot="1" noChangeAspect="1" noMove="1" noResize="1" noEditPoints="1" noAdjustHandles="1" noChangeArrowheads="1" noChangeShapeType="1" noTextEdit="1"/>
              </p:cNvSpPr>
              <p:nvPr/>
            </p:nvSpPr>
            <p:spPr>
              <a:xfrm>
                <a:off x="7772399" y="115155"/>
                <a:ext cx="743922" cy="400110"/>
              </a:xfrm>
              <a:prstGeom prst="rect">
                <a:avLst/>
              </a:prstGeom>
              <a:blipFill>
                <a:blip r:embed="rId6"/>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1470423-3385-F9F9-A6B2-84A6A8530C9F}"/>
                  </a:ext>
                </a:extLst>
              </p:cNvPr>
              <p:cNvSpPr txBox="1"/>
              <p:nvPr/>
            </p:nvSpPr>
            <p:spPr>
              <a:xfrm>
                <a:off x="11055857" y="3721532"/>
                <a:ext cx="1035475"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𝜓</m:t>
                              </m:r>
                            </m:e>
                            <m:e>
                              <m:r>
                                <a:rPr lang="en-US" sz="2000" i="1">
                                  <a:latin typeface="Cambria Math" panose="02040503050406030204" pitchFamily="18" charset="0"/>
                                </a:rPr>
                                <m:t>𝜙</m:t>
                              </m:r>
                            </m:e>
                          </m:d>
                        </m:e>
                      </m:d>
                    </m:oMath>
                  </m:oMathPara>
                </a14:m>
                <a:endParaRPr lang="en-US" sz="2000" dirty="0"/>
              </a:p>
            </p:txBody>
          </p:sp>
        </mc:Choice>
        <mc:Fallback xmlns="">
          <p:sp>
            <p:nvSpPr>
              <p:cNvPr id="23" name="TextBox 22">
                <a:extLst>
                  <a:ext uri="{FF2B5EF4-FFF2-40B4-BE49-F238E27FC236}">
                    <a16:creationId xmlns:a16="http://schemas.microsoft.com/office/drawing/2014/main" id="{E1470423-3385-F9F9-A6B2-84A6A8530C9F}"/>
                  </a:ext>
                </a:extLst>
              </p:cNvPr>
              <p:cNvSpPr txBox="1">
                <a:spLocks noRot="1" noChangeAspect="1" noMove="1" noResize="1" noEditPoints="1" noAdjustHandles="1" noChangeArrowheads="1" noChangeShapeType="1" noTextEdit="1"/>
              </p:cNvSpPr>
              <p:nvPr/>
            </p:nvSpPr>
            <p:spPr>
              <a:xfrm>
                <a:off x="11055857" y="3721532"/>
                <a:ext cx="1035475" cy="400110"/>
              </a:xfrm>
              <a:prstGeom prst="rect">
                <a:avLst/>
              </a:prstGeom>
              <a:blipFill>
                <a:blip r:embed="rId7"/>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3B37EEA-4528-76BC-8FDF-15A4627CA3C4}"/>
                  </a:ext>
                </a:extLst>
              </p:cNvPr>
              <p:cNvSpPr txBox="1"/>
              <p:nvPr/>
            </p:nvSpPr>
            <p:spPr>
              <a:xfrm>
                <a:off x="2104094" y="4634580"/>
                <a:ext cx="5663986" cy="830997"/>
              </a:xfrm>
              <a:prstGeom prst="rect">
                <a:avLst/>
              </a:prstGeom>
              <a:noFill/>
            </p:spPr>
            <p:txBody>
              <a:bodyPr wrap="none" rtlCol="0">
                <a:spAutoFit/>
              </a:bodyPr>
              <a:lstStyle/>
              <a:p>
                <a:r>
                  <a:rPr lang="en-US" sz="4800" b="0" dirty="0">
                    <a:solidFill>
                      <a:schemeClr val="accent6">
                        <a:lumMod val="75000"/>
                      </a:schemeClr>
                    </a:solidFill>
                  </a:rPr>
                  <a:t>Geometry </a:t>
                </a:r>
                <a14:m>
                  <m:oMath xmlns:m="http://schemas.openxmlformats.org/officeDocument/2006/math">
                    <m:r>
                      <a:rPr lang="en-US" sz="4800" b="0" i="1" smtClean="0">
                        <a:solidFill>
                          <a:schemeClr val="accent6">
                            <a:lumMod val="75000"/>
                          </a:schemeClr>
                        </a:solidFill>
                        <a:latin typeface="Cambria Math" panose="02040503050406030204" pitchFamily="18" charset="0"/>
                        <a:ea typeface="Cambria Math" panose="02040503050406030204" pitchFamily="18" charset="0"/>
                      </a:rPr>
                      <m:t>⟺</m:t>
                    </m:r>
                  </m:oMath>
                </a14:m>
                <a:r>
                  <a:rPr lang="en-US" sz="4800" dirty="0">
                    <a:solidFill>
                      <a:schemeClr val="accent6">
                        <a:lumMod val="75000"/>
                      </a:schemeClr>
                    </a:solidFill>
                  </a:rPr>
                  <a:t> Entropy</a:t>
                </a:r>
              </a:p>
            </p:txBody>
          </p:sp>
        </mc:Choice>
        <mc:Fallback xmlns="">
          <p:sp>
            <p:nvSpPr>
              <p:cNvPr id="2" name="TextBox 1">
                <a:extLst>
                  <a:ext uri="{FF2B5EF4-FFF2-40B4-BE49-F238E27FC236}">
                    <a16:creationId xmlns:a16="http://schemas.microsoft.com/office/drawing/2014/main" id="{C3B37EEA-4528-76BC-8FDF-15A4627CA3C4}"/>
                  </a:ext>
                </a:extLst>
              </p:cNvPr>
              <p:cNvSpPr txBox="1">
                <a:spLocks noRot="1" noChangeAspect="1" noMove="1" noResize="1" noEditPoints="1" noAdjustHandles="1" noChangeArrowheads="1" noChangeShapeType="1" noTextEdit="1"/>
              </p:cNvSpPr>
              <p:nvPr/>
            </p:nvSpPr>
            <p:spPr>
              <a:xfrm>
                <a:off x="2104094" y="4634580"/>
                <a:ext cx="5663986" cy="830997"/>
              </a:xfrm>
              <a:prstGeom prst="rect">
                <a:avLst/>
              </a:prstGeom>
              <a:blipFill>
                <a:blip r:embed="rId8"/>
                <a:stretch>
                  <a:fillRect l="-4844" t="-16058" r="-4090" b="-37956"/>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7F503DC2-AC14-C29C-FF63-BA2C796BBA34}"/>
              </a:ext>
            </a:extLst>
          </p:cNvPr>
          <p:cNvSpPr txBox="1"/>
          <p:nvPr/>
        </p:nvSpPr>
        <p:spPr>
          <a:xfrm>
            <a:off x="6670478" y="4354668"/>
            <a:ext cx="2623539" cy="369332"/>
          </a:xfrm>
          <a:prstGeom prst="rect">
            <a:avLst/>
          </a:prstGeom>
          <a:noFill/>
        </p:spPr>
        <p:txBody>
          <a:bodyPr wrap="none" rtlCol="0">
            <a:spAutoFit/>
          </a:bodyPr>
          <a:lstStyle/>
          <a:p>
            <a:r>
              <a:rPr lang="en-US" dirty="0"/>
              <a:t>Can we go the other way?</a:t>
            </a:r>
          </a:p>
        </p:txBody>
      </p:sp>
      <p:sp>
        <p:nvSpPr>
          <p:cNvPr id="4" name="TextBox 3">
            <a:extLst>
              <a:ext uri="{FF2B5EF4-FFF2-40B4-BE49-F238E27FC236}">
                <a16:creationId xmlns:a16="http://schemas.microsoft.com/office/drawing/2014/main" id="{F398FE74-35B2-93AC-E76F-CE4B2E026A27}"/>
              </a:ext>
            </a:extLst>
          </p:cNvPr>
          <p:cNvSpPr txBox="1"/>
          <p:nvPr/>
        </p:nvSpPr>
        <p:spPr>
          <a:xfrm>
            <a:off x="7910333" y="4725456"/>
            <a:ext cx="1350883" cy="369332"/>
          </a:xfrm>
          <a:prstGeom prst="rect">
            <a:avLst/>
          </a:prstGeom>
          <a:noFill/>
        </p:spPr>
        <p:txBody>
          <a:bodyPr wrap="none" rtlCol="0">
            <a:spAutoFit/>
          </a:bodyPr>
          <a:lstStyle/>
          <a:p>
            <a:r>
              <a:rPr lang="en-US" b="1" dirty="0">
                <a:solidFill>
                  <a:schemeClr val="accent6">
                    <a:lumMod val="75000"/>
                  </a:schemeClr>
                </a:solidFill>
              </a:rPr>
              <a:t>Yes, we can!</a:t>
            </a:r>
          </a:p>
        </p:txBody>
      </p:sp>
    </p:spTree>
    <p:extLst>
      <p:ext uri="{BB962C8B-B14F-4D97-AF65-F5344CB8AC3E}">
        <p14:creationId xmlns:p14="http://schemas.microsoft.com/office/powerpoint/2010/main" val="1317806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63B57-F6C2-D4F1-19E7-07F8A2F888C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9D01AB5-B87B-790F-A0A8-68B17257ECD9}"/>
              </a:ext>
            </a:extLst>
          </p:cNvPr>
          <p:cNvSpPr/>
          <p:nvPr/>
        </p:nvSpPr>
        <p:spPr>
          <a:xfrm>
            <a:off x="5381057" y="217805"/>
            <a:ext cx="2687216" cy="1046944"/>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Probability</a:t>
            </a:r>
          </a:p>
        </p:txBody>
      </p:sp>
      <p:sp>
        <p:nvSpPr>
          <p:cNvPr id="3" name="Rectangle 2">
            <a:extLst>
              <a:ext uri="{FF2B5EF4-FFF2-40B4-BE49-F238E27FC236}">
                <a16:creationId xmlns:a16="http://schemas.microsoft.com/office/drawing/2014/main" id="{46FC80D2-D8B5-116B-D7B3-B452B7727C74}"/>
              </a:ext>
            </a:extLst>
          </p:cNvPr>
          <p:cNvSpPr/>
          <p:nvPr/>
        </p:nvSpPr>
        <p:spPr>
          <a:xfrm>
            <a:off x="5381057" y="2193190"/>
            <a:ext cx="2687216" cy="1046944"/>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Entropy</a:t>
            </a:r>
            <a:br>
              <a:rPr lang="en-US" sz="2000" dirty="0">
                <a:solidFill>
                  <a:schemeClr val="tx1"/>
                </a:solidFill>
              </a:rPr>
            </a:br>
            <a:r>
              <a:rPr lang="en-US" sz="2000" dirty="0">
                <a:solidFill>
                  <a:schemeClr val="tx1"/>
                </a:solidFill>
              </a:rPr>
              <a:t>(Thermodynamics / Information theory)</a:t>
            </a:r>
          </a:p>
        </p:txBody>
      </p:sp>
      <p:sp>
        <p:nvSpPr>
          <p:cNvPr id="4" name="Rectangle 3">
            <a:extLst>
              <a:ext uri="{FF2B5EF4-FFF2-40B4-BE49-F238E27FC236}">
                <a16:creationId xmlns:a16="http://schemas.microsoft.com/office/drawing/2014/main" id="{0A43953C-A6FC-20BE-7E7E-C3B4A8B73FD2}"/>
              </a:ext>
            </a:extLst>
          </p:cNvPr>
          <p:cNvSpPr/>
          <p:nvPr/>
        </p:nvSpPr>
        <p:spPr>
          <a:xfrm>
            <a:off x="396911" y="1160228"/>
            <a:ext cx="2687216" cy="1046944"/>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State space geometry (inner product)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B98A314-ABC7-37B4-35C1-5515B1265874}"/>
                  </a:ext>
                </a:extLst>
              </p:cNvPr>
              <p:cNvSpPr txBox="1"/>
              <p:nvPr/>
            </p:nvSpPr>
            <p:spPr>
              <a:xfrm>
                <a:off x="1020869" y="521395"/>
                <a:ext cx="1544077"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e>
                                  <m:r>
                                    <a:rPr lang="en-US" sz="2800" i="1">
                                      <a:latin typeface="Cambria Math" panose="02040503050406030204" pitchFamily="18" charset="0"/>
                                    </a:rPr>
                                    <m:t>𝜙</m:t>
                                  </m:r>
                                </m:e>
                              </m:d>
                            </m:e>
                          </m:d>
                        </m:e>
                        <m:sup>
                          <m:r>
                            <a:rPr lang="en-US" sz="2800" i="1">
                              <a:latin typeface="Cambria Math" panose="02040503050406030204" pitchFamily="18" charset="0"/>
                            </a:rPr>
                            <m:t>2</m:t>
                          </m:r>
                        </m:sup>
                      </m:sSup>
                    </m:oMath>
                  </m:oMathPara>
                </a14:m>
                <a:endParaRPr lang="en-US" sz="2800" dirty="0"/>
              </a:p>
            </p:txBody>
          </p:sp>
        </mc:Choice>
        <mc:Fallback xmlns="">
          <p:sp>
            <p:nvSpPr>
              <p:cNvPr id="5" name="TextBox 4">
                <a:extLst>
                  <a:ext uri="{FF2B5EF4-FFF2-40B4-BE49-F238E27FC236}">
                    <a16:creationId xmlns:a16="http://schemas.microsoft.com/office/drawing/2014/main" id="{CB98A314-ABC7-37B4-35C1-5515B1265874}"/>
                  </a:ext>
                </a:extLst>
              </p:cNvPr>
              <p:cNvSpPr txBox="1">
                <a:spLocks noRot="1" noChangeAspect="1" noMove="1" noResize="1" noEditPoints="1" noAdjustHandles="1" noChangeArrowheads="1" noChangeShapeType="1" noTextEdit="1"/>
              </p:cNvSpPr>
              <p:nvPr/>
            </p:nvSpPr>
            <p:spPr>
              <a:xfrm>
                <a:off x="1020869" y="521395"/>
                <a:ext cx="1544077" cy="52322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025ECA8-88A6-B7DB-07E2-1EA37595CDEE}"/>
                  </a:ext>
                </a:extLst>
              </p:cNvPr>
              <p:cNvSpPr txBox="1"/>
              <p:nvPr/>
            </p:nvSpPr>
            <p:spPr>
              <a:xfrm>
                <a:off x="8651607" y="2420443"/>
                <a:ext cx="3113994" cy="561820"/>
              </a:xfrm>
              <a:prstGeom prst="rect">
                <a:avLst/>
              </a:prstGeom>
              <a:noFill/>
            </p:spPr>
            <p:txBody>
              <a:bodyPr wrap="none" rtlCol="0">
                <a:spAutoFit/>
              </a:bodyPr>
              <a:lstStyle/>
              <a:p>
                <a14:m>
                  <m:oMath xmlns:m="http://schemas.openxmlformats.org/officeDocument/2006/math">
                    <m:r>
                      <a:rPr lang="en-US" sz="2400" b="0" i="1" smtClean="0">
                        <a:latin typeface="Cambria Math" panose="02040503050406030204" pitchFamily="18" charset="0"/>
                      </a:rPr>
                      <m:t>𝑆</m:t>
                    </m:r>
                    <m:d>
                      <m:dPr>
                        <m:ctrlPr>
                          <a:rPr lang="en-US" sz="2400" b="0" i="1" smtClean="0">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𝜌</m:t>
                            </m:r>
                          </m:e>
                          <m:sub>
                            <m:r>
                              <a:rPr lang="en-US" sz="2400" i="1">
                                <a:latin typeface="Cambria Math" panose="02040503050406030204" pitchFamily="18" charset="0"/>
                              </a:rPr>
                              <m:t>𝜓𝜙</m:t>
                            </m:r>
                          </m:sub>
                        </m:sSub>
                      </m:e>
                    </m:d>
                    <m:r>
                      <a:rPr lang="en-US" sz="2400" b="0" i="1" smtClean="0">
                        <a:latin typeface="Cambria Math" panose="02040503050406030204" pitchFamily="18" charset="0"/>
                      </a:rPr>
                      <m:t>=</m:t>
                    </m:r>
                    <m:r>
                      <a:rPr lang="en-US" sz="2400" i="1">
                        <a:latin typeface="Cambria Math" panose="02040503050406030204" pitchFamily="18" charset="0"/>
                      </a:rPr>
                      <m:t>𝐼</m:t>
                    </m:r>
                  </m:oMath>
                </a14:m>
                <a:r>
                  <a:rPr lang="en-US" sz="2000" dirty="0"/>
                  <a:t> </a:t>
                </a:r>
                <a14:m>
                  <m:oMath xmlns:m="http://schemas.openxmlformats.org/officeDocument/2006/math">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1+</m:t>
                            </m:r>
                            <m:rad>
                              <m:radPr>
                                <m:degHide m:val="on"/>
                                <m:ctrlPr>
                                  <a:rPr lang="en-US" sz="2000" i="1">
                                    <a:latin typeface="Cambria Math" panose="02040503050406030204" pitchFamily="18" charset="0"/>
                                  </a:rPr>
                                </m:ctrlPr>
                              </m:radPr>
                              <m:deg/>
                              <m:e>
                                <m:r>
                                  <a:rPr lang="en-US" sz="2000" i="1">
                                    <a:latin typeface="Cambria Math" panose="02040503050406030204" pitchFamily="18" charset="0"/>
                                  </a:rPr>
                                  <m:t>𝑝</m:t>
                                </m:r>
                              </m:e>
                            </m:rad>
                          </m:num>
                          <m:den>
                            <m:r>
                              <a:rPr lang="en-US" sz="2000" i="1">
                                <a:latin typeface="Cambria Math" panose="02040503050406030204" pitchFamily="18" charset="0"/>
                              </a:rPr>
                              <m:t>2</m:t>
                            </m:r>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rad>
                              <m:radPr>
                                <m:degHide m:val="on"/>
                                <m:ctrlPr>
                                  <a:rPr lang="en-US" sz="2000" i="1">
                                    <a:latin typeface="Cambria Math" panose="02040503050406030204" pitchFamily="18" charset="0"/>
                                  </a:rPr>
                                </m:ctrlPr>
                              </m:radPr>
                              <m:deg/>
                              <m:e>
                                <m:r>
                                  <a:rPr lang="en-US" sz="2000" i="1">
                                    <a:latin typeface="Cambria Math" panose="02040503050406030204" pitchFamily="18" charset="0"/>
                                  </a:rPr>
                                  <m:t>𝑝</m:t>
                                </m:r>
                              </m:e>
                            </m:rad>
                          </m:num>
                          <m:den>
                            <m:r>
                              <a:rPr lang="en-US" sz="2000" i="1">
                                <a:latin typeface="Cambria Math" panose="02040503050406030204" pitchFamily="18" charset="0"/>
                              </a:rPr>
                              <m:t>2</m:t>
                            </m:r>
                          </m:den>
                        </m:f>
                      </m:e>
                    </m:d>
                  </m:oMath>
                </a14:m>
                <a:endParaRPr lang="en-US" sz="2000" dirty="0"/>
              </a:p>
            </p:txBody>
          </p:sp>
        </mc:Choice>
        <mc:Fallback xmlns="">
          <p:sp>
            <p:nvSpPr>
              <p:cNvPr id="7" name="TextBox 6">
                <a:extLst>
                  <a:ext uri="{FF2B5EF4-FFF2-40B4-BE49-F238E27FC236}">
                    <a16:creationId xmlns:a16="http://schemas.microsoft.com/office/drawing/2014/main" id="{7025ECA8-88A6-B7DB-07E2-1EA37595CDEE}"/>
                  </a:ext>
                </a:extLst>
              </p:cNvPr>
              <p:cNvSpPr txBox="1">
                <a:spLocks noRot="1" noChangeAspect="1" noMove="1" noResize="1" noEditPoints="1" noAdjustHandles="1" noChangeArrowheads="1" noChangeShapeType="1" noTextEdit="1"/>
              </p:cNvSpPr>
              <p:nvPr/>
            </p:nvSpPr>
            <p:spPr>
              <a:xfrm>
                <a:off x="8651607" y="2420443"/>
                <a:ext cx="3113994" cy="561820"/>
              </a:xfrm>
              <a:prstGeom prst="rect">
                <a:avLst/>
              </a:prstGeom>
              <a:blipFill>
                <a:blip r:embed="rId3"/>
                <a:stretch>
                  <a:fillRect/>
                </a:stretch>
              </a:blipFill>
            </p:spPr>
            <p:txBody>
              <a:bodyPr/>
              <a:lstStyle/>
              <a:p>
                <a:r>
                  <a:rPr lang="en-US">
                    <a:noFill/>
                  </a:rPr>
                  <a:t> </a:t>
                </a:r>
              </a:p>
            </p:txBody>
          </p:sp>
        </mc:Fallback>
      </mc:AlternateContent>
      <p:sp>
        <p:nvSpPr>
          <p:cNvPr id="8" name="Arrow: Left-Right 7">
            <a:extLst>
              <a:ext uri="{FF2B5EF4-FFF2-40B4-BE49-F238E27FC236}">
                <a16:creationId xmlns:a16="http://schemas.microsoft.com/office/drawing/2014/main" id="{E96657E7-AAC3-202A-24AC-202660F7C81F}"/>
              </a:ext>
            </a:extLst>
          </p:cNvPr>
          <p:cNvSpPr/>
          <p:nvPr/>
        </p:nvSpPr>
        <p:spPr>
          <a:xfrm rot="20292001">
            <a:off x="3688985" y="986854"/>
            <a:ext cx="1156996" cy="36388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Left-Right 8">
            <a:extLst>
              <a:ext uri="{FF2B5EF4-FFF2-40B4-BE49-F238E27FC236}">
                <a16:creationId xmlns:a16="http://schemas.microsoft.com/office/drawing/2014/main" id="{6613817F-16E0-79C5-0DB6-B4196AD224DD}"/>
              </a:ext>
            </a:extLst>
          </p:cNvPr>
          <p:cNvSpPr/>
          <p:nvPr/>
        </p:nvSpPr>
        <p:spPr>
          <a:xfrm rot="1307999" flipH="1">
            <a:off x="3688986" y="2135646"/>
            <a:ext cx="1156996" cy="36388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Left-Right 9">
            <a:extLst>
              <a:ext uri="{FF2B5EF4-FFF2-40B4-BE49-F238E27FC236}">
                <a16:creationId xmlns:a16="http://schemas.microsoft.com/office/drawing/2014/main" id="{15AF14AC-A919-4495-C026-D2C0C366DA47}"/>
              </a:ext>
            </a:extLst>
          </p:cNvPr>
          <p:cNvSpPr/>
          <p:nvPr/>
        </p:nvSpPr>
        <p:spPr>
          <a:xfrm rot="5400000">
            <a:off x="6381264" y="1558491"/>
            <a:ext cx="767532" cy="36388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5ADA4BF-D6B7-83B8-1209-E9129EFBD739}"/>
                  </a:ext>
                </a:extLst>
              </p:cNvPr>
              <p:cNvSpPr txBox="1"/>
              <p:nvPr/>
            </p:nvSpPr>
            <p:spPr>
              <a:xfrm>
                <a:off x="8651607" y="398976"/>
                <a:ext cx="313919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𝜓</m:t>
                          </m:r>
                        </m:e>
                        <m:e>
                          <m:r>
                            <a:rPr lang="en-US" sz="2800" i="1">
                              <a:latin typeface="Cambria Math" panose="02040503050406030204" pitchFamily="18" charset="0"/>
                            </a:rPr>
                            <m:t>𝜙</m:t>
                          </m:r>
                        </m:e>
                      </m:d>
                      <m:r>
                        <a:rPr lang="en-US" sz="2800" i="1">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e>
                                  <m:r>
                                    <a:rPr lang="en-US" sz="2800" i="1">
                                      <a:latin typeface="Cambria Math" panose="02040503050406030204" pitchFamily="18" charset="0"/>
                                    </a:rPr>
                                    <m:t>𝜙</m:t>
                                  </m:r>
                                </m:e>
                              </m:d>
                            </m:e>
                          </m:d>
                        </m:e>
                        <m:sup>
                          <m:r>
                            <a:rPr lang="en-US" sz="2800" i="1">
                              <a:latin typeface="Cambria Math" panose="02040503050406030204" pitchFamily="18" charset="0"/>
                            </a:rPr>
                            <m:t>2</m:t>
                          </m:r>
                        </m:sup>
                      </m:sSup>
                    </m:oMath>
                  </m:oMathPara>
                </a14:m>
                <a:endParaRPr lang="en-US" sz="2800" dirty="0"/>
              </a:p>
            </p:txBody>
          </p:sp>
        </mc:Choice>
        <mc:Fallback xmlns="">
          <p:sp>
            <p:nvSpPr>
              <p:cNvPr id="29" name="TextBox 28">
                <a:extLst>
                  <a:ext uri="{FF2B5EF4-FFF2-40B4-BE49-F238E27FC236}">
                    <a16:creationId xmlns:a16="http://schemas.microsoft.com/office/drawing/2014/main" id="{25ADA4BF-D6B7-83B8-1209-E9129EFBD739}"/>
                  </a:ext>
                </a:extLst>
              </p:cNvPr>
              <p:cNvSpPr txBox="1">
                <a:spLocks noRot="1" noChangeAspect="1" noMove="1" noResize="1" noEditPoints="1" noAdjustHandles="1" noChangeArrowheads="1" noChangeShapeType="1" noTextEdit="1"/>
              </p:cNvSpPr>
              <p:nvPr/>
            </p:nvSpPr>
            <p:spPr>
              <a:xfrm>
                <a:off x="8651607" y="398976"/>
                <a:ext cx="3139193" cy="523220"/>
              </a:xfrm>
              <a:prstGeom prst="rect">
                <a:avLst/>
              </a:prstGeom>
              <a:blipFill>
                <a:blip r:embed="rId4"/>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74D891B1-D726-7736-DFDC-46E6E5DD4860}"/>
              </a:ext>
            </a:extLst>
          </p:cNvPr>
          <p:cNvSpPr txBox="1"/>
          <p:nvPr/>
        </p:nvSpPr>
        <p:spPr>
          <a:xfrm>
            <a:off x="476117" y="4156647"/>
            <a:ext cx="8917056" cy="646331"/>
          </a:xfrm>
          <a:prstGeom prst="rect">
            <a:avLst/>
          </a:prstGeom>
          <a:noFill/>
        </p:spPr>
        <p:txBody>
          <a:bodyPr wrap="none" rtlCol="0">
            <a:spAutoFit/>
          </a:bodyPr>
          <a:lstStyle/>
          <a:p>
            <a:r>
              <a:rPr lang="en-US" sz="3600" dirty="0">
                <a:solidFill>
                  <a:schemeClr val="accent6">
                    <a:lumMod val="75000"/>
                  </a:schemeClr>
                </a:solidFill>
              </a:rPr>
              <a:t>Geometry of quantum states is purely entropic</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E881036-5D07-DC79-9E4F-E8E3E7649935}"/>
                  </a:ext>
                </a:extLst>
              </p:cNvPr>
              <p:cNvSpPr txBox="1"/>
              <p:nvPr/>
            </p:nvSpPr>
            <p:spPr>
              <a:xfrm>
                <a:off x="181194" y="2539429"/>
                <a:ext cx="4198714" cy="700705"/>
              </a:xfrm>
              <a:prstGeom prst="rect">
                <a:avLst/>
              </a:prstGeom>
              <a:noFill/>
            </p:spPr>
            <p:txBody>
              <a:bodyPr wrap="none" rtlCol="0">
                <a:spAutoFit/>
              </a:bodyPr>
              <a:lstStyle/>
              <a:p>
                <a:pPr algn="ct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𝜌</m:t>
                        </m:r>
                      </m:e>
                      <m:sub>
                        <m:r>
                          <a:rPr lang="en-US" sz="2800" b="0" i="1" smtClean="0">
                            <a:latin typeface="Cambria Math" panose="02040503050406030204" pitchFamily="18" charset="0"/>
                          </a:rPr>
                          <m:t>𝜓𝜙</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
                          <a:rPr lang="en-US" sz="2800" b="0" i="1" smtClean="0">
                            <a:latin typeface="Cambria Math" panose="02040503050406030204" pitchFamily="18" charset="0"/>
                          </a:rPr>
                          <m:t>2</m:t>
                        </m:r>
                      </m:den>
                    </m:f>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r>
                      <a:rPr lang="en-US" sz="2800" b="0" i="1" smtClean="0">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1</m:t>
                        </m:r>
                      </m:num>
                      <m:den>
                        <m:r>
                          <a:rPr lang="en-US" sz="2800" i="1">
                            <a:latin typeface="Cambria Math" panose="02040503050406030204" pitchFamily="18" charset="0"/>
                          </a:rPr>
                          <m:t>2</m:t>
                        </m:r>
                      </m:den>
                    </m:f>
                    <m:d>
                      <m:dPr>
                        <m:begChr m:val="|"/>
                        <m:endChr m:val="⟩"/>
                        <m:ctrlPr>
                          <a:rPr lang="en-US" sz="2800" i="1">
                            <a:latin typeface="Cambria Math" panose="02040503050406030204" pitchFamily="18" charset="0"/>
                          </a:rPr>
                        </m:ctrlPr>
                      </m:dPr>
                      <m:e>
                        <m:r>
                          <a:rPr lang="en-US" sz="2800" b="0" i="1" smtClean="0">
                            <a:latin typeface="Cambria Math" panose="02040503050406030204" pitchFamily="18" charset="0"/>
                          </a:rPr>
                          <m:t>𝜙</m:t>
                        </m:r>
                      </m:e>
                    </m:d>
                    <m:d>
                      <m:dPr>
                        <m:begChr m:val="⟨"/>
                        <m:endChr m:val="|"/>
                        <m:ctrlPr>
                          <a:rPr lang="en-US" sz="2800" i="1">
                            <a:latin typeface="Cambria Math" panose="02040503050406030204" pitchFamily="18" charset="0"/>
                          </a:rPr>
                        </m:ctrlPr>
                      </m:dPr>
                      <m:e>
                        <m:r>
                          <a:rPr lang="en-US" sz="2800" b="0" i="1" smtClean="0">
                            <a:latin typeface="Cambria Math" panose="02040503050406030204" pitchFamily="18" charset="0"/>
                          </a:rPr>
                          <m:t>𝜙</m:t>
                        </m:r>
                      </m:e>
                    </m:d>
                  </m:oMath>
                </a14:m>
                <a:r>
                  <a:rPr lang="en-US" sz="2800" dirty="0"/>
                  <a:t> </a:t>
                </a:r>
              </a:p>
            </p:txBody>
          </p:sp>
        </mc:Choice>
        <mc:Fallback xmlns="">
          <p:sp>
            <p:nvSpPr>
              <p:cNvPr id="14" name="TextBox 13">
                <a:extLst>
                  <a:ext uri="{FF2B5EF4-FFF2-40B4-BE49-F238E27FC236}">
                    <a16:creationId xmlns:a16="http://schemas.microsoft.com/office/drawing/2014/main" id="{9E881036-5D07-DC79-9E4F-E8E3E7649935}"/>
                  </a:ext>
                </a:extLst>
              </p:cNvPr>
              <p:cNvSpPr txBox="1">
                <a:spLocks noRot="1" noChangeAspect="1" noMove="1" noResize="1" noEditPoints="1" noAdjustHandles="1" noChangeArrowheads="1" noChangeShapeType="1" noTextEdit="1"/>
              </p:cNvSpPr>
              <p:nvPr/>
            </p:nvSpPr>
            <p:spPr>
              <a:xfrm>
                <a:off x="181194" y="2539429"/>
                <a:ext cx="4198714" cy="700705"/>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761242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B30A09-E793-5A3B-6403-D0BAC743A9E8}"/>
              </a:ext>
            </a:extLst>
          </p:cNvPr>
          <p:cNvSpPr txBox="1"/>
          <p:nvPr/>
        </p:nvSpPr>
        <p:spPr>
          <a:xfrm>
            <a:off x="1000058" y="337122"/>
            <a:ext cx="10191883" cy="3785652"/>
          </a:xfrm>
          <a:prstGeom prst="rect">
            <a:avLst/>
          </a:prstGeom>
          <a:noFill/>
        </p:spPr>
        <p:txBody>
          <a:bodyPr wrap="square" rtlCol="0">
            <a:spAutoFit/>
          </a:bodyPr>
          <a:lstStyle/>
          <a:p>
            <a:pPr algn="ctr"/>
            <a:r>
              <a:rPr lang="en-US" sz="8000" dirty="0">
                <a:solidFill>
                  <a:schemeClr val="accent6">
                    <a:lumMod val="75000"/>
                  </a:schemeClr>
                </a:solidFill>
              </a:rPr>
              <a:t>Geometry of classical</a:t>
            </a:r>
            <a:br>
              <a:rPr lang="en-US" sz="8000" dirty="0">
                <a:solidFill>
                  <a:schemeClr val="accent6">
                    <a:lumMod val="75000"/>
                  </a:schemeClr>
                </a:solidFill>
              </a:rPr>
            </a:br>
            <a:r>
              <a:rPr lang="en-US" sz="8000" dirty="0">
                <a:solidFill>
                  <a:schemeClr val="accent6">
                    <a:lumMod val="75000"/>
                  </a:schemeClr>
                </a:solidFill>
              </a:rPr>
              <a:t>and quantum states</a:t>
            </a:r>
            <a:br>
              <a:rPr lang="en-US" sz="8000" dirty="0">
                <a:solidFill>
                  <a:schemeClr val="accent6">
                    <a:lumMod val="75000"/>
                  </a:schemeClr>
                </a:solidFill>
              </a:rPr>
            </a:br>
            <a:r>
              <a:rPr lang="en-US" sz="8000" dirty="0">
                <a:solidFill>
                  <a:schemeClr val="accent6">
                    <a:lumMod val="75000"/>
                  </a:schemeClr>
                </a:solidFill>
              </a:rPr>
              <a:t>is purely entropic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21C1E9-3B71-6342-DAD4-099D72319820}"/>
                  </a:ext>
                </a:extLst>
              </p:cNvPr>
              <p:cNvSpPr txBox="1"/>
              <p:nvPr/>
            </p:nvSpPr>
            <p:spPr>
              <a:xfrm>
                <a:off x="1100959" y="4657725"/>
                <a:ext cx="8279318" cy="461665"/>
              </a:xfrm>
              <a:prstGeom prst="rect">
                <a:avLst/>
              </a:prstGeom>
              <a:noFill/>
            </p:spPr>
            <p:txBody>
              <a:bodyPr wrap="none" rtlCol="0">
                <a:spAutoFit/>
              </a:bodyPr>
              <a:lstStyle/>
              <a:p>
                <a:r>
                  <a:rPr lang="en-US" sz="2400" dirty="0"/>
                  <a:t>Invariance of entropy across observers </a:t>
                </a:r>
                <a14:m>
                  <m:oMath xmlns:m="http://schemas.openxmlformats.org/officeDocument/2006/math">
                    <m:r>
                      <a:rPr lang="en-US" sz="2400" b="0" i="1" smtClean="0">
                        <a:latin typeface="Cambria Math" panose="02040503050406030204" pitchFamily="18" charset="0"/>
                        <a:ea typeface="Cambria Math" panose="02040503050406030204" pitchFamily="18" charset="0"/>
                      </a:rPr>
                      <m:t>⟺</m:t>
                    </m:r>
                  </m:oMath>
                </a14:m>
                <a:r>
                  <a:rPr lang="en-US" sz="2400" dirty="0"/>
                  <a:t> symplectic structure</a:t>
                </a:r>
              </a:p>
            </p:txBody>
          </p:sp>
        </mc:Choice>
        <mc:Fallback xmlns="">
          <p:sp>
            <p:nvSpPr>
              <p:cNvPr id="3" name="TextBox 2">
                <a:extLst>
                  <a:ext uri="{FF2B5EF4-FFF2-40B4-BE49-F238E27FC236}">
                    <a16:creationId xmlns:a16="http://schemas.microsoft.com/office/drawing/2014/main" id="{A621C1E9-3B71-6342-DAD4-099D72319820}"/>
                  </a:ext>
                </a:extLst>
              </p:cNvPr>
              <p:cNvSpPr txBox="1">
                <a:spLocks noRot="1" noChangeAspect="1" noMove="1" noResize="1" noEditPoints="1" noAdjustHandles="1" noChangeArrowheads="1" noChangeShapeType="1" noTextEdit="1"/>
              </p:cNvSpPr>
              <p:nvPr/>
            </p:nvSpPr>
            <p:spPr>
              <a:xfrm>
                <a:off x="1100959" y="4657725"/>
                <a:ext cx="8279318" cy="461665"/>
              </a:xfrm>
              <a:prstGeom prst="rect">
                <a:avLst/>
              </a:prstGeom>
              <a:blipFill>
                <a:blip r:embed="rId2"/>
                <a:stretch>
                  <a:fillRect l="-1178" t="-10526" b="-2894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EF34C08-7897-26DA-EE60-C09DE6F51381}"/>
              </a:ext>
            </a:extLst>
          </p:cNvPr>
          <p:cNvSpPr txBox="1"/>
          <p:nvPr/>
        </p:nvSpPr>
        <p:spPr>
          <a:xfrm>
            <a:off x="638504" y="4288393"/>
            <a:ext cx="1435393" cy="369332"/>
          </a:xfrm>
          <a:prstGeom prst="rect">
            <a:avLst/>
          </a:prstGeom>
          <a:noFill/>
        </p:spPr>
        <p:txBody>
          <a:bodyPr wrap="none" rtlCol="0">
            <a:spAutoFit/>
          </a:bodyPr>
          <a:lstStyle/>
          <a:p>
            <a:r>
              <a:rPr lang="en-US" dirty="0"/>
              <a:t>More results:</a:t>
            </a:r>
          </a:p>
        </p:txBody>
      </p:sp>
      <p:sp>
        <p:nvSpPr>
          <p:cNvPr id="5" name="TextBox 4">
            <a:extLst>
              <a:ext uri="{FF2B5EF4-FFF2-40B4-BE49-F238E27FC236}">
                <a16:creationId xmlns:a16="http://schemas.microsoft.com/office/drawing/2014/main" id="{83BB3698-ECEC-D081-B3A9-465BB89B48F8}"/>
              </a:ext>
            </a:extLst>
          </p:cNvPr>
          <p:cNvSpPr txBox="1"/>
          <p:nvPr/>
        </p:nvSpPr>
        <p:spPr>
          <a:xfrm>
            <a:off x="1100959" y="5174264"/>
            <a:ext cx="7510710" cy="461665"/>
          </a:xfrm>
          <a:prstGeom prst="rect">
            <a:avLst/>
          </a:prstGeom>
          <a:noFill/>
        </p:spPr>
        <p:txBody>
          <a:bodyPr wrap="none" rtlCol="0">
            <a:spAutoFit/>
          </a:bodyPr>
          <a:lstStyle/>
          <a:p>
            <a:r>
              <a:rPr lang="en-US" sz="2400" dirty="0"/>
              <a:t>Quantum state space is symplectic… because it is complex!</a:t>
            </a:r>
          </a:p>
        </p:txBody>
      </p:sp>
    </p:spTree>
    <p:extLst>
      <p:ext uri="{BB962C8B-B14F-4D97-AF65-F5344CB8AC3E}">
        <p14:creationId xmlns:p14="http://schemas.microsoft.com/office/powerpoint/2010/main" val="23630219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BEEB17-DD43-698C-5E48-8425CB334CA4}"/>
              </a:ext>
            </a:extLst>
          </p:cNvPr>
          <p:cNvSpPr txBox="1"/>
          <p:nvPr/>
        </p:nvSpPr>
        <p:spPr>
          <a:xfrm>
            <a:off x="1000058" y="337122"/>
            <a:ext cx="10191883" cy="3785652"/>
          </a:xfrm>
          <a:prstGeom prst="rect">
            <a:avLst/>
          </a:prstGeom>
          <a:noFill/>
        </p:spPr>
        <p:txBody>
          <a:bodyPr wrap="square" rtlCol="0">
            <a:spAutoFit/>
          </a:bodyPr>
          <a:lstStyle/>
          <a:p>
            <a:pPr algn="ctr"/>
            <a:r>
              <a:rPr lang="en-US" sz="8000" dirty="0">
                <a:solidFill>
                  <a:schemeClr val="accent6">
                    <a:lumMod val="75000"/>
                  </a:schemeClr>
                </a:solidFill>
              </a:rPr>
              <a:t>Statistical mechanics</a:t>
            </a:r>
            <a:br>
              <a:rPr lang="en-US" sz="8000" dirty="0">
                <a:solidFill>
                  <a:schemeClr val="accent6">
                    <a:lumMod val="75000"/>
                  </a:schemeClr>
                </a:solidFill>
              </a:rPr>
            </a:br>
            <a:r>
              <a:rPr lang="en-US" sz="8000" dirty="0">
                <a:solidFill>
                  <a:schemeClr val="accent6">
                    <a:lumMod val="75000"/>
                  </a:schemeClr>
                </a:solidFill>
              </a:rPr>
              <a:t>is part of the structure</a:t>
            </a:r>
            <a:br>
              <a:rPr lang="en-US" sz="8000" dirty="0">
                <a:solidFill>
                  <a:schemeClr val="accent6">
                    <a:lumMod val="75000"/>
                  </a:schemeClr>
                </a:solidFill>
              </a:rPr>
            </a:br>
            <a:r>
              <a:rPr lang="en-US" sz="8000" dirty="0">
                <a:solidFill>
                  <a:schemeClr val="accent6">
                    <a:lumMod val="75000"/>
                  </a:schemeClr>
                </a:solidFill>
              </a:rPr>
              <a:t>of state spaces</a:t>
            </a:r>
          </a:p>
        </p:txBody>
      </p:sp>
      <p:sp>
        <p:nvSpPr>
          <p:cNvPr id="3" name="TextBox 2">
            <a:extLst>
              <a:ext uri="{FF2B5EF4-FFF2-40B4-BE49-F238E27FC236}">
                <a16:creationId xmlns:a16="http://schemas.microsoft.com/office/drawing/2014/main" id="{B7ADB35A-66C3-AAEC-A2DF-FDD5F311772C}"/>
              </a:ext>
            </a:extLst>
          </p:cNvPr>
          <p:cNvSpPr txBox="1"/>
          <p:nvPr/>
        </p:nvSpPr>
        <p:spPr>
          <a:xfrm>
            <a:off x="1000058" y="4400550"/>
            <a:ext cx="3489097" cy="646331"/>
          </a:xfrm>
          <a:prstGeom prst="rect">
            <a:avLst/>
          </a:prstGeom>
          <a:noFill/>
        </p:spPr>
        <p:txBody>
          <a:bodyPr wrap="none" rtlCol="0">
            <a:spAutoFit/>
          </a:bodyPr>
          <a:lstStyle/>
          <a:p>
            <a:r>
              <a:rPr lang="en-US" sz="3600" dirty="0">
                <a:solidFill>
                  <a:srgbClr val="C00000"/>
                </a:solidFill>
              </a:rPr>
              <a:t>not tacked on top</a:t>
            </a:r>
          </a:p>
        </p:txBody>
      </p:sp>
    </p:spTree>
    <p:extLst>
      <p:ext uri="{BB962C8B-B14F-4D97-AF65-F5344CB8AC3E}">
        <p14:creationId xmlns:p14="http://schemas.microsoft.com/office/powerpoint/2010/main" val="3426171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241C55-4072-D30B-8D9D-AD0EC7FFB9F1}"/>
              </a:ext>
            </a:extLst>
          </p:cNvPr>
          <p:cNvSpPr txBox="1"/>
          <p:nvPr/>
        </p:nvSpPr>
        <p:spPr>
          <a:xfrm>
            <a:off x="343405" y="250074"/>
            <a:ext cx="7441845" cy="707886"/>
          </a:xfrm>
          <a:prstGeom prst="rect">
            <a:avLst/>
          </a:prstGeom>
          <a:noFill/>
        </p:spPr>
        <p:txBody>
          <a:bodyPr wrap="none" rtlCol="0">
            <a:spAutoFit/>
          </a:bodyPr>
          <a:lstStyle/>
          <a:p>
            <a:r>
              <a:rPr lang="en-US" sz="4000" dirty="0"/>
              <a:t>What about space-time geometry?</a:t>
            </a:r>
          </a:p>
        </p:txBody>
      </p:sp>
      <p:sp>
        <p:nvSpPr>
          <p:cNvPr id="3" name="TextBox 2">
            <a:extLst>
              <a:ext uri="{FF2B5EF4-FFF2-40B4-BE49-F238E27FC236}">
                <a16:creationId xmlns:a16="http://schemas.microsoft.com/office/drawing/2014/main" id="{2159AD26-877F-BAEF-F8EB-3E05D3CAE845}"/>
              </a:ext>
            </a:extLst>
          </p:cNvPr>
          <p:cNvSpPr txBox="1"/>
          <p:nvPr/>
        </p:nvSpPr>
        <p:spPr>
          <a:xfrm>
            <a:off x="427770" y="983809"/>
            <a:ext cx="11602600" cy="523220"/>
          </a:xfrm>
          <a:prstGeom prst="rect">
            <a:avLst/>
          </a:prstGeom>
          <a:noFill/>
        </p:spPr>
        <p:txBody>
          <a:bodyPr wrap="none" rtlCol="0">
            <a:spAutoFit/>
          </a:bodyPr>
          <a:lstStyle/>
          <a:p>
            <a:r>
              <a:rPr lang="en-US" sz="2800" dirty="0">
                <a:solidFill>
                  <a:schemeClr val="accent6">
                    <a:lumMod val="75000"/>
                  </a:schemeClr>
                </a:solidFill>
              </a:rPr>
              <a:t>Symplectic form of the extended phase-space in four-position and four-velocity</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022D16A-58F5-F1B1-75A4-F371749A913F}"/>
                  </a:ext>
                </a:extLst>
              </p:cNvPr>
              <p:cNvSpPr txBox="1"/>
              <p:nvPr/>
            </p:nvSpPr>
            <p:spPr>
              <a:xfrm>
                <a:off x="1037371" y="2651404"/>
                <a:ext cx="5822684" cy="107644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𝜔</m:t>
                          </m:r>
                        </m:e>
                        <m:sub>
                          <m:r>
                            <a:rPr lang="en-US" sz="2800" b="0" i="1" smtClean="0">
                              <a:latin typeface="Cambria Math" panose="02040503050406030204" pitchFamily="18" charset="0"/>
                            </a:rPr>
                            <m:t>𝑎𝑏</m:t>
                          </m:r>
                        </m:sub>
                      </m:sSub>
                      <m:r>
                        <a:rPr lang="en-US" sz="2800" b="0" i="1"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m>
                            <m:mPr>
                              <m:mcs>
                                <m:mc>
                                  <m:mcPr>
                                    <m:count m:val="2"/>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m:t>
                                </m:r>
                                <m:r>
                                  <a:rPr lang="en-US" sz="2800" b="0" i="1" smtClean="0">
                                    <a:latin typeface="Cambria Math" panose="02040503050406030204" pitchFamily="18" charset="0"/>
                                  </a:rPr>
                                  <m:t>𝑚</m:t>
                                </m:r>
                                <m:sSub>
                                  <m:sSubPr>
                                    <m:ctrlPr>
                                      <a:rPr lang="en-US" sz="2800" b="0" i="1" smtClean="0">
                                        <a:latin typeface="Cambria Math" panose="02040503050406030204" pitchFamily="18" charset="0"/>
                                      </a:rPr>
                                    </m:ctrlPr>
                                  </m:sSubPr>
                                  <m:e>
                                    <m:r>
                                      <m:rPr>
                                        <m:brk m:alnAt="7"/>
                                      </m:rPr>
                                      <a:rPr lang="en-US" sz="2800" b="0" i="1" smtClean="0">
                                        <a:latin typeface="Cambria Math" panose="02040503050406030204" pitchFamily="18" charset="0"/>
                                      </a:rPr>
                                      <m:t>𝐺</m:t>
                                    </m:r>
                                  </m:e>
                                  <m:sub>
                                    <m:r>
                                      <m:rPr>
                                        <m:brk m:alnAt="7"/>
                                      </m:rPr>
                                      <a:rPr lang="en-US" sz="2800" b="0" i="1" smtClean="0">
                                        <a:latin typeface="Cambria Math" panose="02040503050406030204" pitchFamily="18" charset="0"/>
                                      </a:rPr>
                                      <m:t>𝛼</m:t>
                                    </m:r>
                                    <m:r>
                                      <a:rPr lang="en-US" sz="2800" b="0" i="1" smtClean="0">
                                        <a:latin typeface="Cambria Math" panose="02040503050406030204" pitchFamily="18" charset="0"/>
                                      </a:rPr>
                                      <m:t>𝛽𝛾</m:t>
                                    </m:r>
                                  </m:sub>
                                </m:sSub>
                                <m:sSup>
                                  <m:sSupPr>
                                    <m:ctrlPr>
                                      <a:rPr lang="en-US" sz="2800" b="0" i="1" smtClean="0">
                                        <a:latin typeface="Cambria Math" panose="02040503050406030204" pitchFamily="18" charset="0"/>
                                      </a:rPr>
                                    </m:ctrlPr>
                                  </m:sSupPr>
                                  <m:e>
                                    <m:r>
                                      <m:rPr>
                                        <m:brk m:alnAt="7"/>
                                      </m:rPr>
                                      <a:rPr lang="en-US" sz="2800" b="0" i="1" smtClean="0">
                                        <a:latin typeface="Cambria Math" panose="02040503050406030204" pitchFamily="18" charset="0"/>
                                      </a:rPr>
                                      <m:t>𝑢</m:t>
                                    </m:r>
                                  </m:e>
                                  <m:sup>
                                    <m:r>
                                      <m:rPr>
                                        <m:brk m:alnAt="7"/>
                                      </m:rPr>
                                      <a:rPr lang="en-US" sz="2800" b="0" i="1" smtClean="0">
                                        <a:latin typeface="Cambria Math" panose="02040503050406030204" pitchFamily="18" charset="0"/>
                                      </a:rPr>
                                      <m:t>𝛾</m:t>
                                    </m:r>
                                  </m:sup>
                                </m:sSup>
                                <m:r>
                                  <m:rPr>
                                    <m:brk m:alnAt="7"/>
                                  </m:rPr>
                                  <a:rPr lang="en-US" sz="2800" b="0" i="1" smtClean="0">
                                    <a:latin typeface="Cambria Math" panose="02040503050406030204" pitchFamily="18" charset="0"/>
                                  </a:rPr>
                                  <m:t>−</m:t>
                                </m:r>
                                <m:r>
                                  <a:rPr lang="en-US" sz="2800" b="0" i="1" smtClean="0">
                                    <a:latin typeface="Cambria Math" panose="02040503050406030204" pitchFamily="18" charset="0"/>
                                  </a:rPr>
                                  <m:t>𝑞</m:t>
                                </m:r>
                                <m:sSup>
                                  <m:sSupPr>
                                    <m:ctrlPr>
                                      <a:rPr lang="en-US" sz="2800" b="0" i="1" smtClean="0">
                                        <a:latin typeface="Cambria Math" panose="02040503050406030204" pitchFamily="18" charset="0"/>
                                      </a:rPr>
                                    </m:ctrlPr>
                                  </m:sSupPr>
                                  <m:e>
                                    <m:r>
                                      <m:rPr>
                                        <m:brk m:alnAt="7"/>
                                      </m:rPr>
                                      <a:rPr lang="en-US" sz="2800" b="0" i="1" smtClean="0">
                                        <a:latin typeface="Cambria Math" panose="02040503050406030204" pitchFamily="18" charset="0"/>
                                      </a:rPr>
                                      <m:t>𝐹</m:t>
                                    </m:r>
                                  </m:e>
                                  <m:sup>
                                    <m:r>
                                      <m:rPr>
                                        <m:brk m:alnAt="7"/>
                                      </m:rPr>
                                      <a:rPr lang="en-US" sz="2800" b="0" i="1" smtClean="0">
                                        <a:latin typeface="Cambria Math" panose="02040503050406030204" pitchFamily="18" charset="0"/>
                                      </a:rPr>
                                      <m:t>𝛼</m:t>
                                    </m:r>
                                    <m:r>
                                      <a:rPr lang="en-US" sz="2800" i="1">
                                        <a:latin typeface="Cambria Math" panose="02040503050406030204" pitchFamily="18" charset="0"/>
                                      </a:rPr>
                                      <m:t>𝛽</m:t>
                                    </m:r>
                                  </m:sup>
                                </m:sSup>
                              </m:e>
                              <m:e>
                                <m:r>
                                  <a:rPr lang="en-US" sz="2800" b="0" i="1" smtClean="0">
                                    <a:latin typeface="Cambria Math" panose="02040503050406030204" pitchFamily="18" charset="0"/>
                                  </a:rPr>
                                  <m:t>𝑚</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𝑔</m:t>
                                    </m:r>
                                  </m:e>
                                  <m:sub>
                                    <m:r>
                                      <a:rPr lang="en-US" sz="2800" b="0" i="1" smtClean="0">
                                        <a:latin typeface="Cambria Math" panose="02040503050406030204" pitchFamily="18" charset="0"/>
                                      </a:rPr>
                                      <m:t>𝛼𝛽</m:t>
                                    </m:r>
                                  </m:sub>
                                </m:sSub>
                              </m:e>
                            </m:mr>
                            <m:mr>
                              <m:e>
                                <m:r>
                                  <a:rPr lang="en-US" sz="2800" b="0" i="1" smtClean="0">
                                    <a:latin typeface="Cambria Math" panose="02040503050406030204" pitchFamily="18" charset="0"/>
                                  </a:rPr>
                                  <m:t>−</m:t>
                                </m:r>
                                <m:r>
                                  <a:rPr lang="en-US" sz="2800" i="1">
                                    <a:latin typeface="Cambria Math" panose="02040503050406030204" pitchFamily="18" charset="0"/>
                                  </a:rPr>
                                  <m:t>𝑚</m:t>
                                </m:r>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rPr>
                                      <m:t>𝛼𝛽</m:t>
                                    </m:r>
                                  </m:sub>
                                </m:sSub>
                              </m:e>
                              <m:e>
                                <m:r>
                                  <a:rPr lang="en-US" sz="2800" b="0" i="1" smtClean="0">
                                    <a:latin typeface="Cambria Math" panose="02040503050406030204" pitchFamily="18" charset="0"/>
                                  </a:rPr>
                                  <m:t>0</m:t>
                                </m:r>
                              </m:e>
                            </m:mr>
                          </m:m>
                        </m:e>
                      </m:d>
                    </m:oMath>
                  </m:oMathPara>
                </a14:m>
                <a:endParaRPr lang="en-US" sz="2800" dirty="0"/>
              </a:p>
            </p:txBody>
          </p:sp>
        </mc:Choice>
        <mc:Fallback xmlns="">
          <p:sp>
            <p:nvSpPr>
              <p:cNvPr id="4" name="TextBox 3">
                <a:extLst>
                  <a:ext uri="{FF2B5EF4-FFF2-40B4-BE49-F238E27FC236}">
                    <a16:creationId xmlns:a16="http://schemas.microsoft.com/office/drawing/2014/main" id="{A022D16A-58F5-F1B1-75A4-F371749A913F}"/>
                  </a:ext>
                </a:extLst>
              </p:cNvPr>
              <p:cNvSpPr txBox="1">
                <a:spLocks noRot="1" noChangeAspect="1" noMove="1" noResize="1" noEditPoints="1" noAdjustHandles="1" noChangeArrowheads="1" noChangeShapeType="1" noTextEdit="1"/>
              </p:cNvSpPr>
              <p:nvPr/>
            </p:nvSpPr>
            <p:spPr>
              <a:xfrm>
                <a:off x="1037371" y="2651404"/>
                <a:ext cx="5822684" cy="1076449"/>
              </a:xfrm>
              <a:prstGeom prst="rect">
                <a:avLst/>
              </a:prstGeom>
              <a:blipFill>
                <a:blip r:embed="rId2"/>
                <a:stretch>
                  <a:fillRect/>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AB296A48-5996-AF78-4FB7-9950CA1EE144}"/>
              </a:ext>
            </a:extLst>
          </p:cNvPr>
          <p:cNvCxnSpPr>
            <a:cxnSpLocks/>
          </p:cNvCxnSpPr>
          <p:nvPr/>
        </p:nvCxnSpPr>
        <p:spPr>
          <a:xfrm flipH="1">
            <a:off x="3422291" y="2360946"/>
            <a:ext cx="619657" cy="459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392EAD3-CD97-ACA0-7662-E2A00A52FDC1}"/>
                  </a:ext>
                </a:extLst>
              </p:cNvPr>
              <p:cNvSpPr txBox="1"/>
              <p:nvPr/>
            </p:nvSpPr>
            <p:spPr>
              <a:xfrm>
                <a:off x="3685502" y="1809250"/>
                <a:ext cx="2221313" cy="4945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m:t>
                          </m:r>
                        </m:e>
                        <m:sub>
                          <m:r>
                            <a:rPr lang="en-US" sz="2400" b="0" i="1" smtClean="0">
                              <a:latin typeface="Cambria Math" panose="02040503050406030204" pitchFamily="18" charset="0"/>
                            </a:rPr>
                            <m:t>𝛼</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𝑔</m:t>
                          </m:r>
                        </m:e>
                        <m:sub>
                          <m:r>
                            <a:rPr lang="en-US" sz="2400" b="0" i="1" smtClean="0">
                              <a:latin typeface="Cambria Math" panose="02040503050406030204" pitchFamily="18" charset="0"/>
                            </a:rPr>
                            <m:t>𝛽𝛾</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m:t>
                          </m:r>
                        </m:e>
                        <m:sub>
                          <m:r>
                            <a:rPr lang="en-US" sz="2400" b="0" i="1" smtClean="0">
                              <a:latin typeface="Cambria Math" panose="02040503050406030204" pitchFamily="18" charset="0"/>
                            </a:rPr>
                            <m:t>𝛽</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𝑔</m:t>
                          </m:r>
                        </m:e>
                        <m:sub>
                          <m:r>
                            <a:rPr lang="en-US" sz="2400" b="0" i="1" smtClean="0">
                              <a:latin typeface="Cambria Math" panose="02040503050406030204" pitchFamily="18" charset="0"/>
                            </a:rPr>
                            <m:t>𝛼𝛾</m:t>
                          </m:r>
                        </m:sub>
                      </m:sSub>
                    </m:oMath>
                  </m:oMathPara>
                </a14:m>
                <a:endParaRPr lang="en-US" sz="2400" dirty="0"/>
              </a:p>
            </p:txBody>
          </p:sp>
        </mc:Choice>
        <mc:Fallback xmlns="">
          <p:sp>
            <p:nvSpPr>
              <p:cNvPr id="6" name="TextBox 5">
                <a:extLst>
                  <a:ext uri="{FF2B5EF4-FFF2-40B4-BE49-F238E27FC236}">
                    <a16:creationId xmlns:a16="http://schemas.microsoft.com/office/drawing/2014/main" id="{4392EAD3-CD97-ACA0-7662-E2A00A52FDC1}"/>
                  </a:ext>
                </a:extLst>
              </p:cNvPr>
              <p:cNvSpPr txBox="1">
                <a:spLocks noRot="1" noChangeAspect="1" noMove="1" noResize="1" noEditPoints="1" noAdjustHandles="1" noChangeArrowheads="1" noChangeShapeType="1" noTextEdit="1"/>
              </p:cNvSpPr>
              <p:nvPr/>
            </p:nvSpPr>
            <p:spPr>
              <a:xfrm>
                <a:off x="3685502" y="1809250"/>
                <a:ext cx="2221313" cy="494559"/>
              </a:xfrm>
              <a:prstGeom prst="rect">
                <a:avLst/>
              </a:prstGeom>
              <a:blipFill>
                <a:blip r:embed="rId3"/>
                <a:stretch>
                  <a:fillRect b="-12346"/>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70742248-0E2F-F0E8-6DD7-AD90502CB3BF}"/>
              </a:ext>
            </a:extLst>
          </p:cNvPr>
          <p:cNvCxnSpPr>
            <a:cxnSpLocks/>
          </p:cNvCxnSpPr>
          <p:nvPr/>
        </p:nvCxnSpPr>
        <p:spPr>
          <a:xfrm flipH="1">
            <a:off x="6579476" y="2568808"/>
            <a:ext cx="995297" cy="251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76ADF8D-31DB-CE9F-B12F-9B6644B85123}"/>
              </a:ext>
            </a:extLst>
          </p:cNvPr>
          <p:cNvSpPr txBox="1"/>
          <p:nvPr/>
        </p:nvSpPr>
        <p:spPr>
          <a:xfrm>
            <a:off x="7702309" y="1729334"/>
            <a:ext cx="4022007" cy="1384995"/>
          </a:xfrm>
          <a:prstGeom prst="rect">
            <a:avLst/>
          </a:prstGeom>
          <a:noFill/>
        </p:spPr>
        <p:txBody>
          <a:bodyPr wrap="square" rtlCol="0">
            <a:spAutoFit/>
          </a:bodyPr>
          <a:lstStyle/>
          <a:p>
            <a:r>
              <a:rPr lang="en-US" sz="2800" dirty="0">
                <a:solidFill>
                  <a:schemeClr val="accent6">
                    <a:lumMod val="75000"/>
                  </a:schemeClr>
                </a:solidFill>
              </a:rPr>
              <a:t>Metric tensor appears as the position-velocity part of the symplectic form</a:t>
            </a:r>
          </a:p>
        </p:txBody>
      </p:sp>
      <p:sp>
        <p:nvSpPr>
          <p:cNvPr id="11" name="TextBox 10">
            <a:extLst>
              <a:ext uri="{FF2B5EF4-FFF2-40B4-BE49-F238E27FC236}">
                <a16:creationId xmlns:a16="http://schemas.microsoft.com/office/drawing/2014/main" id="{2A407464-DC95-AFDF-900D-97DC116EF2DD}"/>
              </a:ext>
            </a:extLst>
          </p:cNvPr>
          <p:cNvSpPr txBox="1"/>
          <p:nvPr/>
        </p:nvSpPr>
        <p:spPr>
          <a:xfrm>
            <a:off x="343405" y="4453668"/>
            <a:ext cx="5205784" cy="646331"/>
          </a:xfrm>
          <a:prstGeom prst="rect">
            <a:avLst/>
          </a:prstGeom>
          <a:noFill/>
        </p:spPr>
        <p:txBody>
          <a:bodyPr wrap="none" rtlCol="0">
            <a:spAutoFit/>
          </a:bodyPr>
          <a:lstStyle/>
          <a:p>
            <a:r>
              <a:rPr lang="en-US" sz="3600" dirty="0"/>
              <a:t>What about field theories?</a:t>
            </a:r>
          </a:p>
        </p:txBody>
      </p:sp>
      <p:sp>
        <p:nvSpPr>
          <p:cNvPr id="12" name="TextBox 11">
            <a:extLst>
              <a:ext uri="{FF2B5EF4-FFF2-40B4-BE49-F238E27FC236}">
                <a16:creationId xmlns:a16="http://schemas.microsoft.com/office/drawing/2014/main" id="{351AEE1D-83D5-FB66-CC2C-3B982F0AF255}"/>
              </a:ext>
            </a:extLst>
          </p:cNvPr>
          <p:cNvSpPr txBox="1"/>
          <p:nvPr/>
        </p:nvSpPr>
        <p:spPr>
          <a:xfrm>
            <a:off x="5473506" y="4988838"/>
            <a:ext cx="1425390" cy="523220"/>
          </a:xfrm>
          <a:prstGeom prst="rect">
            <a:avLst/>
          </a:prstGeom>
          <a:noFill/>
        </p:spPr>
        <p:txBody>
          <a:bodyPr wrap="none" rtlCol="0">
            <a:spAutoFit/>
          </a:bodyPr>
          <a:lstStyle/>
          <a:p>
            <a:r>
              <a:rPr lang="en-US" sz="2800" dirty="0"/>
              <a:t>No idea!</a:t>
            </a:r>
          </a:p>
        </p:txBody>
      </p:sp>
    </p:spTree>
    <p:extLst>
      <p:ext uri="{BB962C8B-B14F-4D97-AF65-F5344CB8AC3E}">
        <p14:creationId xmlns:p14="http://schemas.microsoft.com/office/powerpoint/2010/main" val="901071464"/>
      </p:ext>
    </p:extLst>
  </p:cSld>
  <p:clrMapOvr>
    <a:masterClrMapping/>
  </p:clrMapOvr>
</p:sld>
</file>

<file path=ppt/theme/theme1.xml><?xml version="1.0" encoding="utf-8"?>
<a:theme xmlns:a="http://schemas.openxmlformats.org/drawingml/2006/main" name="Office Theme">
  <a:themeElements>
    <a:clrScheme name="AoP">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103851</TotalTime>
  <Words>995</Words>
  <Application>Microsoft Office PowerPoint</Application>
  <PresentationFormat>Widescreen</PresentationFormat>
  <Paragraphs>174</Paragraphs>
  <Slides>22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Cambria Math</vt:lpstr>
      <vt:lpstr>Office Theme</vt:lpstr>
      <vt:lpstr>Born rule is entropy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Gabriele Carcassi</dc:creator>
  <cp:lastModifiedBy>Gabriele Carcassi</cp:lastModifiedBy>
  <cp:revision>304</cp:revision>
  <dcterms:created xsi:type="dcterms:W3CDTF">2021-04-07T15:17:47Z</dcterms:created>
  <dcterms:modified xsi:type="dcterms:W3CDTF">2026-06-27T21:23:07Z</dcterms:modified>
</cp:coreProperties>
</file>