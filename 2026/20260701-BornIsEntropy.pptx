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1072" r:id="rId2"/>
    <p:sldId id="1229" r:id="rId3"/>
    <p:sldId id="1241" r:id="rId4"/>
    <p:sldId id="1250" r:id="rId5"/>
    <p:sldId id="1251" r:id="rId6"/>
    <p:sldId id="1240" r:id="rId7"/>
    <p:sldId id="1245" r:id="rId8"/>
    <p:sldId id="1243" r:id="rId9"/>
    <p:sldId id="1252" r:id="rId10"/>
    <p:sldId id="1253" r:id="rId11"/>
    <p:sldId id="1255" r:id="rId12"/>
    <p:sldId id="1256" r:id="rId13"/>
    <p:sldId id="1258" r:id="rId14"/>
    <p:sldId id="1259" r:id="rId15"/>
    <p:sldId id="1260" r:id="rId16"/>
    <p:sldId id="1261" r:id="rId17"/>
    <p:sldId id="1257" r:id="rId18"/>
    <p:sldId id="1262" r:id="rId19"/>
    <p:sldId id="1263" r:id="rId20"/>
    <p:sldId id="1230" r:id="rId21"/>
    <p:sldId id="1249" r:id="rId22"/>
    <p:sldId id="1254" r:id="rId23"/>
    <p:sldId id="1232" r:id="rId24"/>
    <p:sldId id="1246" r:id="rId25"/>
    <p:sldId id="1247" r:id="rId26"/>
    <p:sldId id="1248" r:id="rId27"/>
    <p:sldId id="124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48235"/>
    <a:srgbClr val="172C51"/>
    <a:srgbClr val="FFFFFF"/>
    <a:srgbClr val="7F7F7F"/>
    <a:srgbClr val="4C216D"/>
    <a:srgbClr val="A469D1"/>
    <a:srgbClr val="9752CA"/>
    <a:srgbClr val="B686DA"/>
    <a:srgbClr val="C9A6E4"/>
    <a:srgbClr val="672D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74" autoAdjust="0"/>
    <p:restoredTop sz="77867" autoAdjust="0"/>
  </p:normalViewPr>
  <p:slideViewPr>
    <p:cSldViewPr snapToGrid="0">
      <p:cViewPr varScale="1">
        <p:scale>
          <a:sx n="94" d="100"/>
          <a:sy n="94" d="100"/>
        </p:scale>
        <p:origin x="893" y="86"/>
      </p:cViewPr>
      <p:guideLst/>
    </p:cSldViewPr>
  </p:slideViewPr>
  <p:outlineViewPr>
    <p:cViewPr>
      <p:scale>
        <a:sx n="33" d="100"/>
        <a:sy n="33" d="100"/>
      </p:scale>
      <p:origin x="0" y="-9029"/>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19C704-B8F9-449B-B828-36D786A1FE73}" type="datetimeFigureOut">
              <a:rPr lang="en-US" smtClean="0"/>
              <a:t>6/28/2026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154F452-85BD-4268-B680-C313DBFDCEB3}" type="slidenum">
              <a:rPr lang="en-US" smtClean="0"/>
              <a:t>‹#›</a:t>
            </a:fld>
            <a:endParaRPr lang="en-US"/>
          </a:p>
        </p:txBody>
      </p:sp>
    </p:spTree>
    <p:extLst>
      <p:ext uri="{BB962C8B-B14F-4D97-AF65-F5344CB8AC3E}">
        <p14:creationId xmlns:p14="http://schemas.microsoft.com/office/powerpoint/2010/main" val="843431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Born rule is one of the core components of quantum mechanics. It tells us what the probability to measure a state given that another one was prepared. This gives the mistaken impression that quantum mechanics is about measurements… it’s not. It’s about preparations. The unavoidable variability, uncertainty, that is intrinsic in every preparations. So, we are going to show that the Born rule is equivalent to characterize the entropy, the variability, of preparations. That is, the probability of measuring one state given that another one was prepared can be derived from the entropy of an equal mixture of those two states. The Born rule is entropy, and entropy is the Born rule. Orthogonal states are mutually exclusive states, those that can be prepared under the same conditions. There are a lot of things to say… but I have to keep the video short because I have been busy with conferences, workshops and summer school. So, we’ll just see the Born rule… geometrically! The entropy… geometrically! And how one can be derived from another…. Geometrically! Yes, we are going to use Euclidean geometry and trigonometry, what you learned in your first year of high school… is that when people learn trigonometry? Anyway, no complex numbers, no Hilbert spaces. Let’s get started!</a:t>
            </a:r>
          </a:p>
        </p:txBody>
      </p:sp>
      <p:sp>
        <p:nvSpPr>
          <p:cNvPr id="4" name="Slide Number Placeholder 3"/>
          <p:cNvSpPr>
            <a:spLocks noGrp="1"/>
          </p:cNvSpPr>
          <p:nvPr>
            <p:ph type="sldNum" sz="quarter" idx="5"/>
          </p:nvPr>
        </p:nvSpPr>
        <p:spPr/>
        <p:txBody>
          <a:bodyPr/>
          <a:lstStyle/>
          <a:p>
            <a:fld id="{A154F452-85BD-4268-B680-C313DBFDCEB3}" type="slidenum">
              <a:rPr lang="en-US" smtClean="0"/>
              <a:t>1</a:t>
            </a:fld>
            <a:endParaRPr lang="en-US"/>
          </a:p>
        </p:txBody>
      </p:sp>
    </p:spTree>
    <p:extLst>
      <p:ext uri="{BB962C8B-B14F-4D97-AF65-F5344CB8AC3E}">
        <p14:creationId xmlns:p14="http://schemas.microsoft.com/office/powerpoint/2010/main" val="1433395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154F452-85BD-4268-B680-C313DBFDCEB3}" type="slidenum">
              <a:rPr lang="en-US" smtClean="0"/>
              <a:t>19</a:t>
            </a:fld>
            <a:endParaRPr lang="en-US"/>
          </a:p>
        </p:txBody>
      </p:sp>
    </p:spTree>
    <p:extLst>
      <p:ext uri="{BB962C8B-B14F-4D97-AF65-F5344CB8AC3E}">
        <p14:creationId xmlns:p14="http://schemas.microsoft.com/office/powerpoint/2010/main" val="11000020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4FB9D-FE32-4608-A322-879EB604C4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12BEF24-38DB-414B-9143-835F94C545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49D3D-74DA-4CF4-9D8A-35BEC589E886}"/>
              </a:ext>
            </a:extLst>
          </p:cNvPr>
          <p:cNvSpPr>
            <a:spLocks noGrp="1"/>
          </p:cNvSpPr>
          <p:nvPr>
            <p:ph type="dt" sz="half" idx="10"/>
          </p:nvPr>
        </p:nvSpPr>
        <p:spPr/>
        <p:txBody>
          <a:bodyPr/>
          <a:lstStyle/>
          <a:p>
            <a:fld id="{DBFECF9E-8B09-4099-B1BA-6ADDA94A0342}" type="datetime1">
              <a:rPr lang="en-US" smtClean="0"/>
              <a:t>6/28/2026</a:t>
            </a:fld>
            <a:endParaRPr lang="en-US"/>
          </a:p>
        </p:txBody>
      </p:sp>
      <p:sp>
        <p:nvSpPr>
          <p:cNvPr id="5" name="Footer Placeholder 4">
            <a:extLst>
              <a:ext uri="{FF2B5EF4-FFF2-40B4-BE49-F238E27FC236}">
                <a16:creationId xmlns:a16="http://schemas.microsoft.com/office/drawing/2014/main" id="{C3B2A6A3-4127-48D5-9784-9FE0EA9F2B0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747A031F-D251-4900-90B5-0DBC5EEB8B53}"/>
              </a:ext>
            </a:extLst>
          </p:cNvPr>
          <p:cNvSpPr>
            <a:spLocks noGrp="1"/>
          </p:cNvSpPr>
          <p:nvPr>
            <p:ph type="sldNum" sz="quarter" idx="12"/>
          </p:nvPr>
        </p:nvSpPr>
        <p:spPr/>
        <p:txBody>
          <a:bodyPr/>
          <a:lstStyle/>
          <a:p>
            <a:fld id="{F47845EA-7733-40EE-B074-20032348B727}" type="slidenum">
              <a:rPr lang="en-US" smtClean="0"/>
              <a:t>‹#›</a:t>
            </a:fld>
            <a:endParaRPr lang="en-US"/>
          </a:p>
        </p:txBody>
      </p:sp>
      <p:sp>
        <p:nvSpPr>
          <p:cNvPr id="9" name="Oval 8">
            <a:extLst>
              <a:ext uri="{FF2B5EF4-FFF2-40B4-BE49-F238E27FC236}">
                <a16:creationId xmlns:a16="http://schemas.microsoft.com/office/drawing/2014/main" id="{3AF2D39E-1CF2-6C35-A74E-C2E85F817FF0}"/>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13" name="Picture 12">
            <a:extLst>
              <a:ext uri="{FF2B5EF4-FFF2-40B4-BE49-F238E27FC236}">
                <a16:creationId xmlns:a16="http://schemas.microsoft.com/office/drawing/2014/main" id="{803588DA-AF3D-0538-FED6-B91B80D9B03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941405" y="4365482"/>
            <a:ext cx="1676403" cy="1523725"/>
          </a:xfrm>
          <a:prstGeom prst="rect">
            <a:avLst/>
          </a:prstGeom>
        </p:spPr>
      </p:pic>
      <p:pic>
        <p:nvPicPr>
          <p:cNvPr id="15" name="Picture 14">
            <a:extLst>
              <a:ext uri="{FF2B5EF4-FFF2-40B4-BE49-F238E27FC236}">
                <a16:creationId xmlns:a16="http://schemas.microsoft.com/office/drawing/2014/main" id="{4EEE5F5B-B632-2F49-E623-5C0F89CE0E7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664754" y="5933727"/>
            <a:ext cx="2229706" cy="756859"/>
          </a:xfrm>
          <a:prstGeom prst="rect">
            <a:avLst/>
          </a:prstGeom>
        </p:spPr>
      </p:pic>
      <p:pic>
        <p:nvPicPr>
          <p:cNvPr id="16" name="Picture 15">
            <a:extLst>
              <a:ext uri="{FF2B5EF4-FFF2-40B4-BE49-F238E27FC236}">
                <a16:creationId xmlns:a16="http://schemas.microsoft.com/office/drawing/2014/main" id="{9AE0316C-62B2-770F-A578-C8D4BEA5ED2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22032" y="4433212"/>
            <a:ext cx="1676403" cy="1523725"/>
          </a:xfrm>
          <a:prstGeom prst="rect">
            <a:avLst/>
          </a:prstGeom>
        </p:spPr>
      </p:pic>
      <p:pic>
        <p:nvPicPr>
          <p:cNvPr id="17" name="Picture 16">
            <a:extLst>
              <a:ext uri="{FF2B5EF4-FFF2-40B4-BE49-F238E27FC236}">
                <a16:creationId xmlns:a16="http://schemas.microsoft.com/office/drawing/2014/main" id="{730B28FF-2283-988B-15E2-3907B103BE7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45381" y="6001457"/>
            <a:ext cx="2229706" cy="756859"/>
          </a:xfrm>
          <a:prstGeom prst="rect">
            <a:avLst/>
          </a:prstGeom>
        </p:spPr>
      </p:pic>
    </p:spTree>
    <p:extLst>
      <p:ext uri="{BB962C8B-B14F-4D97-AF65-F5344CB8AC3E}">
        <p14:creationId xmlns:p14="http://schemas.microsoft.com/office/powerpoint/2010/main" val="2314530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083A-4E98-4B0F-9BE9-89B3801C59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3EDFED-B2F5-4E8E-B7CC-56CC10C1C4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65BC790-453E-4FDF-8576-041B1DF9865E}"/>
              </a:ext>
            </a:extLst>
          </p:cNvPr>
          <p:cNvSpPr>
            <a:spLocks noGrp="1"/>
          </p:cNvSpPr>
          <p:nvPr>
            <p:ph type="ftr" sz="quarter" idx="11"/>
          </p:nvPr>
        </p:nvSpPr>
        <p:spPr/>
        <p:txBody>
          <a:bodyPr/>
          <a:lstStyle/>
          <a:p>
            <a:r>
              <a:rPr lang="en-US"/>
              <a:t>Gabriele Carcassi - University of Michigan</a:t>
            </a:r>
          </a:p>
        </p:txBody>
      </p:sp>
      <p:sp>
        <p:nvSpPr>
          <p:cNvPr id="9" name="Date Placeholder 8">
            <a:extLst>
              <a:ext uri="{FF2B5EF4-FFF2-40B4-BE49-F238E27FC236}">
                <a16:creationId xmlns:a16="http://schemas.microsoft.com/office/drawing/2014/main" id="{0BC8FBAB-8131-440B-982D-5FFA7A53024B}"/>
              </a:ext>
            </a:extLst>
          </p:cNvPr>
          <p:cNvSpPr>
            <a:spLocks noGrp="1"/>
          </p:cNvSpPr>
          <p:nvPr>
            <p:ph type="dt" sz="half" idx="12"/>
          </p:nvPr>
        </p:nvSpPr>
        <p:spPr/>
        <p:txBody>
          <a:bodyPr/>
          <a:lstStyle/>
          <a:p>
            <a:fld id="{14040F82-CAAF-492E-A3B6-9D23E7AB0A58}" type="datetime1">
              <a:rPr lang="en-US" smtClean="0"/>
              <a:t>6/28/2026</a:t>
            </a:fld>
            <a:endParaRPr lang="en-US" dirty="0"/>
          </a:p>
        </p:txBody>
      </p:sp>
      <p:sp>
        <p:nvSpPr>
          <p:cNvPr id="10" name="Slide Number Placeholder 9">
            <a:extLst>
              <a:ext uri="{FF2B5EF4-FFF2-40B4-BE49-F238E27FC236}">
                <a16:creationId xmlns:a16="http://schemas.microsoft.com/office/drawing/2014/main" id="{2CD6FF50-33B5-48AA-9106-E41AD3A7C711}"/>
              </a:ext>
            </a:extLst>
          </p:cNvPr>
          <p:cNvSpPr>
            <a:spLocks noGrp="1"/>
          </p:cNvSpPr>
          <p:nvPr>
            <p:ph type="sldNum" sz="quarter" idx="13"/>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2789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ACB5C-4D91-4CEE-A37D-A6D6EA77551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572FF89-CC5E-4ECF-8587-C5477617EC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65818F-79A2-4B99-9E93-0A0D3450941C}"/>
              </a:ext>
            </a:extLst>
          </p:cNvPr>
          <p:cNvSpPr>
            <a:spLocks noGrp="1"/>
          </p:cNvSpPr>
          <p:nvPr>
            <p:ph type="dt" sz="half" idx="10"/>
          </p:nvPr>
        </p:nvSpPr>
        <p:spPr/>
        <p:txBody>
          <a:bodyPr/>
          <a:lstStyle/>
          <a:p>
            <a:fld id="{5E94585C-5462-4635-A827-CBBCD3A2E6B8}" type="datetime1">
              <a:rPr lang="en-US" smtClean="0"/>
              <a:t>6/28/2026</a:t>
            </a:fld>
            <a:endParaRPr lang="en-US"/>
          </a:p>
        </p:txBody>
      </p:sp>
      <p:sp>
        <p:nvSpPr>
          <p:cNvPr id="5" name="Footer Placeholder 4">
            <a:extLst>
              <a:ext uri="{FF2B5EF4-FFF2-40B4-BE49-F238E27FC236}">
                <a16:creationId xmlns:a16="http://schemas.microsoft.com/office/drawing/2014/main" id="{A0A0A171-786D-4212-94DA-A3B5DDCBE8FE}"/>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F90C80CF-897E-4A36-9214-10EE125C5239}"/>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8786474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8B1A4-D1EF-45A3-9791-016116AFC3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5B0615B-3F88-41CF-8B1F-20FB3C7BE2C0}"/>
              </a:ext>
            </a:extLst>
          </p:cNvPr>
          <p:cNvSpPr>
            <a:spLocks noGrp="1"/>
          </p:cNvSpPr>
          <p:nvPr>
            <p:ph sz="half" idx="1"/>
          </p:nvPr>
        </p:nvSpPr>
        <p:spPr>
          <a:xfrm>
            <a:off x="103955"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C97195-09DC-40DF-8642-91B5CEAE2EB1}"/>
              </a:ext>
            </a:extLst>
          </p:cNvPr>
          <p:cNvSpPr>
            <a:spLocks noGrp="1"/>
          </p:cNvSpPr>
          <p:nvPr>
            <p:ph sz="half" idx="2"/>
          </p:nvPr>
        </p:nvSpPr>
        <p:spPr>
          <a:xfrm>
            <a:off x="6172199" y="1105469"/>
            <a:ext cx="5915845" cy="50714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B77FD46-DF3C-4CF1-8DB8-AE555EDA6094}"/>
              </a:ext>
            </a:extLst>
          </p:cNvPr>
          <p:cNvSpPr>
            <a:spLocks noGrp="1"/>
          </p:cNvSpPr>
          <p:nvPr>
            <p:ph type="dt" sz="half" idx="10"/>
          </p:nvPr>
        </p:nvSpPr>
        <p:spPr/>
        <p:txBody>
          <a:bodyPr/>
          <a:lstStyle/>
          <a:p>
            <a:fld id="{B09B1218-991B-4184-B0F8-198D0FAC17F9}" type="datetime1">
              <a:rPr lang="en-US" smtClean="0"/>
              <a:t>6/28/2026</a:t>
            </a:fld>
            <a:endParaRPr lang="en-US"/>
          </a:p>
        </p:txBody>
      </p:sp>
      <p:sp>
        <p:nvSpPr>
          <p:cNvPr id="6" name="Footer Placeholder 5">
            <a:extLst>
              <a:ext uri="{FF2B5EF4-FFF2-40B4-BE49-F238E27FC236}">
                <a16:creationId xmlns:a16="http://schemas.microsoft.com/office/drawing/2014/main" id="{32AA3C63-BDA7-4CD1-98D2-7B44F82B1548}"/>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C09C5504-0686-44F8-A23D-45B91F88ED2C}"/>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586283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9177B-A747-42FD-8F29-D1361B4E2C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0DEB389-9A95-4143-B34D-74A157C3E5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8FF914-FCFA-477B-964A-C59B91251C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16DC335-A7AE-4EBC-A953-CD7B08744D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606B780-1F08-4E36-968D-D083275A4F3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6AC007B-DA08-41DC-96BA-9EDC62C18742}"/>
              </a:ext>
            </a:extLst>
          </p:cNvPr>
          <p:cNvSpPr>
            <a:spLocks noGrp="1"/>
          </p:cNvSpPr>
          <p:nvPr>
            <p:ph type="dt" sz="half" idx="10"/>
          </p:nvPr>
        </p:nvSpPr>
        <p:spPr/>
        <p:txBody>
          <a:bodyPr/>
          <a:lstStyle/>
          <a:p>
            <a:fld id="{9555B3F8-63BD-45A8-8D64-7C6391B4DEC4}" type="datetime1">
              <a:rPr lang="en-US" smtClean="0"/>
              <a:t>6/28/2026</a:t>
            </a:fld>
            <a:endParaRPr lang="en-US"/>
          </a:p>
        </p:txBody>
      </p:sp>
      <p:sp>
        <p:nvSpPr>
          <p:cNvPr id="8" name="Footer Placeholder 7">
            <a:extLst>
              <a:ext uri="{FF2B5EF4-FFF2-40B4-BE49-F238E27FC236}">
                <a16:creationId xmlns:a16="http://schemas.microsoft.com/office/drawing/2014/main" id="{29F2FD71-2584-48F8-992F-EBA7CFFACF44}"/>
              </a:ext>
            </a:extLst>
          </p:cNvPr>
          <p:cNvSpPr>
            <a:spLocks noGrp="1"/>
          </p:cNvSpPr>
          <p:nvPr>
            <p:ph type="ftr" sz="quarter" idx="11"/>
          </p:nvPr>
        </p:nvSpPr>
        <p:spPr/>
        <p:txBody>
          <a:bodyPr/>
          <a:lstStyle/>
          <a:p>
            <a:r>
              <a:rPr lang="en-US"/>
              <a:t>Gabriele Carcassi - University of Michigan</a:t>
            </a:r>
          </a:p>
        </p:txBody>
      </p:sp>
      <p:sp>
        <p:nvSpPr>
          <p:cNvPr id="9" name="Slide Number Placeholder 8">
            <a:extLst>
              <a:ext uri="{FF2B5EF4-FFF2-40B4-BE49-F238E27FC236}">
                <a16:creationId xmlns:a16="http://schemas.microsoft.com/office/drawing/2014/main" id="{51FB88B5-3CD1-407E-B5B5-2FDF80D2DBD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28709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D30F-053D-46F9-9A37-D1DA8923C9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02A0CFC-E613-4829-BB1E-23DC17F1F460}"/>
              </a:ext>
            </a:extLst>
          </p:cNvPr>
          <p:cNvSpPr>
            <a:spLocks noGrp="1"/>
          </p:cNvSpPr>
          <p:nvPr>
            <p:ph type="dt" sz="half" idx="10"/>
          </p:nvPr>
        </p:nvSpPr>
        <p:spPr/>
        <p:txBody>
          <a:bodyPr/>
          <a:lstStyle/>
          <a:p>
            <a:fld id="{B6287A86-4DED-4531-AD0C-FE6F48B43375}" type="datetime1">
              <a:rPr lang="en-US" smtClean="0"/>
              <a:t>6/28/2026</a:t>
            </a:fld>
            <a:endParaRPr lang="en-US"/>
          </a:p>
        </p:txBody>
      </p:sp>
      <p:sp>
        <p:nvSpPr>
          <p:cNvPr id="4" name="Footer Placeholder 3">
            <a:extLst>
              <a:ext uri="{FF2B5EF4-FFF2-40B4-BE49-F238E27FC236}">
                <a16:creationId xmlns:a16="http://schemas.microsoft.com/office/drawing/2014/main" id="{B344F9ED-0DC1-499C-966A-67FA83690F04}"/>
              </a:ext>
            </a:extLst>
          </p:cNvPr>
          <p:cNvSpPr>
            <a:spLocks noGrp="1"/>
          </p:cNvSpPr>
          <p:nvPr>
            <p:ph type="ftr" sz="quarter" idx="11"/>
          </p:nvPr>
        </p:nvSpPr>
        <p:spPr/>
        <p:txBody>
          <a:bodyPr/>
          <a:lstStyle/>
          <a:p>
            <a:r>
              <a:rPr lang="en-US"/>
              <a:t>Gabriele Carcassi - University of Michigan</a:t>
            </a:r>
          </a:p>
        </p:txBody>
      </p:sp>
      <p:sp>
        <p:nvSpPr>
          <p:cNvPr id="5" name="Slide Number Placeholder 4">
            <a:extLst>
              <a:ext uri="{FF2B5EF4-FFF2-40B4-BE49-F238E27FC236}">
                <a16:creationId xmlns:a16="http://schemas.microsoft.com/office/drawing/2014/main" id="{5E2F0D14-ECEA-4749-973A-35A78F792B48}"/>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562136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0F97A8DE-26FB-44D4-A9F1-CB9FF4220695}"/>
              </a:ext>
            </a:extLst>
          </p:cNvPr>
          <p:cNvSpPr>
            <a:spLocks noGrp="1"/>
          </p:cNvSpPr>
          <p:nvPr>
            <p:ph type="dt" sz="half" idx="10"/>
          </p:nvPr>
        </p:nvSpPr>
        <p:spPr/>
        <p:txBody>
          <a:bodyPr/>
          <a:lstStyle/>
          <a:p>
            <a:fld id="{2BB7EE58-DC87-4D11-AA22-E3A6718A2E80}" type="datetime1">
              <a:rPr lang="en-US" smtClean="0"/>
              <a:t>6/28/2026</a:t>
            </a:fld>
            <a:endParaRPr lang="en-US" dirty="0"/>
          </a:p>
        </p:txBody>
      </p:sp>
      <p:sp>
        <p:nvSpPr>
          <p:cNvPr id="6" name="Footer Placeholder 5">
            <a:extLst>
              <a:ext uri="{FF2B5EF4-FFF2-40B4-BE49-F238E27FC236}">
                <a16:creationId xmlns:a16="http://schemas.microsoft.com/office/drawing/2014/main" id="{AB56CC65-9693-4336-8892-7DBB0D428480}"/>
              </a:ext>
            </a:extLst>
          </p:cNvPr>
          <p:cNvSpPr>
            <a:spLocks noGrp="1"/>
          </p:cNvSpPr>
          <p:nvPr>
            <p:ph type="ftr" sz="quarter" idx="11"/>
          </p:nvPr>
        </p:nvSpPr>
        <p:spPr/>
        <p:txBody>
          <a:bodyPr/>
          <a:lstStyle/>
          <a:p>
            <a:r>
              <a:rPr lang="en-US"/>
              <a:t>Gabriele Carcassi - University of Michigan</a:t>
            </a:r>
            <a:endParaRPr lang="en-US" dirty="0"/>
          </a:p>
        </p:txBody>
      </p:sp>
      <p:sp>
        <p:nvSpPr>
          <p:cNvPr id="7" name="Slide Number Placeholder 6">
            <a:extLst>
              <a:ext uri="{FF2B5EF4-FFF2-40B4-BE49-F238E27FC236}">
                <a16:creationId xmlns:a16="http://schemas.microsoft.com/office/drawing/2014/main" id="{01092D98-AE7E-447E-AA93-A2032A1FEC20}"/>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85832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036F1-9482-436E-9974-452FA8C0339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63F32D-85F2-44AA-81B0-6B60F5AE664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3A3A79-53E7-4E9B-A70E-77106E56CD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FD5672-F891-4ED6-8D9F-0B8771B5CE5E}"/>
              </a:ext>
            </a:extLst>
          </p:cNvPr>
          <p:cNvSpPr>
            <a:spLocks noGrp="1"/>
          </p:cNvSpPr>
          <p:nvPr>
            <p:ph type="dt" sz="half" idx="10"/>
          </p:nvPr>
        </p:nvSpPr>
        <p:spPr/>
        <p:txBody>
          <a:bodyPr/>
          <a:lstStyle/>
          <a:p>
            <a:fld id="{F681BEE4-EED9-4644-8E5D-BAF3D04BB52D}" type="datetime1">
              <a:rPr lang="en-US" smtClean="0"/>
              <a:t>6/28/2026</a:t>
            </a:fld>
            <a:endParaRPr lang="en-US"/>
          </a:p>
        </p:txBody>
      </p:sp>
      <p:sp>
        <p:nvSpPr>
          <p:cNvPr id="6" name="Footer Placeholder 5">
            <a:extLst>
              <a:ext uri="{FF2B5EF4-FFF2-40B4-BE49-F238E27FC236}">
                <a16:creationId xmlns:a16="http://schemas.microsoft.com/office/drawing/2014/main" id="{11272739-2C05-4A24-88F6-82BBE08FDB25}"/>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62675969-E211-4DE2-B886-5934860C36F7}"/>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31226502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47BCD-8167-44E1-825E-012B66377C9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D72A2AE-5BB8-4C31-9C94-6EDE7D578B9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BD1A6C8-B63C-47F8-8C8C-4DB028D4B5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356164-D348-4A71-AE1D-E22897D3C6B4}"/>
              </a:ext>
            </a:extLst>
          </p:cNvPr>
          <p:cNvSpPr>
            <a:spLocks noGrp="1"/>
          </p:cNvSpPr>
          <p:nvPr>
            <p:ph type="dt" sz="half" idx="10"/>
          </p:nvPr>
        </p:nvSpPr>
        <p:spPr/>
        <p:txBody>
          <a:bodyPr/>
          <a:lstStyle/>
          <a:p>
            <a:fld id="{6E9AAFE7-E238-4DAA-A26B-A60C405FBFD6}" type="datetime1">
              <a:rPr lang="en-US" smtClean="0"/>
              <a:t>6/28/2026</a:t>
            </a:fld>
            <a:endParaRPr lang="en-US"/>
          </a:p>
        </p:txBody>
      </p:sp>
      <p:sp>
        <p:nvSpPr>
          <p:cNvPr id="6" name="Footer Placeholder 5">
            <a:extLst>
              <a:ext uri="{FF2B5EF4-FFF2-40B4-BE49-F238E27FC236}">
                <a16:creationId xmlns:a16="http://schemas.microsoft.com/office/drawing/2014/main" id="{91F6AADB-3A05-424C-9F43-41572E843641}"/>
              </a:ext>
            </a:extLst>
          </p:cNvPr>
          <p:cNvSpPr>
            <a:spLocks noGrp="1"/>
          </p:cNvSpPr>
          <p:nvPr>
            <p:ph type="ftr" sz="quarter" idx="11"/>
          </p:nvPr>
        </p:nvSpPr>
        <p:spPr/>
        <p:txBody>
          <a:bodyPr/>
          <a:lstStyle/>
          <a:p>
            <a:r>
              <a:rPr lang="en-US"/>
              <a:t>Gabriele Carcassi - University of Michigan</a:t>
            </a:r>
          </a:p>
        </p:txBody>
      </p:sp>
      <p:sp>
        <p:nvSpPr>
          <p:cNvPr id="7" name="Slide Number Placeholder 6">
            <a:extLst>
              <a:ext uri="{FF2B5EF4-FFF2-40B4-BE49-F238E27FC236}">
                <a16:creationId xmlns:a16="http://schemas.microsoft.com/office/drawing/2014/main" id="{A6B28A14-221B-4635-AA55-72AC789D4FBE}"/>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9556834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61A85-F374-4F3F-BA0C-52075B074A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73497C3-0A16-4208-BEB3-607737FDD73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AEED635-7E11-4664-8FBC-36FEBFF2DC4C}"/>
              </a:ext>
            </a:extLst>
          </p:cNvPr>
          <p:cNvSpPr>
            <a:spLocks noGrp="1"/>
          </p:cNvSpPr>
          <p:nvPr>
            <p:ph type="dt" sz="half" idx="10"/>
          </p:nvPr>
        </p:nvSpPr>
        <p:spPr/>
        <p:txBody>
          <a:bodyPr/>
          <a:lstStyle/>
          <a:p>
            <a:fld id="{C2E4689B-730B-4AF6-A7AC-5BF745BF6CF6}" type="datetime1">
              <a:rPr lang="en-US" smtClean="0"/>
              <a:t>6/28/2026</a:t>
            </a:fld>
            <a:endParaRPr lang="en-US"/>
          </a:p>
        </p:txBody>
      </p:sp>
      <p:sp>
        <p:nvSpPr>
          <p:cNvPr id="5" name="Footer Placeholder 4">
            <a:extLst>
              <a:ext uri="{FF2B5EF4-FFF2-40B4-BE49-F238E27FC236}">
                <a16:creationId xmlns:a16="http://schemas.microsoft.com/office/drawing/2014/main" id="{C4B9DE0C-6D6F-4D42-817A-BBD09369DA6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E2E03EC4-334C-45C4-A174-AFF5497F81A4}"/>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2173332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7597DE0-D863-4430-924C-3EB271CE81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98BD85-A68E-409D-B87F-BAD2034195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AA6CF-52A1-4471-AFF7-79B37FEF207B}"/>
              </a:ext>
            </a:extLst>
          </p:cNvPr>
          <p:cNvSpPr>
            <a:spLocks noGrp="1"/>
          </p:cNvSpPr>
          <p:nvPr>
            <p:ph type="dt" sz="half" idx="10"/>
          </p:nvPr>
        </p:nvSpPr>
        <p:spPr/>
        <p:txBody>
          <a:bodyPr/>
          <a:lstStyle/>
          <a:p>
            <a:fld id="{849CD730-13C7-4BA8-9C49-4344F22DB36C}" type="datetime1">
              <a:rPr lang="en-US" smtClean="0"/>
              <a:t>6/28/2026</a:t>
            </a:fld>
            <a:endParaRPr lang="en-US"/>
          </a:p>
        </p:txBody>
      </p:sp>
      <p:sp>
        <p:nvSpPr>
          <p:cNvPr id="5" name="Footer Placeholder 4">
            <a:extLst>
              <a:ext uri="{FF2B5EF4-FFF2-40B4-BE49-F238E27FC236}">
                <a16:creationId xmlns:a16="http://schemas.microsoft.com/office/drawing/2014/main" id="{C9E4AF83-3843-42EB-A5A1-2BDCD43FA050}"/>
              </a:ext>
            </a:extLst>
          </p:cNvPr>
          <p:cNvSpPr>
            <a:spLocks noGrp="1"/>
          </p:cNvSpPr>
          <p:nvPr>
            <p:ph type="ftr" sz="quarter" idx="11"/>
          </p:nvPr>
        </p:nvSpPr>
        <p:spPr/>
        <p:txBody>
          <a:bodyPr/>
          <a:lstStyle/>
          <a:p>
            <a:r>
              <a:rPr lang="en-US"/>
              <a:t>Gabriele Carcassi - University of Michigan</a:t>
            </a:r>
          </a:p>
        </p:txBody>
      </p:sp>
      <p:sp>
        <p:nvSpPr>
          <p:cNvPr id="6" name="Slide Number Placeholder 5">
            <a:extLst>
              <a:ext uri="{FF2B5EF4-FFF2-40B4-BE49-F238E27FC236}">
                <a16:creationId xmlns:a16="http://schemas.microsoft.com/office/drawing/2014/main" id="{15368DFD-8437-42AF-BA50-3290D8CDC27B}"/>
              </a:ext>
            </a:extLst>
          </p:cNvPr>
          <p:cNvSpPr>
            <a:spLocks noGrp="1"/>
          </p:cNvSpPr>
          <p:nvPr>
            <p:ph type="sldNum" sz="quarter" idx="12"/>
          </p:nvPr>
        </p:nvSpPr>
        <p:spPr/>
        <p:txBody>
          <a:bodyPr/>
          <a:lstStyle/>
          <a:p>
            <a:fld id="{F47845EA-7733-40EE-B074-20032348B727}" type="slidenum">
              <a:rPr lang="en-US" smtClean="0"/>
              <a:t>‹#›</a:t>
            </a:fld>
            <a:endParaRPr lang="en-US"/>
          </a:p>
        </p:txBody>
      </p:sp>
    </p:spTree>
    <p:extLst>
      <p:ext uri="{BB962C8B-B14F-4D97-AF65-F5344CB8AC3E}">
        <p14:creationId xmlns:p14="http://schemas.microsoft.com/office/powerpoint/2010/main" val="13885941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D5AE79D-67AF-4A6E-B20E-A13E26034F0F}"/>
              </a:ext>
            </a:extLst>
          </p:cNvPr>
          <p:cNvSpPr>
            <a:spLocks noGrp="1"/>
          </p:cNvSpPr>
          <p:nvPr>
            <p:ph type="title"/>
          </p:nvPr>
        </p:nvSpPr>
        <p:spPr>
          <a:xfrm>
            <a:off x="103955" y="84779"/>
            <a:ext cx="11984090" cy="89742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8EDFF892-5903-470F-A479-331C39379FA1}"/>
              </a:ext>
            </a:extLst>
          </p:cNvPr>
          <p:cNvSpPr>
            <a:spLocks noGrp="1"/>
          </p:cNvSpPr>
          <p:nvPr>
            <p:ph type="body" idx="1"/>
          </p:nvPr>
        </p:nvSpPr>
        <p:spPr>
          <a:xfrm>
            <a:off x="103955" y="1075038"/>
            <a:ext cx="11984090" cy="538174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1686424-CA87-4045-BC8B-6EDDC11B3217}"/>
              </a:ext>
            </a:extLst>
          </p:cNvPr>
          <p:cNvSpPr>
            <a:spLocks noGrp="1"/>
          </p:cNvSpPr>
          <p:nvPr>
            <p:ph type="dt" sz="half" idx="2"/>
          </p:nvPr>
        </p:nvSpPr>
        <p:spPr>
          <a:xfrm>
            <a:off x="7604759" y="6580246"/>
            <a:ext cx="2229706" cy="228609"/>
          </a:xfrm>
          <a:prstGeom prst="rect">
            <a:avLst/>
          </a:prstGeom>
        </p:spPr>
        <p:txBody>
          <a:bodyPr vert="horz" lIns="91440" tIns="45720" rIns="91440" bIns="45720" rtlCol="0" anchor="ctr"/>
          <a:lstStyle>
            <a:lvl1pPr algn="l">
              <a:defRPr sz="1200">
                <a:solidFill>
                  <a:schemeClr val="tx1">
                    <a:tint val="75000"/>
                  </a:schemeClr>
                </a:solidFill>
              </a:defRPr>
            </a:lvl1pPr>
          </a:lstStyle>
          <a:p>
            <a:fld id="{F865660A-2FFB-4EA8-A917-E41016B95ABA}" type="datetime1">
              <a:rPr lang="en-US" smtClean="0"/>
              <a:t>6/28/2026</a:t>
            </a:fld>
            <a:endParaRPr lang="en-US" dirty="0"/>
          </a:p>
        </p:txBody>
      </p:sp>
      <p:sp>
        <p:nvSpPr>
          <p:cNvPr id="5" name="Footer Placeholder 4">
            <a:extLst>
              <a:ext uri="{FF2B5EF4-FFF2-40B4-BE49-F238E27FC236}">
                <a16:creationId xmlns:a16="http://schemas.microsoft.com/office/drawing/2014/main" id="{3A6D1E3F-305F-48EC-9661-A5555D6D9141}"/>
              </a:ext>
            </a:extLst>
          </p:cNvPr>
          <p:cNvSpPr>
            <a:spLocks noGrp="1"/>
          </p:cNvSpPr>
          <p:nvPr>
            <p:ph type="ftr" sz="quarter" idx="3"/>
          </p:nvPr>
        </p:nvSpPr>
        <p:spPr>
          <a:xfrm>
            <a:off x="119730" y="6565529"/>
            <a:ext cx="5967867" cy="235967"/>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Gabriele Carcassi - University of Michigan</a:t>
            </a:r>
            <a:endParaRPr lang="en-US" dirty="0"/>
          </a:p>
        </p:txBody>
      </p:sp>
      <p:sp>
        <p:nvSpPr>
          <p:cNvPr id="6" name="Slide Number Placeholder 5">
            <a:extLst>
              <a:ext uri="{FF2B5EF4-FFF2-40B4-BE49-F238E27FC236}">
                <a16:creationId xmlns:a16="http://schemas.microsoft.com/office/drawing/2014/main" id="{1B9D7172-52C7-47AA-A8CB-03E0DDB3662E}"/>
              </a:ext>
            </a:extLst>
          </p:cNvPr>
          <p:cNvSpPr>
            <a:spLocks noGrp="1"/>
          </p:cNvSpPr>
          <p:nvPr>
            <p:ph type="sldNum" sz="quarter" idx="4"/>
          </p:nvPr>
        </p:nvSpPr>
        <p:spPr>
          <a:xfrm>
            <a:off x="11540178" y="6572888"/>
            <a:ext cx="555908" cy="228609"/>
          </a:xfrm>
          <a:prstGeom prst="rect">
            <a:avLst/>
          </a:prstGeom>
        </p:spPr>
        <p:txBody>
          <a:bodyPr vert="horz" lIns="91440" tIns="45720" rIns="91440" bIns="45720" rtlCol="0" anchor="ctr"/>
          <a:lstStyle>
            <a:lvl1pPr algn="r">
              <a:defRPr sz="1200">
                <a:solidFill>
                  <a:schemeClr val="tx1">
                    <a:tint val="75000"/>
                  </a:schemeClr>
                </a:solidFill>
              </a:defRPr>
            </a:lvl1pPr>
          </a:lstStyle>
          <a:p>
            <a:fld id="{F47845EA-7733-40EE-B074-20032348B727}" type="slidenum">
              <a:rPr lang="en-US" smtClean="0"/>
              <a:t>‹#›</a:t>
            </a:fld>
            <a:endParaRPr lang="en-US"/>
          </a:p>
        </p:txBody>
      </p:sp>
      <p:sp>
        <p:nvSpPr>
          <p:cNvPr id="7" name="Oval 6">
            <a:extLst>
              <a:ext uri="{FF2B5EF4-FFF2-40B4-BE49-F238E27FC236}">
                <a16:creationId xmlns:a16="http://schemas.microsoft.com/office/drawing/2014/main" id="{B1AA285D-1676-8476-E3FF-1782C3DC601F}"/>
              </a:ext>
            </a:extLst>
          </p:cNvPr>
          <p:cNvSpPr/>
          <p:nvPr userDrawn="1"/>
        </p:nvSpPr>
        <p:spPr>
          <a:xfrm>
            <a:off x="9442580" y="4170784"/>
            <a:ext cx="2674054" cy="2668555"/>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TextBox 11">
            <a:extLst>
              <a:ext uri="{FF2B5EF4-FFF2-40B4-BE49-F238E27FC236}">
                <a16:creationId xmlns:a16="http://schemas.microsoft.com/office/drawing/2014/main" id="{93C0152C-5722-D560-A1D1-83330A0E1841}"/>
              </a:ext>
            </a:extLst>
          </p:cNvPr>
          <p:cNvSpPr txBox="1"/>
          <p:nvPr userDrawn="1"/>
        </p:nvSpPr>
        <p:spPr>
          <a:xfrm>
            <a:off x="9723330" y="5954370"/>
            <a:ext cx="2151551" cy="261610"/>
          </a:xfrm>
          <a:prstGeom prst="rect">
            <a:avLst/>
          </a:prstGeom>
          <a:noFill/>
        </p:spPr>
        <p:txBody>
          <a:bodyPr wrap="none">
            <a:spAutoFit/>
          </a:bodyPr>
          <a:lstStyle/>
          <a:p>
            <a:r>
              <a:rPr lang="en-US" sz="1100" dirty="0"/>
              <a:t>https://assumptionsofphysics.org/</a:t>
            </a:r>
          </a:p>
        </p:txBody>
      </p:sp>
      <p:pic>
        <p:nvPicPr>
          <p:cNvPr id="14" name="Picture 13">
            <a:extLst>
              <a:ext uri="{FF2B5EF4-FFF2-40B4-BE49-F238E27FC236}">
                <a16:creationId xmlns:a16="http://schemas.microsoft.com/office/drawing/2014/main" id="{12EABDBC-29F5-54A5-0B74-DE652EDCED65}"/>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421201" y="5161572"/>
            <a:ext cx="755811" cy="686976"/>
          </a:xfrm>
          <a:prstGeom prst="rect">
            <a:avLst/>
          </a:prstGeom>
        </p:spPr>
      </p:pic>
      <p:pic>
        <p:nvPicPr>
          <p:cNvPr id="17" name="Picture 16">
            <a:extLst>
              <a:ext uri="{FF2B5EF4-FFF2-40B4-BE49-F238E27FC236}">
                <a16:creationId xmlns:a16="http://schemas.microsoft.com/office/drawing/2014/main" id="{90CDCAE5-166F-5A8D-47B6-2316E82EF1EA}"/>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0124150" y="6274104"/>
            <a:ext cx="1313865" cy="445983"/>
          </a:xfrm>
          <a:prstGeom prst="rect">
            <a:avLst/>
          </a:prstGeom>
        </p:spPr>
      </p:pic>
    </p:spTree>
    <p:extLst>
      <p:ext uri="{BB962C8B-B14F-4D97-AF65-F5344CB8AC3E}">
        <p14:creationId xmlns:p14="http://schemas.microsoft.com/office/powerpoint/2010/main" val="3603477694"/>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xit" presetSubtype="0" fill="hold" grpId="1"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7" grpId="1" animBg="1"/>
    </p:bldLst>
  </p:timing>
  <p:hf sldNum="0" hdr="0" ftr="0" dt="0"/>
  <p:txStyles>
    <p:title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13" Type="http://schemas.openxmlformats.org/officeDocument/2006/relationships/image" Target="../media/image26.pn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7.png"/><Relationship Id="rId9" Type="http://schemas.openxmlformats.org/officeDocument/2006/relationships/image" Target="../media/image22.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7.png"/></Relationships>
</file>

<file path=ppt/slides/_rels/slide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image" Target="../media/image130.png"/><Relationship Id="rId1" Type="http://schemas.openxmlformats.org/officeDocument/2006/relationships/slideLayout" Target="../slideLayouts/slideLayout7.xml"/><Relationship Id="rId6" Type="http://schemas.openxmlformats.org/officeDocument/2006/relationships/image" Target="../media/image170.png"/><Relationship Id="rId11" Type="http://schemas.openxmlformats.org/officeDocument/2006/relationships/image" Target="../media/image28.png"/><Relationship Id="rId5" Type="http://schemas.openxmlformats.org/officeDocument/2006/relationships/image" Target="../media/image160.png"/><Relationship Id="rId10" Type="http://schemas.openxmlformats.org/officeDocument/2006/relationships/image" Target="../media/image210.png"/><Relationship Id="rId4" Type="http://schemas.openxmlformats.org/officeDocument/2006/relationships/image" Target="../media/image150.png"/><Relationship Id="rId9" Type="http://schemas.openxmlformats.org/officeDocument/2006/relationships/image" Target="../media/image200.png"/></Relationships>
</file>

<file path=ppt/slides/_rels/slide8.xml.rels><?xml version="1.0" encoding="UTF-8" standalone="yes"?>
<Relationships xmlns="http://schemas.openxmlformats.org/package/2006/relationships"><Relationship Id="rId8" Type="http://schemas.openxmlformats.org/officeDocument/2006/relationships/image" Target="../media/image69.png"/><Relationship Id="rId13" Type="http://schemas.openxmlformats.org/officeDocument/2006/relationships/image" Target="../media/image34.png"/><Relationship Id="rId3" Type="http://schemas.openxmlformats.org/officeDocument/2006/relationships/image" Target="../media/image59.png"/><Relationship Id="rId7" Type="http://schemas.openxmlformats.org/officeDocument/2006/relationships/image" Target="../media/image68.png"/><Relationship Id="rId12" Type="http://schemas.openxmlformats.org/officeDocument/2006/relationships/image" Target="../media/image33.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67.png"/><Relationship Id="rId11" Type="http://schemas.openxmlformats.org/officeDocument/2006/relationships/image" Target="../media/image32.png"/><Relationship Id="rId5" Type="http://schemas.openxmlformats.org/officeDocument/2006/relationships/image" Target="../media/image31.png"/><Relationship Id="rId10" Type="http://schemas.openxmlformats.org/officeDocument/2006/relationships/image" Target="../media/image71.png"/><Relationship Id="rId4" Type="http://schemas.openxmlformats.org/officeDocument/2006/relationships/image" Target="../media/image30.png"/><Relationship Id="rId9" Type="http://schemas.openxmlformats.org/officeDocument/2006/relationships/image" Target="../media/image70.png"/></Relationships>
</file>

<file path=ppt/slides/_rels/slide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59.png"/><Relationship Id="rId7" Type="http://schemas.openxmlformats.org/officeDocument/2006/relationships/image" Target="../media/image68.png"/><Relationship Id="rId1" Type="http://schemas.openxmlformats.org/officeDocument/2006/relationships/slideLayout" Target="../slideLayouts/slideLayout7.xml"/><Relationship Id="rId6" Type="http://schemas.openxmlformats.org/officeDocument/2006/relationships/image" Target="../media/image67.png"/><Relationship Id="rId10" Type="http://schemas.openxmlformats.org/officeDocument/2006/relationships/image" Target="../media/image71.png"/><Relationship Id="rId4" Type="http://schemas.openxmlformats.org/officeDocument/2006/relationships/image" Target="../media/image35.png"/><Relationship Id="rId9" Type="http://schemas.openxmlformats.org/officeDocument/2006/relationships/image" Target="../media/image70.png"/></Relationships>
</file>

<file path=ppt/slides/_rels/slide10.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0.png"/><Relationship Id="rId10" Type="http://schemas.openxmlformats.org/officeDocument/2006/relationships/image" Target="../media/image38.png"/><Relationship Id="rId4" Type="http://schemas.openxmlformats.org/officeDocument/2006/relationships/image" Target="../media/image240.png"/><Relationship Id="rId9" Type="http://schemas.openxmlformats.org/officeDocument/2006/relationships/image" Target="../media/image37.png"/></Relationships>
</file>

<file path=ppt/slides/_rels/slide11.xml.rels><?xml version="1.0" encoding="UTF-8" standalone="yes"?>
<Relationships xmlns="http://schemas.openxmlformats.org/package/2006/relationships"><Relationship Id="rId8" Type="http://schemas.openxmlformats.org/officeDocument/2006/relationships/image" Target="../media/image45.png"/><Relationship Id="rId13" Type="http://schemas.openxmlformats.org/officeDocument/2006/relationships/image" Target="../media/image49.png"/><Relationship Id="rId3" Type="http://schemas.openxmlformats.org/officeDocument/2006/relationships/image" Target="../media/image40.png"/><Relationship Id="rId7" Type="http://schemas.openxmlformats.org/officeDocument/2006/relationships/image" Target="../media/image44.png"/><Relationship Id="rId12" Type="http://schemas.openxmlformats.org/officeDocument/2006/relationships/image" Target="../media/image48.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11" Type="http://schemas.openxmlformats.org/officeDocument/2006/relationships/image" Target="../media/image32.png"/><Relationship Id="rId5" Type="http://schemas.openxmlformats.org/officeDocument/2006/relationships/image" Target="../media/image42.png"/><Relationship Id="rId10" Type="http://schemas.openxmlformats.org/officeDocument/2006/relationships/image" Target="../media/image47.png"/><Relationship Id="rId4" Type="http://schemas.openxmlformats.org/officeDocument/2006/relationships/image" Target="../media/image41.png"/><Relationship Id="rId9" Type="http://schemas.openxmlformats.org/officeDocument/2006/relationships/image" Target="../media/image46.png"/></Relationships>
</file>

<file path=ppt/slides/_rels/slide1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52.png"/><Relationship Id="rId7" Type="http://schemas.openxmlformats.org/officeDocument/2006/relationships/image" Target="../media/image430.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4.png"/><Relationship Id="rId5" Type="http://schemas.openxmlformats.org/officeDocument/2006/relationships/image" Target="../media/image400.png"/><Relationship Id="rId4" Type="http://schemas.openxmlformats.org/officeDocument/2006/relationships/image" Target="../media/image53.png"/><Relationship Id="rId9" Type="http://schemas.openxmlformats.org/officeDocument/2006/relationships/image" Target="../media/image55.png"/></Relationships>
</file>

<file path=ppt/slides/_rels/slide14.xml.rels><?xml version="1.0" encoding="UTF-8" standalone="yes"?>
<Relationships xmlns="http://schemas.openxmlformats.org/package/2006/relationships"><Relationship Id="rId8" Type="http://schemas.openxmlformats.org/officeDocument/2006/relationships/image" Target="../media/image440.png"/><Relationship Id="rId3" Type="http://schemas.openxmlformats.org/officeDocument/2006/relationships/image" Target="../media/image52.png"/><Relationship Id="rId7" Type="http://schemas.openxmlformats.org/officeDocument/2006/relationships/image" Target="../media/image430.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5.png"/><Relationship Id="rId5" Type="http://schemas.openxmlformats.org/officeDocument/2006/relationships/image" Target="../media/image400.png"/><Relationship Id="rId10" Type="http://schemas.openxmlformats.org/officeDocument/2006/relationships/image" Target="../media/image57.png"/><Relationship Id="rId4" Type="http://schemas.openxmlformats.org/officeDocument/2006/relationships/image" Target="../media/image53.png"/><Relationship Id="rId9" Type="http://schemas.openxmlformats.org/officeDocument/2006/relationships/image" Target="../media/image56.png"/></Relationships>
</file>

<file path=ppt/slides/_rels/slide15.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61.png"/><Relationship Id="rId3" Type="http://schemas.openxmlformats.org/officeDocument/2006/relationships/image" Target="../media/image52.png"/><Relationship Id="rId7" Type="http://schemas.openxmlformats.org/officeDocument/2006/relationships/image" Target="../media/image430.png"/><Relationship Id="rId12" Type="http://schemas.openxmlformats.org/officeDocument/2006/relationships/image" Target="../media/image60.png"/><Relationship Id="rId2" Type="http://schemas.openxmlformats.org/officeDocument/2006/relationships/image" Target="../media/image51.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400.png"/><Relationship Id="rId15" Type="http://schemas.openxmlformats.org/officeDocument/2006/relationships/image" Target="../media/image55.png"/><Relationship Id="rId10" Type="http://schemas.openxmlformats.org/officeDocument/2006/relationships/image" Target="../media/image57.png"/><Relationship Id="rId4" Type="http://schemas.openxmlformats.org/officeDocument/2006/relationships/image" Target="../media/image53.png"/><Relationship Id="rId9" Type="http://schemas.openxmlformats.org/officeDocument/2006/relationships/image" Target="../media/image56.png"/><Relationship Id="rId14" Type="http://schemas.openxmlformats.org/officeDocument/2006/relationships/image" Target="../media/image62.png"/></Relationships>
</file>

<file path=ppt/slides/_rels/slide16.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61.png"/><Relationship Id="rId3" Type="http://schemas.openxmlformats.org/officeDocument/2006/relationships/image" Target="../media/image52.png"/><Relationship Id="rId7" Type="http://schemas.openxmlformats.org/officeDocument/2006/relationships/image" Target="../media/image430.png"/><Relationship Id="rId12" Type="http://schemas.openxmlformats.org/officeDocument/2006/relationships/image" Target="../media/image60.png"/><Relationship Id="rId17" Type="http://schemas.openxmlformats.org/officeDocument/2006/relationships/image" Target="../media/image55.png"/><Relationship Id="rId2" Type="http://schemas.openxmlformats.org/officeDocument/2006/relationships/image" Target="../media/image51.png"/><Relationship Id="rId16" Type="http://schemas.openxmlformats.org/officeDocument/2006/relationships/image" Target="../media/image64.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400.png"/><Relationship Id="rId15" Type="http://schemas.openxmlformats.org/officeDocument/2006/relationships/image" Target="../media/image63.png"/><Relationship Id="rId10" Type="http://schemas.openxmlformats.org/officeDocument/2006/relationships/image" Target="../media/image57.png"/><Relationship Id="rId4" Type="http://schemas.openxmlformats.org/officeDocument/2006/relationships/image" Target="../media/image53.png"/><Relationship Id="rId9" Type="http://schemas.openxmlformats.org/officeDocument/2006/relationships/image" Target="../media/image56.png"/><Relationship Id="rId14"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61.png"/><Relationship Id="rId18" Type="http://schemas.openxmlformats.org/officeDocument/2006/relationships/image" Target="../media/image64.png"/><Relationship Id="rId3" Type="http://schemas.openxmlformats.org/officeDocument/2006/relationships/image" Target="../media/image52.png"/><Relationship Id="rId7" Type="http://schemas.openxmlformats.org/officeDocument/2006/relationships/image" Target="../media/image430.png"/><Relationship Id="rId12" Type="http://schemas.openxmlformats.org/officeDocument/2006/relationships/image" Target="../media/image60.png"/><Relationship Id="rId17" Type="http://schemas.openxmlformats.org/officeDocument/2006/relationships/image" Target="../media/image63.png"/><Relationship Id="rId2" Type="http://schemas.openxmlformats.org/officeDocument/2006/relationships/image" Target="../media/image51.png"/><Relationship Id="rId16" Type="http://schemas.openxmlformats.org/officeDocument/2006/relationships/image" Target="../media/image66.png"/><Relationship Id="rId1" Type="http://schemas.openxmlformats.org/officeDocument/2006/relationships/slideLayout" Target="../slideLayouts/slideLayout7.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400.png"/><Relationship Id="rId15" Type="http://schemas.openxmlformats.org/officeDocument/2006/relationships/image" Target="../media/image65.png"/><Relationship Id="rId10" Type="http://schemas.openxmlformats.org/officeDocument/2006/relationships/image" Target="../media/image57.png"/><Relationship Id="rId19" Type="http://schemas.openxmlformats.org/officeDocument/2006/relationships/image" Target="../media/image55.png"/><Relationship Id="rId4" Type="http://schemas.openxmlformats.org/officeDocument/2006/relationships/image" Target="../media/image53.png"/><Relationship Id="rId9" Type="http://schemas.openxmlformats.org/officeDocument/2006/relationships/image" Target="../media/image56.png"/><Relationship Id="rId14" Type="http://schemas.openxmlformats.org/officeDocument/2006/relationships/image" Target="../media/image62.png"/></Relationships>
</file>

<file path=ppt/slides/_rels/slide18.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440.png"/><Relationship Id="rId13" Type="http://schemas.openxmlformats.org/officeDocument/2006/relationships/image" Target="../media/image520.png"/><Relationship Id="rId3" Type="http://schemas.openxmlformats.org/officeDocument/2006/relationships/image" Target="../media/image380.png"/><Relationship Id="rId7" Type="http://schemas.openxmlformats.org/officeDocument/2006/relationships/image" Target="../media/image430.png"/><Relationship Id="rId12" Type="http://schemas.openxmlformats.org/officeDocument/2006/relationships/image" Target="../media/image480.png"/><Relationship Id="rId2" Type="http://schemas.openxmlformats.org/officeDocument/2006/relationships/image" Target="../media/image370.png"/><Relationship Id="rId16" Type="http://schemas.openxmlformats.org/officeDocument/2006/relationships/image" Target="../media/image560.png"/><Relationship Id="rId1" Type="http://schemas.openxmlformats.org/officeDocument/2006/relationships/slideLayout" Target="../slideLayouts/slideLayout7.xml"/><Relationship Id="rId6" Type="http://schemas.openxmlformats.org/officeDocument/2006/relationships/image" Target="../media/image420.png"/><Relationship Id="rId11" Type="http://schemas.openxmlformats.org/officeDocument/2006/relationships/image" Target="../media/image470.png"/><Relationship Id="rId5" Type="http://schemas.openxmlformats.org/officeDocument/2006/relationships/image" Target="../media/image400.png"/><Relationship Id="rId15" Type="http://schemas.openxmlformats.org/officeDocument/2006/relationships/image" Target="../media/image540.png"/><Relationship Id="rId10" Type="http://schemas.openxmlformats.org/officeDocument/2006/relationships/image" Target="../media/image460.png"/><Relationship Id="rId4" Type="http://schemas.openxmlformats.org/officeDocument/2006/relationships/image" Target="../media/image390.png"/><Relationship Id="rId9" Type="http://schemas.openxmlformats.org/officeDocument/2006/relationships/image" Target="../media/image450.png"/><Relationship Id="rId14" Type="http://schemas.openxmlformats.org/officeDocument/2006/relationships/image" Target="../media/image530.png"/></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76.png"/><Relationship Id="rId7" Type="http://schemas.openxmlformats.org/officeDocument/2006/relationships/image" Target="../media/image41.png"/><Relationship Id="rId2" Type="http://schemas.openxmlformats.org/officeDocument/2006/relationships/image" Target="../media/image75.png"/><Relationship Id="rId1" Type="http://schemas.openxmlformats.org/officeDocument/2006/relationships/slideLayout" Target="../slideLayouts/slideLayout7.xml"/><Relationship Id="rId6" Type="http://schemas.openxmlformats.org/officeDocument/2006/relationships/image" Target="../media/image40.png"/><Relationship Id="rId11" Type="http://schemas.openxmlformats.org/officeDocument/2006/relationships/image" Target="../media/image45.png"/><Relationship Id="rId5" Type="http://schemas.openxmlformats.org/officeDocument/2006/relationships/image" Target="../media/image78.png"/><Relationship Id="rId10" Type="http://schemas.openxmlformats.org/officeDocument/2006/relationships/image" Target="../media/image44.png"/><Relationship Id="rId4" Type="http://schemas.openxmlformats.org/officeDocument/2006/relationships/image" Target="../media/image77.png"/><Relationship Id="rId9" Type="http://schemas.openxmlformats.org/officeDocument/2006/relationships/image" Target="../media/image43.png"/></Relationships>
</file>

<file path=ppt/slides/_rels/slide23.xml.rels><?xml version="1.0" encoding="UTF-8" standalone="yes"?>
<Relationships xmlns="http://schemas.openxmlformats.org/package/2006/relationships"><Relationship Id="rId8" Type="http://schemas.openxmlformats.org/officeDocument/2006/relationships/image" Target="../media/image630.png"/><Relationship Id="rId3" Type="http://schemas.openxmlformats.org/officeDocument/2006/relationships/image" Target="../media/image500.png"/><Relationship Id="rId7" Type="http://schemas.openxmlformats.org/officeDocument/2006/relationships/image" Target="../media/image620.png"/><Relationship Id="rId2" Type="http://schemas.openxmlformats.org/officeDocument/2006/relationships/image" Target="../media/image490.png"/><Relationship Id="rId1" Type="http://schemas.openxmlformats.org/officeDocument/2006/relationships/slideLayout" Target="../slideLayouts/slideLayout7.xml"/><Relationship Id="rId6" Type="http://schemas.openxmlformats.org/officeDocument/2006/relationships/image" Target="../media/image610.png"/><Relationship Id="rId11" Type="http://schemas.openxmlformats.org/officeDocument/2006/relationships/image" Target="../media/image650.png"/><Relationship Id="rId5" Type="http://schemas.openxmlformats.org/officeDocument/2006/relationships/image" Target="../media/image550.png"/><Relationship Id="rId10" Type="http://schemas.openxmlformats.org/officeDocument/2006/relationships/image" Target="../media/image510.png"/><Relationship Id="rId4" Type="http://schemas.openxmlformats.org/officeDocument/2006/relationships/image" Target="../media/image410.png"/><Relationship Id="rId9" Type="http://schemas.openxmlformats.org/officeDocument/2006/relationships/image" Target="../media/image640.png"/></Relationships>
</file>

<file path=ppt/slides/_rels/slide24.xml.rels><?xml version="1.0" encoding="UTF-8" standalone="yes"?>
<Relationships xmlns="http://schemas.openxmlformats.org/package/2006/relationships"><Relationship Id="rId3" Type="http://schemas.openxmlformats.org/officeDocument/2006/relationships/image" Target="../media/image230.png"/><Relationship Id="rId7" Type="http://schemas.openxmlformats.org/officeDocument/2006/relationships/image" Target="../media/image270.png"/><Relationship Id="rId2" Type="http://schemas.openxmlformats.org/officeDocument/2006/relationships/image" Target="../media/image220.png"/><Relationship Id="rId1" Type="http://schemas.openxmlformats.org/officeDocument/2006/relationships/slideLayout" Target="../slideLayouts/slideLayout7.xml"/><Relationship Id="rId6" Type="http://schemas.openxmlformats.org/officeDocument/2006/relationships/image" Target="../media/image260.png"/><Relationship Id="rId5" Type="http://schemas.openxmlformats.org/officeDocument/2006/relationships/image" Target="../media/image250.png"/><Relationship Id="rId4" Type="http://schemas.openxmlformats.org/officeDocument/2006/relationships/image" Target="../media/image240.png"/></Relationships>
</file>

<file path=ppt/slides/_rels/slide25.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290.png"/><Relationship Id="rId7" Type="http://schemas.openxmlformats.org/officeDocument/2006/relationships/image" Target="../media/image330.png"/><Relationship Id="rId2" Type="http://schemas.openxmlformats.org/officeDocument/2006/relationships/image" Target="../media/image280.png"/><Relationship Id="rId1" Type="http://schemas.openxmlformats.org/officeDocument/2006/relationships/slideLayout" Target="../slideLayouts/slideLayout7.xml"/><Relationship Id="rId6" Type="http://schemas.openxmlformats.org/officeDocument/2006/relationships/image" Target="../media/image320.png"/><Relationship Id="rId5" Type="http://schemas.openxmlformats.org/officeDocument/2006/relationships/image" Target="../media/image310.png"/><Relationship Id="rId4" Type="http://schemas.openxmlformats.org/officeDocument/2006/relationships/image" Target="../media/image300.png"/><Relationship Id="rId9" Type="http://schemas.openxmlformats.org/officeDocument/2006/relationships/image" Target="../media/image350.png"/></Relationships>
</file>

<file path=ppt/slides/_rels/slide26.xml.rels><?xml version="1.0" encoding="UTF-8" standalone="yes"?>
<Relationships xmlns="http://schemas.openxmlformats.org/package/2006/relationships"><Relationship Id="rId8" Type="http://schemas.openxmlformats.org/officeDocument/2006/relationships/image" Target="../media/image340.png"/><Relationship Id="rId3" Type="http://schemas.openxmlformats.org/officeDocument/2006/relationships/image" Target="../media/image290.png"/><Relationship Id="rId7" Type="http://schemas.openxmlformats.org/officeDocument/2006/relationships/image" Target="../media/image330.png"/><Relationship Id="rId2" Type="http://schemas.openxmlformats.org/officeDocument/2006/relationships/image" Target="../media/image280.png"/><Relationship Id="rId1" Type="http://schemas.openxmlformats.org/officeDocument/2006/relationships/slideLayout" Target="../slideLayouts/slideLayout7.xml"/><Relationship Id="rId6" Type="http://schemas.openxmlformats.org/officeDocument/2006/relationships/image" Target="../media/image360.png"/><Relationship Id="rId5" Type="http://schemas.openxmlformats.org/officeDocument/2006/relationships/image" Target="../media/image310.png"/><Relationship Id="rId4" Type="http://schemas.openxmlformats.org/officeDocument/2006/relationships/image" Target="../media/image300.png"/><Relationship Id="rId9" Type="http://schemas.openxmlformats.org/officeDocument/2006/relationships/image" Target="../media/image350.png"/></Relationships>
</file>

<file path=ppt/slides/_rels/slide27.xml.rels><?xml version="1.0" encoding="UTF-8" standalone="yes"?>
<Relationships xmlns="http://schemas.openxmlformats.org/package/2006/relationships"><Relationship Id="rId8" Type="http://schemas.openxmlformats.org/officeDocument/2006/relationships/image" Target="../media/image190.png"/><Relationship Id="rId3" Type="http://schemas.openxmlformats.org/officeDocument/2006/relationships/image" Target="../media/image140.png"/><Relationship Id="rId7" Type="http://schemas.openxmlformats.org/officeDocument/2006/relationships/image" Target="../media/image180.png"/><Relationship Id="rId2" Type="http://schemas.openxmlformats.org/officeDocument/2006/relationships/image" Target="../media/image130.png"/><Relationship Id="rId1" Type="http://schemas.openxmlformats.org/officeDocument/2006/relationships/slideLayout" Target="../slideLayouts/slideLayout7.xml"/><Relationship Id="rId6" Type="http://schemas.openxmlformats.org/officeDocument/2006/relationships/image" Target="../media/image170.png"/><Relationship Id="rId11" Type="http://schemas.openxmlformats.org/officeDocument/2006/relationships/image" Target="../media/image730.png"/><Relationship Id="rId5" Type="http://schemas.openxmlformats.org/officeDocument/2006/relationships/image" Target="../media/image160.png"/><Relationship Id="rId10" Type="http://schemas.openxmlformats.org/officeDocument/2006/relationships/image" Target="../media/image720.png"/><Relationship Id="rId4" Type="http://schemas.openxmlformats.org/officeDocument/2006/relationships/image" Target="../media/image150.png"/><Relationship Id="rId9" Type="http://schemas.openxmlformats.org/officeDocument/2006/relationships/image" Target="../media/image20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99CB09A4-A438-3C2F-7385-A9C475B8390A}"/>
              </a:ext>
            </a:extLst>
          </p:cNvPr>
          <p:cNvSpPr>
            <a:spLocks noGrp="1"/>
          </p:cNvSpPr>
          <p:nvPr>
            <p:ph type="ctrTitle"/>
          </p:nvPr>
        </p:nvSpPr>
        <p:spPr>
          <a:xfrm>
            <a:off x="1524000" y="1122363"/>
            <a:ext cx="9144000" cy="2387600"/>
          </a:xfrm>
        </p:spPr>
        <p:txBody>
          <a:bodyPr>
            <a:normAutofit/>
          </a:bodyPr>
          <a:lstStyle/>
          <a:p>
            <a:r>
              <a:rPr lang="en-US" dirty="0"/>
              <a:t>Born rule is entropy</a:t>
            </a:r>
          </a:p>
        </p:txBody>
      </p:sp>
      <p:sp>
        <p:nvSpPr>
          <p:cNvPr id="11" name="Subtitle 2">
            <a:extLst>
              <a:ext uri="{FF2B5EF4-FFF2-40B4-BE49-F238E27FC236}">
                <a16:creationId xmlns:a16="http://schemas.microsoft.com/office/drawing/2014/main" id="{F7526EB5-6349-1B82-B5F3-D13CA153F9B4}"/>
              </a:ext>
            </a:extLst>
          </p:cNvPr>
          <p:cNvSpPr>
            <a:spLocks noGrp="1"/>
          </p:cNvSpPr>
          <p:nvPr>
            <p:ph type="subTitle" idx="1"/>
          </p:nvPr>
        </p:nvSpPr>
        <p:spPr>
          <a:xfrm>
            <a:off x="1524000" y="3602038"/>
            <a:ext cx="9144000" cy="1655762"/>
          </a:xfrm>
        </p:spPr>
        <p:txBody>
          <a:bodyPr/>
          <a:lstStyle/>
          <a:p>
            <a:r>
              <a:rPr lang="en-US" dirty="0"/>
              <a:t>Gabriele </a:t>
            </a:r>
            <a:r>
              <a:rPr lang="en-US" dirty="0" err="1"/>
              <a:t>Carcassi</a:t>
            </a:r>
            <a:endParaRPr lang="en-US" dirty="0"/>
          </a:p>
        </p:txBody>
      </p:sp>
    </p:spTree>
    <p:extLst>
      <p:ext uri="{BB962C8B-B14F-4D97-AF65-F5344CB8AC3E}">
        <p14:creationId xmlns:p14="http://schemas.microsoft.com/office/powerpoint/2010/main" val="72753089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2F4C9BC4-E94A-0851-0A4C-2906C6C2EF81}"/>
                  </a:ext>
                </a:extLst>
              </p:cNvPr>
              <p:cNvSpPr txBox="1"/>
              <p:nvPr/>
            </p:nvSpPr>
            <p:spPr>
              <a:xfrm>
                <a:off x="2657856" y="3022272"/>
                <a:ext cx="6082050" cy="164641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800" i="1">
                          <a:latin typeface="Cambria Math" panose="02040503050406030204" pitchFamily="18" charset="0"/>
                        </a:rPr>
                        <m:t>𝑝</m:t>
                      </m:r>
                      <m:d>
                        <m:dPr>
                          <m:ctrlPr>
                            <a:rPr lang="en-US" sz="4800" i="1">
                              <a:latin typeface="Cambria Math" panose="02040503050406030204" pitchFamily="18" charset="0"/>
                            </a:rPr>
                          </m:ctrlPr>
                        </m:dPr>
                        <m:e>
                          <m:r>
                            <a:rPr lang="en-US" sz="4800" i="1">
                              <a:latin typeface="Cambria Math" panose="02040503050406030204" pitchFamily="18" charset="0"/>
                            </a:rPr>
                            <m:t>𝜓</m:t>
                          </m:r>
                        </m:e>
                        <m:e>
                          <m:r>
                            <a:rPr lang="en-US" sz="4800" i="1">
                              <a:latin typeface="Cambria Math" panose="02040503050406030204" pitchFamily="18" charset="0"/>
                            </a:rPr>
                            <m:t>𝜙</m:t>
                          </m:r>
                        </m:e>
                      </m:d>
                      <m:r>
                        <a:rPr lang="en-US" sz="4800" i="1">
                          <a:latin typeface="Cambria Math" panose="02040503050406030204" pitchFamily="18" charset="0"/>
                        </a:rPr>
                        <m:t>=</m:t>
                      </m:r>
                      <m:f>
                        <m:fPr>
                          <m:ctrlPr>
                            <a:rPr lang="en-US" sz="4800" i="1">
                              <a:latin typeface="Cambria Math" panose="02040503050406030204" pitchFamily="18" charset="0"/>
                            </a:rPr>
                          </m:ctrlPr>
                        </m:fPr>
                        <m:num>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𝜓</m:t>
                              </m:r>
                            </m:e>
                            <m:e>
                              <m:r>
                                <a:rPr lang="en-US" sz="4800" i="1">
                                  <a:latin typeface="Cambria Math" panose="02040503050406030204" pitchFamily="18" charset="0"/>
                                </a:rPr>
                                <m:t>𝜙</m:t>
                              </m:r>
                            </m:e>
                          </m:d>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𝜙</m:t>
                              </m:r>
                            </m:e>
                            <m:e>
                              <m:r>
                                <a:rPr lang="en-US" sz="4800" i="1">
                                  <a:latin typeface="Cambria Math" panose="02040503050406030204" pitchFamily="18" charset="0"/>
                                </a:rPr>
                                <m:t>𝜓</m:t>
                              </m:r>
                            </m:e>
                          </m:d>
                        </m:num>
                        <m:den>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𝜓</m:t>
                              </m:r>
                            </m:e>
                            <m:e>
                              <m:r>
                                <a:rPr lang="en-US" sz="4800" i="1">
                                  <a:latin typeface="Cambria Math" panose="02040503050406030204" pitchFamily="18" charset="0"/>
                                </a:rPr>
                                <m:t>𝜓</m:t>
                              </m:r>
                            </m:e>
                          </m:d>
                          <m:d>
                            <m:dPr>
                              <m:begChr m:val="⟨"/>
                              <m:endChr m:val="⟩"/>
                              <m:ctrlPr>
                                <a:rPr lang="en-US" sz="4800" i="1">
                                  <a:latin typeface="Cambria Math" panose="02040503050406030204" pitchFamily="18" charset="0"/>
                                </a:rPr>
                              </m:ctrlPr>
                            </m:dPr>
                            <m:e>
                              <m:r>
                                <a:rPr lang="en-US" sz="4800" i="1">
                                  <a:latin typeface="Cambria Math" panose="02040503050406030204" pitchFamily="18" charset="0"/>
                                </a:rPr>
                                <m:t>𝜙</m:t>
                              </m:r>
                            </m:e>
                            <m:e>
                              <m:r>
                                <a:rPr lang="en-US" sz="4800" i="1">
                                  <a:latin typeface="Cambria Math" panose="02040503050406030204" pitchFamily="18" charset="0"/>
                                </a:rPr>
                                <m:t>𝜙</m:t>
                              </m:r>
                            </m:e>
                          </m:d>
                        </m:den>
                      </m:f>
                    </m:oMath>
                  </m:oMathPara>
                </a14:m>
                <a:endParaRPr lang="en-US" sz="4800" dirty="0"/>
              </a:p>
            </p:txBody>
          </p:sp>
        </mc:Choice>
        <mc:Fallback xmlns="">
          <p:sp>
            <p:nvSpPr>
              <p:cNvPr id="2" name="TextBox 1">
                <a:extLst>
                  <a:ext uri="{FF2B5EF4-FFF2-40B4-BE49-F238E27FC236}">
                    <a16:creationId xmlns:a16="http://schemas.microsoft.com/office/drawing/2014/main" id="{2F4C9BC4-E94A-0851-0A4C-2906C6C2EF81}"/>
                  </a:ext>
                </a:extLst>
              </p:cNvPr>
              <p:cNvSpPr txBox="1">
                <a:spLocks noRot="1" noChangeAspect="1" noMove="1" noResize="1" noEditPoints="1" noAdjustHandles="1" noChangeArrowheads="1" noChangeShapeType="1" noTextEdit="1"/>
              </p:cNvSpPr>
              <p:nvPr/>
            </p:nvSpPr>
            <p:spPr>
              <a:xfrm>
                <a:off x="2657856" y="3022272"/>
                <a:ext cx="6082050" cy="1646413"/>
              </a:xfrm>
              <a:prstGeom prst="rect">
                <a:avLst/>
              </a:prstGeom>
              <a:blipFill>
                <a:blip r:embed="rId2"/>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B7F1DAEC-600D-10CA-01BD-EABAABE637A7}"/>
              </a:ext>
            </a:extLst>
          </p:cNvPr>
          <p:cNvSpPr txBox="1"/>
          <p:nvPr/>
        </p:nvSpPr>
        <p:spPr>
          <a:xfrm>
            <a:off x="4841490" y="218366"/>
            <a:ext cx="2509020" cy="830997"/>
          </a:xfrm>
          <a:prstGeom prst="rect">
            <a:avLst/>
          </a:prstGeom>
          <a:noFill/>
        </p:spPr>
        <p:txBody>
          <a:bodyPr wrap="none" rtlCol="0">
            <a:spAutoFit/>
          </a:bodyPr>
          <a:lstStyle/>
          <a:p>
            <a:r>
              <a:rPr lang="en-US" sz="4800" dirty="0"/>
              <a:t>Born rule</a:t>
            </a:r>
          </a:p>
        </p:txBody>
      </p:sp>
      <p:cxnSp>
        <p:nvCxnSpPr>
          <p:cNvPr id="28" name="Straight Arrow Connector 27">
            <a:extLst>
              <a:ext uri="{FF2B5EF4-FFF2-40B4-BE49-F238E27FC236}">
                <a16:creationId xmlns:a16="http://schemas.microsoft.com/office/drawing/2014/main" id="{FE13CF7A-4D1B-D128-9D87-CB3DB43034A6}"/>
              </a:ext>
            </a:extLst>
          </p:cNvPr>
          <p:cNvCxnSpPr>
            <a:cxnSpLocks/>
          </p:cNvCxnSpPr>
          <p:nvPr/>
        </p:nvCxnSpPr>
        <p:spPr>
          <a:xfrm flipH="1">
            <a:off x="3791712" y="2189316"/>
            <a:ext cx="1597152" cy="1392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CFC6A594-7672-0F06-BDCB-92825258BA0F}"/>
                  </a:ext>
                </a:extLst>
              </p:cNvPr>
              <p:cNvSpPr txBox="1"/>
              <p:nvPr/>
            </p:nvSpPr>
            <p:spPr>
              <a:xfrm>
                <a:off x="193198" y="1481430"/>
                <a:ext cx="11805604" cy="707886"/>
              </a:xfrm>
              <a:prstGeom prst="rect">
                <a:avLst/>
              </a:prstGeom>
              <a:noFill/>
            </p:spPr>
            <p:txBody>
              <a:bodyPr wrap="none" rtlCol="0">
                <a:spAutoFit/>
              </a:bodyPr>
              <a:lstStyle/>
              <a:p>
                <a:r>
                  <a:rPr lang="en-US" sz="4000" dirty="0"/>
                  <a:t>Probability of measuring </a:t>
                </a:r>
                <a14:m>
                  <m:oMath xmlns:m="http://schemas.openxmlformats.org/officeDocument/2006/math">
                    <m:r>
                      <a:rPr lang="en-US" sz="4000" b="0" i="1" smtClean="0">
                        <a:latin typeface="Cambria Math" panose="02040503050406030204" pitchFamily="18" charset="0"/>
                      </a:rPr>
                      <m:t>𝜓</m:t>
                    </m:r>
                  </m:oMath>
                </a14:m>
                <a:r>
                  <a:rPr lang="en-US" sz="4000" dirty="0"/>
                  <a:t> given that I have prepared </a:t>
                </a:r>
                <a14:m>
                  <m:oMath xmlns:m="http://schemas.openxmlformats.org/officeDocument/2006/math">
                    <m:r>
                      <a:rPr lang="en-US" sz="4000" b="0" i="1" smtClean="0">
                        <a:latin typeface="Cambria Math" panose="02040503050406030204" pitchFamily="18" charset="0"/>
                      </a:rPr>
                      <m:t>𝜙</m:t>
                    </m:r>
                  </m:oMath>
                </a14:m>
                <a:endParaRPr lang="en-US" sz="4000" dirty="0"/>
              </a:p>
            </p:txBody>
          </p:sp>
        </mc:Choice>
        <mc:Fallback xmlns="">
          <p:sp>
            <p:nvSpPr>
              <p:cNvPr id="31" name="TextBox 30">
                <a:extLst>
                  <a:ext uri="{FF2B5EF4-FFF2-40B4-BE49-F238E27FC236}">
                    <a16:creationId xmlns:a16="http://schemas.microsoft.com/office/drawing/2014/main" id="{CFC6A594-7672-0F06-BDCB-92825258BA0F}"/>
                  </a:ext>
                </a:extLst>
              </p:cNvPr>
              <p:cNvSpPr txBox="1">
                <a:spLocks noRot="1" noChangeAspect="1" noMove="1" noResize="1" noEditPoints="1" noAdjustHandles="1" noChangeArrowheads="1" noChangeShapeType="1" noTextEdit="1"/>
              </p:cNvSpPr>
              <p:nvPr/>
            </p:nvSpPr>
            <p:spPr>
              <a:xfrm>
                <a:off x="193198" y="1481430"/>
                <a:ext cx="11805604" cy="707886"/>
              </a:xfrm>
              <a:prstGeom prst="rect">
                <a:avLst/>
              </a:prstGeom>
              <a:blipFill>
                <a:blip r:embed="rId3"/>
                <a:stretch>
                  <a:fillRect l="-1860" t="-15517" b="-36207"/>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3CC2D3C7-08CB-D149-7014-5D265DDDB8A7}"/>
              </a:ext>
            </a:extLst>
          </p:cNvPr>
          <p:cNvCxnSpPr>
            <a:cxnSpLocks/>
          </p:cNvCxnSpPr>
          <p:nvPr/>
        </p:nvCxnSpPr>
        <p:spPr>
          <a:xfrm flipH="1">
            <a:off x="4764961" y="2072640"/>
            <a:ext cx="6585791" cy="1572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98839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C3CD0-7DC0-F50C-FAA2-E1422B54D7EA}"/>
            </a:ext>
          </a:extLst>
        </p:cNvPr>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93571AF4-9962-247B-8724-3E78169825E6}"/>
              </a:ext>
            </a:extLst>
          </p:cNvPr>
          <p:cNvCxnSpPr>
            <a:cxnSpLocks/>
            <a:stCxn id="66" idx="0"/>
            <a:endCxn id="66" idx="4"/>
          </p:cNvCxnSpPr>
          <p:nvPr/>
        </p:nvCxnSpPr>
        <p:spPr>
          <a:xfrm>
            <a:off x="8192813"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A3E236F-A20E-A7A6-4AA9-B3F44C6B9B30}"/>
              </a:ext>
            </a:extLst>
          </p:cNvPr>
          <p:cNvCxnSpPr>
            <a:cxnSpLocks/>
            <a:endCxn id="66" idx="0"/>
          </p:cNvCxnSpPr>
          <p:nvPr/>
        </p:nvCxnSpPr>
        <p:spPr>
          <a:xfrm flipV="1">
            <a:off x="8192807" y="1555785"/>
            <a:ext cx="6" cy="178884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138BC959-7C6B-703E-FFC6-9D2B77F99C58}"/>
              </a:ext>
            </a:extLst>
          </p:cNvPr>
          <p:cNvSpPr txBox="1"/>
          <p:nvPr/>
        </p:nvSpPr>
        <p:spPr>
          <a:xfrm>
            <a:off x="4841490" y="218366"/>
            <a:ext cx="2509020" cy="830997"/>
          </a:xfrm>
          <a:prstGeom prst="rect">
            <a:avLst/>
          </a:prstGeom>
          <a:noFill/>
        </p:spPr>
        <p:txBody>
          <a:bodyPr wrap="none" rtlCol="0">
            <a:spAutoFit/>
          </a:bodyPr>
          <a:lstStyle/>
          <a:p>
            <a:r>
              <a:rPr lang="en-US" sz="4800" dirty="0"/>
              <a:t>Born rule</a:t>
            </a: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7407BB39-2E35-13B4-1490-F56866110CE5}"/>
                  </a:ext>
                </a:extLst>
              </p:cNvPr>
              <p:cNvSpPr txBox="1"/>
              <p:nvPr/>
            </p:nvSpPr>
            <p:spPr>
              <a:xfrm>
                <a:off x="2614363" y="995841"/>
                <a:ext cx="47448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𝜓</m:t>
                      </m:r>
                    </m:oMath>
                  </m:oMathPara>
                </a14:m>
                <a:endParaRPr lang="en-US" sz="2400" dirty="0"/>
              </a:p>
            </p:txBody>
          </p:sp>
        </mc:Choice>
        <mc:Fallback xmlns="">
          <p:sp>
            <p:nvSpPr>
              <p:cNvPr id="38" name="TextBox 37">
                <a:extLst>
                  <a:ext uri="{FF2B5EF4-FFF2-40B4-BE49-F238E27FC236}">
                    <a16:creationId xmlns:a16="http://schemas.microsoft.com/office/drawing/2014/main" id="{7407BB39-2E35-13B4-1490-F56866110CE5}"/>
                  </a:ext>
                </a:extLst>
              </p:cNvPr>
              <p:cNvSpPr txBox="1">
                <a:spLocks noRot="1" noChangeAspect="1" noMove="1" noResize="1" noEditPoints="1" noAdjustHandles="1" noChangeArrowheads="1" noChangeShapeType="1" noTextEdit="1"/>
              </p:cNvSpPr>
              <p:nvPr/>
            </p:nvSpPr>
            <p:spPr>
              <a:xfrm>
                <a:off x="2614363" y="995841"/>
                <a:ext cx="474489" cy="461665"/>
              </a:xfrm>
              <a:prstGeom prst="rect">
                <a:avLst/>
              </a:prstGeom>
              <a:blipFill>
                <a:blip r:embed="rId2"/>
                <a:stretch>
                  <a:fillRect l="-2564" r="-1282" b="-17105"/>
                </a:stretch>
              </a:blipFill>
            </p:spPr>
            <p:txBody>
              <a:bodyPr/>
              <a:lstStyle/>
              <a:p>
                <a:r>
                  <a:rPr lang="en-US">
                    <a:noFill/>
                  </a:rPr>
                  <a:t> </a:t>
                </a:r>
              </a:p>
            </p:txBody>
          </p:sp>
        </mc:Fallback>
      </mc:AlternateContent>
      <p:grpSp>
        <p:nvGrpSpPr>
          <p:cNvPr id="79" name="Group 78">
            <a:extLst>
              <a:ext uri="{FF2B5EF4-FFF2-40B4-BE49-F238E27FC236}">
                <a16:creationId xmlns:a16="http://schemas.microsoft.com/office/drawing/2014/main" id="{1C08138E-2085-4125-C634-354BFCF8F3E3}"/>
              </a:ext>
            </a:extLst>
          </p:cNvPr>
          <p:cNvGrpSpPr/>
          <p:nvPr/>
        </p:nvGrpSpPr>
        <p:grpSpPr>
          <a:xfrm>
            <a:off x="1037397" y="1511028"/>
            <a:ext cx="3577706" cy="3538485"/>
            <a:chOff x="1202189" y="1744892"/>
            <a:chExt cx="3077365" cy="3077101"/>
          </a:xfrm>
        </p:grpSpPr>
        <p:cxnSp>
          <p:nvCxnSpPr>
            <p:cNvPr id="56" name="Straight Connector 55">
              <a:extLst>
                <a:ext uri="{FF2B5EF4-FFF2-40B4-BE49-F238E27FC236}">
                  <a16:creationId xmlns:a16="http://schemas.microsoft.com/office/drawing/2014/main" id="{6535A716-6E6F-EF1F-F5D6-7942AAF015CA}"/>
                </a:ext>
              </a:extLst>
            </p:cNvPr>
            <p:cNvCxnSpPr>
              <a:stCxn id="36" idx="0"/>
              <a:endCxn id="36" idx="2"/>
            </p:cNvCxnSpPr>
            <p:nvPr/>
          </p:nvCxnSpPr>
          <p:spPr>
            <a:xfrm>
              <a:off x="2740735" y="1744892"/>
              <a:ext cx="0" cy="3077101"/>
            </a:xfrm>
            <a:prstGeom prst="line">
              <a:avLst/>
            </a:prstGeom>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F6BC89F7-F52E-13DB-77A4-8019F3F9AC39}"/>
                </a:ext>
              </a:extLst>
            </p:cNvPr>
            <p:cNvGrpSpPr/>
            <p:nvPr/>
          </p:nvGrpSpPr>
          <p:grpSpPr>
            <a:xfrm>
              <a:off x="1202189" y="1744892"/>
              <a:ext cx="3077365" cy="3077101"/>
              <a:chOff x="2521889" y="2808131"/>
              <a:chExt cx="1916430" cy="1916266"/>
            </a:xfrm>
          </p:grpSpPr>
          <p:sp>
            <p:nvSpPr>
              <p:cNvPr id="25" name="Oval 24">
                <a:extLst>
                  <a:ext uri="{FF2B5EF4-FFF2-40B4-BE49-F238E27FC236}">
                    <a16:creationId xmlns:a16="http://schemas.microsoft.com/office/drawing/2014/main" id="{63694BB4-8AD5-179F-08EF-4D7DEA24A2C0}"/>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26" name="Oval 31">
                <a:extLst>
                  <a:ext uri="{FF2B5EF4-FFF2-40B4-BE49-F238E27FC236}">
                    <a16:creationId xmlns:a16="http://schemas.microsoft.com/office/drawing/2014/main" id="{D3480056-D23D-3666-8EC9-8875A02857CF}"/>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27" name="Oval 26">
                <a:extLst>
                  <a:ext uri="{FF2B5EF4-FFF2-40B4-BE49-F238E27FC236}">
                    <a16:creationId xmlns:a16="http://schemas.microsoft.com/office/drawing/2014/main" id="{AB5334B6-CA34-5F29-E442-8183F69D1A80}"/>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nvGrpSpPr>
              <p:cNvPr id="29" name="Group 28">
                <a:extLst>
                  <a:ext uri="{FF2B5EF4-FFF2-40B4-BE49-F238E27FC236}">
                    <a16:creationId xmlns:a16="http://schemas.microsoft.com/office/drawing/2014/main" id="{67669F7C-41F3-6154-24A3-7469FAEC4175}"/>
                  </a:ext>
                </a:extLst>
              </p:cNvPr>
              <p:cNvGrpSpPr/>
              <p:nvPr/>
            </p:nvGrpSpPr>
            <p:grpSpPr>
              <a:xfrm>
                <a:off x="2923755" y="2808131"/>
                <a:ext cx="1112528" cy="1916266"/>
                <a:chOff x="2734489" y="2655731"/>
                <a:chExt cx="1186260" cy="1916266"/>
              </a:xfrm>
            </p:grpSpPr>
            <p:sp>
              <p:nvSpPr>
                <p:cNvPr id="35" name="Oval 34">
                  <a:extLst>
                    <a:ext uri="{FF2B5EF4-FFF2-40B4-BE49-F238E27FC236}">
                      <a16:creationId xmlns:a16="http://schemas.microsoft.com/office/drawing/2014/main" id="{4C9B42DF-2AEB-EEAD-833D-360190021F83}"/>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36" name="Oval 9">
                  <a:extLst>
                    <a:ext uri="{FF2B5EF4-FFF2-40B4-BE49-F238E27FC236}">
                      <a16:creationId xmlns:a16="http://schemas.microsoft.com/office/drawing/2014/main" id="{806E26A6-672D-3BAB-511B-D213844A7A6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nvGrpSpPr>
              <p:cNvPr id="30" name="Group 29">
                <a:extLst>
                  <a:ext uri="{FF2B5EF4-FFF2-40B4-BE49-F238E27FC236}">
                    <a16:creationId xmlns:a16="http://schemas.microsoft.com/office/drawing/2014/main" id="{B8533739-78DE-88D3-EFBF-B9AE053F257B}"/>
                  </a:ext>
                </a:extLst>
              </p:cNvPr>
              <p:cNvGrpSpPr/>
              <p:nvPr/>
            </p:nvGrpSpPr>
            <p:grpSpPr>
              <a:xfrm rot="16200000">
                <a:off x="2923922" y="2810085"/>
                <a:ext cx="1112528" cy="1916266"/>
                <a:chOff x="2734489" y="2655731"/>
                <a:chExt cx="1186260" cy="1916266"/>
              </a:xfrm>
            </p:grpSpPr>
            <p:sp>
              <p:nvSpPr>
                <p:cNvPr id="32" name="Oval 31">
                  <a:extLst>
                    <a:ext uri="{FF2B5EF4-FFF2-40B4-BE49-F238E27FC236}">
                      <a16:creationId xmlns:a16="http://schemas.microsoft.com/office/drawing/2014/main" id="{9B543FFB-6989-E3CC-F071-99BA7AA9CFBB}"/>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33" name="Oval 9">
                  <a:extLst>
                    <a:ext uri="{FF2B5EF4-FFF2-40B4-BE49-F238E27FC236}">
                      <a16:creationId xmlns:a16="http://schemas.microsoft.com/office/drawing/2014/main" id="{9906CE72-04E0-E0E3-C5E3-A2963225D33C}"/>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cxnSp>
          <p:nvCxnSpPr>
            <p:cNvPr id="43" name="Straight Arrow Connector 42">
              <a:extLst>
                <a:ext uri="{FF2B5EF4-FFF2-40B4-BE49-F238E27FC236}">
                  <a16:creationId xmlns:a16="http://schemas.microsoft.com/office/drawing/2014/main" id="{B0A6AC7D-D85C-1AE6-4903-D342ECE3BF60}"/>
                </a:ext>
              </a:extLst>
            </p:cNvPr>
            <p:cNvCxnSpPr>
              <a:cxnSpLocks/>
              <a:endCxn id="35" idx="0"/>
            </p:cNvCxnSpPr>
            <p:nvPr/>
          </p:nvCxnSpPr>
          <p:spPr>
            <a:xfrm flipH="1" flipV="1">
              <a:off x="2740736" y="1744892"/>
              <a:ext cx="2725" cy="1463671"/>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8560657E-0814-81DF-63C5-105D4015C4C1}"/>
                </a:ext>
              </a:extLst>
            </p:cNvPr>
            <p:cNvCxnSpPr>
              <a:cxnSpLocks/>
            </p:cNvCxnSpPr>
            <p:nvPr/>
          </p:nvCxnSpPr>
          <p:spPr>
            <a:xfrm flipV="1">
              <a:off x="2743489" y="2729714"/>
              <a:ext cx="932356" cy="484549"/>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45" name="Arc 44">
              <a:extLst>
                <a:ext uri="{FF2B5EF4-FFF2-40B4-BE49-F238E27FC236}">
                  <a16:creationId xmlns:a16="http://schemas.microsoft.com/office/drawing/2014/main" id="{81C2F07C-3ED5-8F79-2F40-4BFB9052895A}"/>
                </a:ext>
              </a:extLst>
            </p:cNvPr>
            <p:cNvSpPr/>
            <p:nvPr/>
          </p:nvSpPr>
          <p:spPr>
            <a:xfrm>
              <a:off x="2570865" y="2915570"/>
              <a:ext cx="381614" cy="707381"/>
            </a:xfrm>
            <a:prstGeom prst="arc">
              <a:avLst>
                <a:gd name="adj1" fmla="val 16108320"/>
                <a:gd name="adj2" fmla="val 1890152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gr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A01D634A-D59D-D768-B3D6-90720961F7D3}"/>
                  </a:ext>
                </a:extLst>
              </p:cNvPr>
              <p:cNvSpPr txBox="1"/>
              <p:nvPr/>
            </p:nvSpPr>
            <p:spPr>
              <a:xfrm>
                <a:off x="3885989" y="2308628"/>
                <a:ext cx="4701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𝜙</m:t>
                      </m:r>
                    </m:oMath>
                  </m:oMathPara>
                </a14:m>
                <a:endParaRPr lang="en-US" sz="2400" dirty="0"/>
              </a:p>
            </p:txBody>
          </p:sp>
        </mc:Choice>
        <mc:Fallback xmlns="">
          <p:sp>
            <p:nvSpPr>
              <p:cNvPr id="37" name="TextBox 36">
                <a:extLst>
                  <a:ext uri="{FF2B5EF4-FFF2-40B4-BE49-F238E27FC236}">
                    <a16:creationId xmlns:a16="http://schemas.microsoft.com/office/drawing/2014/main" id="{A01D634A-D59D-D768-B3D6-90720961F7D3}"/>
                  </a:ext>
                </a:extLst>
              </p:cNvPr>
              <p:cNvSpPr txBox="1">
                <a:spLocks noRot="1" noChangeAspect="1" noMove="1" noResize="1" noEditPoints="1" noAdjustHandles="1" noChangeArrowheads="1" noChangeShapeType="1" noTextEdit="1"/>
              </p:cNvSpPr>
              <p:nvPr/>
            </p:nvSpPr>
            <p:spPr>
              <a:xfrm>
                <a:off x="3885989" y="2308628"/>
                <a:ext cx="470192" cy="461665"/>
              </a:xfrm>
              <a:prstGeom prst="rect">
                <a:avLst/>
              </a:prstGeom>
              <a:blipFill>
                <a:blip r:embed="rId3"/>
                <a:stretch>
                  <a:fillRect l="-2564" b="-17333"/>
                </a:stretch>
              </a:blipFill>
            </p:spPr>
            <p:txBody>
              <a:bodyPr/>
              <a:lstStyle/>
              <a:p>
                <a:r>
                  <a:rPr lang="en-US">
                    <a:noFill/>
                  </a:rPr>
                  <a:t> </a:t>
                </a:r>
              </a:p>
            </p:txBody>
          </p:sp>
        </mc:Fallback>
      </mc:AlternateContent>
      <p:sp>
        <p:nvSpPr>
          <p:cNvPr id="57" name="Arc 56">
            <a:extLst>
              <a:ext uri="{FF2B5EF4-FFF2-40B4-BE49-F238E27FC236}">
                <a16:creationId xmlns:a16="http://schemas.microsoft.com/office/drawing/2014/main" id="{84B818A6-FC49-A575-AEFA-9CAC22FBEF84}"/>
              </a:ext>
            </a:extLst>
          </p:cNvPr>
          <p:cNvSpPr/>
          <p:nvPr/>
        </p:nvSpPr>
        <p:spPr>
          <a:xfrm>
            <a:off x="7848587" y="2901534"/>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CF62B15-46F5-E6BD-59D4-572194BCB1EC}"/>
              </a:ext>
            </a:extLst>
          </p:cNvPr>
          <p:cNvCxnSpPr>
            <a:cxnSpLocks/>
            <a:stCxn id="66" idx="2"/>
          </p:cNvCxnSpPr>
          <p:nvPr/>
        </p:nvCxnSpPr>
        <p:spPr>
          <a:xfrm>
            <a:off x="6403959" y="3344637"/>
            <a:ext cx="3577706" cy="7622"/>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145075B8-357A-A99E-1BA8-67F7A31212ED}"/>
              </a:ext>
            </a:extLst>
          </p:cNvPr>
          <p:cNvGrpSpPr/>
          <p:nvPr/>
        </p:nvGrpSpPr>
        <p:grpSpPr>
          <a:xfrm>
            <a:off x="6403959" y="1555785"/>
            <a:ext cx="3577708" cy="3577703"/>
            <a:chOff x="2521889" y="2808131"/>
            <a:chExt cx="1916265" cy="1916264"/>
          </a:xfrm>
        </p:grpSpPr>
        <p:sp>
          <p:nvSpPr>
            <p:cNvPr id="64" name="Oval 63">
              <a:extLst>
                <a:ext uri="{FF2B5EF4-FFF2-40B4-BE49-F238E27FC236}">
                  <a16:creationId xmlns:a16="http://schemas.microsoft.com/office/drawing/2014/main" id="{970E650B-B7B4-C316-3F1B-E5CB6A9E2470}"/>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Oval 31">
              <a:extLst>
                <a:ext uri="{FF2B5EF4-FFF2-40B4-BE49-F238E27FC236}">
                  <a16:creationId xmlns:a16="http://schemas.microsoft.com/office/drawing/2014/main" id="{096FB5E3-8642-FFBA-9271-6157A7DFEBFD}"/>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7E84FB0-A3AC-103B-5432-C2F120C55096}"/>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mc:AlternateContent xmlns:mc="http://schemas.openxmlformats.org/markup-compatibility/2006" xmlns:a14="http://schemas.microsoft.com/office/drawing/2010/main">
        <mc:Choice Requires="a14">
          <p:sp>
            <p:nvSpPr>
              <p:cNvPr id="68" name="TextBox 67">
                <a:extLst>
                  <a:ext uri="{FF2B5EF4-FFF2-40B4-BE49-F238E27FC236}">
                    <a16:creationId xmlns:a16="http://schemas.microsoft.com/office/drawing/2014/main" id="{4AF8D22F-0F35-9D4F-B85D-4E5D2E722AFD}"/>
                  </a:ext>
                </a:extLst>
              </p:cNvPr>
              <p:cNvSpPr txBox="1"/>
              <p:nvPr/>
            </p:nvSpPr>
            <p:spPr>
              <a:xfrm>
                <a:off x="7959279" y="1049363"/>
                <a:ext cx="47448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𝜓</m:t>
                      </m:r>
                    </m:oMath>
                  </m:oMathPara>
                </a14:m>
                <a:endParaRPr lang="en-US" sz="2400" dirty="0"/>
              </a:p>
            </p:txBody>
          </p:sp>
        </mc:Choice>
        <mc:Fallback xmlns="">
          <p:sp>
            <p:nvSpPr>
              <p:cNvPr id="68" name="TextBox 67">
                <a:extLst>
                  <a:ext uri="{FF2B5EF4-FFF2-40B4-BE49-F238E27FC236}">
                    <a16:creationId xmlns:a16="http://schemas.microsoft.com/office/drawing/2014/main" id="{4AF8D22F-0F35-9D4F-B85D-4E5D2E722AFD}"/>
                  </a:ext>
                </a:extLst>
              </p:cNvPr>
              <p:cNvSpPr txBox="1">
                <a:spLocks noRot="1" noChangeAspect="1" noMove="1" noResize="1" noEditPoints="1" noAdjustHandles="1" noChangeArrowheads="1" noChangeShapeType="1" noTextEdit="1"/>
              </p:cNvSpPr>
              <p:nvPr/>
            </p:nvSpPr>
            <p:spPr>
              <a:xfrm>
                <a:off x="7959279" y="1049363"/>
                <a:ext cx="474489" cy="461665"/>
              </a:xfrm>
              <a:prstGeom prst="rect">
                <a:avLst/>
              </a:prstGeom>
              <a:blipFill>
                <a:blip r:embed="rId4"/>
                <a:stretch>
                  <a:fillRect l="-2597" r="-2597" b="-17105"/>
                </a:stretch>
              </a:blipFill>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9F733FA4-0EE9-5DFF-C304-8A72C8B454B2}"/>
              </a:ext>
            </a:extLst>
          </p:cNvPr>
          <p:cNvCxnSpPr/>
          <p:nvPr/>
        </p:nvCxnSpPr>
        <p:spPr>
          <a:xfrm>
            <a:off x="8192807" y="2079726"/>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A31614BF-5191-7CF7-5177-7E0ED948F6B4}"/>
                  </a:ext>
                </a:extLst>
              </p:cNvPr>
              <p:cNvSpPr txBox="1"/>
              <p:nvPr/>
            </p:nvSpPr>
            <p:spPr>
              <a:xfrm>
                <a:off x="6856024" y="3349424"/>
                <a:ext cx="1219245"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oMath>
                  </m:oMathPara>
                </a14:m>
                <a:endParaRPr lang="en-US" sz="2400" dirty="0"/>
              </a:p>
            </p:txBody>
          </p:sp>
        </mc:Choice>
        <mc:Fallback>
          <p:sp>
            <p:nvSpPr>
              <p:cNvPr id="74" name="TextBox 73">
                <a:extLst>
                  <a:ext uri="{FF2B5EF4-FFF2-40B4-BE49-F238E27FC236}">
                    <a16:creationId xmlns:a16="http://schemas.microsoft.com/office/drawing/2014/main" id="{A31614BF-5191-7CF7-5177-7E0ED948F6B4}"/>
                  </a:ext>
                </a:extLst>
              </p:cNvPr>
              <p:cNvSpPr txBox="1">
                <a:spLocks noRot="1" noChangeAspect="1" noMove="1" noResize="1" noEditPoints="1" noAdjustHandles="1" noChangeArrowheads="1" noChangeShapeType="1" noTextEdit="1"/>
              </p:cNvSpPr>
              <p:nvPr/>
            </p:nvSpPr>
            <p:spPr>
              <a:xfrm>
                <a:off x="6856024" y="3349424"/>
                <a:ext cx="1219245" cy="461665"/>
              </a:xfrm>
              <a:prstGeom prst="rect">
                <a:avLst/>
              </a:prstGeom>
              <a:blipFill>
                <a:blip r:embed="rId5"/>
                <a:stretch>
                  <a:fillRect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a:extLst>
                  <a:ext uri="{FF2B5EF4-FFF2-40B4-BE49-F238E27FC236}">
                    <a16:creationId xmlns:a16="http://schemas.microsoft.com/office/drawing/2014/main" id="{A8BF9C37-2A7D-984F-D542-556A8B3C77E1}"/>
                  </a:ext>
                </a:extLst>
              </p:cNvPr>
              <p:cNvSpPr txBox="1"/>
              <p:nvPr/>
            </p:nvSpPr>
            <p:spPr>
              <a:xfrm>
                <a:off x="9395540" y="1627434"/>
                <a:ext cx="4701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𝜙</m:t>
                      </m:r>
                    </m:oMath>
                  </m:oMathPara>
                </a14:m>
                <a:endParaRPr lang="en-US" sz="2400" dirty="0"/>
              </a:p>
            </p:txBody>
          </p:sp>
        </mc:Choice>
        <mc:Fallback xmlns="">
          <p:sp>
            <p:nvSpPr>
              <p:cNvPr id="80" name="TextBox 79">
                <a:extLst>
                  <a:ext uri="{FF2B5EF4-FFF2-40B4-BE49-F238E27FC236}">
                    <a16:creationId xmlns:a16="http://schemas.microsoft.com/office/drawing/2014/main" id="{A8BF9C37-2A7D-984F-D542-556A8B3C77E1}"/>
                  </a:ext>
                </a:extLst>
              </p:cNvPr>
              <p:cNvSpPr txBox="1">
                <a:spLocks noRot="1" noChangeAspect="1" noMove="1" noResize="1" noEditPoints="1" noAdjustHandles="1" noChangeArrowheads="1" noChangeShapeType="1" noTextEdit="1"/>
              </p:cNvSpPr>
              <p:nvPr/>
            </p:nvSpPr>
            <p:spPr>
              <a:xfrm>
                <a:off x="9395540" y="1627434"/>
                <a:ext cx="470192" cy="461665"/>
              </a:xfrm>
              <a:prstGeom prst="rect">
                <a:avLst/>
              </a:prstGeom>
              <a:blipFill>
                <a:blip r:embed="rId6"/>
                <a:stretch>
                  <a:fillRect l="-2597" r="-1299" b="-15789"/>
                </a:stretch>
              </a:blipFill>
            </p:spPr>
            <p:txBody>
              <a:bodyPr/>
              <a:lstStyle/>
              <a:p>
                <a:r>
                  <a:rPr lang="en-US">
                    <a:noFill/>
                  </a:rPr>
                  <a:t> </a:t>
                </a:r>
              </a:p>
            </p:txBody>
          </p:sp>
        </mc:Fallback>
      </mc:AlternateContent>
      <p:cxnSp>
        <p:nvCxnSpPr>
          <p:cNvPr id="85" name="Straight Arrow Connector 84">
            <a:extLst>
              <a:ext uri="{FF2B5EF4-FFF2-40B4-BE49-F238E27FC236}">
                <a16:creationId xmlns:a16="http://schemas.microsoft.com/office/drawing/2014/main" id="{103BCFF8-0DF8-A3C9-50E2-E5E1084AE713}"/>
              </a:ext>
            </a:extLst>
          </p:cNvPr>
          <p:cNvCxnSpPr>
            <a:cxnSpLocks/>
          </p:cNvCxnSpPr>
          <p:nvPr/>
        </p:nvCxnSpPr>
        <p:spPr>
          <a:xfrm flipV="1">
            <a:off x="8192807" y="2079726"/>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7" name="Right Brace 76">
            <a:extLst>
              <a:ext uri="{FF2B5EF4-FFF2-40B4-BE49-F238E27FC236}">
                <a16:creationId xmlns:a16="http://schemas.microsoft.com/office/drawing/2014/main" id="{B14DC505-89FD-6FB1-C09F-ABFCED72A106}"/>
              </a:ext>
            </a:extLst>
          </p:cNvPr>
          <p:cNvSpPr/>
          <p:nvPr/>
        </p:nvSpPr>
        <p:spPr>
          <a:xfrm flipH="1">
            <a:off x="8001560" y="2089099"/>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87" name="Straight Arrow Connector 86">
            <a:extLst>
              <a:ext uri="{FF2B5EF4-FFF2-40B4-BE49-F238E27FC236}">
                <a16:creationId xmlns:a16="http://schemas.microsoft.com/office/drawing/2014/main" id="{61467E67-A217-BD70-C7D8-CE8DDA832A0E}"/>
              </a:ext>
            </a:extLst>
          </p:cNvPr>
          <p:cNvCxnSpPr>
            <a:cxnSpLocks/>
          </p:cNvCxnSpPr>
          <p:nvPr/>
        </p:nvCxnSpPr>
        <p:spPr>
          <a:xfrm flipV="1">
            <a:off x="6263495" y="3839013"/>
            <a:ext cx="1181100" cy="807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8" name="TextBox 87">
                <a:extLst>
                  <a:ext uri="{FF2B5EF4-FFF2-40B4-BE49-F238E27FC236}">
                    <a16:creationId xmlns:a16="http://schemas.microsoft.com/office/drawing/2014/main" id="{636B3FC2-1B54-EA32-C416-3155FAA07BF0}"/>
                  </a:ext>
                </a:extLst>
              </p:cNvPr>
              <p:cNvSpPr txBox="1"/>
              <p:nvPr/>
            </p:nvSpPr>
            <p:spPr>
              <a:xfrm>
                <a:off x="4472880" y="4607797"/>
                <a:ext cx="2381165" cy="646331"/>
              </a:xfrm>
              <a:prstGeom prst="rect">
                <a:avLst/>
              </a:prstGeom>
              <a:noFill/>
            </p:spPr>
            <p:txBody>
              <a:bodyPr wrap="none" rtlCol="0">
                <a:spAutoFit/>
              </a:bodyPr>
              <a:lstStyle/>
              <a:p>
                <a:r>
                  <a:rPr lang="en-US" dirty="0"/>
                  <a:t>Vertical distance from</a:t>
                </a:r>
                <a:br>
                  <a:rPr lang="en-US" dirty="0"/>
                </a:br>
                <a:r>
                  <a:rPr lang="en-US" dirty="0"/>
                  <a:t>the opposite point of </a:t>
                </a:r>
                <a14:m>
                  <m:oMath xmlns:m="http://schemas.openxmlformats.org/officeDocument/2006/math">
                    <m:r>
                      <a:rPr lang="en-US" b="0" i="1" smtClean="0">
                        <a:latin typeface="Cambria Math" panose="02040503050406030204" pitchFamily="18" charset="0"/>
                      </a:rPr>
                      <m:t>𝜓</m:t>
                    </m:r>
                  </m:oMath>
                </a14:m>
                <a:endParaRPr lang="en-US" dirty="0"/>
              </a:p>
            </p:txBody>
          </p:sp>
        </mc:Choice>
        <mc:Fallback>
          <p:sp>
            <p:nvSpPr>
              <p:cNvPr id="88" name="TextBox 87">
                <a:extLst>
                  <a:ext uri="{FF2B5EF4-FFF2-40B4-BE49-F238E27FC236}">
                    <a16:creationId xmlns:a16="http://schemas.microsoft.com/office/drawing/2014/main" id="{636B3FC2-1B54-EA32-C416-3155FAA07BF0}"/>
                  </a:ext>
                </a:extLst>
              </p:cNvPr>
              <p:cNvSpPr txBox="1">
                <a:spLocks noRot="1" noChangeAspect="1" noMove="1" noResize="1" noEditPoints="1" noAdjustHandles="1" noChangeArrowheads="1" noChangeShapeType="1" noTextEdit="1"/>
              </p:cNvSpPr>
              <p:nvPr/>
            </p:nvSpPr>
            <p:spPr>
              <a:xfrm>
                <a:off x="4472880" y="4607797"/>
                <a:ext cx="2381165" cy="646331"/>
              </a:xfrm>
              <a:prstGeom prst="rect">
                <a:avLst/>
              </a:prstGeom>
              <a:blipFill>
                <a:blip r:embed="rId7"/>
                <a:stretch>
                  <a:fillRect l="-2308" t="-5660" b="-1415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D12D78B-CB6B-6151-C7B9-3883E5BC1783}"/>
                  </a:ext>
                </a:extLst>
              </p:cNvPr>
              <p:cNvSpPr txBox="1"/>
              <p:nvPr/>
            </p:nvSpPr>
            <p:spPr>
              <a:xfrm>
                <a:off x="7959832" y="5149898"/>
                <a:ext cx="653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dirty="0" smtClean="0">
                              <a:latin typeface="Cambria Math" panose="02040503050406030204" pitchFamily="18" charset="0"/>
                            </a:rPr>
                          </m:ctrlPr>
                        </m:sSupPr>
                        <m:e>
                          <m:r>
                            <a:rPr lang="en-US" sz="2400" i="1" dirty="0" smtClean="0">
                              <a:latin typeface="Cambria Math" panose="02040503050406030204" pitchFamily="18" charset="0"/>
                            </a:rPr>
                            <m:t>𝜓</m:t>
                          </m:r>
                        </m:e>
                        <m:sup>
                          <m:r>
                            <a:rPr lang="en-US" sz="2400" b="0" i="1" dirty="0" smtClean="0">
                              <a:latin typeface="Cambria Math" panose="02040503050406030204" pitchFamily="18" charset="0"/>
                            </a:rPr>
                            <m:t>⊥</m:t>
                          </m:r>
                        </m:sup>
                      </m:sSup>
                    </m:oMath>
                  </m:oMathPara>
                </a14:m>
                <a:endParaRPr lang="en-US" sz="2400" dirty="0"/>
              </a:p>
            </p:txBody>
          </p:sp>
        </mc:Choice>
        <mc:Fallback>
          <p:sp>
            <p:nvSpPr>
              <p:cNvPr id="12" name="TextBox 11">
                <a:extLst>
                  <a:ext uri="{FF2B5EF4-FFF2-40B4-BE49-F238E27FC236}">
                    <a16:creationId xmlns:a16="http://schemas.microsoft.com/office/drawing/2014/main" id="{7D12D78B-CB6B-6151-C7B9-3883E5BC1783}"/>
                  </a:ext>
                </a:extLst>
              </p:cNvPr>
              <p:cNvSpPr txBox="1">
                <a:spLocks noRot="1" noChangeAspect="1" noMove="1" noResize="1" noEditPoints="1" noAdjustHandles="1" noChangeArrowheads="1" noChangeShapeType="1" noTextEdit="1"/>
              </p:cNvSpPr>
              <p:nvPr/>
            </p:nvSpPr>
            <p:spPr>
              <a:xfrm>
                <a:off x="7959832" y="5149898"/>
                <a:ext cx="653449" cy="461665"/>
              </a:xfrm>
              <a:prstGeom prst="rect">
                <a:avLst/>
              </a:prstGeom>
              <a:blipFill>
                <a:blip r:embed="rId8"/>
                <a:stretch>
                  <a:fillRect l="-1869" b="-1578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DC147711-D922-0B18-10F7-807FDA73EFF3}"/>
                  </a:ext>
                </a:extLst>
              </p:cNvPr>
              <p:cNvSpPr txBox="1"/>
              <p:nvPr/>
            </p:nvSpPr>
            <p:spPr>
              <a:xfrm>
                <a:off x="7670680" y="1831347"/>
                <a:ext cx="4514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oMath>
                  </m:oMathPara>
                </a14:m>
                <a:endParaRPr lang="en-US" sz="2400" dirty="0"/>
              </a:p>
            </p:txBody>
          </p:sp>
        </mc:Choice>
        <mc:Fallback>
          <p:sp>
            <p:nvSpPr>
              <p:cNvPr id="4" name="TextBox 3">
                <a:extLst>
                  <a:ext uri="{FF2B5EF4-FFF2-40B4-BE49-F238E27FC236}">
                    <a16:creationId xmlns:a16="http://schemas.microsoft.com/office/drawing/2014/main" id="{DC147711-D922-0B18-10F7-807FDA73EFF3}"/>
                  </a:ext>
                </a:extLst>
              </p:cNvPr>
              <p:cNvSpPr txBox="1">
                <a:spLocks noRot="1" noChangeAspect="1" noMove="1" noResize="1" noEditPoints="1" noAdjustHandles="1" noChangeArrowheads="1" noChangeShapeType="1" noTextEdit="1"/>
              </p:cNvSpPr>
              <p:nvPr/>
            </p:nvSpPr>
            <p:spPr>
              <a:xfrm>
                <a:off x="7670680" y="1831347"/>
                <a:ext cx="451469" cy="461665"/>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2FE1CC7D-BCA4-D37A-3FEF-E4806EB3AB7C}"/>
                  </a:ext>
                </a:extLst>
              </p:cNvPr>
              <p:cNvSpPr txBox="1"/>
              <p:nvPr/>
            </p:nvSpPr>
            <p:spPr>
              <a:xfrm>
                <a:off x="2897893" y="5380495"/>
                <a:ext cx="5061386" cy="89492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𝑝</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𝜓</m:t>
                          </m:r>
                        </m:e>
                        <m:e>
                          <m:r>
                            <a:rPr lang="en-US" sz="2400" b="0" i="1" smtClean="0">
                              <a:latin typeface="Cambria Math" panose="02040503050406030204" pitchFamily="18" charset="0"/>
                            </a:rPr>
                            <m:t>𝜙</m:t>
                          </m:r>
                        </m:e>
                      </m:d>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𝐶</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𝜓</m:t>
                              </m:r>
                            </m:e>
                            <m:sup>
                              <m:r>
                                <a:rPr lang="en-US" sz="2400" b="0" i="1" smtClean="0">
                                  <a:latin typeface="Cambria Math" panose="02040503050406030204" pitchFamily="18" charset="0"/>
                                </a:rPr>
                                <m:t>⊥</m:t>
                              </m:r>
                            </m:sup>
                          </m:sSup>
                        </m:num>
                        <m:den>
                          <m:r>
                            <a:rPr lang="en-US" sz="2400" b="0" i="1" smtClean="0">
                              <a:latin typeface="Cambria Math" panose="02040503050406030204" pitchFamily="18" charset="0"/>
                            </a:rPr>
                            <m:t>𝜓</m:t>
                          </m:r>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𝜓</m:t>
                              </m:r>
                            </m:e>
                            <m:sup>
                              <m:r>
                                <a:rPr lang="en-US" sz="2400" b="0" i="1" smtClean="0">
                                  <a:latin typeface="Cambria Math" panose="02040503050406030204" pitchFamily="18" charset="0"/>
                                </a:rPr>
                                <m:t>⊥</m:t>
                              </m:r>
                            </m:sup>
                          </m:sSup>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i="1">
                              <a:latin typeface="Cambria Math" panose="02040503050406030204" pitchFamily="18" charset="0"/>
                            </a:rPr>
                            <m:t>1+</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cos</m:t>
                              </m:r>
                            </m:fName>
                            <m:e>
                              <m:r>
                                <a:rPr lang="en-US" sz="2400" b="0" i="1" smtClean="0">
                                  <a:latin typeface="Cambria Math" panose="02040503050406030204" pitchFamily="18" charset="0"/>
                                </a:rPr>
                                <m:t>𝜃</m:t>
                              </m:r>
                            </m:e>
                          </m:func>
                        </m:num>
                        <m:den>
                          <m:r>
                            <a:rPr lang="en-US" sz="2400" b="0" i="1" smtClean="0">
                              <a:latin typeface="Cambria Math" panose="02040503050406030204" pitchFamily="18" charset="0"/>
                            </a:rPr>
                            <m:t>2</m:t>
                          </m:r>
                        </m:den>
                      </m:f>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sSup>
                            <m:sSupPr>
                              <m:ctrlPr>
                                <a:rPr lang="en-US" sz="2400" b="0" i="1" smtClean="0">
                                  <a:latin typeface="Cambria Math" panose="02040503050406030204" pitchFamily="18" charset="0"/>
                                </a:rPr>
                              </m:ctrlPr>
                            </m:sSupPr>
                            <m:e>
                              <m:r>
                                <m:rPr>
                                  <m:sty m:val="p"/>
                                </m:rPr>
                                <a:rPr lang="en-US" sz="2400" b="0" i="0" smtClean="0">
                                  <a:latin typeface="Cambria Math" panose="02040503050406030204" pitchFamily="18" charset="0"/>
                                </a:rPr>
                                <m:t>cos</m:t>
                              </m:r>
                            </m:e>
                            <m:sup>
                              <m:r>
                                <a:rPr lang="en-US" sz="2400" b="0" i="1" smtClean="0">
                                  <a:latin typeface="Cambria Math" panose="02040503050406030204" pitchFamily="18" charset="0"/>
                                </a:rPr>
                                <m:t>2</m:t>
                              </m:r>
                            </m:sup>
                          </m:sSup>
                        </m:fName>
                        <m:e>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𝜃</m:t>
                              </m:r>
                            </m:num>
                            <m:den>
                              <m:r>
                                <a:rPr lang="en-US" sz="2400" b="0" i="1" smtClean="0">
                                  <a:latin typeface="Cambria Math" panose="02040503050406030204" pitchFamily="18" charset="0"/>
                                </a:rPr>
                                <m:t>2</m:t>
                              </m:r>
                            </m:den>
                          </m:f>
                        </m:e>
                      </m:func>
                    </m:oMath>
                  </m:oMathPara>
                </a14:m>
                <a:endParaRPr lang="en-US" sz="2400" dirty="0"/>
              </a:p>
            </p:txBody>
          </p:sp>
        </mc:Choice>
        <mc:Fallback>
          <p:sp>
            <p:nvSpPr>
              <p:cNvPr id="5" name="TextBox 4">
                <a:extLst>
                  <a:ext uri="{FF2B5EF4-FFF2-40B4-BE49-F238E27FC236}">
                    <a16:creationId xmlns:a16="http://schemas.microsoft.com/office/drawing/2014/main" id="{2FE1CC7D-BCA4-D37A-3FEF-E4806EB3AB7C}"/>
                  </a:ext>
                </a:extLst>
              </p:cNvPr>
              <p:cNvSpPr txBox="1">
                <a:spLocks noRot="1" noChangeAspect="1" noMove="1" noResize="1" noEditPoints="1" noAdjustHandles="1" noChangeArrowheads="1" noChangeShapeType="1" noTextEdit="1"/>
              </p:cNvSpPr>
              <p:nvPr/>
            </p:nvSpPr>
            <p:spPr>
              <a:xfrm>
                <a:off x="2897893" y="5380495"/>
                <a:ext cx="5061386" cy="89492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5D157A82-D345-F5A7-6263-90764D927D4F}"/>
                  </a:ext>
                </a:extLst>
              </p:cNvPr>
              <p:cNvSpPr txBox="1"/>
              <p:nvPr/>
            </p:nvSpPr>
            <p:spPr>
              <a:xfrm>
                <a:off x="8267176" y="2516206"/>
                <a:ext cx="43576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𝜃</m:t>
                      </m:r>
                    </m:oMath>
                  </m:oMathPara>
                </a14:m>
                <a:endParaRPr lang="en-US" sz="2400" dirty="0"/>
              </a:p>
            </p:txBody>
          </p:sp>
        </mc:Choice>
        <mc:Fallback>
          <p:sp>
            <p:nvSpPr>
              <p:cNvPr id="8" name="TextBox 7">
                <a:extLst>
                  <a:ext uri="{FF2B5EF4-FFF2-40B4-BE49-F238E27FC236}">
                    <a16:creationId xmlns:a16="http://schemas.microsoft.com/office/drawing/2014/main" id="{5D157A82-D345-F5A7-6263-90764D927D4F}"/>
                  </a:ext>
                </a:extLst>
              </p:cNvPr>
              <p:cNvSpPr txBox="1">
                <a:spLocks noRot="1" noChangeAspect="1" noMove="1" noResize="1" noEditPoints="1" noAdjustHandles="1" noChangeArrowheads="1" noChangeShapeType="1" noTextEdit="1"/>
              </p:cNvSpPr>
              <p:nvPr/>
            </p:nvSpPr>
            <p:spPr>
              <a:xfrm>
                <a:off x="8267176" y="2516206"/>
                <a:ext cx="435760" cy="461665"/>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275132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4" grpId="0"/>
      <p:bldP spid="77" grpId="0" animBg="1"/>
      <p:bldP spid="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C79E0B-E1BA-7618-BF91-CFA449A89851}"/>
            </a:ext>
          </a:extLst>
        </p:cNvPr>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F7868EDC-AA7E-5FEA-FA5B-A71AA0A1DBD5}"/>
              </a:ext>
            </a:extLst>
          </p:cNvPr>
          <p:cNvCxnSpPr>
            <a:cxnSpLocks/>
            <a:stCxn id="66" idx="0"/>
            <a:endCxn id="66" idx="4"/>
          </p:cNvCxnSpPr>
          <p:nvPr/>
        </p:nvCxnSpPr>
        <p:spPr>
          <a:xfrm>
            <a:off x="2722436"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A85D372-BEA3-E537-A599-A93603694980}"/>
              </a:ext>
            </a:extLst>
          </p:cNvPr>
          <p:cNvCxnSpPr>
            <a:cxnSpLocks/>
            <a:endCxn id="66" idx="0"/>
          </p:cNvCxnSpPr>
          <p:nvPr/>
        </p:nvCxnSpPr>
        <p:spPr>
          <a:xfrm flipV="1">
            <a:off x="2722430" y="1555785"/>
            <a:ext cx="6" cy="178884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82B1CDB-D180-4283-0B22-602CE01F8F00}"/>
              </a:ext>
            </a:extLst>
          </p:cNvPr>
          <p:cNvSpPr txBox="1"/>
          <p:nvPr/>
        </p:nvSpPr>
        <p:spPr>
          <a:xfrm>
            <a:off x="4841490" y="218366"/>
            <a:ext cx="2509020" cy="830997"/>
          </a:xfrm>
          <a:prstGeom prst="rect">
            <a:avLst/>
          </a:prstGeom>
          <a:noFill/>
        </p:spPr>
        <p:txBody>
          <a:bodyPr wrap="none" rtlCol="0">
            <a:spAutoFit/>
          </a:bodyPr>
          <a:lstStyle/>
          <a:p>
            <a:r>
              <a:rPr lang="en-US" sz="4800" dirty="0"/>
              <a:t>Born rule</a:t>
            </a:r>
          </a:p>
        </p:txBody>
      </p:sp>
      <p:sp>
        <p:nvSpPr>
          <p:cNvPr id="57" name="Arc 56">
            <a:extLst>
              <a:ext uri="{FF2B5EF4-FFF2-40B4-BE49-F238E27FC236}">
                <a16:creationId xmlns:a16="http://schemas.microsoft.com/office/drawing/2014/main" id="{0872D35A-0E6A-FA69-82E9-4EB5B2FE3872}"/>
              </a:ext>
            </a:extLst>
          </p:cNvPr>
          <p:cNvSpPr/>
          <p:nvPr/>
        </p:nvSpPr>
        <p:spPr>
          <a:xfrm>
            <a:off x="2378210" y="4694774"/>
            <a:ext cx="697242" cy="553554"/>
          </a:xfrm>
          <a:prstGeom prst="arc">
            <a:avLst>
              <a:gd name="adj1" fmla="val 16200000"/>
              <a:gd name="adj2" fmla="val 1816050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0BC17004-10DC-E1F7-C213-93A830B1FCAE}"/>
              </a:ext>
            </a:extLst>
          </p:cNvPr>
          <p:cNvCxnSpPr>
            <a:cxnSpLocks/>
            <a:stCxn id="66" idx="2"/>
          </p:cNvCxnSpPr>
          <p:nvPr/>
        </p:nvCxnSpPr>
        <p:spPr>
          <a:xfrm>
            <a:off x="933582" y="3344637"/>
            <a:ext cx="3577706" cy="7622"/>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6B415A83-5318-65B2-7F01-173E5E9808E8}"/>
              </a:ext>
            </a:extLst>
          </p:cNvPr>
          <p:cNvGrpSpPr/>
          <p:nvPr/>
        </p:nvGrpSpPr>
        <p:grpSpPr>
          <a:xfrm>
            <a:off x="933582" y="1555785"/>
            <a:ext cx="3577708" cy="3577703"/>
            <a:chOff x="2521889" y="2808131"/>
            <a:chExt cx="1916265" cy="1916264"/>
          </a:xfrm>
        </p:grpSpPr>
        <p:sp>
          <p:nvSpPr>
            <p:cNvPr id="64" name="Oval 63">
              <a:extLst>
                <a:ext uri="{FF2B5EF4-FFF2-40B4-BE49-F238E27FC236}">
                  <a16:creationId xmlns:a16="http://schemas.microsoft.com/office/drawing/2014/main" id="{DA3BD89D-4459-F4C9-A531-43804120C2C6}"/>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Oval 31">
              <a:extLst>
                <a:ext uri="{FF2B5EF4-FFF2-40B4-BE49-F238E27FC236}">
                  <a16:creationId xmlns:a16="http://schemas.microsoft.com/office/drawing/2014/main" id="{0E4B0CF9-223F-FABA-BA2B-C144C1F745A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D6AFFE57-EEF4-12AD-ED2C-9F020FA9D684}"/>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FAD62304-D332-B30F-EF37-E7EA9EB07EB9}"/>
                  </a:ext>
                </a:extLst>
              </p:cNvPr>
              <p:cNvSpPr txBox="1"/>
              <p:nvPr/>
            </p:nvSpPr>
            <p:spPr>
              <a:xfrm>
                <a:off x="2488902" y="1049363"/>
                <a:ext cx="47448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𝜓</m:t>
                      </m:r>
                    </m:oMath>
                  </m:oMathPara>
                </a14:m>
                <a:endParaRPr lang="en-US" sz="2400" dirty="0"/>
              </a:p>
            </p:txBody>
          </p:sp>
        </mc:Choice>
        <mc:Fallback>
          <p:sp>
            <p:nvSpPr>
              <p:cNvPr id="68" name="TextBox 67">
                <a:extLst>
                  <a:ext uri="{FF2B5EF4-FFF2-40B4-BE49-F238E27FC236}">
                    <a16:creationId xmlns:a16="http://schemas.microsoft.com/office/drawing/2014/main" id="{FAD62304-D332-B30F-EF37-E7EA9EB07EB9}"/>
                  </a:ext>
                </a:extLst>
              </p:cNvPr>
              <p:cNvSpPr txBox="1">
                <a:spLocks noRot="1" noChangeAspect="1" noMove="1" noResize="1" noEditPoints="1" noAdjustHandles="1" noChangeArrowheads="1" noChangeShapeType="1" noTextEdit="1"/>
              </p:cNvSpPr>
              <p:nvPr/>
            </p:nvSpPr>
            <p:spPr>
              <a:xfrm>
                <a:off x="2488902" y="1049363"/>
                <a:ext cx="474489" cy="461665"/>
              </a:xfrm>
              <a:prstGeom prst="rect">
                <a:avLst/>
              </a:prstGeom>
              <a:blipFill>
                <a:blip r:embed="rId2"/>
                <a:stretch>
                  <a:fillRect l="-2564" r="-1282" b="-17105"/>
                </a:stretch>
              </a:blipFill>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A73DCF1B-6D02-EB1A-1627-A9017DB1DEDB}"/>
              </a:ext>
            </a:extLst>
          </p:cNvPr>
          <p:cNvCxnSpPr/>
          <p:nvPr/>
        </p:nvCxnSpPr>
        <p:spPr>
          <a:xfrm>
            <a:off x="2722430" y="2079726"/>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6A66B3AE-47A3-4517-4112-CF65EEAF7D06}"/>
                  </a:ext>
                </a:extLst>
              </p:cNvPr>
              <p:cNvSpPr txBox="1"/>
              <p:nvPr/>
            </p:nvSpPr>
            <p:spPr>
              <a:xfrm>
                <a:off x="1385647" y="3349424"/>
                <a:ext cx="121924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oMath>
                  </m:oMathPara>
                </a14:m>
                <a:endParaRPr lang="en-US" sz="2400" dirty="0"/>
              </a:p>
            </p:txBody>
          </p:sp>
        </mc:Choice>
        <mc:Fallback>
          <p:sp>
            <p:nvSpPr>
              <p:cNvPr id="74" name="TextBox 73">
                <a:extLst>
                  <a:ext uri="{FF2B5EF4-FFF2-40B4-BE49-F238E27FC236}">
                    <a16:creationId xmlns:a16="http://schemas.microsoft.com/office/drawing/2014/main" id="{6A66B3AE-47A3-4517-4112-CF65EEAF7D06}"/>
                  </a:ext>
                </a:extLst>
              </p:cNvPr>
              <p:cNvSpPr txBox="1">
                <a:spLocks noRot="1" noChangeAspect="1" noMove="1" noResize="1" noEditPoints="1" noAdjustHandles="1" noChangeArrowheads="1" noChangeShapeType="1" noTextEdit="1"/>
              </p:cNvSpPr>
              <p:nvPr/>
            </p:nvSpPr>
            <p:spPr>
              <a:xfrm>
                <a:off x="1385647" y="3349424"/>
                <a:ext cx="1219244" cy="461665"/>
              </a:xfrm>
              <a:prstGeom prst="rect">
                <a:avLst/>
              </a:prstGeom>
              <a:blipFill>
                <a:blip r:embed="rId3"/>
                <a:stretch>
                  <a:fillRect b="-17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a:extLst>
                  <a:ext uri="{FF2B5EF4-FFF2-40B4-BE49-F238E27FC236}">
                    <a16:creationId xmlns:a16="http://schemas.microsoft.com/office/drawing/2014/main" id="{5AC3DA4A-C4CB-7716-FBD0-A568EF8AB14D}"/>
                  </a:ext>
                </a:extLst>
              </p:cNvPr>
              <p:cNvSpPr txBox="1"/>
              <p:nvPr/>
            </p:nvSpPr>
            <p:spPr>
              <a:xfrm>
                <a:off x="4062527" y="1575415"/>
                <a:ext cx="4701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𝜙</m:t>
                      </m:r>
                    </m:oMath>
                  </m:oMathPara>
                </a14:m>
                <a:endParaRPr lang="en-US" sz="2400" dirty="0"/>
              </a:p>
            </p:txBody>
          </p:sp>
        </mc:Choice>
        <mc:Fallback>
          <p:sp>
            <p:nvSpPr>
              <p:cNvPr id="80" name="TextBox 79">
                <a:extLst>
                  <a:ext uri="{FF2B5EF4-FFF2-40B4-BE49-F238E27FC236}">
                    <a16:creationId xmlns:a16="http://schemas.microsoft.com/office/drawing/2014/main" id="{5AC3DA4A-C4CB-7716-FBD0-A568EF8AB14D}"/>
                  </a:ext>
                </a:extLst>
              </p:cNvPr>
              <p:cNvSpPr txBox="1">
                <a:spLocks noRot="1" noChangeAspect="1" noMove="1" noResize="1" noEditPoints="1" noAdjustHandles="1" noChangeArrowheads="1" noChangeShapeType="1" noTextEdit="1"/>
              </p:cNvSpPr>
              <p:nvPr/>
            </p:nvSpPr>
            <p:spPr>
              <a:xfrm>
                <a:off x="4062527" y="1575415"/>
                <a:ext cx="470192" cy="461665"/>
              </a:xfrm>
              <a:prstGeom prst="rect">
                <a:avLst/>
              </a:prstGeom>
              <a:blipFill>
                <a:blip r:embed="rId4"/>
                <a:stretch>
                  <a:fillRect l="-2564" b="-17105"/>
                </a:stretch>
              </a:blipFill>
            </p:spPr>
            <p:txBody>
              <a:bodyPr/>
              <a:lstStyle/>
              <a:p>
                <a:r>
                  <a:rPr lang="en-US">
                    <a:noFill/>
                  </a:rPr>
                  <a:t> </a:t>
                </a:r>
              </a:p>
            </p:txBody>
          </p:sp>
        </mc:Fallback>
      </mc:AlternateContent>
      <p:cxnSp>
        <p:nvCxnSpPr>
          <p:cNvPr id="85" name="Straight Arrow Connector 84">
            <a:extLst>
              <a:ext uri="{FF2B5EF4-FFF2-40B4-BE49-F238E27FC236}">
                <a16:creationId xmlns:a16="http://schemas.microsoft.com/office/drawing/2014/main" id="{A9D7DEFE-6511-076D-2446-DB17E4A11876}"/>
              </a:ext>
            </a:extLst>
          </p:cNvPr>
          <p:cNvCxnSpPr>
            <a:cxnSpLocks/>
          </p:cNvCxnSpPr>
          <p:nvPr/>
        </p:nvCxnSpPr>
        <p:spPr>
          <a:xfrm flipV="1">
            <a:off x="2722430" y="2079726"/>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7" name="Right Brace 76">
            <a:extLst>
              <a:ext uri="{FF2B5EF4-FFF2-40B4-BE49-F238E27FC236}">
                <a16:creationId xmlns:a16="http://schemas.microsoft.com/office/drawing/2014/main" id="{ADCE3840-47F1-5E09-A482-9529A8B0529F}"/>
              </a:ext>
            </a:extLst>
          </p:cNvPr>
          <p:cNvSpPr/>
          <p:nvPr/>
        </p:nvSpPr>
        <p:spPr>
          <a:xfrm flipH="1">
            <a:off x="2531183" y="2089099"/>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E352A17-11F3-8065-10D4-E52C004109DB}"/>
              </a:ext>
            </a:extLst>
          </p:cNvPr>
          <p:cNvCxnSpPr>
            <a:stCxn id="66" idx="7"/>
            <a:endCxn id="66" idx="4"/>
          </p:cNvCxnSpPr>
          <p:nvPr/>
        </p:nvCxnSpPr>
        <p:spPr>
          <a:xfrm flipH="1">
            <a:off x="2722436" y="2079727"/>
            <a:ext cx="1264911" cy="30537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D1DD3600-29BE-CEAF-0A91-2D61142A2B11}"/>
                  </a:ext>
                </a:extLst>
              </p:cNvPr>
              <p:cNvSpPr txBox="1"/>
              <p:nvPr/>
            </p:nvSpPr>
            <p:spPr>
              <a:xfrm>
                <a:off x="2722428" y="2472068"/>
                <a:ext cx="43576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𝜃</m:t>
                      </m:r>
                    </m:oMath>
                  </m:oMathPara>
                </a14:m>
                <a:endParaRPr lang="en-US" sz="2400" dirty="0"/>
              </a:p>
            </p:txBody>
          </p:sp>
        </mc:Choice>
        <mc:Fallback>
          <p:sp>
            <p:nvSpPr>
              <p:cNvPr id="8" name="TextBox 7">
                <a:extLst>
                  <a:ext uri="{FF2B5EF4-FFF2-40B4-BE49-F238E27FC236}">
                    <a16:creationId xmlns:a16="http://schemas.microsoft.com/office/drawing/2014/main" id="{D1DD3600-29BE-CEAF-0A91-2D61142A2B11}"/>
                  </a:ext>
                </a:extLst>
              </p:cNvPr>
              <p:cNvSpPr txBox="1">
                <a:spLocks noRot="1" noChangeAspect="1" noMove="1" noResize="1" noEditPoints="1" noAdjustHandles="1" noChangeArrowheads="1" noChangeShapeType="1" noTextEdit="1"/>
              </p:cNvSpPr>
              <p:nvPr/>
            </p:nvSpPr>
            <p:spPr>
              <a:xfrm>
                <a:off x="2722428" y="2472068"/>
                <a:ext cx="43576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667D9E9-2560-B0DD-C082-08147FDBD1C3}"/>
                  </a:ext>
                </a:extLst>
              </p:cNvPr>
              <p:cNvSpPr txBox="1"/>
              <p:nvPr/>
            </p:nvSpPr>
            <p:spPr>
              <a:xfrm>
                <a:off x="2722428" y="3841084"/>
                <a:ext cx="402867" cy="631968"/>
              </a:xfrm>
              <a:prstGeom prst="rect">
                <a:avLst/>
              </a:prstGeom>
              <a:noFill/>
            </p:spPr>
            <p:txBody>
              <a:bodyPr wrap="none" rtlCol="0">
                <a:spAutoFit/>
              </a:bodyPr>
              <a:lstStyle/>
              <a:p>
                <a:pPr/>
                <a14:m>
                  <m:oMath xmlns:m="http://schemas.openxmlformats.org/officeDocument/2006/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𝜃</m:t>
                        </m:r>
                      </m:num>
                      <m:den>
                        <m:r>
                          <a:rPr lang="en-US" sz="2400" b="0" i="1" dirty="0" smtClean="0">
                            <a:latin typeface="Cambria Math" panose="02040503050406030204" pitchFamily="18" charset="0"/>
                          </a:rPr>
                          <m:t>2</m:t>
                        </m:r>
                      </m:den>
                    </m:f>
                  </m:oMath>
                </a14:m>
                <a:r>
                  <a:rPr lang="en-US" sz="2400" dirty="0"/>
                  <a:t> </a:t>
                </a:r>
              </a:p>
            </p:txBody>
          </p:sp>
        </mc:Choice>
        <mc:Fallback>
          <p:sp>
            <p:nvSpPr>
              <p:cNvPr id="9" name="TextBox 8">
                <a:extLst>
                  <a:ext uri="{FF2B5EF4-FFF2-40B4-BE49-F238E27FC236}">
                    <a16:creationId xmlns:a16="http://schemas.microsoft.com/office/drawing/2014/main" id="{C667D9E9-2560-B0DD-C082-08147FDBD1C3}"/>
                  </a:ext>
                </a:extLst>
              </p:cNvPr>
              <p:cNvSpPr txBox="1">
                <a:spLocks noRot="1" noChangeAspect="1" noMove="1" noResize="1" noEditPoints="1" noAdjustHandles="1" noChangeArrowheads="1" noChangeShapeType="1" noTextEdit="1"/>
              </p:cNvSpPr>
              <p:nvPr/>
            </p:nvSpPr>
            <p:spPr>
              <a:xfrm>
                <a:off x="2722428" y="3841084"/>
                <a:ext cx="402867" cy="631968"/>
              </a:xfrm>
              <a:prstGeom prst="rect">
                <a:avLst/>
              </a:prstGeom>
              <a:blipFill>
                <a:blip r:embed="rId6"/>
                <a:stretch>
                  <a:fillRect/>
                </a:stretch>
              </a:blipFill>
            </p:spPr>
            <p:txBody>
              <a:bodyPr/>
              <a:lstStyle/>
              <a:p>
                <a:r>
                  <a:rPr lang="en-US">
                    <a:noFill/>
                  </a:rPr>
                  <a:t> </a:t>
                </a:r>
              </a:p>
            </p:txBody>
          </p:sp>
        </mc:Fallback>
      </mc:AlternateContent>
      <p:sp>
        <p:nvSpPr>
          <p:cNvPr id="11" name="Arc 10">
            <a:extLst>
              <a:ext uri="{FF2B5EF4-FFF2-40B4-BE49-F238E27FC236}">
                <a16:creationId xmlns:a16="http://schemas.microsoft.com/office/drawing/2014/main" id="{4334CE19-686C-5079-01BF-267A5B992659}"/>
              </a:ext>
            </a:extLst>
          </p:cNvPr>
          <p:cNvSpPr/>
          <p:nvPr/>
        </p:nvSpPr>
        <p:spPr>
          <a:xfrm>
            <a:off x="2378210" y="2901534"/>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4CFFC191-2C4F-866D-970B-437E7DE04A38}"/>
                  </a:ext>
                </a:extLst>
              </p:cNvPr>
              <p:cNvSpPr txBox="1"/>
              <p:nvPr/>
            </p:nvSpPr>
            <p:spPr>
              <a:xfrm>
                <a:off x="2471846" y="5124798"/>
                <a:ext cx="653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dirty="0" smtClean="0">
                              <a:latin typeface="Cambria Math" panose="02040503050406030204" pitchFamily="18" charset="0"/>
                            </a:rPr>
                          </m:ctrlPr>
                        </m:sSupPr>
                        <m:e>
                          <m:r>
                            <a:rPr lang="en-US" sz="2400" i="1" dirty="0" smtClean="0">
                              <a:latin typeface="Cambria Math" panose="02040503050406030204" pitchFamily="18" charset="0"/>
                            </a:rPr>
                            <m:t>𝜓</m:t>
                          </m:r>
                        </m:e>
                        <m:sup>
                          <m:r>
                            <a:rPr lang="en-US" sz="2400" b="0" i="1" dirty="0" smtClean="0">
                              <a:latin typeface="Cambria Math" panose="02040503050406030204" pitchFamily="18" charset="0"/>
                            </a:rPr>
                            <m:t>⊥</m:t>
                          </m:r>
                        </m:sup>
                      </m:sSup>
                    </m:oMath>
                  </m:oMathPara>
                </a14:m>
                <a:endParaRPr lang="en-US" sz="2400" dirty="0"/>
              </a:p>
            </p:txBody>
          </p:sp>
        </mc:Choice>
        <mc:Fallback>
          <p:sp>
            <p:nvSpPr>
              <p:cNvPr id="13" name="TextBox 12">
                <a:extLst>
                  <a:ext uri="{FF2B5EF4-FFF2-40B4-BE49-F238E27FC236}">
                    <a16:creationId xmlns:a16="http://schemas.microsoft.com/office/drawing/2014/main" id="{4CFFC191-2C4F-866D-970B-437E7DE04A38}"/>
                  </a:ext>
                </a:extLst>
              </p:cNvPr>
              <p:cNvSpPr txBox="1">
                <a:spLocks noRot="1" noChangeAspect="1" noMove="1" noResize="1" noEditPoints="1" noAdjustHandles="1" noChangeArrowheads="1" noChangeShapeType="1" noTextEdit="1"/>
              </p:cNvSpPr>
              <p:nvPr/>
            </p:nvSpPr>
            <p:spPr>
              <a:xfrm>
                <a:off x="2471846" y="5124798"/>
                <a:ext cx="653449" cy="461665"/>
              </a:xfrm>
              <a:prstGeom prst="rect">
                <a:avLst/>
              </a:prstGeom>
              <a:blipFill>
                <a:blip r:embed="rId7"/>
                <a:stretch>
                  <a:fillRect l="-1852" b="-17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CE26220-35D3-BBA8-A9A7-73B32E17B62B}"/>
                  </a:ext>
                </a:extLst>
              </p:cNvPr>
              <p:cNvSpPr txBox="1"/>
              <p:nvPr/>
            </p:nvSpPr>
            <p:spPr>
              <a:xfrm>
                <a:off x="2182694" y="1806247"/>
                <a:ext cx="4514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oMath>
                  </m:oMathPara>
                </a14:m>
                <a:endParaRPr lang="en-US" sz="2400" dirty="0"/>
              </a:p>
            </p:txBody>
          </p:sp>
        </mc:Choice>
        <mc:Fallback>
          <p:sp>
            <p:nvSpPr>
              <p:cNvPr id="14" name="TextBox 13">
                <a:extLst>
                  <a:ext uri="{FF2B5EF4-FFF2-40B4-BE49-F238E27FC236}">
                    <a16:creationId xmlns:a16="http://schemas.microsoft.com/office/drawing/2014/main" id="{ECE26220-35D3-BBA8-A9A7-73B32E17B62B}"/>
                  </a:ext>
                </a:extLst>
              </p:cNvPr>
              <p:cNvSpPr txBox="1">
                <a:spLocks noRot="1" noChangeAspect="1" noMove="1" noResize="1" noEditPoints="1" noAdjustHandles="1" noChangeArrowheads="1" noChangeShapeType="1" noTextEdit="1"/>
              </p:cNvSpPr>
              <p:nvPr/>
            </p:nvSpPr>
            <p:spPr>
              <a:xfrm>
                <a:off x="2182694" y="1806247"/>
                <a:ext cx="451469" cy="461665"/>
              </a:xfrm>
              <a:prstGeom prst="rect">
                <a:avLst/>
              </a:prstGeom>
              <a:blipFill>
                <a:blip r:embed="rId8"/>
                <a:stretch>
                  <a:fillRect/>
                </a:stretch>
              </a:blipFill>
            </p:spPr>
            <p:txBody>
              <a:bodyPr/>
              <a:lstStyle/>
              <a:p>
                <a:r>
                  <a:rPr lang="en-US">
                    <a:noFill/>
                  </a:rPr>
                  <a:t> </a:t>
                </a:r>
              </a:p>
            </p:txBody>
          </p:sp>
        </mc:Fallback>
      </mc:AlternateContent>
      <p:grpSp>
        <p:nvGrpSpPr>
          <p:cNvPr id="22" name="Group 21">
            <a:extLst>
              <a:ext uri="{FF2B5EF4-FFF2-40B4-BE49-F238E27FC236}">
                <a16:creationId xmlns:a16="http://schemas.microsoft.com/office/drawing/2014/main" id="{11C99A73-CDB8-802A-5EE3-41B89ED0D0C5}"/>
              </a:ext>
            </a:extLst>
          </p:cNvPr>
          <p:cNvGrpSpPr/>
          <p:nvPr/>
        </p:nvGrpSpPr>
        <p:grpSpPr>
          <a:xfrm>
            <a:off x="5654040" y="1336358"/>
            <a:ext cx="5135508" cy="3244963"/>
            <a:chOff x="6096000" y="1336358"/>
            <a:chExt cx="5135508" cy="3244963"/>
          </a:xfrm>
        </p:grpSpPr>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93C8CA38-702D-6050-3E5D-CC29C0ABED23}"/>
                    </a:ext>
                  </a:extLst>
                </p:cNvPr>
                <p:cNvSpPr txBox="1"/>
                <p:nvPr/>
              </p:nvSpPr>
              <p:spPr>
                <a:xfrm>
                  <a:off x="6096000" y="1450889"/>
                  <a:ext cx="2469907"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𝜓𝜙</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𝜓</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90</m:t>
                            </m:r>
                          </m:e>
                          <m:sup>
                            <m:r>
                              <a:rPr lang="en-US" sz="2800" b="0" i="1" smtClean="0">
                                <a:latin typeface="Cambria Math" panose="02040503050406030204" pitchFamily="18" charset="0"/>
                                <a:ea typeface="Cambria Math" panose="02040503050406030204" pitchFamily="18" charset="0"/>
                              </a:rPr>
                              <m:t>∘</m:t>
                            </m:r>
                          </m:sup>
                        </m:sSup>
                      </m:oMath>
                    </m:oMathPara>
                  </a14:m>
                  <a:endParaRPr lang="en-US" sz="2800" dirty="0"/>
                </a:p>
              </p:txBody>
            </p:sp>
          </mc:Choice>
          <mc:Fallback>
            <p:sp>
              <p:nvSpPr>
                <p:cNvPr id="15" name="TextBox 14">
                  <a:extLst>
                    <a:ext uri="{FF2B5EF4-FFF2-40B4-BE49-F238E27FC236}">
                      <a16:creationId xmlns:a16="http://schemas.microsoft.com/office/drawing/2014/main" id="{93C8CA38-702D-6050-3E5D-CC29C0ABED23}"/>
                    </a:ext>
                  </a:extLst>
                </p:cNvPr>
                <p:cNvSpPr txBox="1">
                  <a:spLocks noRot="1" noChangeAspect="1" noMove="1" noResize="1" noEditPoints="1" noAdjustHandles="1" noChangeArrowheads="1" noChangeShapeType="1" noTextEdit="1"/>
                </p:cNvSpPr>
                <p:nvPr/>
              </p:nvSpPr>
              <p:spPr>
                <a:xfrm>
                  <a:off x="6096000" y="1450889"/>
                  <a:ext cx="2469907"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80491E37-7BB3-85CC-F8B2-BF01A8D017E5}"/>
                    </a:ext>
                  </a:extLst>
                </p:cNvPr>
                <p:cNvSpPr txBox="1"/>
                <p:nvPr/>
              </p:nvSpPr>
              <p:spPr>
                <a:xfrm>
                  <a:off x="9082916" y="1336358"/>
                  <a:ext cx="2121735" cy="72180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𝜓</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𝜓</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𝜙</m:t>
                      </m:r>
                      <m:r>
                        <a:rPr lang="en-US" sz="2800" b="0" i="1" smtClean="0">
                          <a:latin typeface="Cambria Math" panose="02040503050406030204" pitchFamily="18" charset="0"/>
                          <a:ea typeface="Cambria Math" panose="02040503050406030204" pitchFamily="18" charset="0"/>
                        </a:rPr>
                        <m:t>=</m:t>
                      </m:r>
                      <m:f>
                        <m:fPr>
                          <m:ctrlPr>
                            <a:rPr lang="en-US" sz="2800" b="0" i="1" smtClean="0">
                              <a:latin typeface="Cambria Math" panose="02040503050406030204" pitchFamily="18" charset="0"/>
                              <a:ea typeface="Cambria Math" panose="02040503050406030204" pitchFamily="18" charset="0"/>
                            </a:rPr>
                          </m:ctrlPr>
                        </m:fPr>
                        <m:num>
                          <m:r>
                            <a:rPr lang="en-US" sz="2800" b="0" i="1" smtClean="0">
                              <a:latin typeface="Cambria Math" panose="02040503050406030204" pitchFamily="18" charset="0"/>
                              <a:ea typeface="Cambria Math" panose="02040503050406030204" pitchFamily="18" charset="0"/>
                            </a:rPr>
                            <m:t>𝜃</m:t>
                          </m:r>
                        </m:num>
                        <m:den>
                          <m:r>
                            <a:rPr lang="en-US" sz="2800" b="0" i="1" smtClean="0">
                              <a:latin typeface="Cambria Math" panose="02040503050406030204" pitchFamily="18" charset="0"/>
                              <a:ea typeface="Cambria Math" panose="02040503050406030204" pitchFamily="18" charset="0"/>
                            </a:rPr>
                            <m:t>2</m:t>
                          </m:r>
                        </m:den>
                      </m:f>
                    </m:oMath>
                  </a14:m>
                  <a:r>
                    <a:rPr lang="en-US" sz="2800" dirty="0"/>
                    <a:t> </a:t>
                  </a:r>
                </a:p>
              </p:txBody>
            </p:sp>
          </mc:Choice>
          <mc:Fallback>
            <p:sp>
              <p:nvSpPr>
                <p:cNvPr id="16" name="TextBox 15">
                  <a:extLst>
                    <a:ext uri="{FF2B5EF4-FFF2-40B4-BE49-F238E27FC236}">
                      <a16:creationId xmlns:a16="http://schemas.microsoft.com/office/drawing/2014/main" id="{80491E37-7BB3-85CC-F8B2-BF01A8D017E5}"/>
                    </a:ext>
                  </a:extLst>
                </p:cNvPr>
                <p:cNvSpPr txBox="1">
                  <a:spLocks noRot="1" noChangeAspect="1" noMove="1" noResize="1" noEditPoints="1" noAdjustHandles="1" noChangeArrowheads="1" noChangeShapeType="1" noTextEdit="1"/>
                </p:cNvSpPr>
                <p:nvPr/>
              </p:nvSpPr>
              <p:spPr>
                <a:xfrm>
                  <a:off x="9082916" y="1336358"/>
                  <a:ext cx="2121735" cy="721801"/>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76D35822-B425-4B4C-3E14-63912CAD0F91}"/>
                    </a:ext>
                  </a:extLst>
                </p:cNvPr>
                <p:cNvSpPr txBox="1"/>
                <p:nvPr/>
              </p:nvSpPr>
              <p:spPr>
                <a:xfrm>
                  <a:off x="6115556" y="2091284"/>
                  <a:ext cx="2975623" cy="721801"/>
                </a:xfrm>
                <a:prstGeom prst="rect">
                  <a:avLst/>
                </a:prstGeom>
                <a:noFill/>
              </p:spPr>
              <p:txBody>
                <a:bodyPr wrap="none" rtlCol="0">
                  <a:spAutoFit/>
                </a:bodyPr>
                <a:lstStyle/>
                <a:p>
                  <a14:m>
                    <m:oMath xmlns:m="http://schemas.openxmlformats.org/officeDocument/2006/math">
                      <m:r>
                        <a:rPr lang="en-US" sz="2800" i="1" smtClean="0">
                          <a:latin typeface="Cambria Math" panose="02040503050406030204" pitchFamily="18" charset="0"/>
                          <a:ea typeface="Cambria Math" panose="02040503050406030204" pitchFamily="18" charset="0"/>
                        </a:rPr>
                        <m:t>𝜙</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𝜓</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𝜓</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𝜓</m:t>
                          </m:r>
                        </m:e>
                        <m:sup>
                          <m:r>
                            <a:rPr lang="en-US" sz="2800" b="0" i="1" smtClean="0">
                              <a:latin typeface="Cambria Math" panose="02040503050406030204" pitchFamily="18" charset="0"/>
                              <a:ea typeface="Cambria Math" panose="02040503050406030204" pitchFamily="18" charset="0"/>
                            </a:rPr>
                            <m:t>⊥</m:t>
                          </m:r>
                        </m:sup>
                      </m:sSup>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cos</m:t>
                          </m:r>
                        </m:fName>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𝜃</m:t>
                              </m:r>
                            </m:num>
                            <m:den>
                              <m:r>
                                <a:rPr lang="en-US" sz="2800" i="1">
                                  <a:latin typeface="Cambria Math" panose="02040503050406030204" pitchFamily="18" charset="0"/>
                                  <a:ea typeface="Cambria Math" panose="02040503050406030204" pitchFamily="18" charset="0"/>
                                </a:rPr>
                                <m:t>2</m:t>
                              </m:r>
                            </m:den>
                          </m:f>
                        </m:e>
                      </m:func>
                    </m:oMath>
                  </a14:m>
                  <a:r>
                    <a:rPr lang="en-US" sz="2800" dirty="0"/>
                    <a:t> </a:t>
                  </a:r>
                </a:p>
              </p:txBody>
            </p:sp>
          </mc:Choice>
          <mc:Fallback>
            <p:sp>
              <p:nvSpPr>
                <p:cNvPr id="17" name="TextBox 16">
                  <a:extLst>
                    <a:ext uri="{FF2B5EF4-FFF2-40B4-BE49-F238E27FC236}">
                      <a16:creationId xmlns:a16="http://schemas.microsoft.com/office/drawing/2014/main" id="{76D35822-B425-4B4C-3E14-63912CAD0F91}"/>
                    </a:ext>
                  </a:extLst>
                </p:cNvPr>
                <p:cNvSpPr txBox="1">
                  <a:spLocks noRot="1" noChangeAspect="1" noMove="1" noResize="1" noEditPoints="1" noAdjustHandles="1" noChangeArrowheads="1" noChangeShapeType="1" noTextEdit="1"/>
                </p:cNvSpPr>
                <p:nvPr/>
              </p:nvSpPr>
              <p:spPr>
                <a:xfrm>
                  <a:off x="6115556" y="2091284"/>
                  <a:ext cx="2975623" cy="721801"/>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CB86C2A8-1629-A9BE-BEEA-05A46316E5AD}"/>
                    </a:ext>
                  </a:extLst>
                </p:cNvPr>
                <p:cNvSpPr txBox="1"/>
                <p:nvPr/>
              </p:nvSpPr>
              <p:spPr>
                <a:xfrm>
                  <a:off x="6115556" y="2924908"/>
                  <a:ext cx="5115952" cy="721801"/>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ea typeface="Cambria Math" panose="02040503050406030204" pitchFamily="18" charset="0"/>
                        </a:rPr>
                        <m:t>𝐶</m:t>
                      </m:r>
                      <m:sSup>
                        <m:sSupPr>
                          <m:ctrlPr>
                            <a:rPr lang="en-US" sz="2800" b="0" i="1" smtClean="0">
                              <a:latin typeface="Cambria Math" panose="02040503050406030204" pitchFamily="18" charset="0"/>
                              <a:ea typeface="Cambria Math" panose="02040503050406030204" pitchFamily="18" charset="0"/>
                            </a:rPr>
                          </m:ctrlPr>
                        </m:sSupPr>
                        <m:e>
                          <m:r>
                            <a:rPr lang="en-US" sz="2800" b="0" i="1" smtClean="0">
                              <a:latin typeface="Cambria Math" panose="02040503050406030204" pitchFamily="18" charset="0"/>
                              <a:ea typeface="Cambria Math" panose="02040503050406030204" pitchFamily="18" charset="0"/>
                            </a:rPr>
                            <m:t>𝜓</m:t>
                          </m:r>
                        </m:e>
                        <m:sup>
                          <m:r>
                            <a:rPr lang="en-US" sz="2800" b="0" i="1" smtClean="0">
                              <a:latin typeface="Cambria Math" panose="02040503050406030204" pitchFamily="18" charset="0"/>
                              <a:ea typeface="Cambria Math" panose="02040503050406030204" pitchFamily="18" charset="0"/>
                            </a:rPr>
                            <m:t>⊥</m:t>
                          </m:r>
                        </m:sup>
                      </m:sSup>
                      <m:r>
                        <a:rPr lang="en-US" sz="2800" b="0" i="1" smtClean="0">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𝜙</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𝜓</m:t>
                          </m:r>
                        </m:e>
                        <m:sup>
                          <m:r>
                            <a:rPr lang="en-US" sz="2800" i="1">
                              <a:latin typeface="Cambria Math" panose="02040503050406030204" pitchFamily="18" charset="0"/>
                              <a:ea typeface="Cambria Math" panose="02040503050406030204" pitchFamily="18" charset="0"/>
                            </a:rPr>
                            <m:t>⊥</m:t>
                          </m:r>
                        </m:sup>
                      </m:sSup>
                      <m:func>
                        <m:funcPr>
                          <m:ctrlPr>
                            <a:rPr lang="en-US" sz="2800" b="0" i="1" smtClean="0">
                              <a:latin typeface="Cambria Math" panose="02040503050406030204" pitchFamily="18" charset="0"/>
                              <a:ea typeface="Cambria Math" panose="02040503050406030204" pitchFamily="18" charset="0"/>
                            </a:rPr>
                          </m:ctrlPr>
                        </m:funcPr>
                        <m:fName>
                          <m:r>
                            <m:rPr>
                              <m:sty m:val="p"/>
                            </m:rPr>
                            <a:rPr lang="en-US" sz="2800" b="0" i="0" smtClean="0">
                              <a:latin typeface="Cambria Math" panose="02040503050406030204" pitchFamily="18" charset="0"/>
                              <a:ea typeface="Cambria Math" panose="02040503050406030204" pitchFamily="18" charset="0"/>
                            </a:rPr>
                            <m:t>cos</m:t>
                          </m:r>
                        </m:fName>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𝜃</m:t>
                              </m:r>
                            </m:num>
                            <m:den>
                              <m:r>
                                <a:rPr lang="en-US" sz="2800" i="1">
                                  <a:latin typeface="Cambria Math" panose="02040503050406030204" pitchFamily="18" charset="0"/>
                                  <a:ea typeface="Cambria Math" panose="02040503050406030204" pitchFamily="18" charset="0"/>
                                </a:rPr>
                                <m:t>2</m:t>
                              </m:r>
                            </m:den>
                          </m:f>
                        </m:e>
                      </m:func>
                      <m:r>
                        <a:rPr lang="en-US" sz="2800" i="1">
                          <a:latin typeface="Cambria Math" panose="02040503050406030204" pitchFamily="18" charset="0"/>
                          <a:ea typeface="Cambria Math" panose="02040503050406030204" pitchFamily="18" charset="0"/>
                        </a:rPr>
                        <m:t>=</m:t>
                      </m:r>
                      <m:r>
                        <a:rPr lang="en-US" sz="2800" i="1">
                          <a:latin typeface="Cambria Math" panose="02040503050406030204" pitchFamily="18" charset="0"/>
                          <a:ea typeface="Cambria Math" panose="02040503050406030204" pitchFamily="18" charset="0"/>
                        </a:rPr>
                        <m:t>𝜓</m:t>
                      </m:r>
                      <m:sSup>
                        <m:sSupPr>
                          <m:ctrlPr>
                            <a:rPr lang="en-US" sz="2800" i="1">
                              <a:latin typeface="Cambria Math" panose="02040503050406030204" pitchFamily="18" charset="0"/>
                              <a:ea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𝜓</m:t>
                          </m:r>
                        </m:e>
                        <m:sup>
                          <m:r>
                            <a:rPr lang="en-US" sz="2800" i="1">
                              <a:latin typeface="Cambria Math" panose="02040503050406030204" pitchFamily="18" charset="0"/>
                              <a:ea typeface="Cambria Math" panose="02040503050406030204" pitchFamily="18" charset="0"/>
                            </a:rPr>
                            <m:t>⊥</m:t>
                          </m:r>
                        </m:sup>
                      </m:sSup>
                      <m:func>
                        <m:funcPr>
                          <m:ctrlPr>
                            <a:rPr lang="en-US" sz="2800" b="0" i="1" smtClean="0">
                              <a:latin typeface="Cambria Math" panose="02040503050406030204" pitchFamily="18" charset="0"/>
                              <a:ea typeface="Cambria Math" panose="02040503050406030204" pitchFamily="18" charset="0"/>
                            </a:rPr>
                          </m:ctrlPr>
                        </m:funcPr>
                        <m:fName>
                          <m:sSup>
                            <m:sSupPr>
                              <m:ctrlPr>
                                <a:rPr lang="en-US" sz="2800" b="0" i="1" smtClean="0">
                                  <a:latin typeface="Cambria Math" panose="02040503050406030204" pitchFamily="18" charset="0"/>
                                  <a:ea typeface="Cambria Math" panose="02040503050406030204" pitchFamily="18" charset="0"/>
                                </a:rPr>
                              </m:ctrlPr>
                            </m:sSupPr>
                            <m:e>
                              <m:r>
                                <m:rPr>
                                  <m:sty m:val="p"/>
                                </m:rPr>
                                <a:rPr lang="en-US" sz="2800" b="0" i="0" smtClean="0">
                                  <a:latin typeface="Cambria Math" panose="02040503050406030204" pitchFamily="18" charset="0"/>
                                  <a:ea typeface="Cambria Math" panose="02040503050406030204" pitchFamily="18" charset="0"/>
                                </a:rPr>
                                <m:t>cos</m:t>
                              </m:r>
                            </m:e>
                            <m:sup>
                              <m:r>
                                <a:rPr lang="en-US" sz="2800" b="0" i="1" smtClean="0">
                                  <a:latin typeface="Cambria Math" panose="02040503050406030204" pitchFamily="18" charset="0"/>
                                  <a:ea typeface="Cambria Math" panose="02040503050406030204" pitchFamily="18" charset="0"/>
                                </a:rPr>
                                <m:t>2</m:t>
                              </m:r>
                            </m:sup>
                          </m:sSup>
                        </m:fName>
                        <m:e>
                          <m:f>
                            <m:fPr>
                              <m:ctrlPr>
                                <a:rPr lang="en-US" sz="2800" i="1">
                                  <a:latin typeface="Cambria Math" panose="02040503050406030204" pitchFamily="18" charset="0"/>
                                  <a:ea typeface="Cambria Math" panose="02040503050406030204" pitchFamily="18" charset="0"/>
                                </a:rPr>
                              </m:ctrlPr>
                            </m:fPr>
                            <m:num>
                              <m:r>
                                <a:rPr lang="en-US" sz="2800" i="1">
                                  <a:latin typeface="Cambria Math" panose="02040503050406030204" pitchFamily="18" charset="0"/>
                                  <a:ea typeface="Cambria Math" panose="02040503050406030204" pitchFamily="18" charset="0"/>
                                </a:rPr>
                                <m:t>𝜃</m:t>
                              </m:r>
                            </m:num>
                            <m:den>
                              <m:r>
                                <a:rPr lang="en-US" sz="2800" i="1">
                                  <a:latin typeface="Cambria Math" panose="02040503050406030204" pitchFamily="18" charset="0"/>
                                  <a:ea typeface="Cambria Math" panose="02040503050406030204" pitchFamily="18" charset="0"/>
                                </a:rPr>
                                <m:t>2</m:t>
                              </m:r>
                            </m:den>
                          </m:f>
                        </m:e>
                      </m:func>
                    </m:oMath>
                  </a14:m>
                  <a:r>
                    <a:rPr lang="en-US" sz="2800" dirty="0"/>
                    <a:t> </a:t>
                  </a:r>
                </a:p>
              </p:txBody>
            </p:sp>
          </mc:Choice>
          <mc:Fallback>
            <p:sp>
              <p:nvSpPr>
                <p:cNvPr id="18" name="TextBox 17">
                  <a:extLst>
                    <a:ext uri="{FF2B5EF4-FFF2-40B4-BE49-F238E27FC236}">
                      <a16:creationId xmlns:a16="http://schemas.microsoft.com/office/drawing/2014/main" id="{CB86C2A8-1629-A9BE-BEEA-05A46316E5AD}"/>
                    </a:ext>
                  </a:extLst>
                </p:cNvPr>
                <p:cNvSpPr txBox="1">
                  <a:spLocks noRot="1" noChangeAspect="1" noMove="1" noResize="1" noEditPoints="1" noAdjustHandles="1" noChangeArrowheads="1" noChangeShapeType="1" noTextEdit="1"/>
                </p:cNvSpPr>
                <p:nvPr/>
              </p:nvSpPr>
              <p:spPr>
                <a:xfrm>
                  <a:off x="6115556" y="2924908"/>
                  <a:ext cx="5115952" cy="72180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1DBB7A6-FE8B-8D30-814B-C26E20590735}"/>
                    </a:ext>
                  </a:extLst>
                </p:cNvPr>
                <p:cNvSpPr txBox="1"/>
                <p:nvPr/>
              </p:nvSpPr>
              <p:spPr>
                <a:xfrm>
                  <a:off x="6115556" y="3758532"/>
                  <a:ext cx="3845348" cy="822789"/>
                </a:xfrm>
                <a:prstGeom prst="rect">
                  <a:avLst/>
                </a:prstGeom>
                <a:noFill/>
              </p:spPr>
              <p:txBody>
                <a:bodyPr wrap="none" rtlCol="0">
                  <a:spAutoFit/>
                </a:bodyPr>
                <a:lstStyle/>
                <a:p>
                  <a:pPr/>
                  <a14:m>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𝐶</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𝜓</m:t>
                              </m:r>
                            </m:e>
                            <m:sup>
                              <m:r>
                                <a:rPr lang="en-US" sz="2800" b="0" i="1" smtClean="0">
                                  <a:latin typeface="Cambria Math" panose="02040503050406030204" pitchFamily="18" charset="0"/>
                                </a:rPr>
                                <m:t>⊥</m:t>
                              </m:r>
                            </m:sup>
                          </m:sSup>
                        </m:num>
                        <m:den>
                          <m:r>
                            <a:rPr lang="en-US" sz="2800" b="0" i="1" smtClean="0">
                              <a:latin typeface="Cambria Math" panose="02040503050406030204" pitchFamily="18" charset="0"/>
                            </a:rPr>
                            <m:t>𝜓</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𝜓</m:t>
                              </m:r>
                            </m:e>
                            <m:sup>
                              <m:r>
                                <a:rPr lang="en-US" sz="2800" b="0" i="1" smtClean="0">
                                  <a:latin typeface="Cambria Math" panose="02040503050406030204" pitchFamily="18" charset="0"/>
                                </a:rPr>
                                <m:t>⊥</m:t>
                              </m:r>
                            </m:sup>
                          </m:sSup>
                        </m:den>
                      </m:f>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sSup>
                            <m:sSupPr>
                              <m:ctrlPr>
                                <a:rPr lang="en-US" sz="2800" b="0" i="1" smtClean="0">
                                  <a:latin typeface="Cambria Math" panose="02040503050406030204" pitchFamily="18" charset="0"/>
                                </a:rPr>
                              </m:ctrlPr>
                            </m:sSupPr>
                            <m:e>
                              <m:r>
                                <m:rPr>
                                  <m:sty m:val="p"/>
                                </m:rPr>
                                <a:rPr lang="en-US" sz="2800" b="0" i="0" smtClean="0">
                                  <a:latin typeface="Cambria Math" panose="02040503050406030204" pitchFamily="18" charset="0"/>
                                </a:rPr>
                                <m:t>cos</m:t>
                              </m:r>
                            </m:e>
                            <m:sup>
                              <m:r>
                                <a:rPr lang="en-US" sz="2800" b="0" i="1" smtClean="0">
                                  <a:latin typeface="Cambria Math" panose="02040503050406030204" pitchFamily="18" charset="0"/>
                                </a:rPr>
                                <m:t>2</m:t>
                              </m:r>
                            </m:sup>
                          </m:sSup>
                        </m:fName>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𝜃</m:t>
                              </m:r>
                            </m:num>
                            <m:den>
                              <m:r>
                                <a:rPr lang="en-US" sz="2800" b="0" i="1" smtClean="0">
                                  <a:latin typeface="Cambria Math" panose="02040503050406030204" pitchFamily="18" charset="0"/>
                                </a:rPr>
                                <m:t>2</m:t>
                              </m:r>
                            </m:den>
                          </m:f>
                        </m:e>
                      </m:func>
                    </m:oMath>
                  </a14:m>
                  <a:r>
                    <a:rPr lang="en-US" sz="2800" dirty="0"/>
                    <a:t> </a:t>
                  </a:r>
                </a:p>
              </p:txBody>
            </p:sp>
          </mc:Choice>
          <mc:Fallback>
            <p:sp>
              <p:nvSpPr>
                <p:cNvPr id="21" name="TextBox 20">
                  <a:extLst>
                    <a:ext uri="{FF2B5EF4-FFF2-40B4-BE49-F238E27FC236}">
                      <a16:creationId xmlns:a16="http://schemas.microsoft.com/office/drawing/2014/main" id="{D1DBB7A6-FE8B-8D30-814B-C26E20590735}"/>
                    </a:ext>
                  </a:extLst>
                </p:cNvPr>
                <p:cNvSpPr txBox="1">
                  <a:spLocks noRot="1" noChangeAspect="1" noMove="1" noResize="1" noEditPoints="1" noAdjustHandles="1" noChangeArrowheads="1" noChangeShapeType="1" noTextEdit="1"/>
                </p:cNvSpPr>
                <p:nvPr/>
              </p:nvSpPr>
              <p:spPr>
                <a:xfrm>
                  <a:off x="6115556" y="3758532"/>
                  <a:ext cx="3845348" cy="822789"/>
                </a:xfrm>
                <a:prstGeom prst="rect">
                  <a:avLst/>
                </a:prstGeom>
                <a:blipFill>
                  <a:blip r:embed="rId13"/>
                  <a:stretch>
                    <a:fillRect/>
                  </a:stretch>
                </a:blipFill>
              </p:spPr>
              <p:txBody>
                <a:bodyPr/>
                <a:lstStyle/>
                <a:p>
                  <a:r>
                    <a:rPr lang="en-US">
                      <a:noFill/>
                    </a:rPr>
                    <a:t> </a:t>
                  </a:r>
                </a:p>
              </p:txBody>
            </p:sp>
          </mc:Fallback>
        </mc:AlternateContent>
      </p:grpSp>
      <p:cxnSp>
        <p:nvCxnSpPr>
          <p:cNvPr id="28" name="Straight Connector 27">
            <a:extLst>
              <a:ext uri="{FF2B5EF4-FFF2-40B4-BE49-F238E27FC236}">
                <a16:creationId xmlns:a16="http://schemas.microsoft.com/office/drawing/2014/main" id="{248E76A5-712F-A904-CAB1-FD01C1CB7ED9}"/>
              </a:ext>
            </a:extLst>
          </p:cNvPr>
          <p:cNvCxnSpPr>
            <a:stCxn id="66" idx="0"/>
            <a:endCxn id="66" idx="7"/>
          </p:cNvCxnSpPr>
          <p:nvPr/>
        </p:nvCxnSpPr>
        <p:spPr>
          <a:xfrm>
            <a:off x="2722436" y="1555785"/>
            <a:ext cx="1264911" cy="5239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7141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4" grpId="0"/>
      <p:bldP spid="77" grpId="0" animBg="1"/>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8129A-D418-75C2-84D4-CE8EC6761F86}"/>
            </a:ext>
          </a:extLst>
        </p:cNvPr>
        <p:cNvGrpSpPr/>
        <p:nvPr/>
      </p:nvGrpSpPr>
      <p:grpSpPr>
        <a:xfrm>
          <a:off x="0" y="0"/>
          <a:ext cx="0" cy="0"/>
          <a:chOff x="0" y="0"/>
          <a:chExt cx="0" cy="0"/>
        </a:xfrm>
      </p:grpSpPr>
      <p:cxnSp>
        <p:nvCxnSpPr>
          <p:cNvPr id="60" name="Straight Connector 59">
            <a:extLst>
              <a:ext uri="{FF2B5EF4-FFF2-40B4-BE49-F238E27FC236}">
                <a16:creationId xmlns:a16="http://schemas.microsoft.com/office/drawing/2014/main" id="{DFB7BE98-A319-8085-4DA2-545F43706D9D}"/>
              </a:ext>
            </a:extLst>
          </p:cNvPr>
          <p:cNvCxnSpPr>
            <a:cxnSpLocks/>
            <a:stCxn id="66" idx="0"/>
            <a:endCxn id="66" idx="4"/>
          </p:cNvCxnSpPr>
          <p:nvPr/>
        </p:nvCxnSpPr>
        <p:spPr>
          <a:xfrm>
            <a:off x="2722436"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DA0D31B1-2BEC-ABE1-71B5-F9AE1E07D8A7}"/>
              </a:ext>
            </a:extLst>
          </p:cNvPr>
          <p:cNvCxnSpPr>
            <a:cxnSpLocks/>
            <a:endCxn id="66" idx="0"/>
          </p:cNvCxnSpPr>
          <p:nvPr/>
        </p:nvCxnSpPr>
        <p:spPr>
          <a:xfrm flipV="1">
            <a:off x="2722430" y="1555785"/>
            <a:ext cx="6" cy="1788848"/>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8DF68C1-C369-C87A-78D5-3B629C2F867B}"/>
              </a:ext>
            </a:extLst>
          </p:cNvPr>
          <p:cNvSpPr txBox="1"/>
          <p:nvPr/>
        </p:nvSpPr>
        <p:spPr>
          <a:xfrm>
            <a:off x="4841490" y="218366"/>
            <a:ext cx="2509020" cy="830997"/>
          </a:xfrm>
          <a:prstGeom prst="rect">
            <a:avLst/>
          </a:prstGeom>
          <a:noFill/>
        </p:spPr>
        <p:txBody>
          <a:bodyPr wrap="none" rtlCol="0">
            <a:spAutoFit/>
          </a:bodyPr>
          <a:lstStyle/>
          <a:p>
            <a:r>
              <a:rPr lang="en-US" sz="4800" dirty="0"/>
              <a:t>Born rule</a:t>
            </a:r>
          </a:p>
        </p:txBody>
      </p:sp>
      <p:sp>
        <p:nvSpPr>
          <p:cNvPr id="57" name="Arc 56">
            <a:extLst>
              <a:ext uri="{FF2B5EF4-FFF2-40B4-BE49-F238E27FC236}">
                <a16:creationId xmlns:a16="http://schemas.microsoft.com/office/drawing/2014/main" id="{9582A9E5-D360-4301-EC02-93A6EDEC07F5}"/>
              </a:ext>
            </a:extLst>
          </p:cNvPr>
          <p:cNvSpPr/>
          <p:nvPr/>
        </p:nvSpPr>
        <p:spPr>
          <a:xfrm>
            <a:off x="2378210" y="4694774"/>
            <a:ext cx="697242" cy="553554"/>
          </a:xfrm>
          <a:prstGeom prst="arc">
            <a:avLst>
              <a:gd name="adj1" fmla="val 16200000"/>
              <a:gd name="adj2" fmla="val 18160504"/>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28E7E02B-6E0B-B6CE-1340-59CA661BBF10}"/>
              </a:ext>
            </a:extLst>
          </p:cNvPr>
          <p:cNvCxnSpPr>
            <a:cxnSpLocks/>
            <a:stCxn id="66" idx="2"/>
          </p:cNvCxnSpPr>
          <p:nvPr/>
        </p:nvCxnSpPr>
        <p:spPr>
          <a:xfrm>
            <a:off x="933582" y="3344637"/>
            <a:ext cx="3577706" cy="7622"/>
          </a:xfrm>
          <a:prstGeom prst="line">
            <a:avLst/>
          </a:prstGeom>
          <a:ln/>
        </p:spPr>
        <p:style>
          <a:lnRef idx="1">
            <a:schemeClr val="accent1"/>
          </a:lnRef>
          <a:fillRef idx="0">
            <a:schemeClr val="accent1"/>
          </a:fillRef>
          <a:effectRef idx="0">
            <a:schemeClr val="accent1"/>
          </a:effectRef>
          <a:fontRef idx="minor">
            <a:schemeClr val="tx1"/>
          </a:fontRef>
        </p:style>
      </p:cxnSp>
      <p:grpSp>
        <p:nvGrpSpPr>
          <p:cNvPr id="62" name="Group 61">
            <a:extLst>
              <a:ext uri="{FF2B5EF4-FFF2-40B4-BE49-F238E27FC236}">
                <a16:creationId xmlns:a16="http://schemas.microsoft.com/office/drawing/2014/main" id="{1EA685AF-5F4B-603C-9735-EA4F8E67ED33}"/>
              </a:ext>
            </a:extLst>
          </p:cNvPr>
          <p:cNvGrpSpPr/>
          <p:nvPr/>
        </p:nvGrpSpPr>
        <p:grpSpPr>
          <a:xfrm>
            <a:off x="933582" y="1555785"/>
            <a:ext cx="3577708" cy="3577703"/>
            <a:chOff x="2521889" y="2808131"/>
            <a:chExt cx="1916265" cy="1916264"/>
          </a:xfrm>
        </p:grpSpPr>
        <p:sp>
          <p:nvSpPr>
            <p:cNvPr id="64" name="Oval 63">
              <a:extLst>
                <a:ext uri="{FF2B5EF4-FFF2-40B4-BE49-F238E27FC236}">
                  <a16:creationId xmlns:a16="http://schemas.microsoft.com/office/drawing/2014/main" id="{BCAC8B9E-34EC-7A60-0115-BD56AB6A354E}"/>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5" name="Oval 31">
              <a:extLst>
                <a:ext uri="{FF2B5EF4-FFF2-40B4-BE49-F238E27FC236}">
                  <a16:creationId xmlns:a16="http://schemas.microsoft.com/office/drawing/2014/main" id="{99699E3C-B6ED-1540-DA54-CEE53D906FF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BCFE656A-96BA-AF0B-6B82-D04D1EA94D5B}"/>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mc:AlternateContent xmlns:mc="http://schemas.openxmlformats.org/markup-compatibility/2006">
        <mc:Choice xmlns:a14="http://schemas.microsoft.com/office/drawing/2010/main" Requires="a14">
          <p:sp>
            <p:nvSpPr>
              <p:cNvPr id="68" name="TextBox 67">
                <a:extLst>
                  <a:ext uri="{FF2B5EF4-FFF2-40B4-BE49-F238E27FC236}">
                    <a16:creationId xmlns:a16="http://schemas.microsoft.com/office/drawing/2014/main" id="{7F17F528-0C48-7D6B-6DCC-A529CBE005B8}"/>
                  </a:ext>
                </a:extLst>
              </p:cNvPr>
              <p:cNvSpPr txBox="1"/>
              <p:nvPr/>
            </p:nvSpPr>
            <p:spPr>
              <a:xfrm>
                <a:off x="2488902" y="1049363"/>
                <a:ext cx="47448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𝜓</m:t>
                      </m:r>
                    </m:oMath>
                  </m:oMathPara>
                </a14:m>
                <a:endParaRPr lang="en-US" sz="2400" dirty="0"/>
              </a:p>
            </p:txBody>
          </p:sp>
        </mc:Choice>
        <mc:Fallback>
          <p:sp>
            <p:nvSpPr>
              <p:cNvPr id="68" name="TextBox 67">
                <a:extLst>
                  <a:ext uri="{FF2B5EF4-FFF2-40B4-BE49-F238E27FC236}">
                    <a16:creationId xmlns:a16="http://schemas.microsoft.com/office/drawing/2014/main" id="{7F17F528-0C48-7D6B-6DCC-A529CBE005B8}"/>
                  </a:ext>
                </a:extLst>
              </p:cNvPr>
              <p:cNvSpPr txBox="1">
                <a:spLocks noRot="1" noChangeAspect="1" noMove="1" noResize="1" noEditPoints="1" noAdjustHandles="1" noChangeArrowheads="1" noChangeShapeType="1" noTextEdit="1"/>
              </p:cNvSpPr>
              <p:nvPr/>
            </p:nvSpPr>
            <p:spPr>
              <a:xfrm>
                <a:off x="2488902" y="1049363"/>
                <a:ext cx="474489" cy="461665"/>
              </a:xfrm>
              <a:prstGeom prst="rect">
                <a:avLst/>
              </a:prstGeom>
              <a:blipFill>
                <a:blip r:embed="rId2"/>
                <a:stretch>
                  <a:fillRect l="-2564" r="-1282" b="-17105"/>
                </a:stretch>
              </a:blipFill>
            </p:spPr>
            <p:txBody>
              <a:bodyPr/>
              <a:lstStyle/>
              <a:p>
                <a:r>
                  <a:rPr lang="en-US">
                    <a:noFill/>
                  </a:rPr>
                  <a:t> </a:t>
                </a:r>
              </a:p>
            </p:txBody>
          </p:sp>
        </mc:Fallback>
      </mc:AlternateContent>
      <p:cxnSp>
        <p:nvCxnSpPr>
          <p:cNvPr id="71" name="Straight Connector 70">
            <a:extLst>
              <a:ext uri="{FF2B5EF4-FFF2-40B4-BE49-F238E27FC236}">
                <a16:creationId xmlns:a16="http://schemas.microsoft.com/office/drawing/2014/main" id="{3408A018-269F-9125-9B83-6331BFC68293}"/>
              </a:ext>
            </a:extLst>
          </p:cNvPr>
          <p:cNvCxnSpPr/>
          <p:nvPr/>
        </p:nvCxnSpPr>
        <p:spPr>
          <a:xfrm>
            <a:off x="2722430" y="2079726"/>
            <a:ext cx="1264917" cy="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4" name="TextBox 73">
                <a:extLst>
                  <a:ext uri="{FF2B5EF4-FFF2-40B4-BE49-F238E27FC236}">
                    <a16:creationId xmlns:a16="http://schemas.microsoft.com/office/drawing/2014/main" id="{984B1573-F7B8-A994-B32E-E2E1B8B1E05E}"/>
                  </a:ext>
                </a:extLst>
              </p:cNvPr>
              <p:cNvSpPr txBox="1"/>
              <p:nvPr/>
            </p:nvSpPr>
            <p:spPr>
              <a:xfrm>
                <a:off x="1385647" y="3349424"/>
                <a:ext cx="121924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𝜓</m:t>
                          </m:r>
                        </m:e>
                        <m:e>
                          <m:r>
                            <a:rPr lang="en-US" sz="2400" i="1">
                              <a:latin typeface="Cambria Math" panose="02040503050406030204" pitchFamily="18" charset="0"/>
                            </a:rPr>
                            <m:t>𝜙</m:t>
                          </m:r>
                        </m:e>
                      </m:d>
                    </m:oMath>
                  </m:oMathPara>
                </a14:m>
                <a:endParaRPr lang="en-US" sz="2400" dirty="0"/>
              </a:p>
            </p:txBody>
          </p:sp>
        </mc:Choice>
        <mc:Fallback>
          <p:sp>
            <p:nvSpPr>
              <p:cNvPr id="74" name="TextBox 73">
                <a:extLst>
                  <a:ext uri="{FF2B5EF4-FFF2-40B4-BE49-F238E27FC236}">
                    <a16:creationId xmlns:a16="http://schemas.microsoft.com/office/drawing/2014/main" id="{984B1573-F7B8-A994-B32E-E2E1B8B1E05E}"/>
                  </a:ext>
                </a:extLst>
              </p:cNvPr>
              <p:cNvSpPr txBox="1">
                <a:spLocks noRot="1" noChangeAspect="1" noMove="1" noResize="1" noEditPoints="1" noAdjustHandles="1" noChangeArrowheads="1" noChangeShapeType="1" noTextEdit="1"/>
              </p:cNvSpPr>
              <p:nvPr/>
            </p:nvSpPr>
            <p:spPr>
              <a:xfrm>
                <a:off x="1385647" y="3349424"/>
                <a:ext cx="1219244" cy="461665"/>
              </a:xfrm>
              <a:prstGeom prst="rect">
                <a:avLst/>
              </a:prstGeom>
              <a:blipFill>
                <a:blip r:embed="rId3"/>
                <a:stretch>
                  <a:fillRect b="-1710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0" name="TextBox 79">
                <a:extLst>
                  <a:ext uri="{FF2B5EF4-FFF2-40B4-BE49-F238E27FC236}">
                    <a16:creationId xmlns:a16="http://schemas.microsoft.com/office/drawing/2014/main" id="{507AD416-B87C-C5A8-26E2-F31CE92DE2FB}"/>
                  </a:ext>
                </a:extLst>
              </p:cNvPr>
              <p:cNvSpPr txBox="1"/>
              <p:nvPr/>
            </p:nvSpPr>
            <p:spPr>
              <a:xfrm>
                <a:off x="4062527" y="1575415"/>
                <a:ext cx="47019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𝜙</m:t>
                      </m:r>
                    </m:oMath>
                  </m:oMathPara>
                </a14:m>
                <a:endParaRPr lang="en-US" sz="2400" dirty="0"/>
              </a:p>
            </p:txBody>
          </p:sp>
        </mc:Choice>
        <mc:Fallback>
          <p:sp>
            <p:nvSpPr>
              <p:cNvPr id="80" name="TextBox 79">
                <a:extLst>
                  <a:ext uri="{FF2B5EF4-FFF2-40B4-BE49-F238E27FC236}">
                    <a16:creationId xmlns:a16="http://schemas.microsoft.com/office/drawing/2014/main" id="{507AD416-B87C-C5A8-26E2-F31CE92DE2FB}"/>
                  </a:ext>
                </a:extLst>
              </p:cNvPr>
              <p:cNvSpPr txBox="1">
                <a:spLocks noRot="1" noChangeAspect="1" noMove="1" noResize="1" noEditPoints="1" noAdjustHandles="1" noChangeArrowheads="1" noChangeShapeType="1" noTextEdit="1"/>
              </p:cNvSpPr>
              <p:nvPr/>
            </p:nvSpPr>
            <p:spPr>
              <a:xfrm>
                <a:off x="4062527" y="1575415"/>
                <a:ext cx="470192" cy="461665"/>
              </a:xfrm>
              <a:prstGeom prst="rect">
                <a:avLst/>
              </a:prstGeom>
              <a:blipFill>
                <a:blip r:embed="rId4"/>
                <a:stretch>
                  <a:fillRect l="-2564" b="-17105"/>
                </a:stretch>
              </a:blipFill>
            </p:spPr>
            <p:txBody>
              <a:bodyPr/>
              <a:lstStyle/>
              <a:p>
                <a:r>
                  <a:rPr lang="en-US">
                    <a:noFill/>
                  </a:rPr>
                  <a:t> </a:t>
                </a:r>
              </a:p>
            </p:txBody>
          </p:sp>
        </mc:Fallback>
      </mc:AlternateContent>
      <p:cxnSp>
        <p:nvCxnSpPr>
          <p:cNvPr id="85" name="Straight Arrow Connector 84">
            <a:extLst>
              <a:ext uri="{FF2B5EF4-FFF2-40B4-BE49-F238E27FC236}">
                <a16:creationId xmlns:a16="http://schemas.microsoft.com/office/drawing/2014/main" id="{08830934-31D6-4E32-155E-3A9FBECB4D6B}"/>
              </a:ext>
            </a:extLst>
          </p:cNvPr>
          <p:cNvCxnSpPr>
            <a:cxnSpLocks/>
          </p:cNvCxnSpPr>
          <p:nvPr/>
        </p:nvCxnSpPr>
        <p:spPr>
          <a:xfrm flipV="1">
            <a:off x="2722430" y="2079726"/>
            <a:ext cx="1264917" cy="1264907"/>
          </a:xfrm>
          <a:prstGeom prst="straightConnector1">
            <a:avLst/>
          </a:prstGeom>
          <a:ln w="28575">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sp>
        <p:nvSpPr>
          <p:cNvPr id="77" name="Right Brace 76">
            <a:extLst>
              <a:ext uri="{FF2B5EF4-FFF2-40B4-BE49-F238E27FC236}">
                <a16:creationId xmlns:a16="http://schemas.microsoft.com/office/drawing/2014/main" id="{E6F16612-8E0D-EE77-C875-6555168FF234}"/>
              </a:ext>
            </a:extLst>
          </p:cNvPr>
          <p:cNvSpPr/>
          <p:nvPr/>
        </p:nvSpPr>
        <p:spPr>
          <a:xfrm flipH="1">
            <a:off x="2531183" y="2089099"/>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FA9D2D4F-421C-9913-95EB-9FFA5C40C9C6}"/>
              </a:ext>
            </a:extLst>
          </p:cNvPr>
          <p:cNvCxnSpPr>
            <a:stCxn id="66" idx="7"/>
            <a:endCxn id="66" idx="4"/>
          </p:cNvCxnSpPr>
          <p:nvPr/>
        </p:nvCxnSpPr>
        <p:spPr>
          <a:xfrm flipH="1">
            <a:off x="2722436" y="2079727"/>
            <a:ext cx="1264911" cy="305376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03E369F7-B14C-46A8-96B2-E0D7AD30D3CD}"/>
                  </a:ext>
                </a:extLst>
              </p:cNvPr>
              <p:cNvSpPr txBox="1"/>
              <p:nvPr/>
            </p:nvSpPr>
            <p:spPr>
              <a:xfrm>
                <a:off x="2722428" y="2472068"/>
                <a:ext cx="43576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𝜃</m:t>
                      </m:r>
                    </m:oMath>
                  </m:oMathPara>
                </a14:m>
                <a:endParaRPr lang="en-US" sz="2400" dirty="0"/>
              </a:p>
            </p:txBody>
          </p:sp>
        </mc:Choice>
        <mc:Fallback>
          <p:sp>
            <p:nvSpPr>
              <p:cNvPr id="8" name="TextBox 7">
                <a:extLst>
                  <a:ext uri="{FF2B5EF4-FFF2-40B4-BE49-F238E27FC236}">
                    <a16:creationId xmlns:a16="http://schemas.microsoft.com/office/drawing/2014/main" id="{03E369F7-B14C-46A8-96B2-E0D7AD30D3CD}"/>
                  </a:ext>
                </a:extLst>
              </p:cNvPr>
              <p:cNvSpPr txBox="1">
                <a:spLocks noRot="1" noChangeAspect="1" noMove="1" noResize="1" noEditPoints="1" noAdjustHandles="1" noChangeArrowheads="1" noChangeShapeType="1" noTextEdit="1"/>
              </p:cNvSpPr>
              <p:nvPr/>
            </p:nvSpPr>
            <p:spPr>
              <a:xfrm>
                <a:off x="2722428" y="2472068"/>
                <a:ext cx="435760" cy="461665"/>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2FDD7F4-0472-BE61-1C39-A3AE04CBCE9A}"/>
                  </a:ext>
                </a:extLst>
              </p:cNvPr>
              <p:cNvSpPr txBox="1"/>
              <p:nvPr/>
            </p:nvSpPr>
            <p:spPr>
              <a:xfrm>
                <a:off x="2722428" y="3841084"/>
                <a:ext cx="402867" cy="631968"/>
              </a:xfrm>
              <a:prstGeom prst="rect">
                <a:avLst/>
              </a:prstGeom>
              <a:noFill/>
            </p:spPr>
            <p:txBody>
              <a:bodyPr wrap="none" rtlCol="0">
                <a:spAutoFit/>
              </a:bodyPr>
              <a:lstStyle/>
              <a:p>
                <a:pPr/>
                <a14:m>
                  <m:oMath xmlns:m="http://schemas.openxmlformats.org/officeDocument/2006/math">
                    <m:f>
                      <m:fPr>
                        <m:ctrlPr>
                          <a:rPr lang="en-US" sz="2400" b="0" i="1" dirty="0" smtClean="0">
                            <a:latin typeface="Cambria Math" panose="02040503050406030204" pitchFamily="18" charset="0"/>
                          </a:rPr>
                        </m:ctrlPr>
                      </m:fPr>
                      <m:num>
                        <m:r>
                          <a:rPr lang="en-US" sz="2400" b="0" i="1" dirty="0" smtClean="0">
                            <a:latin typeface="Cambria Math" panose="02040503050406030204" pitchFamily="18" charset="0"/>
                          </a:rPr>
                          <m:t>𝜃</m:t>
                        </m:r>
                      </m:num>
                      <m:den>
                        <m:r>
                          <a:rPr lang="en-US" sz="2400" b="0" i="1" dirty="0" smtClean="0">
                            <a:latin typeface="Cambria Math" panose="02040503050406030204" pitchFamily="18" charset="0"/>
                          </a:rPr>
                          <m:t>2</m:t>
                        </m:r>
                      </m:den>
                    </m:f>
                  </m:oMath>
                </a14:m>
                <a:r>
                  <a:rPr lang="en-US" sz="2400" dirty="0"/>
                  <a:t> </a:t>
                </a:r>
              </a:p>
            </p:txBody>
          </p:sp>
        </mc:Choice>
        <mc:Fallback>
          <p:sp>
            <p:nvSpPr>
              <p:cNvPr id="9" name="TextBox 8">
                <a:extLst>
                  <a:ext uri="{FF2B5EF4-FFF2-40B4-BE49-F238E27FC236}">
                    <a16:creationId xmlns:a16="http://schemas.microsoft.com/office/drawing/2014/main" id="{72FDD7F4-0472-BE61-1C39-A3AE04CBCE9A}"/>
                  </a:ext>
                </a:extLst>
              </p:cNvPr>
              <p:cNvSpPr txBox="1">
                <a:spLocks noRot="1" noChangeAspect="1" noMove="1" noResize="1" noEditPoints="1" noAdjustHandles="1" noChangeArrowheads="1" noChangeShapeType="1" noTextEdit="1"/>
              </p:cNvSpPr>
              <p:nvPr/>
            </p:nvSpPr>
            <p:spPr>
              <a:xfrm>
                <a:off x="2722428" y="3841084"/>
                <a:ext cx="402867" cy="631968"/>
              </a:xfrm>
              <a:prstGeom prst="rect">
                <a:avLst/>
              </a:prstGeom>
              <a:blipFill>
                <a:blip r:embed="rId6"/>
                <a:stretch>
                  <a:fillRect/>
                </a:stretch>
              </a:blipFill>
            </p:spPr>
            <p:txBody>
              <a:bodyPr/>
              <a:lstStyle/>
              <a:p>
                <a:r>
                  <a:rPr lang="en-US">
                    <a:noFill/>
                  </a:rPr>
                  <a:t> </a:t>
                </a:r>
              </a:p>
            </p:txBody>
          </p:sp>
        </mc:Fallback>
      </mc:AlternateContent>
      <p:sp>
        <p:nvSpPr>
          <p:cNvPr id="11" name="Arc 10">
            <a:extLst>
              <a:ext uri="{FF2B5EF4-FFF2-40B4-BE49-F238E27FC236}">
                <a16:creationId xmlns:a16="http://schemas.microsoft.com/office/drawing/2014/main" id="{F4A18918-4700-70CF-9E24-E91ABCFF70F8}"/>
              </a:ext>
            </a:extLst>
          </p:cNvPr>
          <p:cNvSpPr/>
          <p:nvPr/>
        </p:nvSpPr>
        <p:spPr>
          <a:xfrm>
            <a:off x="2378210" y="2901534"/>
            <a:ext cx="697242" cy="553554"/>
          </a:xfrm>
          <a:prstGeom prst="arc">
            <a:avLst>
              <a:gd name="adj1" fmla="val 16200000"/>
              <a:gd name="adj2" fmla="val 2012949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EFBB5268-11C1-8997-F128-0EFA209367A8}"/>
                  </a:ext>
                </a:extLst>
              </p:cNvPr>
              <p:cNvSpPr txBox="1"/>
              <p:nvPr/>
            </p:nvSpPr>
            <p:spPr>
              <a:xfrm>
                <a:off x="2471846" y="5124798"/>
                <a:ext cx="65344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400" b="0" i="1" dirty="0" smtClean="0">
                              <a:latin typeface="Cambria Math" panose="02040503050406030204" pitchFamily="18" charset="0"/>
                            </a:rPr>
                          </m:ctrlPr>
                        </m:sSupPr>
                        <m:e>
                          <m:r>
                            <a:rPr lang="en-US" sz="2400" i="1" dirty="0" smtClean="0">
                              <a:latin typeface="Cambria Math" panose="02040503050406030204" pitchFamily="18" charset="0"/>
                            </a:rPr>
                            <m:t>𝜓</m:t>
                          </m:r>
                        </m:e>
                        <m:sup>
                          <m:r>
                            <a:rPr lang="en-US" sz="2400" b="0" i="1" dirty="0" smtClean="0">
                              <a:latin typeface="Cambria Math" panose="02040503050406030204" pitchFamily="18" charset="0"/>
                            </a:rPr>
                            <m:t>⊥</m:t>
                          </m:r>
                        </m:sup>
                      </m:sSup>
                    </m:oMath>
                  </m:oMathPara>
                </a14:m>
                <a:endParaRPr lang="en-US" sz="2400" dirty="0"/>
              </a:p>
            </p:txBody>
          </p:sp>
        </mc:Choice>
        <mc:Fallback>
          <p:sp>
            <p:nvSpPr>
              <p:cNvPr id="13" name="TextBox 12">
                <a:extLst>
                  <a:ext uri="{FF2B5EF4-FFF2-40B4-BE49-F238E27FC236}">
                    <a16:creationId xmlns:a16="http://schemas.microsoft.com/office/drawing/2014/main" id="{EFBB5268-11C1-8997-F128-0EFA209367A8}"/>
                  </a:ext>
                </a:extLst>
              </p:cNvPr>
              <p:cNvSpPr txBox="1">
                <a:spLocks noRot="1" noChangeAspect="1" noMove="1" noResize="1" noEditPoints="1" noAdjustHandles="1" noChangeArrowheads="1" noChangeShapeType="1" noTextEdit="1"/>
              </p:cNvSpPr>
              <p:nvPr/>
            </p:nvSpPr>
            <p:spPr>
              <a:xfrm>
                <a:off x="2471846" y="5124798"/>
                <a:ext cx="653449" cy="461665"/>
              </a:xfrm>
              <a:prstGeom prst="rect">
                <a:avLst/>
              </a:prstGeom>
              <a:blipFill>
                <a:blip r:embed="rId7"/>
                <a:stretch>
                  <a:fillRect l="-1852" b="-17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1D8E0B3-5EB4-9DC0-E4CD-0CF62876FC16}"/>
                  </a:ext>
                </a:extLst>
              </p:cNvPr>
              <p:cNvSpPr txBox="1"/>
              <p:nvPr/>
            </p:nvSpPr>
            <p:spPr>
              <a:xfrm>
                <a:off x="2182694" y="1806247"/>
                <a:ext cx="451469"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𝐶</m:t>
                      </m:r>
                    </m:oMath>
                  </m:oMathPara>
                </a14:m>
                <a:endParaRPr lang="en-US" sz="2400" dirty="0"/>
              </a:p>
            </p:txBody>
          </p:sp>
        </mc:Choice>
        <mc:Fallback>
          <p:sp>
            <p:nvSpPr>
              <p:cNvPr id="14" name="TextBox 13">
                <a:extLst>
                  <a:ext uri="{FF2B5EF4-FFF2-40B4-BE49-F238E27FC236}">
                    <a16:creationId xmlns:a16="http://schemas.microsoft.com/office/drawing/2014/main" id="{41D8E0B3-5EB4-9DC0-E4CD-0CF62876FC16}"/>
                  </a:ext>
                </a:extLst>
              </p:cNvPr>
              <p:cNvSpPr txBox="1">
                <a:spLocks noRot="1" noChangeAspect="1" noMove="1" noResize="1" noEditPoints="1" noAdjustHandles="1" noChangeArrowheads="1" noChangeShapeType="1" noTextEdit="1"/>
              </p:cNvSpPr>
              <p:nvPr/>
            </p:nvSpPr>
            <p:spPr>
              <a:xfrm>
                <a:off x="2182694" y="1806247"/>
                <a:ext cx="451469" cy="461665"/>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06FD4745-81E8-F02B-53FC-F02D8B4B24D4}"/>
                  </a:ext>
                </a:extLst>
              </p:cNvPr>
              <p:cNvSpPr txBox="1"/>
              <p:nvPr/>
            </p:nvSpPr>
            <p:spPr>
              <a:xfrm>
                <a:off x="5656824" y="1550217"/>
                <a:ext cx="4238981" cy="721801"/>
              </a:xfrm>
              <a:prstGeom prst="rect">
                <a:avLst/>
              </a:prstGeom>
              <a:noFill/>
            </p:spPr>
            <p:txBody>
              <a:bodyPr wrap="none" rtlCol="0">
                <a:spAutoFit/>
              </a:bodyPr>
              <a:lstStyle/>
              <a:p>
                <a:pPr/>
                <a14:m>
                  <m:oMath xmlns:m="http://schemas.openxmlformats.org/officeDocument/2006/math">
                    <m:r>
                      <a:rPr lang="en-US" sz="2800" b="0" i="1" smtClean="0">
                        <a:latin typeface="Cambria Math" panose="02040503050406030204" pitchFamily="18" charset="0"/>
                      </a:rPr>
                      <m:t>𝑝</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𝜓</m:t>
                        </m:r>
                      </m:e>
                      <m:e>
                        <m:r>
                          <a:rPr lang="en-US" sz="2800" b="0" i="1" smtClean="0">
                            <a:latin typeface="Cambria Math" panose="02040503050406030204" pitchFamily="18" charset="0"/>
                          </a:rPr>
                          <m:t>𝜙</m:t>
                        </m:r>
                      </m:e>
                    </m:d>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1+</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cos</m:t>
                            </m:r>
                          </m:fName>
                          <m:e>
                            <m:r>
                              <a:rPr lang="en-US" sz="2800" b="0" i="1" smtClean="0">
                                <a:latin typeface="Cambria Math" panose="02040503050406030204" pitchFamily="18" charset="0"/>
                              </a:rPr>
                              <m:t>𝜃</m:t>
                            </m:r>
                          </m:e>
                        </m:func>
                      </m:num>
                      <m:den>
                        <m:r>
                          <a:rPr lang="en-US" sz="2800" b="0" i="1" smtClean="0">
                            <a:latin typeface="Cambria Math" panose="02040503050406030204" pitchFamily="18" charset="0"/>
                          </a:rPr>
                          <m:t>2</m:t>
                        </m:r>
                      </m:den>
                    </m:f>
                    <m:r>
                      <a:rPr lang="en-US" sz="2800" b="0" i="1" smtClean="0">
                        <a:latin typeface="Cambria Math" panose="02040503050406030204" pitchFamily="18" charset="0"/>
                      </a:rPr>
                      <m:t>=</m:t>
                    </m:r>
                    <m:func>
                      <m:funcPr>
                        <m:ctrlPr>
                          <a:rPr lang="en-US" sz="2800" b="0" i="1" smtClean="0">
                            <a:latin typeface="Cambria Math" panose="02040503050406030204" pitchFamily="18" charset="0"/>
                          </a:rPr>
                        </m:ctrlPr>
                      </m:funcPr>
                      <m:fName>
                        <m:sSup>
                          <m:sSupPr>
                            <m:ctrlPr>
                              <a:rPr lang="en-US" sz="2800" b="0" i="1" smtClean="0">
                                <a:latin typeface="Cambria Math" panose="02040503050406030204" pitchFamily="18" charset="0"/>
                              </a:rPr>
                            </m:ctrlPr>
                          </m:sSupPr>
                          <m:e>
                            <m:r>
                              <m:rPr>
                                <m:sty m:val="p"/>
                              </m:rPr>
                              <a:rPr lang="en-US" sz="2800" b="0" i="0" smtClean="0">
                                <a:latin typeface="Cambria Math" panose="02040503050406030204" pitchFamily="18" charset="0"/>
                              </a:rPr>
                              <m:t>cos</m:t>
                            </m:r>
                          </m:e>
                          <m:sup>
                            <m:r>
                              <a:rPr lang="en-US" sz="2800" b="0" i="1" smtClean="0">
                                <a:latin typeface="Cambria Math" panose="02040503050406030204" pitchFamily="18" charset="0"/>
                              </a:rPr>
                              <m:t>2</m:t>
                            </m:r>
                          </m:sup>
                        </m:sSup>
                      </m:fName>
                      <m:e>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𝜃</m:t>
                            </m:r>
                          </m:num>
                          <m:den>
                            <m:r>
                              <a:rPr lang="en-US" sz="2800" b="0" i="1" smtClean="0">
                                <a:latin typeface="Cambria Math" panose="02040503050406030204" pitchFamily="18" charset="0"/>
                              </a:rPr>
                              <m:t>2</m:t>
                            </m:r>
                          </m:den>
                        </m:f>
                      </m:e>
                    </m:func>
                  </m:oMath>
                </a14:m>
                <a:r>
                  <a:rPr lang="en-US" sz="2800" dirty="0"/>
                  <a:t> </a:t>
                </a:r>
              </a:p>
            </p:txBody>
          </p:sp>
        </mc:Choice>
        <mc:Fallback>
          <p:sp>
            <p:nvSpPr>
              <p:cNvPr id="21" name="TextBox 20">
                <a:extLst>
                  <a:ext uri="{FF2B5EF4-FFF2-40B4-BE49-F238E27FC236}">
                    <a16:creationId xmlns:a16="http://schemas.microsoft.com/office/drawing/2014/main" id="{06FD4745-81E8-F02B-53FC-F02D8B4B24D4}"/>
                  </a:ext>
                </a:extLst>
              </p:cNvPr>
              <p:cNvSpPr txBox="1">
                <a:spLocks noRot="1" noChangeAspect="1" noMove="1" noResize="1" noEditPoints="1" noAdjustHandles="1" noChangeArrowheads="1" noChangeShapeType="1" noTextEdit="1"/>
              </p:cNvSpPr>
              <p:nvPr/>
            </p:nvSpPr>
            <p:spPr>
              <a:xfrm>
                <a:off x="5656824" y="1550217"/>
                <a:ext cx="4238981" cy="721801"/>
              </a:xfrm>
              <a:prstGeom prst="rect">
                <a:avLst/>
              </a:prstGeom>
              <a:blipFill>
                <a:blip r:embed="rId9"/>
                <a:stretch>
                  <a:fillRect/>
                </a:stretch>
              </a:blipFill>
            </p:spPr>
            <p:txBody>
              <a:bodyPr/>
              <a:lstStyle/>
              <a:p>
                <a:r>
                  <a:rPr lang="en-US">
                    <a:noFill/>
                  </a:rPr>
                  <a:t> </a:t>
                </a:r>
              </a:p>
            </p:txBody>
          </p:sp>
        </mc:Fallback>
      </mc:AlternateContent>
      <p:sp>
        <p:nvSpPr>
          <p:cNvPr id="2" name="TextBox 1">
            <a:extLst>
              <a:ext uri="{FF2B5EF4-FFF2-40B4-BE49-F238E27FC236}">
                <a16:creationId xmlns:a16="http://schemas.microsoft.com/office/drawing/2014/main" id="{F76AF837-D53E-4B2B-B3D6-53D7C97902F8}"/>
              </a:ext>
            </a:extLst>
          </p:cNvPr>
          <p:cNvSpPr txBox="1"/>
          <p:nvPr/>
        </p:nvSpPr>
        <p:spPr>
          <a:xfrm>
            <a:off x="5311140" y="2712179"/>
            <a:ext cx="6423660" cy="1200329"/>
          </a:xfrm>
          <a:prstGeom prst="rect">
            <a:avLst/>
          </a:prstGeom>
          <a:noFill/>
        </p:spPr>
        <p:txBody>
          <a:bodyPr wrap="square" rtlCol="0">
            <a:spAutoFit/>
          </a:bodyPr>
          <a:lstStyle/>
          <a:p>
            <a:r>
              <a:rPr lang="en-US" sz="3600" dirty="0">
                <a:solidFill>
                  <a:schemeClr val="accent6">
                    <a:lumMod val="75000"/>
                  </a:schemeClr>
                </a:solidFill>
              </a:rPr>
              <a:t>Born rule is an invertible function of the angle on the Bloch sphere!</a:t>
            </a:r>
          </a:p>
        </p:txBody>
      </p:sp>
      <p:cxnSp>
        <p:nvCxnSpPr>
          <p:cNvPr id="4" name="Straight Connector 3">
            <a:extLst>
              <a:ext uri="{FF2B5EF4-FFF2-40B4-BE49-F238E27FC236}">
                <a16:creationId xmlns:a16="http://schemas.microsoft.com/office/drawing/2014/main" id="{99908017-279C-EFBA-E8AF-9AD4A5932AAC}"/>
              </a:ext>
            </a:extLst>
          </p:cNvPr>
          <p:cNvCxnSpPr/>
          <p:nvPr/>
        </p:nvCxnSpPr>
        <p:spPr>
          <a:xfrm>
            <a:off x="2722436" y="1555785"/>
            <a:ext cx="1264911" cy="5239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41757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 grpId="0"/>
      <p:bldP spid="74" grpId="0"/>
      <p:bldP spid="77" grpId="0" animBg="1"/>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4DEA7F-4706-37B0-33CD-D03712A0A94B}"/>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ECB2741-0410-DE62-8A37-9CA081AF8028}"/>
                  </a:ext>
                </a:extLst>
              </p:cNvPr>
              <p:cNvSpPr txBox="1"/>
              <p:nvPr/>
            </p:nvSpPr>
            <p:spPr>
              <a:xfrm>
                <a:off x="1252078" y="2597426"/>
                <a:ext cx="9687845" cy="831574"/>
              </a:xfrm>
              <a:prstGeom prst="rect">
                <a:avLst/>
              </a:prstGeom>
              <a:noFill/>
            </p:spPr>
            <p:txBody>
              <a:bodyPr wrap="none" rtlCol="0">
                <a:spAutoFit/>
              </a:bodyPr>
              <a:lstStyle/>
              <a:p>
                <a14:m>
                  <m:oMath xmlns:m="http://schemas.openxmlformats.org/officeDocument/2006/math">
                    <m:r>
                      <a:rPr lang="en-US" sz="4800" b="0" i="1" smtClean="0">
                        <a:latin typeface="Cambria Math" panose="02040503050406030204" pitchFamily="18" charset="0"/>
                      </a:rPr>
                      <m:t>𝑆</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𝜌</m:t>
                        </m:r>
                      </m:e>
                    </m:d>
                    <m:r>
                      <a:rPr lang="en-US" sz="4800" i="1">
                        <a:latin typeface="Cambria Math" panose="02040503050406030204" pitchFamily="18" charset="0"/>
                      </a:rPr>
                      <m:t>=</m:t>
                    </m:r>
                    <m:r>
                      <a:rPr lang="en-US" sz="4800" b="0" i="1" smtClean="0">
                        <a:latin typeface="Cambria Math" panose="02040503050406030204" pitchFamily="18" charset="0"/>
                      </a:rPr>
                      <m:t>−</m:t>
                    </m:r>
                    <m:r>
                      <a:rPr lang="en-US" sz="4800" b="0" i="1" smtClean="0">
                        <a:latin typeface="Cambria Math" panose="02040503050406030204" pitchFamily="18" charset="0"/>
                      </a:rPr>
                      <m:t>𝑡𝑟</m:t>
                    </m:r>
                    <m:d>
                      <m:dPr>
                        <m:ctrlPr>
                          <a:rPr lang="en-US" sz="4800" b="0" i="1" smtClean="0">
                            <a:latin typeface="Cambria Math" panose="02040503050406030204" pitchFamily="18" charset="0"/>
                          </a:rPr>
                        </m:ctrlPr>
                      </m:dPr>
                      <m:e>
                        <m:r>
                          <a:rPr lang="en-US" sz="4800" b="0" i="1" smtClean="0">
                            <a:latin typeface="Cambria Math" panose="02040503050406030204" pitchFamily="18" charset="0"/>
                          </a:rPr>
                          <m:t>𝜌</m:t>
                        </m:r>
                        <m:func>
                          <m:funcPr>
                            <m:ctrlPr>
                              <a:rPr lang="en-US" sz="4800" b="0" i="1" smtClean="0">
                                <a:latin typeface="Cambria Math" panose="02040503050406030204" pitchFamily="18" charset="0"/>
                              </a:rPr>
                            </m:ctrlPr>
                          </m:funcPr>
                          <m:fName>
                            <m:r>
                              <m:rPr>
                                <m:sty m:val="p"/>
                              </m:rPr>
                              <a:rPr lang="en-US" sz="4800" b="0" i="0" smtClean="0">
                                <a:latin typeface="Cambria Math" panose="02040503050406030204" pitchFamily="18" charset="0"/>
                              </a:rPr>
                              <m:t>log</m:t>
                            </m:r>
                          </m:fName>
                          <m:e>
                            <m:r>
                              <a:rPr lang="en-US" sz="4800" b="0" i="1" smtClean="0">
                                <a:latin typeface="Cambria Math" panose="02040503050406030204" pitchFamily="18" charset="0"/>
                              </a:rPr>
                              <m:t>𝜌</m:t>
                            </m:r>
                          </m:e>
                        </m:func>
                      </m:e>
                    </m:d>
                    <m:r>
                      <a:rPr lang="en-US" sz="4800" b="0" i="1" smtClean="0">
                        <a:latin typeface="Cambria Math" panose="02040503050406030204" pitchFamily="18" charset="0"/>
                      </a:rPr>
                      <m:t>=−</m:t>
                    </m:r>
                    <m:nary>
                      <m:naryPr>
                        <m:chr m:val="∑"/>
                        <m:supHide m:val="on"/>
                        <m:ctrlPr>
                          <a:rPr lang="en-US" sz="4800" b="0" i="1" smtClean="0">
                            <a:latin typeface="Cambria Math" panose="02040503050406030204" pitchFamily="18" charset="0"/>
                          </a:rPr>
                        </m:ctrlPr>
                      </m:naryPr>
                      <m:sub>
                        <m:r>
                          <a:rPr lang="en-US" sz="4800" b="0" i="1" smtClean="0">
                            <a:latin typeface="Cambria Math" panose="02040503050406030204" pitchFamily="18" charset="0"/>
                          </a:rPr>
                          <m:t>𝑖</m:t>
                        </m:r>
                      </m:sub>
                      <m:sup/>
                      <m:e>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𝑝</m:t>
                            </m:r>
                          </m:e>
                          <m:sub>
                            <m:r>
                              <a:rPr lang="en-US" sz="4800" b="0" i="1" smtClean="0">
                                <a:latin typeface="Cambria Math" panose="02040503050406030204" pitchFamily="18" charset="0"/>
                              </a:rPr>
                              <m:t>𝑖</m:t>
                            </m:r>
                          </m:sub>
                        </m:sSub>
                        <m:func>
                          <m:funcPr>
                            <m:ctrlPr>
                              <a:rPr lang="en-US" sz="4800" b="0" i="1" smtClean="0">
                                <a:latin typeface="Cambria Math" panose="02040503050406030204" pitchFamily="18" charset="0"/>
                              </a:rPr>
                            </m:ctrlPr>
                          </m:funcPr>
                          <m:fName>
                            <m:r>
                              <m:rPr>
                                <m:sty m:val="p"/>
                              </m:rPr>
                              <a:rPr lang="en-US" sz="4800" b="0" i="0" smtClean="0">
                                <a:latin typeface="Cambria Math" panose="02040503050406030204" pitchFamily="18" charset="0"/>
                              </a:rPr>
                              <m:t>log</m:t>
                            </m:r>
                          </m:fName>
                          <m:e>
                            <m:sSub>
                              <m:sSubPr>
                                <m:ctrlPr>
                                  <a:rPr lang="en-US" sz="4800" b="0" i="1" smtClean="0">
                                    <a:latin typeface="Cambria Math" panose="02040503050406030204" pitchFamily="18" charset="0"/>
                                  </a:rPr>
                                </m:ctrlPr>
                              </m:sSubPr>
                              <m:e>
                                <m:r>
                                  <a:rPr lang="en-US" sz="4800" b="0" i="1" smtClean="0">
                                    <a:latin typeface="Cambria Math" panose="02040503050406030204" pitchFamily="18" charset="0"/>
                                  </a:rPr>
                                  <m:t>𝑝</m:t>
                                </m:r>
                              </m:e>
                              <m:sub>
                                <m:r>
                                  <a:rPr lang="en-US" sz="4800" b="0" i="1" smtClean="0">
                                    <a:latin typeface="Cambria Math" panose="02040503050406030204" pitchFamily="18" charset="0"/>
                                  </a:rPr>
                                  <m:t>𝑖</m:t>
                                </m:r>
                              </m:sub>
                            </m:sSub>
                          </m:e>
                        </m:func>
                      </m:e>
                    </m:nary>
                  </m:oMath>
                </a14:m>
                <a:r>
                  <a:rPr lang="en-US" sz="4800" dirty="0"/>
                  <a:t> </a:t>
                </a:r>
              </a:p>
            </p:txBody>
          </p:sp>
        </mc:Choice>
        <mc:Fallback xmlns="">
          <p:sp>
            <p:nvSpPr>
              <p:cNvPr id="2" name="TextBox 1">
                <a:extLst>
                  <a:ext uri="{FF2B5EF4-FFF2-40B4-BE49-F238E27FC236}">
                    <a16:creationId xmlns:a16="http://schemas.microsoft.com/office/drawing/2014/main" id="{BECB2741-0410-DE62-8A37-9CA081AF8028}"/>
                  </a:ext>
                </a:extLst>
              </p:cNvPr>
              <p:cNvSpPr txBox="1">
                <a:spLocks noRot="1" noChangeAspect="1" noMove="1" noResize="1" noEditPoints="1" noAdjustHandles="1" noChangeArrowheads="1" noChangeShapeType="1" noTextEdit="1"/>
              </p:cNvSpPr>
              <p:nvPr/>
            </p:nvSpPr>
            <p:spPr>
              <a:xfrm>
                <a:off x="1252078" y="2597426"/>
                <a:ext cx="9687845" cy="831574"/>
              </a:xfrm>
              <a:prstGeom prst="rect">
                <a:avLst/>
              </a:prstGeom>
              <a:blipFill>
                <a:blip r:embed="rId2"/>
                <a:stretch>
                  <a:fillRect/>
                </a:stretch>
              </a:blipFill>
            </p:spPr>
            <p:txBody>
              <a:bodyPr/>
              <a:lstStyle/>
              <a:p>
                <a:r>
                  <a:rPr lang="en-US">
                    <a:noFill/>
                  </a:rPr>
                  <a:t> </a:t>
                </a:r>
              </a:p>
            </p:txBody>
          </p:sp>
        </mc:Fallback>
      </mc:AlternateContent>
      <p:sp>
        <p:nvSpPr>
          <p:cNvPr id="3" name="TextBox 2">
            <a:extLst>
              <a:ext uri="{FF2B5EF4-FFF2-40B4-BE49-F238E27FC236}">
                <a16:creationId xmlns:a16="http://schemas.microsoft.com/office/drawing/2014/main" id="{1762B486-DE90-56CC-4A2B-351F92AF2AB1}"/>
              </a:ext>
            </a:extLst>
          </p:cNvPr>
          <p:cNvSpPr txBox="1"/>
          <p:nvPr/>
        </p:nvSpPr>
        <p:spPr>
          <a:xfrm>
            <a:off x="3166159" y="232975"/>
            <a:ext cx="5859681" cy="830997"/>
          </a:xfrm>
          <a:prstGeom prst="rect">
            <a:avLst/>
          </a:prstGeom>
          <a:noFill/>
        </p:spPr>
        <p:txBody>
          <a:bodyPr wrap="none" rtlCol="0">
            <a:spAutoFit/>
          </a:bodyPr>
          <a:lstStyle/>
          <a:p>
            <a:pPr algn="ctr"/>
            <a:r>
              <a:rPr lang="en-US" sz="4800" dirty="0"/>
              <a:t>Von Neumann entropy</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1D0411D8-4B3B-57F4-5DBB-ED496ECB0AE0}"/>
                  </a:ext>
                </a:extLst>
              </p:cNvPr>
              <p:cNvSpPr txBox="1"/>
              <p:nvPr/>
            </p:nvSpPr>
            <p:spPr>
              <a:xfrm>
                <a:off x="193198" y="1481430"/>
                <a:ext cx="8883394" cy="708399"/>
              </a:xfrm>
              <a:prstGeom prst="rect">
                <a:avLst/>
              </a:prstGeom>
              <a:noFill/>
            </p:spPr>
            <p:txBody>
              <a:bodyPr wrap="none" rtlCol="0">
                <a:spAutoFit/>
              </a:bodyPr>
              <a:lstStyle/>
              <a:p>
                <a:r>
                  <a:rPr lang="en-US" sz="4000" dirty="0"/>
                  <a:t>Entropy of a mixed state </a:t>
                </a:r>
                <a14:m>
                  <m:oMath xmlns:m="http://schemas.openxmlformats.org/officeDocument/2006/math">
                    <m:r>
                      <a:rPr lang="en-US" sz="4000" b="0" i="1" smtClean="0">
                        <a:latin typeface="Cambria Math" panose="02040503050406030204" pitchFamily="18" charset="0"/>
                      </a:rPr>
                      <m:t>𝜌</m:t>
                    </m:r>
                    <m:r>
                      <a:rPr lang="en-US" sz="4000" b="0" i="1" smtClean="0">
                        <a:latin typeface="Cambria Math" panose="02040503050406030204" pitchFamily="18" charset="0"/>
                      </a:rPr>
                      <m:t>=</m:t>
                    </m:r>
                    <m:nary>
                      <m:naryPr>
                        <m:chr m:val="∑"/>
                        <m:supHide m:val="on"/>
                        <m:ctrlPr>
                          <a:rPr lang="en-US" sz="4000" b="0" i="1" smtClean="0">
                            <a:latin typeface="Cambria Math" panose="02040503050406030204" pitchFamily="18" charset="0"/>
                          </a:rPr>
                        </m:ctrlPr>
                      </m:naryPr>
                      <m:sub>
                        <m:r>
                          <a:rPr lang="en-US" sz="4000" b="0" i="1" smtClean="0">
                            <a:latin typeface="Cambria Math" panose="02040503050406030204" pitchFamily="18" charset="0"/>
                          </a:rPr>
                          <m:t>𝑖</m:t>
                        </m:r>
                      </m:sub>
                      <m:sup/>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𝑝</m:t>
                            </m:r>
                          </m:e>
                          <m:sub>
                            <m:r>
                              <a:rPr lang="en-US" sz="4000" b="0" i="1" smtClean="0">
                                <a:latin typeface="Cambria Math" panose="02040503050406030204" pitchFamily="18" charset="0"/>
                              </a:rPr>
                              <m:t>𝑖</m:t>
                            </m:r>
                          </m:sub>
                        </m:sSub>
                        <m:d>
                          <m:dPr>
                            <m:begChr m:val="|"/>
                            <m:endChr m:val="⟩"/>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𝑏</m:t>
                                </m:r>
                              </m:e>
                              <m:sub>
                                <m:r>
                                  <a:rPr lang="en-US" sz="4000" b="0" i="1" smtClean="0">
                                    <a:latin typeface="Cambria Math" panose="02040503050406030204" pitchFamily="18" charset="0"/>
                                  </a:rPr>
                                  <m:t>𝑖</m:t>
                                </m:r>
                              </m:sub>
                            </m:sSub>
                          </m:e>
                        </m:d>
                        <m:d>
                          <m:dPr>
                            <m:begChr m:val="⟨"/>
                            <m:endChr m:val="|"/>
                            <m:ctrlPr>
                              <a:rPr lang="en-US" sz="4000" b="0" i="1" smtClean="0">
                                <a:latin typeface="Cambria Math" panose="02040503050406030204" pitchFamily="18" charset="0"/>
                              </a:rPr>
                            </m:ctrlPr>
                          </m:dPr>
                          <m:e>
                            <m:sSub>
                              <m:sSubPr>
                                <m:ctrlPr>
                                  <a:rPr lang="en-US" sz="4000" b="0" i="1" smtClean="0">
                                    <a:latin typeface="Cambria Math" panose="02040503050406030204" pitchFamily="18" charset="0"/>
                                  </a:rPr>
                                </m:ctrlPr>
                              </m:sSubPr>
                              <m:e>
                                <m:r>
                                  <a:rPr lang="en-US" sz="4000" b="0" i="1" smtClean="0">
                                    <a:latin typeface="Cambria Math" panose="02040503050406030204" pitchFamily="18" charset="0"/>
                                  </a:rPr>
                                  <m:t>𝑏</m:t>
                                </m:r>
                              </m:e>
                              <m:sub>
                                <m:r>
                                  <a:rPr lang="en-US" sz="4000" b="0" i="1" smtClean="0">
                                    <a:latin typeface="Cambria Math" panose="02040503050406030204" pitchFamily="18" charset="0"/>
                                  </a:rPr>
                                  <m:t>𝑖</m:t>
                                </m:r>
                              </m:sub>
                            </m:sSub>
                          </m:e>
                        </m:d>
                      </m:e>
                    </m:nary>
                  </m:oMath>
                </a14:m>
                <a:endParaRPr lang="en-US" sz="4000" dirty="0"/>
              </a:p>
            </p:txBody>
          </p:sp>
        </mc:Choice>
        <mc:Fallback xmlns="">
          <p:sp>
            <p:nvSpPr>
              <p:cNvPr id="31" name="TextBox 30">
                <a:extLst>
                  <a:ext uri="{FF2B5EF4-FFF2-40B4-BE49-F238E27FC236}">
                    <a16:creationId xmlns:a16="http://schemas.microsoft.com/office/drawing/2014/main" id="{1D0411D8-4B3B-57F4-5DBB-ED496ECB0AE0}"/>
                  </a:ext>
                </a:extLst>
              </p:cNvPr>
              <p:cNvSpPr txBox="1">
                <a:spLocks noRot="1" noChangeAspect="1" noMove="1" noResize="1" noEditPoints="1" noAdjustHandles="1" noChangeArrowheads="1" noChangeShapeType="1" noTextEdit="1"/>
              </p:cNvSpPr>
              <p:nvPr/>
            </p:nvSpPr>
            <p:spPr>
              <a:xfrm>
                <a:off x="193198" y="1481430"/>
                <a:ext cx="8883394" cy="708399"/>
              </a:xfrm>
              <a:prstGeom prst="rect">
                <a:avLst/>
              </a:prstGeom>
              <a:blipFill>
                <a:blip r:embed="rId3"/>
                <a:stretch>
                  <a:fillRect l="-2471" t="-15517" b="-36207"/>
                </a:stretch>
              </a:blipFill>
            </p:spPr>
            <p:txBody>
              <a:bodyPr/>
              <a:lstStyle/>
              <a:p>
                <a:r>
                  <a:rPr lang="en-US">
                    <a:noFill/>
                  </a:rPr>
                  <a:t> </a:t>
                </a:r>
              </a:p>
            </p:txBody>
          </p:sp>
        </mc:Fallback>
      </mc:AlternateContent>
    </p:spTree>
    <p:extLst>
      <p:ext uri="{BB962C8B-B14F-4D97-AF65-F5344CB8AC3E}">
        <p14:creationId xmlns:p14="http://schemas.microsoft.com/office/powerpoint/2010/main" val="3658091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6409D-9E9F-B8C5-DE3E-D8D1B834CE9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7FF3A2-1B60-0F66-0F1F-7E9814866114}"/>
              </a:ext>
            </a:extLst>
          </p:cNvPr>
          <p:cNvSpPr txBox="1"/>
          <p:nvPr/>
        </p:nvSpPr>
        <p:spPr>
          <a:xfrm>
            <a:off x="3166159" y="232975"/>
            <a:ext cx="5859681" cy="830997"/>
          </a:xfrm>
          <a:prstGeom prst="rect">
            <a:avLst/>
          </a:prstGeom>
          <a:noFill/>
        </p:spPr>
        <p:txBody>
          <a:bodyPr wrap="none" rtlCol="0">
            <a:spAutoFit/>
          </a:bodyPr>
          <a:lstStyle/>
          <a:p>
            <a:pPr algn="ctr"/>
            <a:r>
              <a:rPr lang="en-US" sz="4800" dirty="0"/>
              <a:t>Von Neumann entropy</a:t>
            </a:r>
          </a:p>
        </p:txBody>
      </p:sp>
      <p:grpSp>
        <p:nvGrpSpPr>
          <p:cNvPr id="5" name="Group 4">
            <a:extLst>
              <a:ext uri="{FF2B5EF4-FFF2-40B4-BE49-F238E27FC236}">
                <a16:creationId xmlns:a16="http://schemas.microsoft.com/office/drawing/2014/main" id="{162D8510-FDF2-0F54-723F-8093EF4C9FD4}"/>
              </a:ext>
            </a:extLst>
          </p:cNvPr>
          <p:cNvGrpSpPr/>
          <p:nvPr/>
        </p:nvGrpSpPr>
        <p:grpSpPr>
          <a:xfrm>
            <a:off x="1037397" y="1511028"/>
            <a:ext cx="3577706" cy="3538485"/>
            <a:chOff x="1202189" y="1744892"/>
            <a:chExt cx="3077365" cy="3077101"/>
          </a:xfrm>
        </p:grpSpPr>
        <p:cxnSp>
          <p:nvCxnSpPr>
            <p:cNvPr id="6" name="Straight Connector 5">
              <a:extLst>
                <a:ext uri="{FF2B5EF4-FFF2-40B4-BE49-F238E27FC236}">
                  <a16:creationId xmlns:a16="http://schemas.microsoft.com/office/drawing/2014/main" id="{9CA776D6-0224-C02A-EEE6-087A877C9D3E}"/>
                </a:ext>
              </a:extLst>
            </p:cNvPr>
            <p:cNvCxnSpPr>
              <a:stCxn id="19" idx="0"/>
              <a:endCxn id="19" idx="2"/>
            </p:cNvCxnSpPr>
            <p:nvPr/>
          </p:nvCxnSpPr>
          <p:spPr>
            <a:xfrm>
              <a:off x="2740735" y="1744892"/>
              <a:ext cx="0" cy="3077101"/>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5D9AEE4A-3556-2C34-758F-E39F51D17494}"/>
                </a:ext>
              </a:extLst>
            </p:cNvPr>
            <p:cNvGrpSpPr/>
            <p:nvPr/>
          </p:nvGrpSpPr>
          <p:grpSpPr>
            <a:xfrm>
              <a:off x="1202189" y="1744892"/>
              <a:ext cx="3077365" cy="3077101"/>
              <a:chOff x="2521889" y="2808131"/>
              <a:chExt cx="1916430" cy="1916266"/>
            </a:xfrm>
          </p:grpSpPr>
          <p:sp>
            <p:nvSpPr>
              <p:cNvPr id="11" name="Oval 10">
                <a:extLst>
                  <a:ext uri="{FF2B5EF4-FFF2-40B4-BE49-F238E27FC236}">
                    <a16:creationId xmlns:a16="http://schemas.microsoft.com/office/drawing/2014/main" id="{CB493138-B9E5-1473-86C2-78A400164750}"/>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12" name="Oval 31">
                <a:extLst>
                  <a:ext uri="{FF2B5EF4-FFF2-40B4-BE49-F238E27FC236}">
                    <a16:creationId xmlns:a16="http://schemas.microsoft.com/office/drawing/2014/main" id="{C2E41697-2476-7CA5-CEB3-D7F93E570D02}"/>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3" name="Oval 12">
                <a:extLst>
                  <a:ext uri="{FF2B5EF4-FFF2-40B4-BE49-F238E27FC236}">
                    <a16:creationId xmlns:a16="http://schemas.microsoft.com/office/drawing/2014/main" id="{4D6B597D-F89D-968D-87EB-6FEB037EAF8B}"/>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nvGrpSpPr>
              <p:cNvPr id="14" name="Group 13">
                <a:extLst>
                  <a:ext uri="{FF2B5EF4-FFF2-40B4-BE49-F238E27FC236}">
                    <a16:creationId xmlns:a16="http://schemas.microsoft.com/office/drawing/2014/main" id="{8F803762-AB09-D3C9-7016-467FF7AB8956}"/>
                  </a:ext>
                </a:extLst>
              </p:cNvPr>
              <p:cNvGrpSpPr/>
              <p:nvPr/>
            </p:nvGrpSpPr>
            <p:grpSpPr>
              <a:xfrm>
                <a:off x="2923755" y="2808131"/>
                <a:ext cx="1112528" cy="1916266"/>
                <a:chOff x="2734489" y="2655731"/>
                <a:chExt cx="1186260" cy="1916266"/>
              </a:xfrm>
            </p:grpSpPr>
            <p:sp>
              <p:nvSpPr>
                <p:cNvPr id="18" name="Oval 17">
                  <a:extLst>
                    <a:ext uri="{FF2B5EF4-FFF2-40B4-BE49-F238E27FC236}">
                      <a16:creationId xmlns:a16="http://schemas.microsoft.com/office/drawing/2014/main" id="{503B4924-0F60-FD98-C4E4-9719655F2193}"/>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19" name="Oval 9">
                  <a:extLst>
                    <a:ext uri="{FF2B5EF4-FFF2-40B4-BE49-F238E27FC236}">
                      <a16:creationId xmlns:a16="http://schemas.microsoft.com/office/drawing/2014/main" id="{A7B0B5D2-44E9-60D2-7C46-A43B7ECF2C26}"/>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nvGrpSpPr>
              <p:cNvPr id="15" name="Group 14">
                <a:extLst>
                  <a:ext uri="{FF2B5EF4-FFF2-40B4-BE49-F238E27FC236}">
                    <a16:creationId xmlns:a16="http://schemas.microsoft.com/office/drawing/2014/main" id="{C93E5218-F41C-2754-23C2-D1A9240B8E38}"/>
                  </a:ext>
                </a:extLst>
              </p:cNvPr>
              <p:cNvGrpSpPr/>
              <p:nvPr/>
            </p:nvGrpSpPr>
            <p:grpSpPr>
              <a:xfrm rot="16200000">
                <a:off x="2923922" y="2810085"/>
                <a:ext cx="1112528" cy="1916266"/>
                <a:chOff x="2734489" y="2655731"/>
                <a:chExt cx="1186260" cy="1916266"/>
              </a:xfrm>
            </p:grpSpPr>
            <p:sp>
              <p:nvSpPr>
                <p:cNvPr id="16" name="Oval 15">
                  <a:extLst>
                    <a:ext uri="{FF2B5EF4-FFF2-40B4-BE49-F238E27FC236}">
                      <a16:creationId xmlns:a16="http://schemas.microsoft.com/office/drawing/2014/main" id="{EE687337-1A49-633C-7F94-7B67DC8A345C}"/>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17" name="Oval 9">
                  <a:extLst>
                    <a:ext uri="{FF2B5EF4-FFF2-40B4-BE49-F238E27FC236}">
                      <a16:creationId xmlns:a16="http://schemas.microsoft.com/office/drawing/2014/main" id="{B0FB68C5-E121-449C-AE7A-2F9342A49B48}"/>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grpSp>
      <p:sp>
        <p:nvSpPr>
          <p:cNvPr id="22" name="Oval 21">
            <a:extLst>
              <a:ext uri="{FF2B5EF4-FFF2-40B4-BE49-F238E27FC236}">
                <a16:creationId xmlns:a16="http://schemas.microsoft.com/office/drawing/2014/main" id="{8EE908D1-70F6-CC7D-29FF-461D1D647B7E}"/>
              </a:ext>
            </a:extLst>
          </p:cNvPr>
          <p:cNvSpPr/>
          <p:nvPr/>
        </p:nvSpPr>
        <p:spPr>
          <a:xfrm>
            <a:off x="2779829" y="2023379"/>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93507CAA-9A9E-567E-5711-BB292B991FF3}"/>
              </a:ext>
            </a:extLst>
          </p:cNvPr>
          <p:cNvGrpSpPr/>
          <p:nvPr/>
        </p:nvGrpSpPr>
        <p:grpSpPr>
          <a:xfrm>
            <a:off x="6403959" y="1555785"/>
            <a:ext cx="3577708" cy="3577703"/>
            <a:chOff x="2521889" y="2808131"/>
            <a:chExt cx="1916265" cy="1916264"/>
          </a:xfrm>
        </p:grpSpPr>
        <p:sp>
          <p:nvSpPr>
            <p:cNvPr id="24" name="Oval 23">
              <a:extLst>
                <a:ext uri="{FF2B5EF4-FFF2-40B4-BE49-F238E27FC236}">
                  <a16:creationId xmlns:a16="http://schemas.microsoft.com/office/drawing/2014/main" id="{669A39D5-DE05-D3D8-5BCE-A4A83F765928}"/>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31">
              <a:extLst>
                <a:ext uri="{FF2B5EF4-FFF2-40B4-BE49-F238E27FC236}">
                  <a16:creationId xmlns:a16="http://schemas.microsoft.com/office/drawing/2014/main" id="{F920152F-5DB0-DEBD-402B-5FC37EFA0DC2}"/>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D8E62215-7C6C-9532-58D1-212DCF0E4A11}"/>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27" name="Straight Connector 26">
            <a:extLst>
              <a:ext uri="{FF2B5EF4-FFF2-40B4-BE49-F238E27FC236}">
                <a16:creationId xmlns:a16="http://schemas.microsoft.com/office/drawing/2014/main" id="{5D234AE0-DBC1-9C49-83BC-352CC3D32B1A}"/>
              </a:ext>
            </a:extLst>
          </p:cNvPr>
          <p:cNvCxnSpPr>
            <a:cxnSpLocks/>
          </p:cNvCxnSpPr>
          <p:nvPr/>
        </p:nvCxnSpPr>
        <p:spPr>
          <a:xfrm>
            <a:off x="8192813"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34BB65DF-926D-B4EA-EF18-56C63974CA81}"/>
              </a:ext>
            </a:extLst>
          </p:cNvPr>
          <p:cNvSpPr/>
          <p:nvPr/>
        </p:nvSpPr>
        <p:spPr>
          <a:xfrm flipH="1">
            <a:off x="8008688" y="15788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Oval 29">
            <a:extLst>
              <a:ext uri="{FF2B5EF4-FFF2-40B4-BE49-F238E27FC236}">
                <a16:creationId xmlns:a16="http://schemas.microsoft.com/office/drawing/2014/main" id="{90232DC1-22D2-294F-BDA2-E5F794FA9D61}"/>
              </a:ext>
            </a:extLst>
          </p:cNvPr>
          <p:cNvSpPr/>
          <p:nvPr/>
        </p:nvSpPr>
        <p:spPr>
          <a:xfrm>
            <a:off x="8143130" y="2043628"/>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9E6C0371-80AA-8046-4211-B271B6D04466}"/>
                  </a:ext>
                </a:extLst>
              </p:cNvPr>
              <p:cNvSpPr txBox="1"/>
              <p:nvPr/>
            </p:nvSpPr>
            <p:spPr>
              <a:xfrm>
                <a:off x="8183132" y="1681023"/>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37" name="TextBox 36">
                <a:extLst>
                  <a:ext uri="{FF2B5EF4-FFF2-40B4-BE49-F238E27FC236}">
                    <a16:creationId xmlns:a16="http://schemas.microsoft.com/office/drawing/2014/main" id="{9E6C0371-80AA-8046-4211-B271B6D04466}"/>
                  </a:ext>
                </a:extLst>
              </p:cNvPr>
              <p:cNvSpPr txBox="1">
                <a:spLocks noRot="1" noChangeAspect="1" noMove="1" noResize="1" noEditPoints="1" noAdjustHandles="1" noChangeArrowheads="1" noChangeShapeType="1" noTextEdit="1"/>
              </p:cNvSpPr>
              <p:nvPr/>
            </p:nvSpPr>
            <p:spPr>
              <a:xfrm>
                <a:off x="8183132" y="1681023"/>
                <a:ext cx="430502" cy="461665"/>
              </a:xfrm>
              <a:prstGeom prst="rect">
                <a:avLst/>
              </a:prstGeom>
              <a:blipFill>
                <a:blip r:embed="rId2"/>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F3B1C195-51FB-5D23-A6AD-59C02F9ADC61}"/>
                  </a:ext>
                </a:extLst>
              </p:cNvPr>
              <p:cNvSpPr txBox="1"/>
              <p:nvPr/>
            </p:nvSpPr>
            <p:spPr>
              <a:xfrm>
                <a:off x="2445272" y="1681023"/>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39" name="TextBox 38">
                <a:extLst>
                  <a:ext uri="{FF2B5EF4-FFF2-40B4-BE49-F238E27FC236}">
                    <a16:creationId xmlns:a16="http://schemas.microsoft.com/office/drawing/2014/main" id="{F3B1C195-51FB-5D23-A6AD-59C02F9ADC61}"/>
                  </a:ext>
                </a:extLst>
              </p:cNvPr>
              <p:cNvSpPr txBox="1">
                <a:spLocks noRot="1" noChangeAspect="1" noMove="1" noResize="1" noEditPoints="1" noAdjustHandles="1" noChangeArrowheads="1" noChangeShapeType="1" noTextEdit="1"/>
              </p:cNvSpPr>
              <p:nvPr/>
            </p:nvSpPr>
            <p:spPr>
              <a:xfrm>
                <a:off x="2445272" y="1681023"/>
                <a:ext cx="430502" cy="461665"/>
              </a:xfrm>
              <a:prstGeom prst="rect">
                <a:avLst/>
              </a:prstGeom>
              <a:blipFill>
                <a:blip r:embed="rId3"/>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61771697-0815-3669-31BD-DCDEA12706F6}"/>
                  </a:ext>
                </a:extLst>
              </p:cNvPr>
              <p:cNvSpPr txBox="1"/>
              <p:nvPr/>
            </p:nvSpPr>
            <p:spPr>
              <a:xfrm>
                <a:off x="2610039"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0" name="TextBox 39">
                <a:extLst>
                  <a:ext uri="{FF2B5EF4-FFF2-40B4-BE49-F238E27FC236}">
                    <a16:creationId xmlns:a16="http://schemas.microsoft.com/office/drawing/2014/main" id="{61771697-0815-3669-31BD-DCDEA12706F6}"/>
                  </a:ext>
                </a:extLst>
              </p:cNvPr>
              <p:cNvSpPr txBox="1">
                <a:spLocks noRot="1" noChangeAspect="1" noMove="1" noResize="1" noEditPoints="1" noAdjustHandles="1" noChangeArrowheads="1" noChangeShapeType="1" noTextEdit="1"/>
              </p:cNvSpPr>
              <p:nvPr/>
            </p:nvSpPr>
            <p:spPr>
              <a:xfrm>
                <a:off x="2610039" y="5087963"/>
                <a:ext cx="553164" cy="461665"/>
              </a:xfrm>
              <a:prstGeom prst="rect">
                <a:avLst/>
              </a:prstGeom>
              <a:blipFill>
                <a:blip r:embed="rId4"/>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302A1EFE-004A-ED1C-B76F-6687719C4CE8}"/>
                  </a:ext>
                </a:extLst>
              </p:cNvPr>
              <p:cNvSpPr txBox="1"/>
              <p:nvPr/>
            </p:nvSpPr>
            <p:spPr>
              <a:xfrm>
                <a:off x="2610039"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1" name="TextBox 40">
                <a:extLst>
                  <a:ext uri="{FF2B5EF4-FFF2-40B4-BE49-F238E27FC236}">
                    <a16:creationId xmlns:a16="http://schemas.microsoft.com/office/drawing/2014/main" id="{302A1EFE-004A-ED1C-B76F-6687719C4CE8}"/>
                  </a:ext>
                </a:extLst>
              </p:cNvPr>
              <p:cNvSpPr txBox="1">
                <a:spLocks noRot="1" noChangeAspect="1" noMove="1" noResize="1" noEditPoints="1" noAdjustHandles="1" noChangeArrowheads="1" noChangeShapeType="1" noTextEdit="1"/>
              </p:cNvSpPr>
              <p:nvPr/>
            </p:nvSpPr>
            <p:spPr>
              <a:xfrm>
                <a:off x="2610039" y="1049363"/>
                <a:ext cx="546047" cy="461665"/>
              </a:xfrm>
              <a:prstGeom prst="rect">
                <a:avLst/>
              </a:prstGeom>
              <a:blipFill>
                <a:blip r:embed="rId5"/>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0CBA529-9721-EBA5-78BD-5635A581FE7A}"/>
                  </a:ext>
                </a:extLst>
              </p:cNvPr>
              <p:cNvSpPr txBox="1"/>
              <p:nvPr/>
            </p:nvSpPr>
            <p:spPr>
              <a:xfrm>
                <a:off x="7577442" y="1508317"/>
                <a:ext cx="55797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2" name="TextBox 41">
                <a:extLst>
                  <a:ext uri="{FF2B5EF4-FFF2-40B4-BE49-F238E27FC236}">
                    <a16:creationId xmlns:a16="http://schemas.microsoft.com/office/drawing/2014/main" id="{50CBA529-9721-EBA5-78BD-5635A581FE7A}"/>
                  </a:ext>
                </a:extLst>
              </p:cNvPr>
              <p:cNvSpPr txBox="1">
                <a:spLocks noRot="1" noChangeAspect="1" noMove="1" noResize="1" noEditPoints="1" noAdjustHandles="1" noChangeArrowheads="1" noChangeShapeType="1" noTextEdit="1"/>
              </p:cNvSpPr>
              <p:nvPr/>
            </p:nvSpPr>
            <p:spPr>
              <a:xfrm>
                <a:off x="7577442" y="1508317"/>
                <a:ext cx="557973" cy="461665"/>
              </a:xfrm>
              <a:prstGeom prst="rect">
                <a:avLst/>
              </a:prstGeom>
              <a:blipFill>
                <a:blip r:embed="rId6"/>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C1033978-C97C-CC1F-E885-5973BCB21961}"/>
                  </a:ext>
                </a:extLst>
              </p:cNvPr>
              <p:cNvSpPr txBox="1"/>
              <p:nvPr/>
            </p:nvSpPr>
            <p:spPr>
              <a:xfrm>
                <a:off x="7577442" y="3321877"/>
                <a:ext cx="5508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3" name="TextBox 42">
                <a:extLst>
                  <a:ext uri="{FF2B5EF4-FFF2-40B4-BE49-F238E27FC236}">
                    <a16:creationId xmlns:a16="http://schemas.microsoft.com/office/drawing/2014/main" id="{C1033978-C97C-CC1F-E885-5973BCB21961}"/>
                  </a:ext>
                </a:extLst>
              </p:cNvPr>
              <p:cNvSpPr txBox="1">
                <a:spLocks noRot="1" noChangeAspect="1" noMove="1" noResize="1" noEditPoints="1" noAdjustHandles="1" noChangeArrowheads="1" noChangeShapeType="1" noTextEdit="1"/>
              </p:cNvSpPr>
              <p:nvPr/>
            </p:nvSpPr>
            <p:spPr>
              <a:xfrm>
                <a:off x="7577442" y="3321877"/>
                <a:ext cx="550856" cy="461665"/>
              </a:xfrm>
              <a:prstGeom prst="rect">
                <a:avLst/>
              </a:prstGeom>
              <a:blipFill>
                <a:blip r:embed="rId7"/>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E453F8CD-58A4-B388-B64C-80A28CB6882D}"/>
                  </a:ext>
                </a:extLst>
              </p:cNvPr>
              <p:cNvSpPr txBox="1"/>
              <p:nvPr/>
            </p:nvSpPr>
            <p:spPr>
              <a:xfrm>
                <a:off x="7928799"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4" name="TextBox 43">
                <a:extLst>
                  <a:ext uri="{FF2B5EF4-FFF2-40B4-BE49-F238E27FC236}">
                    <a16:creationId xmlns:a16="http://schemas.microsoft.com/office/drawing/2014/main" id="{E453F8CD-58A4-B388-B64C-80A28CB6882D}"/>
                  </a:ext>
                </a:extLst>
              </p:cNvPr>
              <p:cNvSpPr txBox="1">
                <a:spLocks noRot="1" noChangeAspect="1" noMove="1" noResize="1" noEditPoints="1" noAdjustHandles="1" noChangeArrowheads="1" noChangeShapeType="1" noTextEdit="1"/>
              </p:cNvSpPr>
              <p:nvPr/>
            </p:nvSpPr>
            <p:spPr>
              <a:xfrm>
                <a:off x="7928799" y="5087963"/>
                <a:ext cx="553164" cy="461665"/>
              </a:xfrm>
              <a:prstGeom prst="rect">
                <a:avLst/>
              </a:prstGeom>
              <a:blipFill>
                <a:blip r:embed="rId8"/>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D807FCD9-F9B6-4552-AF3B-6F24D9C65727}"/>
                  </a:ext>
                </a:extLst>
              </p:cNvPr>
              <p:cNvSpPr txBox="1"/>
              <p:nvPr/>
            </p:nvSpPr>
            <p:spPr>
              <a:xfrm>
                <a:off x="7928799"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5" name="TextBox 44">
                <a:extLst>
                  <a:ext uri="{FF2B5EF4-FFF2-40B4-BE49-F238E27FC236}">
                    <a16:creationId xmlns:a16="http://schemas.microsoft.com/office/drawing/2014/main" id="{D807FCD9-F9B6-4552-AF3B-6F24D9C65727}"/>
                  </a:ext>
                </a:extLst>
              </p:cNvPr>
              <p:cNvSpPr txBox="1">
                <a:spLocks noRot="1" noChangeAspect="1" noMove="1" noResize="1" noEditPoints="1" noAdjustHandles="1" noChangeArrowheads="1" noChangeShapeType="1" noTextEdit="1"/>
              </p:cNvSpPr>
              <p:nvPr/>
            </p:nvSpPr>
            <p:spPr>
              <a:xfrm>
                <a:off x="7928799" y="1049363"/>
                <a:ext cx="546047" cy="461665"/>
              </a:xfrm>
              <a:prstGeom prst="rect">
                <a:avLst/>
              </a:prstGeom>
              <a:blipFill>
                <a:blip r:embed="rId9"/>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CF8371DE-47F2-95FF-D0D5-F7D20CF23417}"/>
                  </a:ext>
                </a:extLst>
              </p:cNvPr>
              <p:cNvSpPr txBox="1"/>
              <p:nvPr/>
            </p:nvSpPr>
            <p:spPr>
              <a:xfrm>
                <a:off x="1037397" y="5646613"/>
                <a:ext cx="7294754" cy="76944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4400" b="0" i="1" smtClean="0">
                          <a:latin typeface="Cambria Math" panose="02040503050406030204" pitchFamily="18" charset="0"/>
                        </a:rPr>
                        <m:t>𝑆</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𝜌</m:t>
                          </m:r>
                        </m:e>
                      </m:d>
                      <m:r>
                        <a:rPr lang="en-US" sz="4400" i="1">
                          <a:latin typeface="Cambria Math" panose="02040503050406030204" pitchFamily="18" charset="0"/>
                        </a:rPr>
                        <m:t>=</m:t>
                      </m:r>
                      <m:r>
                        <a:rPr lang="en-US" sz="4400" b="0" i="1" smtClean="0">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𝑝</m:t>
                          </m:r>
                        </m:e>
                        <m:sub>
                          <m:r>
                            <a:rPr lang="en-US" sz="4400" i="1">
                              <a:latin typeface="Cambria Math" panose="02040503050406030204" pitchFamily="18" charset="0"/>
                            </a:rPr>
                            <m:t>1</m:t>
                          </m:r>
                        </m:sub>
                      </m:sSub>
                      <m:func>
                        <m:funcPr>
                          <m:ctrlPr>
                            <a:rPr lang="en-US" sz="4400" i="1">
                              <a:latin typeface="Cambria Math" panose="02040503050406030204" pitchFamily="18" charset="0"/>
                            </a:rPr>
                          </m:ctrlPr>
                        </m:funcPr>
                        <m:fName>
                          <m:r>
                            <m:rPr>
                              <m:sty m:val="p"/>
                            </m:rPr>
                            <a:rPr lang="en-US" sz="4400">
                              <a:latin typeface="Cambria Math" panose="02040503050406030204" pitchFamily="18" charset="0"/>
                            </a:rPr>
                            <m:t>log</m:t>
                          </m:r>
                        </m:fName>
                        <m:e>
                          <m:sSub>
                            <m:sSubPr>
                              <m:ctrlPr>
                                <a:rPr lang="en-US" sz="4400" i="1">
                                  <a:latin typeface="Cambria Math" panose="02040503050406030204" pitchFamily="18" charset="0"/>
                                </a:rPr>
                              </m:ctrlPr>
                            </m:sSubPr>
                            <m:e>
                              <m:r>
                                <a:rPr lang="en-US" sz="4400" i="1">
                                  <a:latin typeface="Cambria Math" panose="02040503050406030204" pitchFamily="18" charset="0"/>
                                </a:rPr>
                                <m:t>𝑝</m:t>
                              </m:r>
                            </m:e>
                            <m:sub>
                              <m:r>
                                <a:rPr lang="en-US" sz="4400" i="1">
                                  <a:latin typeface="Cambria Math" panose="02040503050406030204" pitchFamily="18" charset="0"/>
                                </a:rPr>
                                <m:t>1</m:t>
                              </m:r>
                            </m:sub>
                          </m:sSub>
                        </m:e>
                      </m:func>
                      <m:r>
                        <a:rPr lang="en-US" sz="4400" i="1">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𝑝</m:t>
                          </m:r>
                        </m:e>
                        <m:sub>
                          <m:r>
                            <a:rPr lang="en-US" sz="4400" i="1">
                              <a:latin typeface="Cambria Math" panose="02040503050406030204" pitchFamily="18" charset="0"/>
                            </a:rPr>
                            <m:t>2</m:t>
                          </m:r>
                        </m:sub>
                      </m:sSub>
                      <m:func>
                        <m:funcPr>
                          <m:ctrlPr>
                            <a:rPr lang="en-US" sz="4400" i="1">
                              <a:latin typeface="Cambria Math" panose="02040503050406030204" pitchFamily="18" charset="0"/>
                            </a:rPr>
                          </m:ctrlPr>
                        </m:funcPr>
                        <m:fName>
                          <m:r>
                            <m:rPr>
                              <m:sty m:val="p"/>
                            </m:rPr>
                            <a:rPr lang="en-US" sz="4400">
                              <a:latin typeface="Cambria Math" panose="02040503050406030204" pitchFamily="18" charset="0"/>
                            </a:rPr>
                            <m:t>log</m:t>
                          </m:r>
                        </m:fName>
                        <m:e>
                          <m:sSub>
                            <m:sSubPr>
                              <m:ctrlPr>
                                <a:rPr lang="en-US" sz="4400" i="1">
                                  <a:latin typeface="Cambria Math" panose="02040503050406030204" pitchFamily="18" charset="0"/>
                                </a:rPr>
                              </m:ctrlPr>
                            </m:sSubPr>
                            <m:e>
                              <m:r>
                                <a:rPr lang="en-US" sz="4400" i="1">
                                  <a:latin typeface="Cambria Math" panose="02040503050406030204" pitchFamily="18" charset="0"/>
                                </a:rPr>
                                <m:t>𝑝</m:t>
                              </m:r>
                            </m:e>
                            <m:sub>
                              <m:r>
                                <a:rPr lang="en-US" sz="4400" i="1">
                                  <a:latin typeface="Cambria Math" panose="02040503050406030204" pitchFamily="18" charset="0"/>
                                </a:rPr>
                                <m:t>2</m:t>
                              </m:r>
                            </m:sub>
                          </m:sSub>
                        </m:e>
                      </m:func>
                    </m:oMath>
                  </m:oMathPara>
                </a14:m>
                <a:endParaRPr lang="en-US" sz="4400" dirty="0"/>
              </a:p>
            </p:txBody>
          </p:sp>
        </mc:Choice>
        <mc:Fallback xmlns="">
          <p:sp>
            <p:nvSpPr>
              <p:cNvPr id="46" name="TextBox 45">
                <a:extLst>
                  <a:ext uri="{FF2B5EF4-FFF2-40B4-BE49-F238E27FC236}">
                    <a16:creationId xmlns:a16="http://schemas.microsoft.com/office/drawing/2014/main" id="{CF8371DE-47F2-95FF-D0D5-F7D20CF23417}"/>
                  </a:ext>
                </a:extLst>
              </p:cNvPr>
              <p:cNvSpPr txBox="1">
                <a:spLocks noRot="1" noChangeAspect="1" noMove="1" noResize="1" noEditPoints="1" noAdjustHandles="1" noChangeArrowheads="1" noChangeShapeType="1" noTextEdit="1"/>
              </p:cNvSpPr>
              <p:nvPr/>
            </p:nvSpPr>
            <p:spPr>
              <a:xfrm>
                <a:off x="1037397" y="5646613"/>
                <a:ext cx="7294754" cy="769441"/>
              </a:xfrm>
              <a:prstGeom prst="rect">
                <a:avLst/>
              </a:prstGeom>
              <a:blipFill>
                <a:blip r:embed="rId10"/>
                <a:stretch>
                  <a:fillRect/>
                </a:stretch>
              </a:blipFill>
            </p:spPr>
            <p:txBody>
              <a:bodyPr/>
              <a:lstStyle/>
              <a:p>
                <a:r>
                  <a:rPr lang="en-US">
                    <a:noFill/>
                  </a:rPr>
                  <a:t> </a:t>
                </a:r>
              </a:p>
            </p:txBody>
          </p:sp>
        </mc:Fallback>
      </mc:AlternateContent>
      <p:sp>
        <p:nvSpPr>
          <p:cNvPr id="47" name="Right Brace 46">
            <a:extLst>
              <a:ext uri="{FF2B5EF4-FFF2-40B4-BE49-F238E27FC236}">
                <a16:creationId xmlns:a16="http://schemas.microsoft.com/office/drawing/2014/main" id="{3C4850D3-8A6A-C8CF-7418-EAF5071576D1}"/>
              </a:ext>
            </a:extLst>
          </p:cNvPr>
          <p:cNvSpPr/>
          <p:nvPr/>
        </p:nvSpPr>
        <p:spPr>
          <a:xfrm flipH="1">
            <a:off x="8008688" y="20931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7855BC34-BC0B-B8C1-466C-D5B42EF6A6CF}"/>
                  </a:ext>
                </a:extLst>
              </p:cNvPr>
              <p:cNvSpPr txBox="1"/>
              <p:nvPr/>
            </p:nvSpPr>
            <p:spPr>
              <a:xfrm>
                <a:off x="4114067" y="1188816"/>
                <a:ext cx="3212418" cy="40011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1</m:t>
                          </m:r>
                        </m:sub>
                      </m:sSub>
                      <m:d>
                        <m:dPr>
                          <m:begChr m:val="|"/>
                          <m:endChr m:val="⟩"/>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1</m:t>
                              </m:r>
                            </m:sub>
                          </m:sSub>
                        </m:e>
                      </m:d>
                      <m:d>
                        <m:dPr>
                          <m:begChr m:val="⟨"/>
                          <m:endChr m:val="|"/>
                          <m:ctrlPr>
                            <a:rPr lang="en-US" sz="2000" b="0" i="1" smtClean="0">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𝑏</m:t>
                              </m:r>
                            </m:e>
                            <m:sub>
                              <m:r>
                                <a:rPr lang="en-US" sz="2000" i="1">
                                  <a:latin typeface="Cambria Math" panose="02040503050406030204" pitchFamily="18" charset="0"/>
                                </a:rPr>
                                <m:t>1</m:t>
                              </m:r>
                            </m:sub>
                          </m:sSub>
                        </m:e>
                      </m:d>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𝑝</m:t>
                          </m:r>
                        </m:e>
                        <m:sub>
                          <m:r>
                            <a:rPr lang="en-US" sz="2000" b="0" i="1" smtClean="0">
                              <a:latin typeface="Cambria Math" panose="02040503050406030204" pitchFamily="18" charset="0"/>
                            </a:rPr>
                            <m:t>2</m:t>
                          </m:r>
                        </m:sub>
                      </m:sSub>
                      <m:d>
                        <m:dPr>
                          <m:begChr m:val="|"/>
                          <m:endChr m:val="⟩"/>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Sub>
                        </m:e>
                      </m:d>
                      <m:d>
                        <m:dPr>
                          <m:begChr m:val="⟨"/>
                          <m:endChr m:val="|"/>
                          <m:ctrlPr>
                            <a:rPr lang="en-US" sz="2000" i="1">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𝑏</m:t>
                              </m:r>
                            </m:e>
                            <m:sub>
                              <m:r>
                                <a:rPr lang="en-US" sz="2000" b="0" i="1" smtClean="0">
                                  <a:latin typeface="Cambria Math" panose="02040503050406030204" pitchFamily="18" charset="0"/>
                                </a:rPr>
                                <m:t>2</m:t>
                              </m:r>
                            </m:sub>
                          </m:sSub>
                        </m:e>
                      </m:d>
                    </m:oMath>
                  </m:oMathPara>
                </a14:m>
                <a:endParaRPr lang="en-US" sz="2000" dirty="0"/>
              </a:p>
            </p:txBody>
          </p:sp>
        </mc:Choice>
        <mc:Fallback>
          <p:sp>
            <p:nvSpPr>
              <p:cNvPr id="8" name="TextBox 7">
                <a:extLst>
                  <a:ext uri="{FF2B5EF4-FFF2-40B4-BE49-F238E27FC236}">
                    <a16:creationId xmlns:a16="http://schemas.microsoft.com/office/drawing/2014/main" id="{7855BC34-BC0B-B8C1-466C-D5B42EF6A6CF}"/>
                  </a:ext>
                </a:extLst>
              </p:cNvPr>
              <p:cNvSpPr txBox="1">
                <a:spLocks noRot="1" noChangeAspect="1" noMove="1" noResize="1" noEditPoints="1" noAdjustHandles="1" noChangeArrowheads="1" noChangeShapeType="1" noTextEdit="1"/>
              </p:cNvSpPr>
              <p:nvPr/>
            </p:nvSpPr>
            <p:spPr>
              <a:xfrm>
                <a:off x="4114067" y="1188816"/>
                <a:ext cx="3212418" cy="400110"/>
              </a:xfrm>
              <a:prstGeom prst="rect">
                <a:avLst/>
              </a:prstGeom>
              <a:blipFill>
                <a:blip r:embed="rId11"/>
                <a:stretch>
                  <a:fillRect b="-7576"/>
                </a:stretch>
              </a:blipFill>
            </p:spPr>
            <p:txBody>
              <a:bodyPr/>
              <a:lstStyle/>
              <a:p>
                <a:r>
                  <a:rPr lang="en-US">
                    <a:noFill/>
                  </a:rPr>
                  <a:t> </a:t>
                </a:r>
              </a:p>
            </p:txBody>
          </p:sp>
        </mc:Fallback>
      </mc:AlternateContent>
    </p:spTree>
    <p:extLst>
      <p:ext uri="{BB962C8B-B14F-4D97-AF65-F5344CB8AC3E}">
        <p14:creationId xmlns:p14="http://schemas.microsoft.com/office/powerpoint/2010/main" val="10373588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40" grpId="0"/>
      <p:bldP spid="41" grpId="0"/>
      <p:bldP spid="42" grpId="0"/>
      <p:bldP spid="43" grpId="0"/>
      <p:bldP spid="44" grpId="0"/>
      <p:bldP spid="45" grpId="0"/>
      <p:bldP spid="46" grpId="0"/>
      <p:bldP spid="4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9984-6E26-0352-8071-4B9E4807F88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CB8A5E-5A32-1856-97BD-0CC81EB0C474}"/>
              </a:ext>
            </a:extLst>
          </p:cNvPr>
          <p:cNvSpPr txBox="1"/>
          <p:nvPr/>
        </p:nvSpPr>
        <p:spPr>
          <a:xfrm>
            <a:off x="1504999" y="232975"/>
            <a:ext cx="5859681" cy="830997"/>
          </a:xfrm>
          <a:prstGeom prst="rect">
            <a:avLst/>
          </a:prstGeom>
          <a:noFill/>
        </p:spPr>
        <p:txBody>
          <a:bodyPr wrap="none" rtlCol="0">
            <a:spAutoFit/>
          </a:bodyPr>
          <a:lstStyle/>
          <a:p>
            <a:pPr algn="ctr"/>
            <a:r>
              <a:rPr lang="en-US" sz="4800" dirty="0"/>
              <a:t>Von Neumann entropy</a:t>
            </a:r>
          </a:p>
        </p:txBody>
      </p:sp>
      <p:sp>
        <p:nvSpPr>
          <p:cNvPr id="33" name="Right Brace 32">
            <a:extLst>
              <a:ext uri="{FF2B5EF4-FFF2-40B4-BE49-F238E27FC236}">
                <a16:creationId xmlns:a16="http://schemas.microsoft.com/office/drawing/2014/main" id="{1040D1B4-7184-14AC-3640-732120808AB9}"/>
              </a:ext>
            </a:extLst>
          </p:cNvPr>
          <p:cNvSpPr/>
          <p:nvPr/>
        </p:nvSpPr>
        <p:spPr>
          <a:xfrm>
            <a:off x="2885640" y="2104994"/>
            <a:ext cx="130054" cy="1271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46" name="TextBox 45">
                <a:extLst>
                  <a:ext uri="{FF2B5EF4-FFF2-40B4-BE49-F238E27FC236}">
                    <a16:creationId xmlns:a16="http://schemas.microsoft.com/office/drawing/2014/main" id="{E9C26546-1A85-F52A-D7EE-A300D5954980}"/>
                  </a:ext>
                </a:extLst>
              </p:cNvPr>
              <p:cNvSpPr txBox="1"/>
              <p:nvPr/>
            </p:nvSpPr>
            <p:spPr>
              <a:xfrm>
                <a:off x="5452473" y="2043628"/>
                <a:ext cx="2550442" cy="107721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smtClean="0">
                          <a:latin typeface="Cambria Math" panose="02040503050406030204" pitchFamily="18" charset="0"/>
                        </a:rPr>
                        <m:t>=</m:t>
                      </m:r>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1</m:t>
                          </m:r>
                        </m:sub>
                      </m:sSub>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1</m:t>
                              </m:r>
                            </m:sub>
                          </m:sSub>
                        </m:e>
                      </m:func>
                    </m:oMath>
                  </m:oMathPara>
                </a14:m>
                <a:br>
                  <a:rPr lang="en-US" sz="3200" b="0" i="1" dirty="0">
                    <a:latin typeface="Cambria Math" panose="02040503050406030204" pitchFamily="18" charset="0"/>
                  </a:rPr>
                </a:br>
                <a:r>
                  <a:rPr lang="en-US" sz="3200" b="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2</m:t>
                        </m:r>
                      </m:sub>
                    </m:sSub>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𝑝</m:t>
                            </m:r>
                          </m:e>
                          <m:sub>
                            <m:r>
                              <a:rPr lang="en-US" sz="3200" b="0" i="1" smtClean="0">
                                <a:latin typeface="Cambria Math" panose="02040503050406030204" pitchFamily="18" charset="0"/>
                              </a:rPr>
                              <m:t>2</m:t>
                            </m:r>
                          </m:sub>
                        </m:sSub>
                      </m:e>
                    </m:func>
                  </m:oMath>
                </a14:m>
                <a:endParaRPr lang="en-US" sz="3200" dirty="0"/>
              </a:p>
            </p:txBody>
          </p:sp>
        </mc:Choice>
        <mc:Fallback>
          <p:sp>
            <p:nvSpPr>
              <p:cNvPr id="46" name="TextBox 45">
                <a:extLst>
                  <a:ext uri="{FF2B5EF4-FFF2-40B4-BE49-F238E27FC236}">
                    <a16:creationId xmlns:a16="http://schemas.microsoft.com/office/drawing/2014/main" id="{E9C26546-1A85-F52A-D7EE-A300D5954980}"/>
                  </a:ext>
                </a:extLst>
              </p:cNvPr>
              <p:cNvSpPr txBox="1">
                <a:spLocks noRot="1" noChangeAspect="1" noMove="1" noResize="1" noEditPoints="1" noAdjustHandles="1" noChangeArrowheads="1" noChangeShapeType="1" noTextEdit="1"/>
              </p:cNvSpPr>
              <p:nvPr/>
            </p:nvSpPr>
            <p:spPr>
              <a:xfrm>
                <a:off x="5452473" y="2043628"/>
                <a:ext cx="2550442" cy="107721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5D7D210F-50CE-228C-7AD6-044D6620E3AA}"/>
                  </a:ext>
                </a:extLst>
              </p:cNvPr>
              <p:cNvSpPr txBox="1"/>
              <p:nvPr/>
            </p:nvSpPr>
            <p:spPr>
              <a:xfrm>
                <a:off x="2991632" y="2470678"/>
                <a:ext cx="4062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𝑟</m:t>
                      </m:r>
                    </m:oMath>
                  </m:oMathPara>
                </a14:m>
                <a:endParaRPr lang="en-US" sz="2400" dirty="0"/>
              </a:p>
            </p:txBody>
          </p:sp>
        </mc:Choice>
        <mc:Fallback xmlns="">
          <p:sp>
            <p:nvSpPr>
              <p:cNvPr id="48" name="TextBox 47">
                <a:extLst>
                  <a:ext uri="{FF2B5EF4-FFF2-40B4-BE49-F238E27FC236}">
                    <a16:creationId xmlns:a16="http://schemas.microsoft.com/office/drawing/2014/main" id="{5D7D210F-50CE-228C-7AD6-044D6620E3AA}"/>
                  </a:ext>
                </a:extLst>
              </p:cNvPr>
              <p:cNvSpPr txBox="1">
                <a:spLocks noRot="1" noChangeAspect="1" noMove="1" noResize="1" noEditPoints="1" noAdjustHandles="1" noChangeArrowheads="1" noChangeShapeType="1" noTextEdit="1"/>
              </p:cNvSpPr>
              <p:nvPr/>
            </p:nvSpPr>
            <p:spPr>
              <a:xfrm>
                <a:off x="2991632" y="2470678"/>
                <a:ext cx="406200"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TextBox 48">
                <a:extLst>
                  <a:ext uri="{FF2B5EF4-FFF2-40B4-BE49-F238E27FC236}">
                    <a16:creationId xmlns:a16="http://schemas.microsoft.com/office/drawing/2014/main" id="{B12519EA-6720-BCC2-A3B5-767295E7B76C}"/>
                  </a:ext>
                </a:extLst>
              </p:cNvPr>
              <p:cNvSpPr txBox="1"/>
              <p:nvPr/>
            </p:nvSpPr>
            <p:spPr>
              <a:xfrm>
                <a:off x="5470070" y="3921587"/>
                <a:ext cx="2890343" cy="1483098"/>
              </a:xfrm>
              <a:prstGeom prst="rect">
                <a:avLst/>
              </a:prstGeom>
              <a:noFill/>
            </p:spPr>
            <p:txBody>
              <a:bodyPr wrap="none" rtlCol="0">
                <a:spAutoFit/>
              </a:bodyPr>
              <a:lstStyle/>
              <a:p>
                <a14:m>
                  <m:oMath xmlns:m="http://schemas.openxmlformats.org/officeDocument/2006/math">
                    <m:r>
                      <a:rPr lang="en-US" sz="3200" i="1" smtClean="0">
                        <a:latin typeface="Cambria Math" panose="02040503050406030204" pitchFamily="18" charset="0"/>
                      </a:rPr>
                      <m:t>=</m:t>
                    </m:r>
                    <m:r>
                      <a:rPr lang="en-US" sz="3200" b="0" i="1" smtClean="0">
                        <a:latin typeface="Cambria Math" panose="02040503050406030204" pitchFamily="18" charset="0"/>
                      </a:rPr>
                      <m:t>−</m:t>
                    </m:r>
                    <m:f>
                      <m:fPr>
                        <m:ctrlPr>
                          <a:rPr lang="en-US" sz="3200" b="0" i="1" smtClean="0">
                            <a:latin typeface="Cambria Math" panose="02040503050406030204" pitchFamily="18" charset="0"/>
                          </a:rPr>
                        </m:ctrlPr>
                      </m:fPr>
                      <m:num>
                        <m:r>
                          <a:rPr lang="en-US" sz="3200" b="0" i="1" smtClean="0">
                            <a:latin typeface="Cambria Math" panose="02040503050406030204" pitchFamily="18" charset="0"/>
                          </a:rPr>
                          <m:t>1+</m:t>
                        </m:r>
                        <m:r>
                          <a:rPr lang="en-US" sz="3200" b="0" i="1" smtClean="0">
                            <a:latin typeface="Cambria Math" panose="02040503050406030204" pitchFamily="18" charset="0"/>
                          </a:rPr>
                          <m:t>𝑟</m:t>
                        </m:r>
                      </m:num>
                      <m:den>
                        <m:r>
                          <a:rPr lang="en-US" sz="3200" b="0" i="1" smtClean="0">
                            <a:latin typeface="Cambria Math" panose="02040503050406030204" pitchFamily="18" charset="0"/>
                          </a:rPr>
                          <m:t>2</m:t>
                        </m:r>
                      </m:den>
                    </m:f>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𝑟</m:t>
                            </m:r>
                          </m:num>
                          <m:den>
                            <m:r>
                              <a:rPr lang="en-US" sz="3200" i="1">
                                <a:latin typeface="Cambria Math" panose="02040503050406030204" pitchFamily="18" charset="0"/>
                              </a:rPr>
                              <m:t>2</m:t>
                            </m:r>
                          </m:den>
                        </m:f>
                      </m:e>
                    </m:func>
                  </m:oMath>
                </a14:m>
                <a:r>
                  <a:rPr lang="en-US" sz="3200" i="1" dirty="0">
                    <a:latin typeface="Cambria Math" panose="02040503050406030204" pitchFamily="18" charset="0"/>
                  </a:rPr>
                  <a:t> </a:t>
                </a:r>
                <a:br>
                  <a:rPr lang="en-US" sz="3200" i="1" dirty="0">
                    <a:latin typeface="Cambria Math" panose="02040503050406030204" pitchFamily="18" charset="0"/>
                  </a:rPr>
                </a:br>
                <a:r>
                  <a:rPr lang="en-US" sz="3200" i="1" dirty="0">
                    <a:latin typeface="Cambria Math" panose="02040503050406030204" pitchFamily="18" charset="0"/>
                  </a:rPr>
                  <a:t>    </a:t>
                </a:r>
                <a14:m>
                  <m:oMath xmlns:m="http://schemas.openxmlformats.org/officeDocument/2006/math">
                    <m:r>
                      <a:rPr lang="en-US" sz="3200" b="0" i="1" smtClean="0">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b="0" i="1" smtClean="0">
                            <a:latin typeface="Cambria Math" panose="02040503050406030204" pitchFamily="18" charset="0"/>
                          </a:rPr>
                          <m:t>−</m:t>
                        </m:r>
                        <m:r>
                          <a:rPr lang="en-US" sz="3200" i="1">
                            <a:latin typeface="Cambria Math" panose="02040503050406030204" pitchFamily="18" charset="0"/>
                          </a:rPr>
                          <m:t>𝑟</m:t>
                        </m:r>
                      </m:num>
                      <m:den>
                        <m:r>
                          <a:rPr lang="en-US" sz="3200" i="1">
                            <a:latin typeface="Cambria Math" panose="02040503050406030204" pitchFamily="18" charset="0"/>
                          </a:rPr>
                          <m:t>2</m:t>
                        </m:r>
                      </m:den>
                    </m:f>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𝑟</m:t>
                            </m:r>
                          </m:num>
                          <m:den>
                            <m:r>
                              <a:rPr lang="en-US" sz="3200" i="1">
                                <a:latin typeface="Cambria Math" panose="02040503050406030204" pitchFamily="18" charset="0"/>
                              </a:rPr>
                              <m:t>2</m:t>
                            </m:r>
                          </m:den>
                        </m:f>
                      </m:e>
                    </m:func>
                  </m:oMath>
                </a14:m>
                <a:r>
                  <a:rPr lang="en-US" sz="3200" dirty="0"/>
                  <a:t> </a:t>
                </a:r>
              </a:p>
            </p:txBody>
          </p:sp>
        </mc:Choice>
        <mc:Fallback>
          <p:sp>
            <p:nvSpPr>
              <p:cNvPr id="49" name="TextBox 48">
                <a:extLst>
                  <a:ext uri="{FF2B5EF4-FFF2-40B4-BE49-F238E27FC236}">
                    <a16:creationId xmlns:a16="http://schemas.microsoft.com/office/drawing/2014/main" id="{B12519EA-6720-BCC2-A3B5-767295E7B76C}"/>
                  </a:ext>
                </a:extLst>
              </p:cNvPr>
              <p:cNvSpPr txBox="1">
                <a:spLocks noRot="1" noChangeAspect="1" noMove="1" noResize="1" noEditPoints="1" noAdjustHandles="1" noChangeArrowheads="1" noChangeShapeType="1" noTextEdit="1"/>
              </p:cNvSpPr>
              <p:nvPr/>
            </p:nvSpPr>
            <p:spPr>
              <a:xfrm>
                <a:off x="5470070" y="3921587"/>
                <a:ext cx="2890343" cy="148309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2AABA85C-07DC-4D11-893E-2B170BE9EE81}"/>
                  </a:ext>
                </a:extLst>
              </p:cNvPr>
              <p:cNvSpPr txBox="1"/>
              <p:nvPr/>
            </p:nvSpPr>
            <p:spPr>
              <a:xfrm>
                <a:off x="5470070" y="1280195"/>
                <a:ext cx="1081706" cy="58477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𝑆</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𝜌</m:t>
                          </m:r>
                        </m:e>
                      </m:d>
                    </m:oMath>
                  </m:oMathPara>
                </a14:m>
                <a:endParaRPr lang="en-US" sz="3200" dirty="0"/>
              </a:p>
            </p:txBody>
          </p:sp>
        </mc:Choice>
        <mc:Fallback>
          <p:sp>
            <p:nvSpPr>
              <p:cNvPr id="50" name="TextBox 49">
                <a:extLst>
                  <a:ext uri="{FF2B5EF4-FFF2-40B4-BE49-F238E27FC236}">
                    <a16:creationId xmlns:a16="http://schemas.microsoft.com/office/drawing/2014/main" id="{2AABA85C-07DC-4D11-893E-2B170BE9EE81}"/>
                  </a:ext>
                </a:extLst>
              </p:cNvPr>
              <p:cNvSpPr txBox="1">
                <a:spLocks noRot="1" noChangeAspect="1" noMove="1" noResize="1" noEditPoints="1" noAdjustHandles="1" noChangeArrowheads="1" noChangeShapeType="1" noTextEdit="1"/>
              </p:cNvSpPr>
              <p:nvPr/>
            </p:nvSpPr>
            <p:spPr>
              <a:xfrm>
                <a:off x="5470070" y="1280195"/>
                <a:ext cx="1081706" cy="584775"/>
              </a:xfrm>
              <a:prstGeom prst="rect">
                <a:avLst/>
              </a:prstGeom>
              <a:blipFill>
                <a:blip r:embed="rId5"/>
                <a:stretch>
                  <a:fillRect/>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1862510C-2693-A8F4-CA59-B5BF6CF3C57B}"/>
              </a:ext>
            </a:extLst>
          </p:cNvPr>
          <p:cNvGrpSpPr/>
          <p:nvPr/>
        </p:nvGrpSpPr>
        <p:grpSpPr>
          <a:xfrm>
            <a:off x="1053900" y="1555785"/>
            <a:ext cx="3577708" cy="3577703"/>
            <a:chOff x="2521889" y="2808131"/>
            <a:chExt cx="1916265" cy="1916264"/>
          </a:xfrm>
        </p:grpSpPr>
        <p:sp>
          <p:nvSpPr>
            <p:cNvPr id="52" name="Oval 51">
              <a:extLst>
                <a:ext uri="{FF2B5EF4-FFF2-40B4-BE49-F238E27FC236}">
                  <a16:creationId xmlns:a16="http://schemas.microsoft.com/office/drawing/2014/main" id="{C47E0C44-6E4F-02D1-3850-857E8D263BDE}"/>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Oval 31">
              <a:extLst>
                <a:ext uri="{FF2B5EF4-FFF2-40B4-BE49-F238E27FC236}">
                  <a16:creationId xmlns:a16="http://schemas.microsoft.com/office/drawing/2014/main" id="{B1783656-B943-9A38-B199-D27ADD6FB6FC}"/>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3374847F-1BAF-16C2-44FC-5386848E66A2}"/>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55" name="Straight Connector 54">
            <a:extLst>
              <a:ext uri="{FF2B5EF4-FFF2-40B4-BE49-F238E27FC236}">
                <a16:creationId xmlns:a16="http://schemas.microsoft.com/office/drawing/2014/main" id="{056A8AF6-2DF9-672D-1672-3780C0E2E312}"/>
              </a:ext>
            </a:extLst>
          </p:cNvPr>
          <p:cNvCxnSpPr>
            <a:cxnSpLocks/>
          </p:cNvCxnSpPr>
          <p:nvPr/>
        </p:nvCxnSpPr>
        <p:spPr>
          <a:xfrm>
            <a:off x="2842754"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sp>
        <p:nvSpPr>
          <p:cNvPr id="56" name="Right Brace 55">
            <a:extLst>
              <a:ext uri="{FF2B5EF4-FFF2-40B4-BE49-F238E27FC236}">
                <a16:creationId xmlns:a16="http://schemas.microsoft.com/office/drawing/2014/main" id="{147E229F-DC8A-CFA7-FE73-77044A4030BC}"/>
              </a:ext>
            </a:extLst>
          </p:cNvPr>
          <p:cNvSpPr/>
          <p:nvPr/>
        </p:nvSpPr>
        <p:spPr>
          <a:xfrm flipH="1">
            <a:off x="2658629" y="15788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CC4514C-6F18-AEDF-2A77-CD07D7831CE4}"/>
                  </a:ext>
                </a:extLst>
              </p:cNvPr>
              <p:cNvSpPr txBox="1"/>
              <p:nvPr/>
            </p:nvSpPr>
            <p:spPr>
              <a:xfrm>
                <a:off x="2817031" y="1656960"/>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58" name="TextBox 57">
                <a:extLst>
                  <a:ext uri="{FF2B5EF4-FFF2-40B4-BE49-F238E27FC236}">
                    <a16:creationId xmlns:a16="http://schemas.microsoft.com/office/drawing/2014/main" id="{0CC4514C-6F18-AEDF-2A77-CD07D7831CE4}"/>
                  </a:ext>
                </a:extLst>
              </p:cNvPr>
              <p:cNvSpPr txBox="1">
                <a:spLocks noRot="1" noChangeAspect="1" noMove="1" noResize="1" noEditPoints="1" noAdjustHandles="1" noChangeArrowheads="1" noChangeShapeType="1" noTextEdit="1"/>
              </p:cNvSpPr>
              <p:nvPr/>
            </p:nvSpPr>
            <p:spPr>
              <a:xfrm>
                <a:off x="2817031" y="1656960"/>
                <a:ext cx="430502"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60C4E1F7-4962-5AE4-3B05-2D33519D0D98}"/>
                  </a:ext>
                </a:extLst>
              </p:cNvPr>
              <p:cNvSpPr txBox="1"/>
              <p:nvPr/>
            </p:nvSpPr>
            <p:spPr>
              <a:xfrm>
                <a:off x="2227383" y="1508317"/>
                <a:ext cx="55797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59" name="TextBox 58">
                <a:extLst>
                  <a:ext uri="{FF2B5EF4-FFF2-40B4-BE49-F238E27FC236}">
                    <a16:creationId xmlns:a16="http://schemas.microsoft.com/office/drawing/2014/main" id="{60C4E1F7-4962-5AE4-3B05-2D33519D0D98}"/>
                  </a:ext>
                </a:extLst>
              </p:cNvPr>
              <p:cNvSpPr txBox="1">
                <a:spLocks noRot="1" noChangeAspect="1" noMove="1" noResize="1" noEditPoints="1" noAdjustHandles="1" noChangeArrowheads="1" noChangeShapeType="1" noTextEdit="1"/>
              </p:cNvSpPr>
              <p:nvPr/>
            </p:nvSpPr>
            <p:spPr>
              <a:xfrm>
                <a:off x="2227383" y="1508317"/>
                <a:ext cx="557973" cy="461665"/>
              </a:xfrm>
              <a:prstGeom prst="rect">
                <a:avLst/>
              </a:prstGeom>
              <a:blipFill>
                <a:blip r:embed="rId7"/>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CC352445-6D04-BBF9-ECC8-254A8A14B4A7}"/>
                  </a:ext>
                </a:extLst>
              </p:cNvPr>
              <p:cNvSpPr txBox="1"/>
              <p:nvPr/>
            </p:nvSpPr>
            <p:spPr>
              <a:xfrm>
                <a:off x="2227383" y="3321877"/>
                <a:ext cx="5508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60" name="TextBox 59">
                <a:extLst>
                  <a:ext uri="{FF2B5EF4-FFF2-40B4-BE49-F238E27FC236}">
                    <a16:creationId xmlns:a16="http://schemas.microsoft.com/office/drawing/2014/main" id="{CC352445-6D04-BBF9-ECC8-254A8A14B4A7}"/>
                  </a:ext>
                </a:extLst>
              </p:cNvPr>
              <p:cNvSpPr txBox="1">
                <a:spLocks noRot="1" noChangeAspect="1" noMove="1" noResize="1" noEditPoints="1" noAdjustHandles="1" noChangeArrowheads="1" noChangeShapeType="1" noTextEdit="1"/>
              </p:cNvSpPr>
              <p:nvPr/>
            </p:nvSpPr>
            <p:spPr>
              <a:xfrm>
                <a:off x="2227383" y="3321877"/>
                <a:ext cx="550856" cy="461665"/>
              </a:xfrm>
              <a:prstGeom prst="rect">
                <a:avLst/>
              </a:prstGeom>
              <a:blipFill>
                <a:blip r:embed="rId8"/>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E06D0794-C996-5D47-8C5D-D5AEE8FF11AD}"/>
                  </a:ext>
                </a:extLst>
              </p:cNvPr>
              <p:cNvSpPr txBox="1"/>
              <p:nvPr/>
            </p:nvSpPr>
            <p:spPr>
              <a:xfrm>
                <a:off x="2578740"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61" name="TextBox 60">
                <a:extLst>
                  <a:ext uri="{FF2B5EF4-FFF2-40B4-BE49-F238E27FC236}">
                    <a16:creationId xmlns:a16="http://schemas.microsoft.com/office/drawing/2014/main" id="{E06D0794-C996-5D47-8C5D-D5AEE8FF11AD}"/>
                  </a:ext>
                </a:extLst>
              </p:cNvPr>
              <p:cNvSpPr txBox="1">
                <a:spLocks noRot="1" noChangeAspect="1" noMove="1" noResize="1" noEditPoints="1" noAdjustHandles="1" noChangeArrowheads="1" noChangeShapeType="1" noTextEdit="1"/>
              </p:cNvSpPr>
              <p:nvPr/>
            </p:nvSpPr>
            <p:spPr>
              <a:xfrm>
                <a:off x="2578740" y="5087963"/>
                <a:ext cx="553164"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FF1B31E6-AAE3-22B7-050F-1C617FBB0448}"/>
                  </a:ext>
                </a:extLst>
              </p:cNvPr>
              <p:cNvSpPr txBox="1"/>
              <p:nvPr/>
            </p:nvSpPr>
            <p:spPr>
              <a:xfrm>
                <a:off x="2578740"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62" name="TextBox 61">
                <a:extLst>
                  <a:ext uri="{FF2B5EF4-FFF2-40B4-BE49-F238E27FC236}">
                    <a16:creationId xmlns:a16="http://schemas.microsoft.com/office/drawing/2014/main" id="{FF1B31E6-AAE3-22B7-050F-1C617FBB0448}"/>
                  </a:ext>
                </a:extLst>
              </p:cNvPr>
              <p:cNvSpPr txBox="1">
                <a:spLocks noRot="1" noChangeAspect="1" noMove="1" noResize="1" noEditPoints="1" noAdjustHandles="1" noChangeArrowheads="1" noChangeShapeType="1" noTextEdit="1"/>
              </p:cNvSpPr>
              <p:nvPr/>
            </p:nvSpPr>
            <p:spPr>
              <a:xfrm>
                <a:off x="2578740" y="1049363"/>
                <a:ext cx="546047" cy="461665"/>
              </a:xfrm>
              <a:prstGeom prst="rect">
                <a:avLst/>
              </a:prstGeom>
              <a:blipFill>
                <a:blip r:embed="rId10"/>
                <a:stretch>
                  <a:fillRect b="-1316"/>
                </a:stretch>
              </a:blipFill>
            </p:spPr>
            <p:txBody>
              <a:bodyPr/>
              <a:lstStyle/>
              <a:p>
                <a:r>
                  <a:rPr lang="en-US">
                    <a:noFill/>
                  </a:rPr>
                  <a:t> </a:t>
                </a:r>
              </a:p>
            </p:txBody>
          </p:sp>
        </mc:Fallback>
      </mc:AlternateContent>
      <p:sp>
        <p:nvSpPr>
          <p:cNvPr id="63" name="Right Brace 62">
            <a:extLst>
              <a:ext uri="{FF2B5EF4-FFF2-40B4-BE49-F238E27FC236}">
                <a16:creationId xmlns:a16="http://schemas.microsoft.com/office/drawing/2014/main" id="{FEE9EBEA-1C8D-E45C-D7DC-C4497CA4336E}"/>
              </a:ext>
            </a:extLst>
          </p:cNvPr>
          <p:cNvSpPr/>
          <p:nvPr/>
        </p:nvSpPr>
        <p:spPr>
          <a:xfrm flipH="1">
            <a:off x="2658629" y="20931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Oval 56">
            <a:extLst>
              <a:ext uri="{FF2B5EF4-FFF2-40B4-BE49-F238E27FC236}">
                <a16:creationId xmlns:a16="http://schemas.microsoft.com/office/drawing/2014/main" id="{D6D8A295-375E-4E09-7822-11808BD4BCBB}"/>
              </a:ext>
            </a:extLst>
          </p:cNvPr>
          <p:cNvSpPr/>
          <p:nvPr/>
        </p:nvSpPr>
        <p:spPr>
          <a:xfrm>
            <a:off x="2793071" y="2043628"/>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D10EF786-4C33-9A74-534D-100C098B03BF}"/>
              </a:ext>
            </a:extLst>
          </p:cNvPr>
          <p:cNvPicPr>
            <a:picLocks noChangeAspect="1"/>
          </p:cNvPicPr>
          <p:nvPr/>
        </p:nvPicPr>
        <p:blipFill>
          <a:blip r:embed="rId11"/>
          <a:stretch>
            <a:fillRect/>
          </a:stretch>
        </p:blipFill>
        <p:spPr>
          <a:xfrm>
            <a:off x="8340629" y="315210"/>
            <a:ext cx="3470372" cy="3462539"/>
          </a:xfrm>
          <a:prstGeom prst="rect">
            <a:avLst/>
          </a:prstGeom>
        </p:spPr>
      </p:pic>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E4C77F4F-923D-0F0C-3A0E-26C7F46A34EE}"/>
                  </a:ext>
                </a:extLst>
              </p:cNvPr>
              <p:cNvSpPr txBox="1"/>
              <p:nvPr/>
            </p:nvSpPr>
            <p:spPr>
              <a:xfrm>
                <a:off x="7772399" y="115155"/>
                <a:ext cx="74392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𝑆</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𝜌</m:t>
                          </m:r>
                        </m:e>
                      </m:d>
                    </m:oMath>
                  </m:oMathPara>
                </a14:m>
                <a:endParaRPr lang="en-US" sz="2000" dirty="0"/>
              </a:p>
            </p:txBody>
          </p:sp>
        </mc:Choice>
        <mc:Fallback>
          <p:sp>
            <p:nvSpPr>
              <p:cNvPr id="6" name="TextBox 5">
                <a:extLst>
                  <a:ext uri="{FF2B5EF4-FFF2-40B4-BE49-F238E27FC236}">
                    <a16:creationId xmlns:a16="http://schemas.microsoft.com/office/drawing/2014/main" id="{E4C77F4F-923D-0F0C-3A0E-26C7F46A34EE}"/>
                  </a:ext>
                </a:extLst>
              </p:cNvPr>
              <p:cNvSpPr txBox="1">
                <a:spLocks noRot="1" noChangeAspect="1" noMove="1" noResize="1" noEditPoints="1" noAdjustHandles="1" noChangeArrowheads="1" noChangeShapeType="1" noTextEdit="1"/>
              </p:cNvSpPr>
              <p:nvPr/>
            </p:nvSpPr>
            <p:spPr>
              <a:xfrm>
                <a:off x="7772399" y="115155"/>
                <a:ext cx="743922" cy="400110"/>
              </a:xfrm>
              <a:prstGeom prst="rect">
                <a:avLst/>
              </a:prstGeom>
              <a:blipFill>
                <a:blip r:embed="rId12"/>
                <a:stretch>
                  <a:fillRect b="-6061"/>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FD2682C9-9C3D-F353-E06C-A4231FC736E6}"/>
                  </a:ext>
                </a:extLst>
              </p:cNvPr>
              <p:cNvSpPr txBox="1"/>
              <p:nvPr/>
            </p:nvSpPr>
            <p:spPr>
              <a:xfrm>
                <a:off x="11497817" y="3721532"/>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p:sp>
            <p:nvSpPr>
              <p:cNvPr id="8" name="TextBox 7">
                <a:extLst>
                  <a:ext uri="{FF2B5EF4-FFF2-40B4-BE49-F238E27FC236}">
                    <a16:creationId xmlns:a16="http://schemas.microsoft.com/office/drawing/2014/main" id="{FD2682C9-9C3D-F353-E06C-A4231FC736E6}"/>
                  </a:ext>
                </a:extLst>
              </p:cNvPr>
              <p:cNvSpPr txBox="1">
                <a:spLocks noRot="1" noChangeAspect="1" noMove="1" noResize="1" noEditPoints="1" noAdjustHandles="1" noChangeArrowheads="1" noChangeShapeType="1" noTextEdit="1"/>
              </p:cNvSpPr>
              <p:nvPr/>
            </p:nvSpPr>
            <p:spPr>
              <a:xfrm>
                <a:off x="11497817" y="3721532"/>
                <a:ext cx="369845" cy="400110"/>
              </a:xfrm>
              <a:prstGeom prst="rect">
                <a:avLst/>
              </a:prstGeom>
              <a:blipFill>
                <a:blip r:embed="rId1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6855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6" grpId="0"/>
      <p:bldP spid="48" grpId="0"/>
      <p:bldP spid="49" grpId="0"/>
      <p:bldP spid="50" grpId="0"/>
      <p:bldP spid="56" grpId="0" animBg="1"/>
      <p:bldP spid="59" grpId="0"/>
      <p:bldP spid="60" grpId="0"/>
      <p:bldP spid="61" grpId="0"/>
      <p:bldP spid="62" grpId="0"/>
      <p:bldP spid="6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DF4D-21E8-B5BF-6D0D-1C236694ED1D}"/>
            </a:ext>
          </a:extLst>
        </p:cNvPr>
        <p:cNvGrpSpPr/>
        <p:nvPr/>
      </p:nvGrpSpPr>
      <p:grpSpPr>
        <a:xfrm>
          <a:off x="0" y="0"/>
          <a:ext cx="0" cy="0"/>
          <a:chOff x="0" y="0"/>
          <a:chExt cx="0" cy="0"/>
        </a:xfrm>
      </p:grpSpPr>
      <p:sp>
        <p:nvSpPr>
          <p:cNvPr id="33" name="Right Brace 32">
            <a:extLst>
              <a:ext uri="{FF2B5EF4-FFF2-40B4-BE49-F238E27FC236}">
                <a16:creationId xmlns:a16="http://schemas.microsoft.com/office/drawing/2014/main" id="{DA597946-DE89-5ABA-C8CA-469838E2511A}"/>
              </a:ext>
            </a:extLst>
          </p:cNvPr>
          <p:cNvSpPr/>
          <p:nvPr/>
        </p:nvSpPr>
        <p:spPr>
          <a:xfrm>
            <a:off x="2885640" y="2104994"/>
            <a:ext cx="130054" cy="127173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2E908E9-D9F1-ACF8-E1E2-ED06BE48671C}"/>
                  </a:ext>
                </a:extLst>
              </p:cNvPr>
              <p:cNvSpPr txBox="1"/>
              <p:nvPr/>
            </p:nvSpPr>
            <p:spPr>
              <a:xfrm>
                <a:off x="2991632" y="2470678"/>
                <a:ext cx="4062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𝑟</m:t>
                      </m:r>
                    </m:oMath>
                  </m:oMathPara>
                </a14:m>
                <a:endParaRPr lang="en-US" sz="2400" dirty="0"/>
              </a:p>
            </p:txBody>
          </p:sp>
        </mc:Choice>
        <mc:Fallback xmlns="">
          <p:sp>
            <p:nvSpPr>
              <p:cNvPr id="48" name="TextBox 47">
                <a:extLst>
                  <a:ext uri="{FF2B5EF4-FFF2-40B4-BE49-F238E27FC236}">
                    <a16:creationId xmlns:a16="http://schemas.microsoft.com/office/drawing/2014/main" id="{5D7D210F-50CE-228C-7AD6-044D6620E3AA}"/>
                  </a:ext>
                </a:extLst>
              </p:cNvPr>
              <p:cNvSpPr txBox="1">
                <a:spLocks noRot="1" noChangeAspect="1" noMove="1" noResize="1" noEditPoints="1" noAdjustHandles="1" noChangeArrowheads="1" noChangeShapeType="1" noTextEdit="1"/>
              </p:cNvSpPr>
              <p:nvPr/>
            </p:nvSpPr>
            <p:spPr>
              <a:xfrm>
                <a:off x="2991632" y="2470678"/>
                <a:ext cx="406200" cy="461665"/>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TextBox 49">
                <a:extLst>
                  <a:ext uri="{FF2B5EF4-FFF2-40B4-BE49-F238E27FC236}">
                    <a16:creationId xmlns:a16="http://schemas.microsoft.com/office/drawing/2014/main" id="{F4CC1176-1998-45EF-1486-3D2701C177B9}"/>
                  </a:ext>
                </a:extLst>
              </p:cNvPr>
              <p:cNvSpPr txBox="1"/>
              <p:nvPr/>
            </p:nvSpPr>
            <p:spPr>
              <a:xfrm>
                <a:off x="5599610" y="1508317"/>
                <a:ext cx="6057556" cy="787716"/>
              </a:xfrm>
              <a:prstGeom prst="rect">
                <a:avLst/>
              </a:prstGeom>
              <a:noFill/>
            </p:spPr>
            <p:txBody>
              <a:bodyPr wrap="none" rtlCol="0">
                <a:spAutoFit/>
              </a:bodyPr>
              <a:lstStyle/>
              <a:p>
                <a:pPr/>
                <a14:m>
                  <m:oMath xmlns:m="http://schemas.openxmlformats.org/officeDocument/2006/math">
                    <m:r>
                      <a:rPr lang="en-US" sz="3200" b="0" i="1" smtClean="0">
                        <a:latin typeface="Cambria Math" panose="02040503050406030204" pitchFamily="18" charset="0"/>
                      </a:rPr>
                      <m:t>𝑆</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𝜌</m:t>
                        </m:r>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𝑟</m:t>
                        </m:r>
                      </m:num>
                      <m:den>
                        <m:r>
                          <a:rPr lang="en-US" sz="3200" i="1">
                            <a:latin typeface="Cambria Math" panose="02040503050406030204" pitchFamily="18" charset="0"/>
                          </a:rPr>
                          <m:t>2</m:t>
                        </m:r>
                      </m:den>
                    </m:f>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𝑟</m:t>
                            </m:r>
                          </m:num>
                          <m:den>
                            <m:r>
                              <a:rPr lang="en-US" sz="3200" i="1">
                                <a:latin typeface="Cambria Math" panose="02040503050406030204" pitchFamily="18" charset="0"/>
                              </a:rPr>
                              <m:t>2</m:t>
                            </m:r>
                          </m:den>
                        </m:f>
                      </m:e>
                    </m:func>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m:t>
                        </m:r>
                        <m:r>
                          <a:rPr lang="en-US" sz="3200" i="1">
                            <a:latin typeface="Cambria Math" panose="02040503050406030204" pitchFamily="18" charset="0"/>
                          </a:rPr>
                          <m:t>𝑟</m:t>
                        </m:r>
                      </m:num>
                      <m:den>
                        <m:r>
                          <a:rPr lang="en-US" sz="3200" i="1">
                            <a:latin typeface="Cambria Math" panose="02040503050406030204" pitchFamily="18" charset="0"/>
                          </a:rPr>
                          <m:t>2</m:t>
                        </m:r>
                      </m:den>
                    </m:f>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𝑟</m:t>
                            </m:r>
                          </m:num>
                          <m:den>
                            <m:r>
                              <a:rPr lang="en-US" sz="3200" i="1">
                                <a:latin typeface="Cambria Math" panose="02040503050406030204" pitchFamily="18" charset="0"/>
                              </a:rPr>
                              <m:t>2</m:t>
                            </m:r>
                          </m:den>
                        </m:f>
                      </m:e>
                    </m:func>
                  </m:oMath>
                </a14:m>
                <a:r>
                  <a:rPr lang="en-US" sz="3200" dirty="0"/>
                  <a:t> </a:t>
                </a:r>
              </a:p>
            </p:txBody>
          </p:sp>
        </mc:Choice>
        <mc:Fallback>
          <p:sp>
            <p:nvSpPr>
              <p:cNvPr id="50" name="TextBox 49">
                <a:extLst>
                  <a:ext uri="{FF2B5EF4-FFF2-40B4-BE49-F238E27FC236}">
                    <a16:creationId xmlns:a16="http://schemas.microsoft.com/office/drawing/2014/main" id="{F4CC1176-1998-45EF-1486-3D2701C177B9}"/>
                  </a:ext>
                </a:extLst>
              </p:cNvPr>
              <p:cNvSpPr txBox="1">
                <a:spLocks noRot="1" noChangeAspect="1" noMove="1" noResize="1" noEditPoints="1" noAdjustHandles="1" noChangeArrowheads="1" noChangeShapeType="1" noTextEdit="1"/>
              </p:cNvSpPr>
              <p:nvPr/>
            </p:nvSpPr>
            <p:spPr>
              <a:xfrm>
                <a:off x="5599610" y="1508317"/>
                <a:ext cx="6057556" cy="787716"/>
              </a:xfrm>
              <a:prstGeom prst="rect">
                <a:avLst/>
              </a:prstGeom>
              <a:blipFill>
                <a:blip r:embed="rId4"/>
                <a:stretch>
                  <a:fillRect/>
                </a:stretch>
              </a:blipFill>
            </p:spPr>
            <p:txBody>
              <a:bodyPr/>
              <a:lstStyle/>
              <a:p>
                <a:r>
                  <a:rPr lang="en-US">
                    <a:noFill/>
                  </a:rPr>
                  <a:t> </a:t>
                </a:r>
              </a:p>
            </p:txBody>
          </p:sp>
        </mc:Fallback>
      </mc:AlternateContent>
      <p:grpSp>
        <p:nvGrpSpPr>
          <p:cNvPr id="51" name="Group 50">
            <a:extLst>
              <a:ext uri="{FF2B5EF4-FFF2-40B4-BE49-F238E27FC236}">
                <a16:creationId xmlns:a16="http://schemas.microsoft.com/office/drawing/2014/main" id="{6F0E37CB-8697-549B-2E56-289EC8DD365F}"/>
              </a:ext>
            </a:extLst>
          </p:cNvPr>
          <p:cNvGrpSpPr/>
          <p:nvPr/>
        </p:nvGrpSpPr>
        <p:grpSpPr>
          <a:xfrm>
            <a:off x="1053900" y="1555785"/>
            <a:ext cx="3577708" cy="3577703"/>
            <a:chOff x="2521889" y="2808131"/>
            <a:chExt cx="1916265" cy="1916264"/>
          </a:xfrm>
        </p:grpSpPr>
        <p:sp>
          <p:nvSpPr>
            <p:cNvPr id="52" name="Oval 51">
              <a:extLst>
                <a:ext uri="{FF2B5EF4-FFF2-40B4-BE49-F238E27FC236}">
                  <a16:creationId xmlns:a16="http://schemas.microsoft.com/office/drawing/2014/main" id="{03E3DBBF-E3D7-8277-3EFD-0254621C0BAE}"/>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Oval 31">
              <a:extLst>
                <a:ext uri="{FF2B5EF4-FFF2-40B4-BE49-F238E27FC236}">
                  <a16:creationId xmlns:a16="http://schemas.microsoft.com/office/drawing/2014/main" id="{219738A9-9DBC-4238-47DC-525F8C88D0CF}"/>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C875E025-9AB5-10BA-1794-7A0BE430FCF7}"/>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55" name="Straight Connector 54">
            <a:extLst>
              <a:ext uri="{FF2B5EF4-FFF2-40B4-BE49-F238E27FC236}">
                <a16:creationId xmlns:a16="http://schemas.microsoft.com/office/drawing/2014/main" id="{08DA0CB3-41BF-FF9F-DBBF-47F945ADA936}"/>
              </a:ext>
            </a:extLst>
          </p:cNvPr>
          <p:cNvCxnSpPr>
            <a:cxnSpLocks/>
          </p:cNvCxnSpPr>
          <p:nvPr/>
        </p:nvCxnSpPr>
        <p:spPr>
          <a:xfrm>
            <a:off x="2842754"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sp>
        <p:nvSpPr>
          <p:cNvPr id="56" name="Right Brace 55">
            <a:extLst>
              <a:ext uri="{FF2B5EF4-FFF2-40B4-BE49-F238E27FC236}">
                <a16:creationId xmlns:a16="http://schemas.microsoft.com/office/drawing/2014/main" id="{BABAB83A-9F81-C01F-DB06-D1FF4C8C65B7}"/>
              </a:ext>
            </a:extLst>
          </p:cNvPr>
          <p:cNvSpPr/>
          <p:nvPr/>
        </p:nvSpPr>
        <p:spPr>
          <a:xfrm flipH="1">
            <a:off x="2658629" y="15788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1909677-346C-4E15-235F-3EBA4EC6EC96}"/>
                  </a:ext>
                </a:extLst>
              </p:cNvPr>
              <p:cNvSpPr txBox="1"/>
              <p:nvPr/>
            </p:nvSpPr>
            <p:spPr>
              <a:xfrm>
                <a:off x="2817031" y="1656960"/>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58" name="TextBox 57">
                <a:extLst>
                  <a:ext uri="{FF2B5EF4-FFF2-40B4-BE49-F238E27FC236}">
                    <a16:creationId xmlns:a16="http://schemas.microsoft.com/office/drawing/2014/main" id="{0CC4514C-6F18-AEDF-2A77-CD07D7831CE4}"/>
                  </a:ext>
                </a:extLst>
              </p:cNvPr>
              <p:cNvSpPr txBox="1">
                <a:spLocks noRot="1" noChangeAspect="1" noMove="1" noResize="1" noEditPoints="1" noAdjustHandles="1" noChangeArrowheads="1" noChangeShapeType="1" noTextEdit="1"/>
              </p:cNvSpPr>
              <p:nvPr/>
            </p:nvSpPr>
            <p:spPr>
              <a:xfrm>
                <a:off x="2817031" y="1656960"/>
                <a:ext cx="430502" cy="461665"/>
              </a:xfrm>
              <a:prstGeom prst="rect">
                <a:avLst/>
              </a:prstGeom>
              <a:blipFill>
                <a:blip r:embed="rId6"/>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DEB78AE7-21F2-546A-97B2-0EC655392BD8}"/>
                  </a:ext>
                </a:extLst>
              </p:cNvPr>
              <p:cNvSpPr txBox="1"/>
              <p:nvPr/>
            </p:nvSpPr>
            <p:spPr>
              <a:xfrm>
                <a:off x="2227383" y="1508317"/>
                <a:ext cx="55797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59" name="TextBox 58">
                <a:extLst>
                  <a:ext uri="{FF2B5EF4-FFF2-40B4-BE49-F238E27FC236}">
                    <a16:creationId xmlns:a16="http://schemas.microsoft.com/office/drawing/2014/main" id="{60C4E1F7-4962-5AE4-3B05-2D33519D0D98}"/>
                  </a:ext>
                </a:extLst>
              </p:cNvPr>
              <p:cNvSpPr txBox="1">
                <a:spLocks noRot="1" noChangeAspect="1" noMove="1" noResize="1" noEditPoints="1" noAdjustHandles="1" noChangeArrowheads="1" noChangeShapeType="1" noTextEdit="1"/>
              </p:cNvSpPr>
              <p:nvPr/>
            </p:nvSpPr>
            <p:spPr>
              <a:xfrm>
                <a:off x="2227383" y="1508317"/>
                <a:ext cx="557973" cy="461665"/>
              </a:xfrm>
              <a:prstGeom prst="rect">
                <a:avLst/>
              </a:prstGeom>
              <a:blipFill>
                <a:blip r:embed="rId7"/>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E6BE0FCE-2B5F-41B6-8F93-452220027198}"/>
                  </a:ext>
                </a:extLst>
              </p:cNvPr>
              <p:cNvSpPr txBox="1"/>
              <p:nvPr/>
            </p:nvSpPr>
            <p:spPr>
              <a:xfrm>
                <a:off x="2227383" y="3321877"/>
                <a:ext cx="5508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60" name="TextBox 59">
                <a:extLst>
                  <a:ext uri="{FF2B5EF4-FFF2-40B4-BE49-F238E27FC236}">
                    <a16:creationId xmlns:a16="http://schemas.microsoft.com/office/drawing/2014/main" id="{CC352445-6D04-BBF9-ECC8-254A8A14B4A7}"/>
                  </a:ext>
                </a:extLst>
              </p:cNvPr>
              <p:cNvSpPr txBox="1">
                <a:spLocks noRot="1" noChangeAspect="1" noMove="1" noResize="1" noEditPoints="1" noAdjustHandles="1" noChangeArrowheads="1" noChangeShapeType="1" noTextEdit="1"/>
              </p:cNvSpPr>
              <p:nvPr/>
            </p:nvSpPr>
            <p:spPr>
              <a:xfrm>
                <a:off x="2227383" y="3321877"/>
                <a:ext cx="550856" cy="461665"/>
              </a:xfrm>
              <a:prstGeom prst="rect">
                <a:avLst/>
              </a:prstGeom>
              <a:blipFill>
                <a:blip r:embed="rId8"/>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60">
                <a:extLst>
                  <a:ext uri="{FF2B5EF4-FFF2-40B4-BE49-F238E27FC236}">
                    <a16:creationId xmlns:a16="http://schemas.microsoft.com/office/drawing/2014/main" id="{93C1F73A-FDD5-E81D-3F23-C1FFEBFD536D}"/>
                  </a:ext>
                </a:extLst>
              </p:cNvPr>
              <p:cNvSpPr txBox="1"/>
              <p:nvPr/>
            </p:nvSpPr>
            <p:spPr>
              <a:xfrm>
                <a:off x="2578740"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61" name="TextBox 60">
                <a:extLst>
                  <a:ext uri="{FF2B5EF4-FFF2-40B4-BE49-F238E27FC236}">
                    <a16:creationId xmlns:a16="http://schemas.microsoft.com/office/drawing/2014/main" id="{E06D0794-C996-5D47-8C5D-D5AEE8FF11AD}"/>
                  </a:ext>
                </a:extLst>
              </p:cNvPr>
              <p:cNvSpPr txBox="1">
                <a:spLocks noRot="1" noChangeAspect="1" noMove="1" noResize="1" noEditPoints="1" noAdjustHandles="1" noChangeArrowheads="1" noChangeShapeType="1" noTextEdit="1"/>
              </p:cNvSpPr>
              <p:nvPr/>
            </p:nvSpPr>
            <p:spPr>
              <a:xfrm>
                <a:off x="2578740" y="5087963"/>
                <a:ext cx="553164" cy="461665"/>
              </a:xfrm>
              <a:prstGeom prst="rect">
                <a:avLst/>
              </a:prstGeom>
              <a:blipFill>
                <a:blip r:embed="rId9"/>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BCC2C16B-EFCF-7E24-6A61-866EE2353255}"/>
                  </a:ext>
                </a:extLst>
              </p:cNvPr>
              <p:cNvSpPr txBox="1"/>
              <p:nvPr/>
            </p:nvSpPr>
            <p:spPr>
              <a:xfrm>
                <a:off x="2578740"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62" name="TextBox 61">
                <a:extLst>
                  <a:ext uri="{FF2B5EF4-FFF2-40B4-BE49-F238E27FC236}">
                    <a16:creationId xmlns:a16="http://schemas.microsoft.com/office/drawing/2014/main" id="{FF1B31E6-AAE3-22B7-050F-1C617FBB0448}"/>
                  </a:ext>
                </a:extLst>
              </p:cNvPr>
              <p:cNvSpPr txBox="1">
                <a:spLocks noRot="1" noChangeAspect="1" noMove="1" noResize="1" noEditPoints="1" noAdjustHandles="1" noChangeArrowheads="1" noChangeShapeType="1" noTextEdit="1"/>
              </p:cNvSpPr>
              <p:nvPr/>
            </p:nvSpPr>
            <p:spPr>
              <a:xfrm>
                <a:off x="2578740" y="1049363"/>
                <a:ext cx="546047" cy="461665"/>
              </a:xfrm>
              <a:prstGeom prst="rect">
                <a:avLst/>
              </a:prstGeom>
              <a:blipFill>
                <a:blip r:embed="rId10"/>
                <a:stretch>
                  <a:fillRect b="-1316"/>
                </a:stretch>
              </a:blipFill>
            </p:spPr>
            <p:txBody>
              <a:bodyPr/>
              <a:lstStyle/>
              <a:p>
                <a:r>
                  <a:rPr lang="en-US">
                    <a:noFill/>
                  </a:rPr>
                  <a:t> </a:t>
                </a:r>
              </a:p>
            </p:txBody>
          </p:sp>
        </mc:Fallback>
      </mc:AlternateContent>
      <p:sp>
        <p:nvSpPr>
          <p:cNvPr id="63" name="Right Brace 62">
            <a:extLst>
              <a:ext uri="{FF2B5EF4-FFF2-40B4-BE49-F238E27FC236}">
                <a16:creationId xmlns:a16="http://schemas.microsoft.com/office/drawing/2014/main" id="{F5F38E13-FCED-493D-FB73-B5C6A35B27A1}"/>
              </a:ext>
            </a:extLst>
          </p:cNvPr>
          <p:cNvSpPr/>
          <p:nvPr/>
        </p:nvSpPr>
        <p:spPr>
          <a:xfrm flipH="1">
            <a:off x="2658629" y="20931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7" name="Oval 56">
            <a:extLst>
              <a:ext uri="{FF2B5EF4-FFF2-40B4-BE49-F238E27FC236}">
                <a16:creationId xmlns:a16="http://schemas.microsoft.com/office/drawing/2014/main" id="{FBAEC15B-D14E-DE40-6E02-89E7823A7A92}"/>
              </a:ext>
            </a:extLst>
          </p:cNvPr>
          <p:cNvSpPr/>
          <p:nvPr/>
        </p:nvSpPr>
        <p:spPr>
          <a:xfrm>
            <a:off x="2793071" y="2043628"/>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B08EBF3-38EC-3355-78BB-694BEDC6D165}"/>
              </a:ext>
            </a:extLst>
          </p:cNvPr>
          <p:cNvSpPr txBox="1"/>
          <p:nvPr/>
        </p:nvSpPr>
        <p:spPr>
          <a:xfrm>
            <a:off x="3166159" y="232975"/>
            <a:ext cx="5859681" cy="830997"/>
          </a:xfrm>
          <a:prstGeom prst="rect">
            <a:avLst/>
          </a:prstGeom>
          <a:noFill/>
        </p:spPr>
        <p:txBody>
          <a:bodyPr wrap="none" rtlCol="0">
            <a:spAutoFit/>
          </a:bodyPr>
          <a:lstStyle/>
          <a:p>
            <a:pPr algn="ctr"/>
            <a:r>
              <a:rPr lang="en-US" sz="4800" dirty="0"/>
              <a:t>Von Neumann entropy</a:t>
            </a:r>
          </a:p>
        </p:txBody>
      </p:sp>
      <p:sp>
        <p:nvSpPr>
          <p:cNvPr id="9" name="TextBox 8">
            <a:extLst>
              <a:ext uri="{FF2B5EF4-FFF2-40B4-BE49-F238E27FC236}">
                <a16:creationId xmlns:a16="http://schemas.microsoft.com/office/drawing/2014/main" id="{19DA8512-A842-F18F-B39A-F5C8343B5D30}"/>
              </a:ext>
            </a:extLst>
          </p:cNvPr>
          <p:cNvSpPr txBox="1"/>
          <p:nvPr/>
        </p:nvSpPr>
        <p:spPr>
          <a:xfrm>
            <a:off x="4991100" y="2689319"/>
            <a:ext cx="6880860" cy="1200329"/>
          </a:xfrm>
          <a:prstGeom prst="rect">
            <a:avLst/>
          </a:prstGeom>
          <a:noFill/>
        </p:spPr>
        <p:txBody>
          <a:bodyPr wrap="square" rtlCol="0">
            <a:spAutoFit/>
          </a:bodyPr>
          <a:lstStyle/>
          <a:p>
            <a:r>
              <a:rPr lang="en-US" sz="3600" dirty="0">
                <a:solidFill>
                  <a:schemeClr val="accent6">
                    <a:lumMod val="75000"/>
                  </a:schemeClr>
                </a:solidFill>
              </a:rPr>
              <a:t>Entropy is an invertible function of the radial distance in the Bloch ball!</a:t>
            </a:r>
          </a:p>
        </p:txBody>
      </p:sp>
      <p:sp>
        <p:nvSpPr>
          <p:cNvPr id="10" name="TextBox 9">
            <a:extLst>
              <a:ext uri="{FF2B5EF4-FFF2-40B4-BE49-F238E27FC236}">
                <a16:creationId xmlns:a16="http://schemas.microsoft.com/office/drawing/2014/main" id="{6D978B6C-2E56-EB5E-C55F-B8DF7757A323}"/>
              </a:ext>
            </a:extLst>
          </p:cNvPr>
          <p:cNvSpPr txBox="1"/>
          <p:nvPr/>
        </p:nvSpPr>
        <p:spPr>
          <a:xfrm>
            <a:off x="5756310" y="2535430"/>
            <a:ext cx="1804084" cy="307777"/>
          </a:xfrm>
          <a:prstGeom prst="rect">
            <a:avLst/>
          </a:prstGeom>
          <a:noFill/>
        </p:spPr>
        <p:txBody>
          <a:bodyPr wrap="none" rtlCol="0">
            <a:spAutoFit/>
          </a:bodyPr>
          <a:lstStyle/>
          <a:p>
            <a:r>
              <a:rPr lang="en-US" sz="1400" dirty="0"/>
              <a:t>for a two-state system</a:t>
            </a:r>
          </a:p>
        </p:txBody>
      </p:sp>
    </p:spTree>
    <p:extLst>
      <p:ext uri="{BB962C8B-B14F-4D97-AF65-F5344CB8AC3E}">
        <p14:creationId xmlns:p14="http://schemas.microsoft.com/office/powerpoint/2010/main" val="1010244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48" grpId="0"/>
      <p:bldP spid="50" grpId="0"/>
      <p:bldP spid="56" grpId="0" animBg="1"/>
      <p:bldP spid="59" grpId="0"/>
      <p:bldP spid="60" grpId="0"/>
      <p:bldP spid="61" grpId="0"/>
      <p:bldP spid="62" grpId="0"/>
      <p:bldP spid="6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CB293-B63E-EDA4-2B38-119B60E7715A}"/>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B4869167-3CD7-EB84-398A-638553BF38B9}"/>
              </a:ext>
            </a:extLst>
          </p:cNvPr>
          <p:cNvGrpSpPr/>
          <p:nvPr/>
        </p:nvGrpSpPr>
        <p:grpSpPr>
          <a:xfrm>
            <a:off x="1007745" y="1443087"/>
            <a:ext cx="3934933" cy="3378028"/>
            <a:chOff x="3834765" y="1130667"/>
            <a:chExt cx="3934933" cy="3378028"/>
          </a:xfrm>
        </p:grpSpPr>
        <p:sp>
          <p:nvSpPr>
            <p:cNvPr id="2" name="Oval 1">
              <a:extLst>
                <a:ext uri="{FF2B5EF4-FFF2-40B4-BE49-F238E27FC236}">
                  <a16:creationId xmlns:a16="http://schemas.microsoft.com/office/drawing/2014/main" id="{FDCBB4BB-3545-F588-9ABA-5F5ED0971974}"/>
                </a:ext>
              </a:extLst>
            </p:cNvPr>
            <p:cNvSpPr/>
            <p:nvPr/>
          </p:nvSpPr>
          <p:spPr>
            <a:xfrm>
              <a:off x="4291141" y="1376612"/>
              <a:ext cx="3132083" cy="3132083"/>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2A2C532B-AE4C-329C-B8CE-71F014500BD1}"/>
                </a:ext>
              </a:extLst>
            </p:cNvPr>
            <p:cNvCxnSpPr>
              <a:stCxn id="2" idx="2"/>
              <a:endCxn id="2" idx="6"/>
            </p:cNvCxnSpPr>
            <p:nvPr/>
          </p:nvCxnSpPr>
          <p:spPr>
            <a:xfrm>
              <a:off x="4291141" y="2942654"/>
              <a:ext cx="31320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597513F-0151-56C7-E05E-398F7A70DB12}"/>
                </a:ext>
              </a:extLst>
            </p:cNvPr>
            <p:cNvCxnSpPr>
              <a:cxnSpLocks/>
              <a:endCxn id="2" idx="6"/>
            </p:cNvCxnSpPr>
            <p:nvPr/>
          </p:nvCxnSpPr>
          <p:spPr>
            <a:xfrm>
              <a:off x="6475678" y="1499999"/>
              <a:ext cx="947546" cy="144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991F3E9-0444-8130-E020-CE8D44E3B71A}"/>
                </a:ext>
              </a:extLst>
            </p:cNvPr>
            <p:cNvCxnSpPr>
              <a:cxnSpLocks/>
            </p:cNvCxnSpPr>
            <p:nvPr/>
          </p:nvCxnSpPr>
          <p:spPr>
            <a:xfrm flipV="1">
              <a:off x="4556760" y="2082165"/>
              <a:ext cx="2611755" cy="17106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D837941B-071F-7367-8F1F-782C6CB06E70}"/>
                    </a:ext>
                  </a:extLst>
                </p:cNvPr>
                <p:cNvSpPr txBox="1"/>
                <p:nvPr/>
              </p:nvSpPr>
              <p:spPr>
                <a:xfrm>
                  <a:off x="7366832" y="2752844"/>
                  <a:ext cx="4028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xmlns="">
            <p:sp>
              <p:nvSpPr>
                <p:cNvPr id="12" name="TextBox 11">
                  <a:extLst>
                    <a:ext uri="{FF2B5EF4-FFF2-40B4-BE49-F238E27FC236}">
                      <a16:creationId xmlns:a16="http://schemas.microsoft.com/office/drawing/2014/main" id="{9BCFFC53-23FA-6F02-816D-6418468B5DA6}"/>
                    </a:ext>
                  </a:extLst>
                </p:cNvPr>
                <p:cNvSpPr txBox="1">
                  <a:spLocks noRot="1" noChangeAspect="1" noMove="1" noResize="1" noEditPoints="1" noAdjustHandles="1" noChangeArrowheads="1" noChangeShapeType="1" noTextEdit="1"/>
                </p:cNvSpPr>
                <p:nvPr/>
              </p:nvSpPr>
              <p:spPr>
                <a:xfrm>
                  <a:off x="7366832" y="2752844"/>
                  <a:ext cx="402866" cy="369332"/>
                </a:xfrm>
                <a:prstGeom prst="rect">
                  <a:avLst/>
                </a:prstGeom>
                <a:blipFill>
                  <a:blip r:embed="rId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52A85C9-2C6C-0F31-2B2F-FA19E0C84C2D}"/>
                    </a:ext>
                  </a:extLst>
                </p:cNvPr>
                <p:cNvSpPr txBox="1"/>
                <p:nvPr/>
              </p:nvSpPr>
              <p:spPr>
                <a:xfrm>
                  <a:off x="6333564" y="1130667"/>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xmlns="">
            <p:sp>
              <p:nvSpPr>
                <p:cNvPr id="14" name="TextBox 13">
                  <a:extLst>
                    <a:ext uri="{FF2B5EF4-FFF2-40B4-BE49-F238E27FC236}">
                      <a16:creationId xmlns:a16="http://schemas.microsoft.com/office/drawing/2014/main" id="{578FD217-A485-A654-30A9-E724C00A3C5C}"/>
                    </a:ext>
                  </a:extLst>
                </p:cNvPr>
                <p:cNvSpPr txBox="1">
                  <a:spLocks noRot="1" noChangeAspect="1" noMove="1" noResize="1" noEditPoints="1" noAdjustHandles="1" noChangeArrowheads="1" noChangeShapeType="1" noTextEdit="1"/>
                </p:cNvSpPr>
                <p:nvPr/>
              </p:nvSpPr>
              <p:spPr>
                <a:xfrm>
                  <a:off x="6333564" y="1130667"/>
                  <a:ext cx="399597" cy="369332"/>
                </a:xfrm>
                <a:prstGeom prst="rect">
                  <a:avLst/>
                </a:prstGeom>
                <a:blipFill>
                  <a:blip r:embed="rId3"/>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1DB3FC0-79F5-D0E4-FF55-39B3B7B3977B}"/>
                    </a:ext>
                  </a:extLst>
                </p:cNvPr>
                <p:cNvSpPr txBox="1"/>
                <p:nvPr/>
              </p:nvSpPr>
              <p:spPr>
                <a:xfrm>
                  <a:off x="6838405" y="1828443"/>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xmlns="">
            <p:sp>
              <p:nvSpPr>
                <p:cNvPr id="16" name="TextBox 15">
                  <a:extLst>
                    <a:ext uri="{FF2B5EF4-FFF2-40B4-BE49-F238E27FC236}">
                      <a16:creationId xmlns:a16="http://schemas.microsoft.com/office/drawing/2014/main" id="{654E6951-2398-0BD8-F8E7-8BC324618903}"/>
                    </a:ext>
                  </a:extLst>
                </p:cNvPr>
                <p:cNvSpPr txBox="1">
                  <a:spLocks noRot="1" noChangeAspect="1" noMove="1" noResize="1" noEditPoints="1" noAdjustHandles="1" noChangeArrowheads="1" noChangeShapeType="1" noTextEdit="1"/>
                </p:cNvSpPr>
                <p:nvPr/>
              </p:nvSpPr>
              <p:spPr>
                <a:xfrm>
                  <a:off x="6838405" y="1828443"/>
                  <a:ext cx="370230" cy="369332"/>
                </a:xfrm>
                <a:prstGeom prst="rect">
                  <a:avLst/>
                </a:prstGeom>
                <a:blipFill>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572E3B36-8C0B-B8C9-6CFB-B7ECCF477110}"/>
                    </a:ext>
                  </a:extLst>
                </p:cNvPr>
                <p:cNvSpPr txBox="1"/>
                <p:nvPr/>
              </p:nvSpPr>
              <p:spPr>
                <a:xfrm>
                  <a:off x="6282900" y="2955989"/>
                  <a:ext cx="3855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oMath>
                    </m:oMathPara>
                  </a14:m>
                  <a:endParaRPr lang="en-US" dirty="0"/>
                </a:p>
              </p:txBody>
            </p:sp>
          </mc:Choice>
          <mc:Fallback xmlns="">
            <p:sp>
              <p:nvSpPr>
                <p:cNvPr id="19" name="TextBox 18">
                  <a:extLst>
                    <a:ext uri="{FF2B5EF4-FFF2-40B4-BE49-F238E27FC236}">
                      <a16:creationId xmlns:a16="http://schemas.microsoft.com/office/drawing/2014/main" id="{D7E57A0B-9214-56B3-4553-7C91D528C78C}"/>
                    </a:ext>
                  </a:extLst>
                </p:cNvPr>
                <p:cNvSpPr txBox="1">
                  <a:spLocks noRot="1" noChangeAspect="1" noMove="1" noResize="1" noEditPoints="1" noAdjustHandles="1" noChangeArrowheads="1" noChangeShapeType="1" noTextEdit="1"/>
                </p:cNvSpPr>
                <p:nvPr/>
              </p:nvSpPr>
              <p:spPr>
                <a:xfrm>
                  <a:off x="6282900" y="2955989"/>
                  <a:ext cx="385555" cy="369332"/>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D0148A5B-6160-139F-AE04-4F68D96534B5}"/>
                </a:ext>
              </a:extLst>
            </p:cNvPr>
            <p:cNvCxnSpPr>
              <a:cxnSpLocks/>
            </p:cNvCxnSpPr>
            <p:nvPr/>
          </p:nvCxnSpPr>
          <p:spPr>
            <a:xfrm flipV="1">
              <a:off x="5857182" y="1514475"/>
              <a:ext cx="612094" cy="1423035"/>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FCF13ACA-A6AD-FB66-ACF1-69E6C5ACB795}"/>
                </a:ext>
              </a:extLst>
            </p:cNvPr>
            <p:cNvSpPr/>
            <p:nvPr/>
          </p:nvSpPr>
          <p:spPr>
            <a:xfrm>
              <a:off x="6928496" y="2197776"/>
              <a:ext cx="49530" cy="4953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AE0C8268-2688-B535-D1DA-6BB38FB3698D}"/>
                </a:ext>
              </a:extLst>
            </p:cNvPr>
            <p:cNvCxnSpPr>
              <a:cxnSpLocks/>
            </p:cNvCxnSpPr>
            <p:nvPr/>
          </p:nvCxnSpPr>
          <p:spPr>
            <a:xfrm>
              <a:off x="6479488" y="1514475"/>
              <a:ext cx="1322" cy="14363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E45BB699-7DFE-FFE6-66B0-F8FD11B8B47E}"/>
                    </a:ext>
                  </a:extLst>
                </p:cNvPr>
                <p:cNvSpPr txBox="1"/>
                <p:nvPr/>
              </p:nvSpPr>
              <p:spPr>
                <a:xfrm>
                  <a:off x="3834765" y="2727601"/>
                  <a:ext cx="5366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r>
                              <a:rPr lang="en-US" b="0" i="1" smtClean="0">
                                <a:latin typeface="Cambria Math" panose="02040503050406030204" pitchFamily="18" charset="0"/>
                              </a:rPr>
                              <m:t>⊥</m:t>
                            </m:r>
                          </m:sup>
                        </m:sSup>
                      </m:oMath>
                    </m:oMathPara>
                  </a14:m>
                  <a:endParaRPr lang="en-US" dirty="0"/>
                </a:p>
              </p:txBody>
            </p:sp>
          </mc:Choice>
          <mc:Fallback xmlns="">
            <p:sp>
              <p:nvSpPr>
                <p:cNvPr id="57" name="TextBox 56">
                  <a:extLst>
                    <a:ext uri="{FF2B5EF4-FFF2-40B4-BE49-F238E27FC236}">
                      <a16:creationId xmlns:a16="http://schemas.microsoft.com/office/drawing/2014/main" id="{8EED1AFB-28D8-0901-E626-990305AEEAC4}"/>
                    </a:ext>
                  </a:extLst>
                </p:cNvPr>
                <p:cNvSpPr txBox="1">
                  <a:spLocks noRot="1" noChangeAspect="1" noMove="1" noResize="1" noEditPoints="1" noAdjustHandles="1" noChangeArrowheads="1" noChangeShapeType="1" noTextEdit="1"/>
                </p:cNvSpPr>
                <p:nvPr/>
              </p:nvSpPr>
              <p:spPr>
                <a:xfrm>
                  <a:off x="3834765" y="2727601"/>
                  <a:ext cx="536685" cy="369332"/>
                </a:xfrm>
                <a:prstGeom prst="rect">
                  <a:avLst/>
                </a:prstGeom>
                <a:blipFill>
                  <a:blip r:embed="rId6"/>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778841B9-0914-946E-F8B5-5BD3F85FD5B2}"/>
                    </a:ext>
                  </a:extLst>
                </p:cNvPr>
                <p:cNvSpPr txBox="1"/>
                <p:nvPr/>
              </p:nvSpPr>
              <p:spPr>
                <a:xfrm>
                  <a:off x="5586905" y="2628329"/>
                  <a:ext cx="3986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oMath>
                    </m:oMathPara>
                  </a14:m>
                  <a:endParaRPr lang="en-US" dirty="0"/>
                </a:p>
              </p:txBody>
            </p:sp>
          </mc:Choice>
          <mc:Fallback xmlns="">
            <p:sp>
              <p:nvSpPr>
                <p:cNvPr id="58" name="TextBox 57">
                  <a:extLst>
                    <a:ext uri="{FF2B5EF4-FFF2-40B4-BE49-F238E27FC236}">
                      <a16:creationId xmlns:a16="http://schemas.microsoft.com/office/drawing/2014/main" id="{B6A5267B-FF24-81CB-0AFB-49F396615DB0}"/>
                    </a:ext>
                  </a:extLst>
                </p:cNvPr>
                <p:cNvSpPr txBox="1">
                  <a:spLocks noRot="1" noChangeAspect="1" noMove="1" noResize="1" noEditPoints="1" noAdjustHandles="1" noChangeArrowheads="1" noChangeShapeType="1" noTextEdit="1"/>
                </p:cNvSpPr>
                <p:nvPr/>
              </p:nvSpPr>
              <p:spPr>
                <a:xfrm>
                  <a:off x="5586905" y="2628329"/>
                  <a:ext cx="398699" cy="369332"/>
                </a:xfrm>
                <a:prstGeom prst="rect">
                  <a:avLst/>
                </a:prstGeom>
                <a:blipFill>
                  <a:blip r:embed="rId7"/>
                  <a:stretch>
                    <a:fillRect/>
                  </a:stretch>
                </a:blipFill>
              </p:spPr>
              <p:txBody>
                <a:bodyPr/>
                <a:lstStyle/>
                <a:p>
                  <a:r>
                    <a:rPr lang="en-US">
                      <a:noFill/>
                    </a:rPr>
                    <a:t> </a:t>
                  </a:r>
                </a:p>
              </p:txBody>
            </p:sp>
          </mc:Fallback>
        </mc:AlternateContent>
      </p:grpSp>
      <p:sp>
        <p:nvSpPr>
          <p:cNvPr id="5" name="TextBox 4">
            <a:extLst>
              <a:ext uri="{FF2B5EF4-FFF2-40B4-BE49-F238E27FC236}">
                <a16:creationId xmlns:a16="http://schemas.microsoft.com/office/drawing/2014/main" id="{3751E6E8-0A94-CD87-4FA2-0487EC7CA7D1}"/>
              </a:ext>
            </a:extLst>
          </p:cNvPr>
          <p:cNvSpPr txBox="1"/>
          <p:nvPr/>
        </p:nvSpPr>
        <p:spPr>
          <a:xfrm>
            <a:off x="1506511" y="232975"/>
            <a:ext cx="9178988" cy="830997"/>
          </a:xfrm>
          <a:prstGeom prst="rect">
            <a:avLst/>
          </a:prstGeom>
          <a:noFill/>
        </p:spPr>
        <p:txBody>
          <a:bodyPr wrap="none" rtlCol="0">
            <a:spAutoFit/>
          </a:bodyPr>
          <a:lstStyle/>
          <a:p>
            <a:pPr algn="ctr"/>
            <a:r>
              <a:rPr lang="en-US" sz="4800" dirty="0"/>
              <a:t>Link between Born rule and entropy</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C36AC96D-4200-2FF2-E5B0-281C0B9C6EB9}"/>
                  </a:ext>
                </a:extLst>
              </p:cNvPr>
              <p:cNvSpPr txBox="1"/>
              <p:nvPr/>
            </p:nvSpPr>
            <p:spPr>
              <a:xfrm>
                <a:off x="5147416" y="1266200"/>
                <a:ext cx="6967680" cy="874663"/>
              </a:xfrm>
              <a:prstGeom prst="rect">
                <a:avLst/>
              </a:prstGeom>
              <a:noFill/>
            </p:spPr>
            <p:txBody>
              <a:bodyPr wrap="square" rtlCol="0">
                <a:spAutoFit/>
              </a:bodyPr>
              <a:lstStyle/>
              <a:p>
                <a:pPr algn="ctr"/>
                <a14:m>
                  <m:oMath xmlns:m="http://schemas.openxmlformats.org/officeDocument/2006/math">
                    <m:r>
                      <a:rPr lang="en-US" sz="3600" b="0" i="1" smtClean="0">
                        <a:latin typeface="Cambria Math" panose="02040503050406030204" pitchFamily="18" charset="0"/>
                      </a:rPr>
                      <m:t>𝜌</m:t>
                    </m:r>
                    <m:r>
                      <a:rPr lang="en-US" sz="3600" b="0" i="1" smtClean="0">
                        <a:latin typeface="Cambria Math" panose="02040503050406030204" pitchFamily="18" charset="0"/>
                      </a:rPr>
                      <m:t>=</m:t>
                    </m:r>
                    <m:f>
                      <m:fPr>
                        <m:ctrlPr>
                          <a:rPr lang="en-US" sz="3600" b="0" i="1" smtClean="0">
                            <a:latin typeface="Cambria Math" panose="02040503050406030204" pitchFamily="18" charset="0"/>
                          </a:rPr>
                        </m:ctrlPr>
                      </m:fPr>
                      <m:num>
                        <m:r>
                          <a:rPr lang="en-US" sz="3600" b="0" i="1" smtClean="0">
                            <a:latin typeface="Cambria Math" panose="02040503050406030204" pitchFamily="18" charset="0"/>
                          </a:rPr>
                          <m:t>1</m:t>
                        </m:r>
                      </m:num>
                      <m:den>
                        <m:r>
                          <a:rPr lang="en-US" sz="3600" b="0" i="1" smtClean="0">
                            <a:latin typeface="Cambria Math" panose="02040503050406030204" pitchFamily="18" charset="0"/>
                          </a:rPr>
                          <m:t>2</m:t>
                        </m:r>
                      </m:den>
                    </m:f>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𝜓</m:t>
                        </m:r>
                      </m:e>
                    </m:d>
                    <m:d>
                      <m:dPr>
                        <m:begChr m:val="⟨"/>
                        <m:endChr m:val="|"/>
                        <m:ctrlPr>
                          <a:rPr lang="en-US" sz="3600" b="0" i="1" smtClean="0">
                            <a:latin typeface="Cambria Math" panose="02040503050406030204" pitchFamily="18" charset="0"/>
                          </a:rPr>
                        </m:ctrlPr>
                      </m:dPr>
                      <m:e>
                        <m:r>
                          <a:rPr lang="en-US" sz="3600" b="0" i="1" smtClean="0">
                            <a:latin typeface="Cambria Math" panose="02040503050406030204" pitchFamily="18" charset="0"/>
                          </a:rPr>
                          <m:t>𝜓</m:t>
                        </m:r>
                      </m:e>
                    </m:d>
                    <m:r>
                      <a:rPr lang="en-US" sz="3600" b="0" i="1" smtClean="0">
                        <a:latin typeface="Cambria Math" panose="02040503050406030204" pitchFamily="18" charset="0"/>
                      </a:rPr>
                      <m:t>+</m:t>
                    </m:r>
                    <m:f>
                      <m:fPr>
                        <m:ctrlPr>
                          <a:rPr lang="en-US" sz="3600" i="1">
                            <a:latin typeface="Cambria Math" panose="02040503050406030204" pitchFamily="18" charset="0"/>
                          </a:rPr>
                        </m:ctrlPr>
                      </m:fPr>
                      <m:num>
                        <m:r>
                          <a:rPr lang="en-US" sz="3600" i="1">
                            <a:latin typeface="Cambria Math" panose="02040503050406030204" pitchFamily="18" charset="0"/>
                          </a:rPr>
                          <m:t>1</m:t>
                        </m:r>
                      </m:num>
                      <m:den>
                        <m:r>
                          <a:rPr lang="en-US" sz="3600" i="1">
                            <a:latin typeface="Cambria Math" panose="02040503050406030204" pitchFamily="18" charset="0"/>
                          </a:rPr>
                          <m:t>2</m:t>
                        </m:r>
                      </m:den>
                    </m:f>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𝜙</m:t>
                        </m:r>
                      </m:e>
                    </m:d>
                    <m:d>
                      <m:dPr>
                        <m:begChr m:val="⟨"/>
                        <m:endChr m:val="|"/>
                        <m:ctrlPr>
                          <a:rPr lang="en-US" sz="3600" i="1">
                            <a:latin typeface="Cambria Math" panose="02040503050406030204" pitchFamily="18" charset="0"/>
                          </a:rPr>
                        </m:ctrlPr>
                      </m:dPr>
                      <m:e>
                        <m:r>
                          <a:rPr lang="en-US" sz="3600" b="0" i="1" smtClean="0">
                            <a:latin typeface="Cambria Math" panose="02040503050406030204" pitchFamily="18" charset="0"/>
                          </a:rPr>
                          <m:t>𝜙</m:t>
                        </m:r>
                      </m:e>
                    </m:d>
                  </m:oMath>
                </a14:m>
                <a:r>
                  <a:rPr lang="en-US" sz="3600" dirty="0"/>
                  <a:t> </a:t>
                </a:r>
              </a:p>
            </p:txBody>
          </p:sp>
        </mc:Choice>
        <mc:Fallback>
          <p:sp>
            <p:nvSpPr>
              <p:cNvPr id="10" name="TextBox 9">
                <a:extLst>
                  <a:ext uri="{FF2B5EF4-FFF2-40B4-BE49-F238E27FC236}">
                    <a16:creationId xmlns:a16="http://schemas.microsoft.com/office/drawing/2014/main" id="{C36AC96D-4200-2FF2-E5B0-281C0B9C6EB9}"/>
                  </a:ext>
                </a:extLst>
              </p:cNvPr>
              <p:cNvSpPr txBox="1">
                <a:spLocks noRot="1" noChangeAspect="1" noMove="1" noResize="1" noEditPoints="1" noAdjustHandles="1" noChangeArrowheads="1" noChangeShapeType="1" noTextEdit="1"/>
              </p:cNvSpPr>
              <p:nvPr/>
            </p:nvSpPr>
            <p:spPr>
              <a:xfrm>
                <a:off x="5147416" y="1266200"/>
                <a:ext cx="6967680" cy="874663"/>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1E292A4B-26F3-E187-6A1D-93B31C5B450C}"/>
                  </a:ext>
                </a:extLst>
              </p:cNvPr>
              <p:cNvSpPr txBox="1"/>
              <p:nvPr/>
            </p:nvSpPr>
            <p:spPr>
              <a:xfrm>
                <a:off x="5593080" y="2162858"/>
                <a:ext cx="6880860" cy="1754326"/>
              </a:xfrm>
              <a:prstGeom prst="rect">
                <a:avLst/>
              </a:prstGeom>
              <a:noFill/>
            </p:spPr>
            <p:txBody>
              <a:bodyPr wrap="square" rtlCol="0">
                <a:spAutoFit/>
              </a:bodyPr>
              <a:lstStyle/>
              <a:p>
                <a:r>
                  <a:rPr lang="en-US" sz="3600" dirty="0">
                    <a:solidFill>
                      <a:schemeClr val="accent6">
                        <a:lumMod val="75000"/>
                      </a:schemeClr>
                    </a:solidFill>
                  </a:rPr>
                  <a:t>The radial distance of </a:t>
                </a:r>
                <a14:m>
                  <m:oMath xmlns:m="http://schemas.openxmlformats.org/officeDocument/2006/math">
                    <m:r>
                      <a:rPr lang="en-US" sz="3600" b="0" i="1" smtClean="0">
                        <a:solidFill>
                          <a:schemeClr val="accent6">
                            <a:lumMod val="75000"/>
                          </a:schemeClr>
                        </a:solidFill>
                        <a:latin typeface="Cambria Math" panose="02040503050406030204" pitchFamily="18" charset="0"/>
                      </a:rPr>
                      <m:t>𝜌</m:t>
                    </m:r>
                  </m:oMath>
                </a14:m>
                <a:r>
                  <a:rPr lang="en-US" sz="3600" dirty="0">
                    <a:solidFill>
                      <a:schemeClr val="accent6">
                        <a:lumMod val="75000"/>
                      </a:schemeClr>
                    </a:solidFill>
                  </a:rPr>
                  <a:t> is an invertible function of the angle between </a:t>
                </a:r>
                <a14:m>
                  <m:oMath xmlns:m="http://schemas.openxmlformats.org/officeDocument/2006/math">
                    <m:r>
                      <a:rPr lang="en-US" sz="3600" b="0" i="1" smtClean="0">
                        <a:solidFill>
                          <a:schemeClr val="accent6">
                            <a:lumMod val="75000"/>
                          </a:schemeClr>
                        </a:solidFill>
                        <a:latin typeface="Cambria Math" panose="02040503050406030204" pitchFamily="18" charset="0"/>
                      </a:rPr>
                      <m:t>𝜓</m:t>
                    </m:r>
                  </m:oMath>
                </a14:m>
                <a:r>
                  <a:rPr lang="en-US" sz="3600" dirty="0">
                    <a:solidFill>
                      <a:schemeClr val="accent6">
                        <a:lumMod val="75000"/>
                      </a:schemeClr>
                    </a:solidFill>
                  </a:rPr>
                  <a:t> and </a:t>
                </a:r>
                <a14:m>
                  <m:oMath xmlns:m="http://schemas.openxmlformats.org/officeDocument/2006/math">
                    <m:r>
                      <a:rPr lang="en-US" sz="3600" b="0" i="1" smtClean="0">
                        <a:solidFill>
                          <a:schemeClr val="accent6">
                            <a:lumMod val="75000"/>
                          </a:schemeClr>
                        </a:solidFill>
                        <a:latin typeface="Cambria Math" panose="02040503050406030204" pitchFamily="18" charset="0"/>
                      </a:rPr>
                      <m:t>𝜙</m:t>
                    </m:r>
                  </m:oMath>
                </a14:m>
                <a:endParaRPr lang="en-US" sz="3600" dirty="0">
                  <a:solidFill>
                    <a:schemeClr val="accent6">
                      <a:lumMod val="75000"/>
                    </a:schemeClr>
                  </a:solidFill>
                </a:endParaRPr>
              </a:p>
            </p:txBody>
          </p:sp>
        </mc:Choice>
        <mc:Fallback>
          <p:sp>
            <p:nvSpPr>
              <p:cNvPr id="17" name="TextBox 16">
                <a:extLst>
                  <a:ext uri="{FF2B5EF4-FFF2-40B4-BE49-F238E27FC236}">
                    <a16:creationId xmlns:a16="http://schemas.microsoft.com/office/drawing/2014/main" id="{1E292A4B-26F3-E187-6A1D-93B31C5B450C}"/>
                  </a:ext>
                </a:extLst>
              </p:cNvPr>
              <p:cNvSpPr txBox="1">
                <a:spLocks noRot="1" noChangeAspect="1" noMove="1" noResize="1" noEditPoints="1" noAdjustHandles="1" noChangeArrowheads="1" noChangeShapeType="1" noTextEdit="1"/>
              </p:cNvSpPr>
              <p:nvPr/>
            </p:nvSpPr>
            <p:spPr>
              <a:xfrm>
                <a:off x="5593080" y="2162858"/>
                <a:ext cx="6880860" cy="1754326"/>
              </a:xfrm>
              <a:prstGeom prst="rect">
                <a:avLst/>
              </a:prstGeom>
              <a:blipFill>
                <a:blip r:embed="rId9"/>
                <a:stretch>
                  <a:fillRect l="-2748" t="-5556" b="-1215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D9241581-3575-48A1-33E5-9D90D00EB73C}"/>
                  </a:ext>
                </a:extLst>
              </p:cNvPr>
              <p:cNvSpPr txBox="1"/>
              <p:nvPr/>
            </p:nvSpPr>
            <p:spPr>
              <a:xfrm>
                <a:off x="807347" y="5168968"/>
                <a:ext cx="8226163" cy="92333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𝑝</m:t>
                      </m:r>
                      <m:d>
                        <m:dPr>
                          <m:ctrlPr>
                            <a:rPr lang="en-US" sz="5400" b="0" i="1" smtClean="0">
                              <a:latin typeface="Cambria Math" panose="02040503050406030204" pitchFamily="18" charset="0"/>
                            </a:rPr>
                          </m:ctrlPr>
                        </m:dPr>
                        <m:e>
                          <m:r>
                            <a:rPr lang="en-US" sz="5400" b="0" i="1" smtClean="0">
                              <a:latin typeface="Cambria Math" panose="02040503050406030204" pitchFamily="18" charset="0"/>
                            </a:rPr>
                            <m:t>𝜓</m:t>
                          </m:r>
                        </m:e>
                        <m:e>
                          <m:r>
                            <a:rPr lang="en-US" sz="5400" b="0" i="1" smtClean="0">
                              <a:latin typeface="Cambria Math" panose="02040503050406030204" pitchFamily="18" charset="0"/>
                            </a:rPr>
                            <m:t>𝜙</m:t>
                          </m:r>
                        </m:e>
                      </m:d>
                      <m:r>
                        <a:rPr lang="en-US" sz="5400" i="1">
                          <a:latin typeface="Cambria Math" panose="02040503050406030204" pitchFamily="18" charset="0"/>
                          <a:ea typeface="Cambria Math" panose="02040503050406030204" pitchFamily="18" charset="0"/>
                        </a:rPr>
                        <m:t>⟺</m:t>
                      </m:r>
                      <m:r>
                        <a:rPr lang="en-US" sz="5400" i="1">
                          <a:latin typeface="Cambria Math" panose="02040503050406030204" pitchFamily="18" charset="0"/>
                          <a:ea typeface="Cambria Math" panose="02040503050406030204" pitchFamily="18" charset="0"/>
                        </a:rPr>
                        <m:t>𝜃</m:t>
                      </m:r>
                      <m:r>
                        <a:rPr lang="en-US" sz="5400" i="1">
                          <a:latin typeface="Cambria Math" panose="02040503050406030204" pitchFamily="18" charset="0"/>
                          <a:ea typeface="Cambria Math" panose="02040503050406030204" pitchFamily="18" charset="0"/>
                        </a:rPr>
                        <m:t>⟺</m:t>
                      </m:r>
                      <m:r>
                        <a:rPr lang="en-US" sz="5400" b="0" i="1" smtClean="0">
                          <a:latin typeface="Cambria Math" panose="02040503050406030204" pitchFamily="18" charset="0"/>
                          <a:ea typeface="Cambria Math" panose="02040503050406030204" pitchFamily="18" charset="0"/>
                        </a:rPr>
                        <m:t>𝑟</m:t>
                      </m:r>
                      <m:r>
                        <a:rPr lang="en-US" sz="5400" i="1">
                          <a:latin typeface="Cambria Math" panose="02040503050406030204" pitchFamily="18" charset="0"/>
                          <a:ea typeface="Cambria Math" panose="02040503050406030204" pitchFamily="18" charset="0"/>
                        </a:rPr>
                        <m:t>⟺</m:t>
                      </m:r>
                      <m:r>
                        <a:rPr lang="en-US" sz="5400" b="0" i="1" smtClean="0">
                          <a:latin typeface="Cambria Math" panose="02040503050406030204" pitchFamily="18" charset="0"/>
                          <a:ea typeface="Cambria Math" panose="02040503050406030204" pitchFamily="18" charset="0"/>
                        </a:rPr>
                        <m:t>𝑆</m:t>
                      </m:r>
                      <m:d>
                        <m:dPr>
                          <m:ctrlPr>
                            <a:rPr lang="en-US" sz="5400" b="0" i="1" smtClean="0">
                              <a:latin typeface="Cambria Math" panose="02040503050406030204" pitchFamily="18" charset="0"/>
                              <a:ea typeface="Cambria Math" panose="02040503050406030204" pitchFamily="18" charset="0"/>
                            </a:rPr>
                          </m:ctrlPr>
                        </m:dPr>
                        <m:e>
                          <m:r>
                            <a:rPr lang="en-US" sz="5400" b="0" i="1" smtClean="0">
                              <a:latin typeface="Cambria Math" panose="02040503050406030204" pitchFamily="18" charset="0"/>
                              <a:ea typeface="Cambria Math" panose="02040503050406030204" pitchFamily="18" charset="0"/>
                            </a:rPr>
                            <m:t>𝜌</m:t>
                          </m:r>
                        </m:e>
                      </m:d>
                    </m:oMath>
                  </m:oMathPara>
                </a14:m>
                <a:endParaRPr lang="en-US" sz="5400" dirty="0"/>
              </a:p>
            </p:txBody>
          </p:sp>
        </mc:Choice>
        <mc:Fallback>
          <p:sp>
            <p:nvSpPr>
              <p:cNvPr id="18" name="TextBox 17">
                <a:extLst>
                  <a:ext uri="{FF2B5EF4-FFF2-40B4-BE49-F238E27FC236}">
                    <a16:creationId xmlns:a16="http://schemas.microsoft.com/office/drawing/2014/main" id="{D9241581-3575-48A1-33E5-9D90D00EB73C}"/>
                  </a:ext>
                </a:extLst>
              </p:cNvPr>
              <p:cNvSpPr txBox="1">
                <a:spLocks noRot="1" noChangeAspect="1" noMove="1" noResize="1" noEditPoints="1" noAdjustHandles="1" noChangeArrowheads="1" noChangeShapeType="1" noTextEdit="1"/>
              </p:cNvSpPr>
              <p:nvPr/>
            </p:nvSpPr>
            <p:spPr>
              <a:xfrm>
                <a:off x="807347" y="5168968"/>
                <a:ext cx="8226163" cy="923330"/>
              </a:xfrm>
              <a:prstGeom prst="rect">
                <a:avLst/>
              </a:prstGeom>
              <a:blipFill>
                <a:blip r:embed="rId1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135096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0BBDE7-4F6B-04DC-5C25-E832D598AC7F}"/>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0F7CECA9-73EC-15A4-1D38-B7BBDAAF86E6}"/>
                  </a:ext>
                </a:extLst>
              </p:cNvPr>
              <p:cNvSpPr txBox="1"/>
              <p:nvPr/>
            </p:nvSpPr>
            <p:spPr>
              <a:xfrm>
                <a:off x="552840" y="1932538"/>
                <a:ext cx="7521867" cy="1036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i="1">
                          <a:latin typeface="Cambria Math" panose="02040503050406030204" pitchFamily="18" charset="0"/>
                        </a:rPr>
                        <m:t>𝑟</m:t>
                      </m:r>
                      <m:r>
                        <a:rPr lang="en-US" sz="3200" i="1">
                          <a:latin typeface="Cambria Math" panose="02040503050406030204" pitchFamily="18" charset="0"/>
                        </a:rPr>
                        <m:t>=</m:t>
                      </m:r>
                      <m:r>
                        <a:rPr lang="en-US" sz="3200" i="1">
                          <a:latin typeface="Cambria Math" panose="02040503050406030204" pitchFamily="18" charset="0"/>
                        </a:rPr>
                        <m:t>𝑂</m:t>
                      </m:r>
                      <m:r>
                        <a:rPr lang="en-US" sz="3200" i="1">
                          <a:latin typeface="Cambria Math" panose="02040503050406030204" pitchFamily="18" charset="0"/>
                        </a:rPr>
                        <m:t>𝜌</m:t>
                      </m: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sub>
                          </m:sSub>
                        </m:e>
                      </m:func>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𝜓𝜙</m:t>
                                  </m:r>
                                </m:sub>
                              </m:sSub>
                            </m:num>
                            <m:den>
                              <m:r>
                                <a:rPr lang="en-US" sz="3200" b="0" i="1" smtClean="0">
                                  <a:latin typeface="Cambria Math" panose="02040503050406030204" pitchFamily="18" charset="0"/>
                                </a:rPr>
                                <m:t>2</m:t>
                              </m:r>
                            </m:den>
                          </m:f>
                        </m:e>
                      </m:func>
                      <m:r>
                        <a:rPr lang="en-US" sz="3200" b="0" i="1" smtClean="0">
                          <a:latin typeface="Cambria Math" panose="02040503050406030204" pitchFamily="18" charset="0"/>
                        </a:rPr>
                        <m:t>=</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d>
                            <m:dPr>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rad>
                    </m:oMath>
                  </m:oMathPara>
                </a14:m>
                <a:endParaRPr lang="en-US" sz="3200" dirty="0"/>
              </a:p>
            </p:txBody>
          </p:sp>
        </mc:Choice>
        <mc:Fallback>
          <p:sp>
            <p:nvSpPr>
              <p:cNvPr id="17" name="TextBox 16">
                <a:extLst>
                  <a:ext uri="{FF2B5EF4-FFF2-40B4-BE49-F238E27FC236}">
                    <a16:creationId xmlns:a16="http://schemas.microsoft.com/office/drawing/2014/main" id="{0F7CECA9-73EC-15A4-1D38-B7BBDAAF86E6}"/>
                  </a:ext>
                </a:extLst>
              </p:cNvPr>
              <p:cNvSpPr txBox="1">
                <a:spLocks noRot="1" noChangeAspect="1" noMove="1" noResize="1" noEditPoints="1" noAdjustHandles="1" noChangeArrowheads="1" noChangeShapeType="1" noTextEdit="1"/>
              </p:cNvSpPr>
              <p:nvPr/>
            </p:nvSpPr>
            <p:spPr>
              <a:xfrm>
                <a:off x="552840" y="1932538"/>
                <a:ext cx="7521867" cy="1036887"/>
              </a:xfrm>
              <a:prstGeom prst="rect">
                <a:avLst/>
              </a:prstGeom>
              <a:blipFill>
                <a:blip r:embed="rId2"/>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4923D943-B21C-B341-4A7E-EDF93C18256A}"/>
              </a:ext>
            </a:extLst>
          </p:cNvPr>
          <p:cNvSpPr/>
          <p:nvPr/>
        </p:nvSpPr>
        <p:spPr>
          <a:xfrm>
            <a:off x="8421181" y="371640"/>
            <a:ext cx="3132083" cy="3132083"/>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3170F7DA-C10A-D1FE-59C3-C7AAB90E3AEF}"/>
              </a:ext>
            </a:extLst>
          </p:cNvPr>
          <p:cNvCxnSpPr>
            <a:cxnSpLocks/>
            <a:endCxn id="10" idx="6"/>
          </p:cNvCxnSpPr>
          <p:nvPr/>
        </p:nvCxnSpPr>
        <p:spPr>
          <a:xfrm>
            <a:off x="9987222" y="1937682"/>
            <a:ext cx="15660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9261F89-C112-821E-A362-2957B1740285}"/>
              </a:ext>
            </a:extLst>
          </p:cNvPr>
          <p:cNvCxnSpPr>
            <a:cxnSpLocks/>
            <a:endCxn id="10" idx="6"/>
          </p:cNvCxnSpPr>
          <p:nvPr/>
        </p:nvCxnSpPr>
        <p:spPr>
          <a:xfrm>
            <a:off x="10605718" y="495027"/>
            <a:ext cx="947546" cy="144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AE103A8B-058A-0094-E321-C70CE3EBF212}"/>
              </a:ext>
            </a:extLst>
          </p:cNvPr>
          <p:cNvCxnSpPr>
            <a:cxnSpLocks/>
          </p:cNvCxnSpPr>
          <p:nvPr/>
        </p:nvCxnSpPr>
        <p:spPr>
          <a:xfrm flipV="1">
            <a:off x="8686800" y="1077193"/>
            <a:ext cx="2611755" cy="17106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5D8D0039-994B-EEAB-E1CB-83DFA7434744}"/>
                  </a:ext>
                </a:extLst>
              </p:cNvPr>
              <p:cNvSpPr txBox="1"/>
              <p:nvPr/>
            </p:nvSpPr>
            <p:spPr>
              <a:xfrm>
                <a:off x="11496872" y="1747872"/>
                <a:ext cx="4028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p:sp>
            <p:nvSpPr>
              <p:cNvPr id="22" name="TextBox 21">
                <a:extLst>
                  <a:ext uri="{FF2B5EF4-FFF2-40B4-BE49-F238E27FC236}">
                    <a16:creationId xmlns:a16="http://schemas.microsoft.com/office/drawing/2014/main" id="{5D8D0039-994B-EEAB-E1CB-83DFA7434744}"/>
                  </a:ext>
                </a:extLst>
              </p:cNvPr>
              <p:cNvSpPr txBox="1">
                <a:spLocks noRot="1" noChangeAspect="1" noMove="1" noResize="1" noEditPoints="1" noAdjustHandles="1" noChangeArrowheads="1" noChangeShapeType="1" noTextEdit="1"/>
              </p:cNvSpPr>
              <p:nvPr/>
            </p:nvSpPr>
            <p:spPr>
              <a:xfrm>
                <a:off x="11496872" y="1747872"/>
                <a:ext cx="402866"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113BF2FC-48F6-3F77-8BDC-FCB3E39B394C}"/>
                  </a:ext>
                </a:extLst>
              </p:cNvPr>
              <p:cNvSpPr txBox="1"/>
              <p:nvPr/>
            </p:nvSpPr>
            <p:spPr>
              <a:xfrm>
                <a:off x="10463604" y="125695"/>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p:sp>
            <p:nvSpPr>
              <p:cNvPr id="23" name="TextBox 22">
                <a:extLst>
                  <a:ext uri="{FF2B5EF4-FFF2-40B4-BE49-F238E27FC236}">
                    <a16:creationId xmlns:a16="http://schemas.microsoft.com/office/drawing/2014/main" id="{113BF2FC-48F6-3F77-8BDC-FCB3E39B394C}"/>
                  </a:ext>
                </a:extLst>
              </p:cNvPr>
              <p:cNvSpPr txBox="1">
                <a:spLocks noRot="1" noChangeAspect="1" noMove="1" noResize="1" noEditPoints="1" noAdjustHandles="1" noChangeArrowheads="1" noChangeShapeType="1" noTextEdit="1"/>
              </p:cNvSpPr>
              <p:nvPr/>
            </p:nvSpPr>
            <p:spPr>
              <a:xfrm>
                <a:off x="10463604" y="125695"/>
                <a:ext cx="399597" cy="369332"/>
              </a:xfrm>
              <a:prstGeom prst="rect">
                <a:avLst/>
              </a:prstGeom>
              <a:blipFill>
                <a:blip r:embed="rId4"/>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738BEEA0-FEC7-985A-FF85-1F2FBC544467}"/>
                  </a:ext>
                </a:extLst>
              </p:cNvPr>
              <p:cNvSpPr txBox="1"/>
              <p:nvPr/>
            </p:nvSpPr>
            <p:spPr>
              <a:xfrm>
                <a:off x="10968445" y="823471"/>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p:sp>
            <p:nvSpPr>
              <p:cNvPr id="24" name="TextBox 23">
                <a:extLst>
                  <a:ext uri="{FF2B5EF4-FFF2-40B4-BE49-F238E27FC236}">
                    <a16:creationId xmlns:a16="http://schemas.microsoft.com/office/drawing/2014/main" id="{738BEEA0-FEC7-985A-FF85-1F2FBC544467}"/>
                  </a:ext>
                </a:extLst>
              </p:cNvPr>
              <p:cNvSpPr txBox="1">
                <a:spLocks noRot="1" noChangeAspect="1" noMove="1" noResize="1" noEditPoints="1" noAdjustHandles="1" noChangeArrowheads="1" noChangeShapeType="1" noTextEdit="1"/>
              </p:cNvSpPr>
              <p:nvPr/>
            </p:nvSpPr>
            <p:spPr>
              <a:xfrm>
                <a:off x="10968445" y="823471"/>
                <a:ext cx="370230" cy="369332"/>
              </a:xfrm>
              <a:prstGeom prst="rect">
                <a:avLst/>
              </a:prstGeom>
              <a:blipFill>
                <a:blip r:embed="rId5"/>
                <a:stretch>
                  <a:fillRect b="-6557"/>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AF175A0E-E261-D950-DD4D-7802C9EB87B0}"/>
              </a:ext>
            </a:extLst>
          </p:cNvPr>
          <p:cNvCxnSpPr>
            <a:cxnSpLocks/>
          </p:cNvCxnSpPr>
          <p:nvPr/>
        </p:nvCxnSpPr>
        <p:spPr>
          <a:xfrm flipV="1">
            <a:off x="9987222" y="509503"/>
            <a:ext cx="612094" cy="1423035"/>
          </a:xfrm>
          <a:prstGeom prst="line">
            <a:avLst/>
          </a:prstGeom>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5EDFC74E-E5BC-E764-B1B7-BBDC31785123}"/>
              </a:ext>
            </a:extLst>
          </p:cNvPr>
          <p:cNvSpPr/>
          <p:nvPr/>
        </p:nvSpPr>
        <p:spPr>
          <a:xfrm>
            <a:off x="11058536" y="1192804"/>
            <a:ext cx="49530" cy="4953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6548BE7B-C863-518F-5F7B-397F38A932C0}"/>
                  </a:ext>
                </a:extLst>
              </p:cNvPr>
              <p:cNvSpPr txBox="1"/>
              <p:nvPr/>
            </p:nvSpPr>
            <p:spPr>
              <a:xfrm>
                <a:off x="8224174" y="2701716"/>
                <a:ext cx="4626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p:txBody>
          </p:sp>
        </mc:Choice>
        <mc:Fallback>
          <p:sp>
            <p:nvSpPr>
              <p:cNvPr id="29" name="TextBox 28">
                <a:extLst>
                  <a:ext uri="{FF2B5EF4-FFF2-40B4-BE49-F238E27FC236}">
                    <a16:creationId xmlns:a16="http://schemas.microsoft.com/office/drawing/2014/main" id="{6548BE7B-C863-518F-5F7B-397F38A932C0}"/>
                  </a:ext>
                </a:extLst>
              </p:cNvPr>
              <p:cNvSpPr txBox="1">
                <a:spLocks noRot="1" noChangeAspect="1" noMove="1" noResize="1" noEditPoints="1" noAdjustHandles="1" noChangeArrowheads="1" noChangeShapeType="1" noTextEdit="1"/>
              </p:cNvSpPr>
              <p:nvPr/>
            </p:nvSpPr>
            <p:spPr>
              <a:xfrm>
                <a:off x="8224174" y="2701716"/>
                <a:ext cx="462626"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7CDFAC78-CE7E-46E6-3CE6-5906EC8A6D1C}"/>
                  </a:ext>
                </a:extLst>
              </p:cNvPr>
              <p:cNvSpPr txBox="1"/>
              <p:nvPr/>
            </p:nvSpPr>
            <p:spPr>
              <a:xfrm>
                <a:off x="9716945" y="1623357"/>
                <a:ext cx="3986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oMath>
                  </m:oMathPara>
                </a14:m>
                <a:endParaRPr lang="en-US" dirty="0"/>
              </a:p>
            </p:txBody>
          </p:sp>
        </mc:Choice>
        <mc:Fallback>
          <p:sp>
            <p:nvSpPr>
              <p:cNvPr id="30" name="TextBox 29">
                <a:extLst>
                  <a:ext uri="{FF2B5EF4-FFF2-40B4-BE49-F238E27FC236}">
                    <a16:creationId xmlns:a16="http://schemas.microsoft.com/office/drawing/2014/main" id="{7CDFAC78-CE7E-46E6-3CE6-5906EC8A6D1C}"/>
                  </a:ext>
                </a:extLst>
              </p:cNvPr>
              <p:cNvSpPr txBox="1">
                <a:spLocks noRot="1" noChangeAspect="1" noMove="1" noResize="1" noEditPoints="1" noAdjustHandles="1" noChangeArrowheads="1" noChangeShapeType="1" noTextEdit="1"/>
              </p:cNvSpPr>
              <p:nvPr/>
            </p:nvSpPr>
            <p:spPr>
              <a:xfrm>
                <a:off x="9716945" y="1623357"/>
                <a:ext cx="398699"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318787F5-C039-4BB5-7737-F63DDEB1D9E9}"/>
                  </a:ext>
                </a:extLst>
              </p:cNvPr>
              <p:cNvSpPr txBox="1"/>
              <p:nvPr/>
            </p:nvSpPr>
            <p:spPr>
              <a:xfrm>
                <a:off x="11287645" y="734588"/>
                <a:ext cx="4573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p:txBody>
          </p:sp>
        </mc:Choice>
        <mc:Fallback>
          <p:sp>
            <p:nvSpPr>
              <p:cNvPr id="32" name="TextBox 31">
                <a:extLst>
                  <a:ext uri="{FF2B5EF4-FFF2-40B4-BE49-F238E27FC236}">
                    <a16:creationId xmlns:a16="http://schemas.microsoft.com/office/drawing/2014/main" id="{318787F5-C039-4BB5-7737-F63DDEB1D9E9}"/>
                  </a:ext>
                </a:extLst>
              </p:cNvPr>
              <p:cNvSpPr txBox="1">
                <a:spLocks noRot="1" noChangeAspect="1" noMove="1" noResize="1" noEditPoints="1" noAdjustHandles="1" noChangeArrowheads="1" noChangeShapeType="1" noTextEdit="1"/>
              </p:cNvSpPr>
              <p:nvPr/>
            </p:nvSpPr>
            <p:spPr>
              <a:xfrm>
                <a:off x="11287645" y="734588"/>
                <a:ext cx="457305" cy="369332"/>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8BD5F2D8-A227-2642-C6EF-615BCDA547A4}"/>
                  </a:ext>
                </a:extLst>
              </p:cNvPr>
              <p:cNvSpPr txBox="1"/>
              <p:nvPr/>
            </p:nvSpPr>
            <p:spPr>
              <a:xfrm>
                <a:off x="1449591" y="257534"/>
                <a:ext cx="5464445" cy="1323439"/>
              </a:xfrm>
              <a:prstGeom prst="rect">
                <a:avLst/>
              </a:prstGeom>
              <a:noFill/>
            </p:spPr>
            <p:txBody>
              <a:bodyPr wrap="none" rtlCol="0">
                <a:spAutoFit/>
              </a:bodyPr>
              <a:lstStyle/>
              <a:p>
                <a:pPr algn="ctr"/>
                <a:r>
                  <a:rPr lang="en-US" sz="4000" dirty="0">
                    <a:solidFill>
                      <a:schemeClr val="tx1"/>
                    </a:solidFill>
                  </a:rPr>
                  <a:t>Let’s find the relationship</a:t>
                </a:r>
                <a:br>
                  <a:rPr lang="en-US" sz="4000" dirty="0">
                    <a:solidFill>
                      <a:schemeClr val="tx1"/>
                    </a:solidFill>
                  </a:rPr>
                </a:br>
                <a:r>
                  <a:rPr lang="en-US" sz="4000" dirty="0">
                    <a:solidFill>
                      <a:schemeClr val="tx1"/>
                    </a:solidFill>
                  </a:rPr>
                  <a:t>between </a:t>
                </a:r>
                <a14:m>
                  <m:oMath xmlns:m="http://schemas.openxmlformats.org/officeDocument/2006/math">
                    <m:r>
                      <a:rPr lang="en-US" sz="4000" b="0" i="1" smtClean="0">
                        <a:solidFill>
                          <a:schemeClr val="tx1"/>
                        </a:solidFill>
                        <a:latin typeface="Cambria Math" panose="02040503050406030204" pitchFamily="18" charset="0"/>
                      </a:rPr>
                      <m:t>𝜃</m:t>
                    </m:r>
                  </m:oMath>
                </a14:m>
                <a:r>
                  <a:rPr lang="en-US" sz="4000" dirty="0">
                    <a:solidFill>
                      <a:schemeClr val="tx1"/>
                    </a:solidFill>
                  </a:rPr>
                  <a:t> and </a:t>
                </a:r>
                <a14:m>
                  <m:oMath xmlns:m="http://schemas.openxmlformats.org/officeDocument/2006/math">
                    <m:r>
                      <a:rPr lang="en-US" sz="4000" i="1" dirty="0" smtClean="0">
                        <a:solidFill>
                          <a:schemeClr val="tx1"/>
                        </a:solidFill>
                        <a:latin typeface="Cambria Math" panose="02040503050406030204" pitchFamily="18" charset="0"/>
                      </a:rPr>
                      <m:t>𝑟</m:t>
                    </m:r>
                  </m:oMath>
                </a14:m>
                <a:r>
                  <a:rPr lang="en-US" sz="4000" dirty="0">
                    <a:solidFill>
                      <a:schemeClr val="tx1"/>
                    </a:solidFill>
                  </a:rPr>
                  <a:t>!</a:t>
                </a:r>
              </a:p>
            </p:txBody>
          </p:sp>
        </mc:Choice>
        <mc:Fallback>
          <p:sp>
            <p:nvSpPr>
              <p:cNvPr id="4" name="TextBox 3">
                <a:extLst>
                  <a:ext uri="{FF2B5EF4-FFF2-40B4-BE49-F238E27FC236}">
                    <a16:creationId xmlns:a16="http://schemas.microsoft.com/office/drawing/2014/main" id="{8BD5F2D8-A227-2642-C6EF-615BCDA547A4}"/>
                  </a:ext>
                </a:extLst>
              </p:cNvPr>
              <p:cNvSpPr txBox="1">
                <a:spLocks noRot="1" noChangeAspect="1" noMove="1" noResize="1" noEditPoints="1" noAdjustHandles="1" noChangeArrowheads="1" noChangeShapeType="1" noTextEdit="1"/>
              </p:cNvSpPr>
              <p:nvPr/>
            </p:nvSpPr>
            <p:spPr>
              <a:xfrm>
                <a:off x="1449591" y="257534"/>
                <a:ext cx="5464445" cy="1323439"/>
              </a:xfrm>
              <a:prstGeom prst="rect">
                <a:avLst/>
              </a:prstGeom>
              <a:blipFill>
                <a:blip r:embed="rId9"/>
                <a:stretch>
                  <a:fillRect l="-3571" t="-8295" r="-3348" b="-188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2B4E4033-1270-FE3E-13D7-CD9EE77FF1E7}"/>
                  </a:ext>
                </a:extLst>
              </p:cNvPr>
              <p:cNvSpPr txBox="1"/>
              <p:nvPr/>
            </p:nvSpPr>
            <p:spPr>
              <a:xfrm>
                <a:off x="463476" y="3635504"/>
                <a:ext cx="4219232" cy="1564916"/>
              </a:xfrm>
              <a:prstGeom prst="rect">
                <a:avLst/>
              </a:prstGeom>
              <a:noFill/>
            </p:spPr>
            <p:txBody>
              <a:bodyPr wrap="none" rtlCol="0">
                <a:spAutoFit/>
              </a:bodyPr>
              <a:lstStyle/>
              <a:p>
                <a:pPr/>
                <a14:m>
                  <m:oMath xmlns:m="http://schemas.openxmlformats.org/officeDocument/2006/math">
                    <m:r>
                      <a:rPr lang="en-US" sz="3200" b="0" i="1" smtClean="0">
                        <a:latin typeface="Cambria Math" panose="02040503050406030204" pitchFamily="18" charset="0"/>
                      </a:rPr>
                      <m:t>𝑆</m:t>
                    </m:r>
                    <m:d>
                      <m:dPr>
                        <m:ctrlPr>
                          <a:rPr lang="en-US" sz="3200" b="0" i="1" smtClean="0">
                            <a:latin typeface="Cambria Math" panose="02040503050406030204" pitchFamily="18" charset="0"/>
                          </a:rPr>
                        </m:ctrlPr>
                      </m:dPr>
                      <m:e>
                        <m:r>
                          <a:rPr lang="en-US" sz="3200" b="0" i="1" smtClean="0">
                            <a:latin typeface="Cambria Math" panose="02040503050406030204" pitchFamily="18" charset="0"/>
                          </a:rPr>
                          <m:t>𝜌</m:t>
                        </m:r>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rad>
                          <m:radPr>
                            <m:degHide m:val="on"/>
                            <m:ctrlPr>
                              <a:rPr lang="en-US" sz="3200" b="0" i="1" smtClean="0">
                                <a:latin typeface="Cambria Math" panose="02040503050406030204" pitchFamily="18" charset="0"/>
                              </a:rPr>
                            </m:ctrlPr>
                          </m:radPr>
                          <m:deg/>
                          <m:e>
                            <m:r>
                              <a:rPr lang="en-US" sz="3200" b="0" i="1" smtClean="0">
                                <a:latin typeface="Cambria Math" panose="02040503050406030204" pitchFamily="18" charset="0"/>
                              </a:rPr>
                              <m:t>𝑝</m:t>
                            </m:r>
                          </m:e>
                        </m:rad>
                      </m:num>
                      <m:den>
                        <m:r>
                          <a:rPr lang="en-US" sz="3200" i="1">
                            <a:latin typeface="Cambria Math" panose="02040503050406030204" pitchFamily="18" charset="0"/>
                          </a:rPr>
                          <m:t>2</m:t>
                        </m:r>
                      </m:den>
                    </m:f>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e>
                            </m:rad>
                          </m:num>
                          <m:den>
                            <m:r>
                              <a:rPr lang="en-US" sz="3200" i="1">
                                <a:latin typeface="Cambria Math" panose="02040503050406030204" pitchFamily="18" charset="0"/>
                              </a:rPr>
                              <m:t>2</m:t>
                            </m:r>
                          </m:den>
                        </m:f>
                      </m:e>
                    </m:func>
                  </m:oMath>
                </a14:m>
                <a:r>
                  <a:rPr lang="en-US" sz="3200" i="1" dirty="0">
                    <a:latin typeface="Cambria Math" panose="02040503050406030204" pitchFamily="18" charset="0"/>
                  </a:rPr>
                  <a:t> </a:t>
                </a:r>
                <a:br>
                  <a:rPr lang="en-US" sz="3200" i="1" dirty="0">
                    <a:latin typeface="Cambria Math" panose="02040503050406030204" pitchFamily="18" charset="0"/>
                  </a:rPr>
                </a:br>
                <a:r>
                  <a:rPr lang="en-US" sz="3200" i="1" dirty="0">
                    <a:latin typeface="Cambria Math" panose="02040503050406030204" pitchFamily="18" charset="0"/>
                  </a:rPr>
                  <a:t>               </a:t>
                </a:r>
                <a14:m>
                  <m:oMath xmlns:m="http://schemas.openxmlformats.org/officeDocument/2006/math">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i="1">
                            <a:latin typeface="Cambria Math" panose="02040503050406030204" pitchFamily="18" charset="0"/>
                          </a:rPr>
                          <m:t>1</m:t>
                        </m:r>
                        <m:r>
                          <a:rPr lang="en-US" sz="3200" i="1">
                            <a:latin typeface="Cambria Math" panose="02040503050406030204" pitchFamily="18" charset="0"/>
                          </a:rPr>
                          <m:t>−</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e>
                        </m:rad>
                      </m:num>
                      <m:den>
                        <m:r>
                          <a:rPr lang="en-US" sz="3200" i="1">
                            <a:latin typeface="Cambria Math" panose="02040503050406030204" pitchFamily="18" charset="0"/>
                          </a:rPr>
                          <m:t>2</m:t>
                        </m:r>
                      </m:den>
                    </m:f>
                    <m:func>
                      <m:funcPr>
                        <m:ctrlPr>
                          <a:rPr lang="en-US" sz="3200" i="1">
                            <a:latin typeface="Cambria Math" panose="02040503050406030204" pitchFamily="18" charset="0"/>
                          </a:rPr>
                        </m:ctrlPr>
                      </m:funcPr>
                      <m:fName>
                        <m:r>
                          <m:rPr>
                            <m:sty m:val="p"/>
                          </m:rPr>
                          <a:rPr lang="en-US" sz="3200">
                            <a:latin typeface="Cambria Math" panose="02040503050406030204" pitchFamily="18" charset="0"/>
                          </a:rPr>
                          <m:t>log</m:t>
                        </m:r>
                      </m:fName>
                      <m:e>
                        <m:f>
                          <m:fPr>
                            <m:ctrlPr>
                              <a:rPr lang="en-US" sz="3200" i="1">
                                <a:latin typeface="Cambria Math" panose="02040503050406030204" pitchFamily="18" charset="0"/>
                              </a:rPr>
                            </m:ctrlPr>
                          </m:fPr>
                          <m:num>
                            <m:r>
                              <a:rPr lang="en-US" sz="3200" i="1">
                                <a:latin typeface="Cambria Math" panose="02040503050406030204" pitchFamily="18" charset="0"/>
                              </a:rPr>
                              <m:t>1−</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e>
                            </m:rad>
                          </m:num>
                          <m:den>
                            <m:r>
                              <a:rPr lang="en-US" sz="3200" i="1">
                                <a:latin typeface="Cambria Math" panose="02040503050406030204" pitchFamily="18" charset="0"/>
                              </a:rPr>
                              <m:t>2</m:t>
                            </m:r>
                          </m:den>
                        </m:f>
                      </m:e>
                    </m:func>
                  </m:oMath>
                </a14:m>
                <a:r>
                  <a:rPr lang="en-US" sz="3200" dirty="0"/>
                  <a:t> </a:t>
                </a:r>
              </a:p>
            </p:txBody>
          </p:sp>
        </mc:Choice>
        <mc:Fallback>
          <p:sp>
            <p:nvSpPr>
              <p:cNvPr id="6" name="TextBox 5">
                <a:extLst>
                  <a:ext uri="{FF2B5EF4-FFF2-40B4-BE49-F238E27FC236}">
                    <a16:creationId xmlns:a16="http://schemas.microsoft.com/office/drawing/2014/main" id="{2B4E4033-1270-FE3E-13D7-CD9EE77FF1E7}"/>
                  </a:ext>
                </a:extLst>
              </p:cNvPr>
              <p:cNvSpPr txBox="1">
                <a:spLocks noRot="1" noChangeAspect="1" noMove="1" noResize="1" noEditPoints="1" noAdjustHandles="1" noChangeArrowheads="1" noChangeShapeType="1" noTextEdit="1"/>
              </p:cNvSpPr>
              <p:nvPr/>
            </p:nvSpPr>
            <p:spPr>
              <a:xfrm>
                <a:off x="463476" y="3635504"/>
                <a:ext cx="4219232" cy="1564916"/>
              </a:xfrm>
              <a:prstGeom prst="rect">
                <a:avLst/>
              </a:prstGeom>
              <a:blipFill>
                <a:blip r:embed="rId10"/>
                <a:stretch>
                  <a:fillRect/>
                </a:stretch>
              </a:blipFill>
            </p:spPr>
            <p:txBody>
              <a:bodyPr/>
              <a:lstStyle/>
              <a:p>
                <a:r>
                  <a:rPr lang="en-US">
                    <a:noFill/>
                  </a:rPr>
                  <a:t> </a:t>
                </a:r>
              </a:p>
            </p:txBody>
          </p:sp>
        </mc:Fallback>
      </mc:AlternateContent>
      <p:grpSp>
        <p:nvGrpSpPr>
          <p:cNvPr id="16" name="Group 15">
            <a:extLst>
              <a:ext uri="{FF2B5EF4-FFF2-40B4-BE49-F238E27FC236}">
                <a16:creationId xmlns:a16="http://schemas.microsoft.com/office/drawing/2014/main" id="{BA426460-6B99-E15A-0CE6-EEA7E0DF9680}"/>
              </a:ext>
            </a:extLst>
          </p:cNvPr>
          <p:cNvGrpSpPr/>
          <p:nvPr/>
        </p:nvGrpSpPr>
        <p:grpSpPr>
          <a:xfrm>
            <a:off x="5482902" y="3367970"/>
            <a:ext cx="3098017" cy="2743277"/>
            <a:chOff x="6649512" y="2406160"/>
            <a:chExt cx="4674659" cy="4139385"/>
          </a:xfrm>
        </p:grpSpPr>
        <p:pic>
          <p:nvPicPr>
            <p:cNvPr id="8" name="Picture 7">
              <a:extLst>
                <a:ext uri="{FF2B5EF4-FFF2-40B4-BE49-F238E27FC236}">
                  <a16:creationId xmlns:a16="http://schemas.microsoft.com/office/drawing/2014/main" id="{8416D4D5-CEB6-5447-6026-BFBEF56A7B2A}"/>
                </a:ext>
              </a:extLst>
            </p:cNvPr>
            <p:cNvPicPr>
              <a:picLocks noChangeAspect="1"/>
            </p:cNvPicPr>
            <p:nvPr/>
          </p:nvPicPr>
          <p:blipFill>
            <a:blip r:embed="rId11"/>
            <a:stretch>
              <a:fillRect/>
            </a:stretch>
          </p:blipFill>
          <p:spPr>
            <a:xfrm>
              <a:off x="7217742" y="2606215"/>
              <a:ext cx="3470372" cy="3462539"/>
            </a:xfrm>
            <a:prstGeom prst="rect">
              <a:avLst/>
            </a:prstGeom>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F1CD1A29-B781-B098-89FD-D37A9594B552}"/>
                    </a:ext>
                  </a:extLst>
                </p:cNvPr>
                <p:cNvSpPr txBox="1"/>
                <p:nvPr/>
              </p:nvSpPr>
              <p:spPr>
                <a:xfrm>
                  <a:off x="6649512" y="2406160"/>
                  <a:ext cx="867673" cy="46441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400" b="0" i="1" smtClean="0">
                            <a:latin typeface="Cambria Math" panose="02040503050406030204" pitchFamily="18" charset="0"/>
                          </a:rPr>
                          <m:t>𝑆</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𝜌</m:t>
                            </m:r>
                          </m:e>
                        </m:d>
                      </m:oMath>
                    </m:oMathPara>
                  </a14:m>
                  <a:endParaRPr lang="en-US" sz="1400" dirty="0"/>
                </a:p>
              </p:txBody>
            </p:sp>
          </mc:Choice>
          <mc:Fallback>
            <p:sp>
              <p:nvSpPr>
                <p:cNvPr id="12" name="TextBox 11">
                  <a:extLst>
                    <a:ext uri="{FF2B5EF4-FFF2-40B4-BE49-F238E27FC236}">
                      <a16:creationId xmlns:a16="http://schemas.microsoft.com/office/drawing/2014/main" id="{F1CD1A29-B781-B098-89FD-D37A9594B552}"/>
                    </a:ext>
                  </a:extLst>
                </p:cNvPr>
                <p:cNvSpPr txBox="1">
                  <a:spLocks noRot="1" noChangeAspect="1" noMove="1" noResize="1" noEditPoints="1" noAdjustHandles="1" noChangeArrowheads="1" noChangeShapeType="1" noTextEdit="1"/>
                </p:cNvSpPr>
                <p:nvPr/>
              </p:nvSpPr>
              <p:spPr>
                <a:xfrm>
                  <a:off x="6649512" y="2406160"/>
                  <a:ext cx="867673" cy="464411"/>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94229F0D-5A96-01FA-08E1-BE5D0F414810}"/>
                    </a:ext>
                  </a:extLst>
                </p:cNvPr>
                <p:cNvSpPr txBox="1"/>
                <p:nvPr/>
              </p:nvSpPr>
              <p:spPr>
                <a:xfrm>
                  <a:off x="9932971" y="6012537"/>
                  <a:ext cx="1391200" cy="5330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ad>
                          <m:radPr>
                            <m:degHide m:val="on"/>
                            <m:ctrlPr>
                              <a:rPr lang="en-US" sz="1400" i="1">
                                <a:latin typeface="Cambria Math" panose="02040503050406030204" pitchFamily="18" charset="0"/>
                              </a:rPr>
                            </m:ctrlPr>
                          </m:radPr>
                          <m:deg/>
                          <m:e>
                            <m:r>
                              <a:rPr lang="en-US" sz="1400" i="1">
                                <a:latin typeface="Cambria Math" panose="02040503050406030204" pitchFamily="18" charset="0"/>
                              </a:rPr>
                              <m:t>𝑝</m:t>
                            </m:r>
                            <m:d>
                              <m:dPr>
                                <m:ctrlPr>
                                  <a:rPr lang="en-US" sz="1400" i="1">
                                    <a:latin typeface="Cambria Math" panose="02040503050406030204" pitchFamily="18" charset="0"/>
                                  </a:rPr>
                                </m:ctrlPr>
                              </m:dPr>
                              <m:e>
                                <m:r>
                                  <a:rPr lang="en-US" sz="1400" i="1">
                                    <a:latin typeface="Cambria Math" panose="02040503050406030204" pitchFamily="18" charset="0"/>
                                  </a:rPr>
                                  <m:t>𝜓</m:t>
                                </m:r>
                              </m:e>
                              <m:e>
                                <m:r>
                                  <a:rPr lang="en-US" sz="1400" i="1">
                                    <a:latin typeface="Cambria Math" panose="02040503050406030204" pitchFamily="18" charset="0"/>
                                  </a:rPr>
                                  <m:t>𝜙</m:t>
                                </m:r>
                              </m:e>
                            </m:d>
                          </m:e>
                        </m:rad>
                      </m:oMath>
                    </m:oMathPara>
                  </a14:m>
                  <a:endParaRPr lang="en-US" sz="1400" dirty="0"/>
                </a:p>
              </p:txBody>
            </p:sp>
          </mc:Choice>
          <mc:Fallback>
            <p:sp>
              <p:nvSpPr>
                <p:cNvPr id="14" name="TextBox 13">
                  <a:extLst>
                    <a:ext uri="{FF2B5EF4-FFF2-40B4-BE49-F238E27FC236}">
                      <a16:creationId xmlns:a16="http://schemas.microsoft.com/office/drawing/2014/main" id="{94229F0D-5A96-01FA-08E1-BE5D0F414810}"/>
                    </a:ext>
                  </a:extLst>
                </p:cNvPr>
                <p:cNvSpPr txBox="1">
                  <a:spLocks noRot="1" noChangeAspect="1" noMove="1" noResize="1" noEditPoints="1" noAdjustHandles="1" noChangeArrowheads="1" noChangeShapeType="1" noTextEdit="1"/>
                </p:cNvSpPr>
                <p:nvPr/>
              </p:nvSpPr>
              <p:spPr>
                <a:xfrm>
                  <a:off x="9932971" y="6012537"/>
                  <a:ext cx="1391200" cy="533008"/>
                </a:xfrm>
                <a:prstGeom prst="rect">
                  <a:avLst/>
                </a:prstGeom>
                <a:blipFill>
                  <a:blip r:embed="rId13"/>
                  <a:stretch>
                    <a:fillRect b="-6897"/>
                  </a:stretch>
                </a:blipFill>
              </p:spPr>
              <p:txBody>
                <a:bodyPr/>
                <a:lstStyle/>
                <a:p>
                  <a:r>
                    <a:rPr lang="en-US">
                      <a:noFill/>
                    </a:rPr>
                    <a:t> </a:t>
                  </a:r>
                </a:p>
              </p:txBody>
            </p:sp>
          </mc:Fallback>
        </mc:AlternateContent>
      </p:grpSp>
    </p:spTree>
    <p:extLst>
      <p:ext uri="{BB962C8B-B14F-4D97-AF65-F5344CB8AC3E}">
        <p14:creationId xmlns:p14="http://schemas.microsoft.com/office/powerpoint/2010/main" val="3080317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846D72-E1E2-CB7B-A764-10ADCBC37237}"/>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EFA0C422-B3E0-0553-BBA7-8E39DC94A2A7}"/>
              </a:ext>
            </a:extLst>
          </p:cNvPr>
          <p:cNvSpPr txBox="1"/>
          <p:nvPr/>
        </p:nvSpPr>
        <p:spPr>
          <a:xfrm>
            <a:off x="992134" y="617011"/>
            <a:ext cx="10207731" cy="830997"/>
          </a:xfrm>
          <a:prstGeom prst="rect">
            <a:avLst/>
          </a:prstGeom>
          <a:noFill/>
        </p:spPr>
        <p:txBody>
          <a:bodyPr wrap="none" rtlCol="0">
            <a:spAutoFit/>
          </a:bodyPr>
          <a:lstStyle/>
          <a:p>
            <a:r>
              <a:rPr lang="en-US" sz="4800" dirty="0">
                <a:solidFill>
                  <a:schemeClr val="accent6">
                    <a:lumMod val="75000"/>
                  </a:schemeClr>
                </a:solidFill>
              </a:rPr>
              <a:t>Let’s see this relationship geometrically!</a:t>
            </a:r>
          </a:p>
        </p:txBody>
      </p:sp>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80EAAC9-CBA4-094F-5274-4185E3FF3A95}"/>
                  </a:ext>
                </a:extLst>
              </p:cNvPr>
              <p:cNvSpPr txBox="1"/>
              <p:nvPr/>
            </p:nvSpPr>
            <p:spPr>
              <a:xfrm>
                <a:off x="3643373" y="2044768"/>
                <a:ext cx="4276234" cy="109857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𝑟</m:t>
                      </m:r>
                      <m:r>
                        <a:rPr lang="en-US" sz="5400" b="0" i="1" smtClean="0">
                          <a:latin typeface="Cambria Math" panose="02040503050406030204" pitchFamily="18" charset="0"/>
                        </a:rPr>
                        <m:t>=</m:t>
                      </m:r>
                      <m:rad>
                        <m:radPr>
                          <m:degHide m:val="on"/>
                          <m:ctrlPr>
                            <a:rPr lang="en-US" sz="5400" b="0" i="1" smtClean="0">
                              <a:latin typeface="Cambria Math" panose="02040503050406030204" pitchFamily="18" charset="0"/>
                            </a:rPr>
                          </m:ctrlPr>
                        </m:radPr>
                        <m:deg/>
                        <m:e>
                          <m:r>
                            <a:rPr lang="en-US" sz="5400" b="0" i="1" smtClean="0">
                              <a:latin typeface="Cambria Math" panose="02040503050406030204" pitchFamily="18" charset="0"/>
                            </a:rPr>
                            <m:t>𝑝</m:t>
                          </m:r>
                          <m:d>
                            <m:dPr>
                              <m:ctrlPr>
                                <a:rPr lang="en-US" sz="5400" b="0" i="1" smtClean="0">
                                  <a:latin typeface="Cambria Math" panose="02040503050406030204" pitchFamily="18" charset="0"/>
                                </a:rPr>
                              </m:ctrlPr>
                            </m:dPr>
                            <m:e>
                              <m:r>
                                <a:rPr lang="en-US" sz="5400" b="0" i="1" smtClean="0">
                                  <a:latin typeface="Cambria Math" panose="02040503050406030204" pitchFamily="18" charset="0"/>
                                </a:rPr>
                                <m:t>𝜓</m:t>
                              </m:r>
                            </m:e>
                            <m:e>
                              <m:r>
                                <a:rPr lang="en-US" sz="5400" b="0" i="1" smtClean="0">
                                  <a:latin typeface="Cambria Math" panose="02040503050406030204" pitchFamily="18" charset="0"/>
                                </a:rPr>
                                <m:t>𝜙</m:t>
                              </m:r>
                            </m:e>
                          </m:d>
                        </m:e>
                      </m:rad>
                    </m:oMath>
                  </m:oMathPara>
                </a14:m>
                <a:endParaRPr lang="en-US" sz="5400" dirty="0"/>
              </a:p>
            </p:txBody>
          </p:sp>
        </mc:Choice>
        <mc:Fallback>
          <p:sp>
            <p:nvSpPr>
              <p:cNvPr id="5" name="TextBox 4">
                <a:extLst>
                  <a:ext uri="{FF2B5EF4-FFF2-40B4-BE49-F238E27FC236}">
                    <a16:creationId xmlns:a16="http://schemas.microsoft.com/office/drawing/2014/main" id="{780EAAC9-CBA4-094F-5274-4185E3FF3A95}"/>
                  </a:ext>
                </a:extLst>
              </p:cNvPr>
              <p:cNvSpPr txBox="1">
                <a:spLocks noRot="1" noChangeAspect="1" noMove="1" noResize="1" noEditPoints="1" noAdjustHandles="1" noChangeArrowheads="1" noChangeShapeType="1" noTextEdit="1"/>
              </p:cNvSpPr>
              <p:nvPr/>
            </p:nvSpPr>
            <p:spPr>
              <a:xfrm>
                <a:off x="3643373" y="2044768"/>
                <a:ext cx="4276234" cy="109857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978313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EF69F8-D846-2A77-7AF8-A7E2B5A71AFD}"/>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0406345B-FBCD-E098-8656-09A19501C194}"/>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AFC9AEB8-D200-C537-9DED-5D15E806174F}"/>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666B6058-48B1-F5EF-D153-0AE01E289533}"/>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C04E6D8-C8BD-7233-3726-69E2FB1663C4}"/>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979D3F5-23B1-5B9B-BD34-2DCA2D01C8A3}"/>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54779E0-357F-6220-7F57-2ADDE48716DE}"/>
                  </a:ext>
                </a:extLst>
              </p:cNvPr>
              <p:cNvSpPr txBox="1"/>
              <p:nvPr/>
            </p:nvSpPr>
            <p:spPr>
              <a:xfrm>
                <a:off x="4852135" y="3507602"/>
                <a:ext cx="4272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𝜓</m:t>
                      </m:r>
                    </m:oMath>
                  </m:oMathPara>
                </a14:m>
                <a:endParaRPr lang="en-US" sz="2000" dirty="0"/>
              </a:p>
            </p:txBody>
          </p:sp>
        </mc:Choice>
        <mc:Fallback>
          <p:sp>
            <p:nvSpPr>
              <p:cNvPr id="12" name="TextBox 11">
                <a:extLst>
                  <a:ext uri="{FF2B5EF4-FFF2-40B4-BE49-F238E27FC236}">
                    <a16:creationId xmlns:a16="http://schemas.microsoft.com/office/drawing/2014/main" id="{554779E0-357F-6220-7F57-2ADDE48716DE}"/>
                  </a:ext>
                </a:extLst>
              </p:cNvPr>
              <p:cNvSpPr txBox="1">
                <a:spLocks noRot="1" noChangeAspect="1" noMove="1" noResize="1" noEditPoints="1" noAdjustHandles="1" noChangeArrowheads="1" noChangeShapeType="1" noTextEdit="1"/>
              </p:cNvSpPr>
              <p:nvPr/>
            </p:nvSpPr>
            <p:spPr>
              <a:xfrm>
                <a:off x="4852135" y="3507602"/>
                <a:ext cx="427296"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0CEC84C-AF92-B489-8A65-DD92331DBB3D}"/>
                  </a:ext>
                </a:extLst>
              </p:cNvPr>
              <p:cNvSpPr txBox="1"/>
              <p:nvPr/>
            </p:nvSpPr>
            <p:spPr>
              <a:xfrm>
                <a:off x="3862398" y="1976614"/>
                <a:ext cx="4226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𝜙</m:t>
                      </m:r>
                    </m:oMath>
                  </m:oMathPara>
                </a14:m>
                <a:endParaRPr lang="en-US" sz="2000" dirty="0"/>
              </a:p>
            </p:txBody>
          </p:sp>
        </mc:Choice>
        <mc:Fallback>
          <p:sp>
            <p:nvSpPr>
              <p:cNvPr id="14" name="TextBox 13">
                <a:extLst>
                  <a:ext uri="{FF2B5EF4-FFF2-40B4-BE49-F238E27FC236}">
                    <a16:creationId xmlns:a16="http://schemas.microsoft.com/office/drawing/2014/main" id="{E0CEC84C-AF92-B489-8A65-DD92331DBB3D}"/>
                  </a:ext>
                </a:extLst>
              </p:cNvPr>
              <p:cNvSpPr txBox="1">
                <a:spLocks noRot="1" noChangeAspect="1" noMove="1" noResize="1" noEditPoints="1" noAdjustHandles="1" noChangeArrowheads="1" noChangeShapeType="1" noTextEdit="1"/>
              </p:cNvSpPr>
              <p:nvPr/>
            </p:nvSpPr>
            <p:spPr>
              <a:xfrm>
                <a:off x="3862398" y="1976614"/>
                <a:ext cx="422615"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56A58A7A-0033-E5EF-3FD4-A845411A2CDE}"/>
                  </a:ext>
                </a:extLst>
              </p:cNvPr>
              <p:cNvSpPr txBox="1"/>
              <p:nvPr/>
            </p:nvSpPr>
            <p:spPr>
              <a:xfrm>
                <a:off x="4333801" y="2635166"/>
                <a:ext cx="3897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oMath>
                  </m:oMathPara>
                </a14:m>
                <a:endParaRPr lang="en-US" sz="2000" dirty="0"/>
              </a:p>
            </p:txBody>
          </p:sp>
        </mc:Choice>
        <mc:Fallback>
          <p:sp>
            <p:nvSpPr>
              <p:cNvPr id="16" name="TextBox 15">
                <a:extLst>
                  <a:ext uri="{FF2B5EF4-FFF2-40B4-BE49-F238E27FC236}">
                    <a16:creationId xmlns:a16="http://schemas.microsoft.com/office/drawing/2014/main" id="{56A58A7A-0033-E5EF-3FD4-A845411A2CDE}"/>
                  </a:ext>
                </a:extLst>
              </p:cNvPr>
              <p:cNvSpPr txBox="1">
                <a:spLocks noRot="1" noChangeAspect="1" noMove="1" noResize="1" noEditPoints="1" noAdjustHandles="1" noChangeArrowheads="1" noChangeShapeType="1" noTextEdit="1"/>
              </p:cNvSpPr>
              <p:nvPr/>
            </p:nvSpPr>
            <p:spPr>
              <a:xfrm>
                <a:off x="4333801" y="2635166"/>
                <a:ext cx="389787" cy="400110"/>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467EAAB-CB87-2EF5-1BE1-D8185910E0CC}"/>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0E26EAA4-D325-51EA-C82E-84087F6C3C37}"/>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8BF3B16E-62B7-A877-2DE8-0FCD949215BF}"/>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9160FAD8-633A-D01F-C23C-01198A205C46}"/>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C7156E42-09D4-701F-9D7F-CFAECE7B52BD}"/>
                  </a:ext>
                </a:extLst>
              </p:cNvPr>
              <p:cNvSpPr txBox="1"/>
              <p:nvPr/>
            </p:nvSpPr>
            <p:spPr>
              <a:xfrm>
                <a:off x="1480313" y="3468793"/>
                <a:ext cx="5756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r>
                            <a:rPr lang="en-US" sz="2000" b="0" i="1" smtClean="0">
                              <a:latin typeface="Cambria Math" panose="02040503050406030204" pitchFamily="18" charset="0"/>
                            </a:rPr>
                            <m:t>⊥</m:t>
                          </m:r>
                        </m:sup>
                      </m:sSup>
                    </m:oMath>
                  </m:oMathPara>
                </a14:m>
                <a:endParaRPr lang="en-US" sz="2000" dirty="0"/>
              </a:p>
            </p:txBody>
          </p:sp>
        </mc:Choice>
        <mc:Fallback>
          <p:sp>
            <p:nvSpPr>
              <p:cNvPr id="57" name="TextBox 56">
                <a:extLst>
                  <a:ext uri="{FF2B5EF4-FFF2-40B4-BE49-F238E27FC236}">
                    <a16:creationId xmlns:a16="http://schemas.microsoft.com/office/drawing/2014/main" id="{C7156E42-09D4-701F-9D7F-CFAECE7B52BD}"/>
                  </a:ext>
                </a:extLst>
              </p:cNvPr>
              <p:cNvSpPr txBox="1">
                <a:spLocks noRot="1" noChangeAspect="1" noMove="1" noResize="1" noEditPoints="1" noAdjustHandles="1" noChangeArrowheads="1" noChangeShapeType="1" noTextEdit="1"/>
              </p:cNvSpPr>
              <p:nvPr/>
            </p:nvSpPr>
            <p:spPr>
              <a:xfrm>
                <a:off x="1480313" y="3468793"/>
                <a:ext cx="575670"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157B110-5560-C8DB-6F04-8DCFDBB7F300}"/>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D81FBF70-B9DF-81AE-B3E9-23FDCBA95115}"/>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4619255D-456F-870F-158D-273FC744653D}"/>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D0E160C-B35F-B6C4-AC56-FA46AB9B6E32}"/>
                  </a:ext>
                </a:extLst>
              </p:cNvPr>
              <p:cNvSpPr txBox="1"/>
              <p:nvPr/>
            </p:nvSpPr>
            <p:spPr>
              <a:xfrm>
                <a:off x="2399383" y="3292879"/>
                <a:ext cx="104740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e>
                          <m:r>
                            <a:rPr lang="en-US" sz="2000" b="0" i="1" smtClean="0">
                              <a:latin typeface="Cambria Math" panose="02040503050406030204" pitchFamily="18" charset="0"/>
                            </a:rPr>
                            <m:t>𝜙</m:t>
                          </m:r>
                        </m:e>
                      </m:d>
                    </m:oMath>
                  </m:oMathPara>
                </a14:m>
                <a:endParaRPr lang="en-US" sz="2000" dirty="0"/>
              </a:p>
            </p:txBody>
          </p:sp>
        </mc:Choice>
        <mc:Fallback>
          <p:sp>
            <p:nvSpPr>
              <p:cNvPr id="18" name="TextBox 17">
                <a:extLst>
                  <a:ext uri="{FF2B5EF4-FFF2-40B4-BE49-F238E27FC236}">
                    <a16:creationId xmlns:a16="http://schemas.microsoft.com/office/drawing/2014/main" id="{9D0E160C-B35F-B6C4-AC56-FA46AB9B6E32}"/>
                  </a:ext>
                </a:extLst>
              </p:cNvPr>
              <p:cNvSpPr txBox="1">
                <a:spLocks noRot="1" noChangeAspect="1" noMove="1" noResize="1" noEditPoints="1" noAdjustHandles="1" noChangeArrowheads="1" noChangeShapeType="1" noTextEdit="1"/>
              </p:cNvSpPr>
              <p:nvPr/>
            </p:nvSpPr>
            <p:spPr>
              <a:xfrm>
                <a:off x="2399383" y="3292879"/>
                <a:ext cx="1047402" cy="400110"/>
              </a:xfrm>
              <a:prstGeom prst="rect">
                <a:avLst/>
              </a:prstGeom>
              <a:blipFill>
                <a:blip r:embed="rId9"/>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3191010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2E27F-EAB7-C799-BFD8-7951BED17C6B}"/>
            </a:ext>
          </a:extLst>
        </p:cNvPr>
        <p:cNvGrpSpPr/>
        <p:nvPr/>
      </p:nvGrpSpPr>
      <p:grpSpPr>
        <a:xfrm>
          <a:off x="0" y="0"/>
          <a:ext cx="0" cy="0"/>
          <a:chOff x="0" y="0"/>
          <a:chExt cx="0" cy="0"/>
        </a:xfrm>
      </p:grpSpPr>
      <p:sp>
        <p:nvSpPr>
          <p:cNvPr id="31" name="Rectangle 30">
            <a:extLst>
              <a:ext uri="{FF2B5EF4-FFF2-40B4-BE49-F238E27FC236}">
                <a16:creationId xmlns:a16="http://schemas.microsoft.com/office/drawing/2014/main" id="{89C6884A-2A81-F53D-03D9-CB0832E52FE6}"/>
              </a:ext>
            </a:extLst>
          </p:cNvPr>
          <p:cNvSpPr/>
          <p:nvPr/>
        </p:nvSpPr>
        <p:spPr>
          <a:xfrm rot="19598101">
            <a:off x="4307210" y="1760204"/>
            <a:ext cx="1602483" cy="1602482"/>
          </a:xfrm>
          <a:prstGeom prst="rect">
            <a:avLst/>
          </a:prstGeom>
          <a:solidFill>
            <a:srgbClr val="172C51">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30" name="Rectangle 29">
            <a:extLst>
              <a:ext uri="{FF2B5EF4-FFF2-40B4-BE49-F238E27FC236}">
                <a16:creationId xmlns:a16="http://schemas.microsoft.com/office/drawing/2014/main" id="{559AA2FE-9E9F-CB85-4291-442234E3AE67}"/>
              </a:ext>
            </a:extLst>
          </p:cNvPr>
          <p:cNvSpPr/>
          <p:nvPr/>
        </p:nvSpPr>
        <p:spPr>
          <a:xfrm>
            <a:off x="1957178" y="3694472"/>
            <a:ext cx="2042713" cy="2922705"/>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358442B4-8459-96AE-CB9B-00DAAF8BB8A7}"/>
              </a:ext>
            </a:extLst>
          </p:cNvPr>
          <p:cNvSpPr/>
          <p:nvPr/>
        </p:nvSpPr>
        <p:spPr>
          <a:xfrm>
            <a:off x="3998657" y="3694472"/>
            <a:ext cx="869914" cy="2922705"/>
          </a:xfrm>
          <a:prstGeom prst="rect">
            <a:avLst/>
          </a:prstGeom>
          <a:solidFill>
            <a:srgbClr val="00206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Connector 12">
            <a:extLst>
              <a:ext uri="{FF2B5EF4-FFF2-40B4-BE49-F238E27FC236}">
                <a16:creationId xmlns:a16="http://schemas.microsoft.com/office/drawing/2014/main" id="{1ADB5A1B-8A96-6777-C090-62EDD01879DC}"/>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8D1A1D29-8AEF-4060-0FE7-E0ED01283976}"/>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19ADD5BB-F4AA-8841-13D4-272D477F6E10}"/>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B0181BAD-F9CE-B600-D681-E616CE7C1AE9}"/>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B8D4D05-DD94-8D43-DAB3-CC7678B9A9F3}"/>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3F4F555-E2FF-4305-5CD7-E3C5EF45E005}"/>
                  </a:ext>
                </a:extLst>
              </p:cNvPr>
              <p:cNvSpPr txBox="1"/>
              <p:nvPr/>
            </p:nvSpPr>
            <p:spPr>
              <a:xfrm>
                <a:off x="4852135" y="3507602"/>
                <a:ext cx="4272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𝜓</m:t>
                      </m:r>
                    </m:oMath>
                  </m:oMathPara>
                </a14:m>
                <a:endParaRPr lang="en-US" sz="2000" dirty="0"/>
              </a:p>
            </p:txBody>
          </p:sp>
        </mc:Choice>
        <mc:Fallback>
          <p:sp>
            <p:nvSpPr>
              <p:cNvPr id="12" name="TextBox 11">
                <a:extLst>
                  <a:ext uri="{FF2B5EF4-FFF2-40B4-BE49-F238E27FC236}">
                    <a16:creationId xmlns:a16="http://schemas.microsoft.com/office/drawing/2014/main" id="{A3F4F555-E2FF-4305-5CD7-E3C5EF45E005}"/>
                  </a:ext>
                </a:extLst>
              </p:cNvPr>
              <p:cNvSpPr txBox="1">
                <a:spLocks noRot="1" noChangeAspect="1" noMove="1" noResize="1" noEditPoints="1" noAdjustHandles="1" noChangeArrowheads="1" noChangeShapeType="1" noTextEdit="1"/>
              </p:cNvSpPr>
              <p:nvPr/>
            </p:nvSpPr>
            <p:spPr>
              <a:xfrm>
                <a:off x="4852135" y="3507602"/>
                <a:ext cx="427296"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5C78EEBB-FB7B-F2C6-C317-249235F706D9}"/>
                  </a:ext>
                </a:extLst>
              </p:cNvPr>
              <p:cNvSpPr txBox="1"/>
              <p:nvPr/>
            </p:nvSpPr>
            <p:spPr>
              <a:xfrm>
                <a:off x="3862398" y="1976614"/>
                <a:ext cx="4226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𝜙</m:t>
                      </m:r>
                    </m:oMath>
                  </m:oMathPara>
                </a14:m>
                <a:endParaRPr lang="en-US" sz="2000" dirty="0"/>
              </a:p>
            </p:txBody>
          </p:sp>
        </mc:Choice>
        <mc:Fallback>
          <p:sp>
            <p:nvSpPr>
              <p:cNvPr id="14" name="TextBox 13">
                <a:extLst>
                  <a:ext uri="{FF2B5EF4-FFF2-40B4-BE49-F238E27FC236}">
                    <a16:creationId xmlns:a16="http://schemas.microsoft.com/office/drawing/2014/main" id="{5C78EEBB-FB7B-F2C6-C317-249235F706D9}"/>
                  </a:ext>
                </a:extLst>
              </p:cNvPr>
              <p:cNvSpPr txBox="1">
                <a:spLocks noRot="1" noChangeAspect="1" noMove="1" noResize="1" noEditPoints="1" noAdjustHandles="1" noChangeArrowheads="1" noChangeShapeType="1" noTextEdit="1"/>
              </p:cNvSpPr>
              <p:nvPr/>
            </p:nvSpPr>
            <p:spPr>
              <a:xfrm>
                <a:off x="3862398" y="1976614"/>
                <a:ext cx="422615"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1F654714-3D80-08FC-E28D-2BBBA7005AC1}"/>
                  </a:ext>
                </a:extLst>
              </p:cNvPr>
              <p:cNvSpPr txBox="1"/>
              <p:nvPr/>
            </p:nvSpPr>
            <p:spPr>
              <a:xfrm>
                <a:off x="4333801" y="2635166"/>
                <a:ext cx="3897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oMath>
                  </m:oMathPara>
                </a14:m>
                <a:endParaRPr lang="en-US" sz="2000" dirty="0"/>
              </a:p>
            </p:txBody>
          </p:sp>
        </mc:Choice>
        <mc:Fallback>
          <p:sp>
            <p:nvSpPr>
              <p:cNvPr id="16" name="TextBox 15">
                <a:extLst>
                  <a:ext uri="{FF2B5EF4-FFF2-40B4-BE49-F238E27FC236}">
                    <a16:creationId xmlns:a16="http://schemas.microsoft.com/office/drawing/2014/main" id="{1F654714-3D80-08FC-E28D-2BBBA7005AC1}"/>
                  </a:ext>
                </a:extLst>
              </p:cNvPr>
              <p:cNvSpPr txBox="1">
                <a:spLocks noRot="1" noChangeAspect="1" noMove="1" noResize="1" noEditPoints="1" noAdjustHandles="1" noChangeArrowheads="1" noChangeShapeType="1" noTextEdit="1"/>
              </p:cNvSpPr>
              <p:nvPr/>
            </p:nvSpPr>
            <p:spPr>
              <a:xfrm>
                <a:off x="4333801" y="2635166"/>
                <a:ext cx="389787" cy="400110"/>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C6BFB5-3D08-9A1A-0E2D-7D4874C8AA91}"/>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BB8D77E0-3080-911E-D93D-86B83E750D30}"/>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10A8AAC1-4369-7F2F-CCA6-936B937D4748}"/>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26DE0626-B41F-B2A4-D2E1-E414DD77BDF9}"/>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B9B694A5-468C-4EEE-4F39-996487134694}"/>
                  </a:ext>
                </a:extLst>
              </p:cNvPr>
              <p:cNvSpPr txBox="1"/>
              <p:nvPr/>
            </p:nvSpPr>
            <p:spPr>
              <a:xfrm>
                <a:off x="1480313" y="3468793"/>
                <a:ext cx="5756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r>
                            <a:rPr lang="en-US" sz="2000" b="0" i="1" smtClean="0">
                              <a:latin typeface="Cambria Math" panose="02040503050406030204" pitchFamily="18" charset="0"/>
                            </a:rPr>
                            <m:t>⊥</m:t>
                          </m:r>
                        </m:sup>
                      </m:sSup>
                    </m:oMath>
                  </m:oMathPara>
                </a14:m>
                <a:endParaRPr lang="en-US" sz="2000" dirty="0"/>
              </a:p>
            </p:txBody>
          </p:sp>
        </mc:Choice>
        <mc:Fallback>
          <p:sp>
            <p:nvSpPr>
              <p:cNvPr id="57" name="TextBox 56">
                <a:extLst>
                  <a:ext uri="{FF2B5EF4-FFF2-40B4-BE49-F238E27FC236}">
                    <a16:creationId xmlns:a16="http://schemas.microsoft.com/office/drawing/2014/main" id="{B9B694A5-468C-4EEE-4F39-996487134694}"/>
                  </a:ext>
                </a:extLst>
              </p:cNvPr>
              <p:cNvSpPr txBox="1">
                <a:spLocks noRot="1" noChangeAspect="1" noMove="1" noResize="1" noEditPoints="1" noAdjustHandles="1" noChangeArrowheads="1" noChangeShapeType="1" noTextEdit="1"/>
              </p:cNvSpPr>
              <p:nvPr/>
            </p:nvSpPr>
            <p:spPr>
              <a:xfrm>
                <a:off x="1480313" y="3468793"/>
                <a:ext cx="575670"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6EEF8F3E-8B59-4F96-CE05-A5AEECC2467C}"/>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D1819ECB-4941-C565-E66B-159570E9F406}"/>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DD1000AA-AEC4-A939-F7B3-EDEFD9E81502}"/>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6B8F0747-8D66-0CA9-7E15-0C9BD3DF0A1D}"/>
              </a:ext>
            </a:extLst>
          </p:cNvPr>
          <p:cNvCxnSpPr>
            <a:cxnSpLocks/>
            <a:stCxn id="2" idx="2"/>
          </p:cNvCxnSpPr>
          <p:nvPr/>
        </p:nvCxnSpPr>
        <p:spPr>
          <a:xfrm flipV="1">
            <a:off x="1955254" y="2326262"/>
            <a:ext cx="2039845" cy="1360479"/>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F6D5BE3-9D9A-4D37-3B2C-07BD8286F2C3}"/>
              </a:ext>
            </a:extLst>
          </p:cNvPr>
          <p:cNvSpPr/>
          <p:nvPr/>
        </p:nvSpPr>
        <p:spPr>
          <a:xfrm rot="19598101">
            <a:off x="1080620" y="775504"/>
            <a:ext cx="2439889" cy="2439888"/>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D60A828-BDC4-6CD9-C323-641755B9F6C0}"/>
                  </a:ext>
                </a:extLst>
              </p:cNvPr>
              <p:cNvSpPr txBox="1"/>
              <p:nvPr/>
            </p:nvSpPr>
            <p:spPr>
              <a:xfrm>
                <a:off x="5307370" y="607759"/>
                <a:ext cx="2467470"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90</m:t>
                          </m:r>
                        </m:e>
                        <m:sup>
                          <m:r>
                            <a:rPr lang="en-US" sz="2800" b="0" i="1" smtClean="0">
                              <a:latin typeface="Cambria Math" panose="02040503050406030204" pitchFamily="18" charset="0"/>
                            </a:rPr>
                            <m:t>∘</m:t>
                          </m:r>
                        </m:sup>
                      </m:sSup>
                    </m:oMath>
                  </m:oMathPara>
                </a14:m>
                <a:endParaRPr lang="en-US" sz="2800" dirty="0"/>
              </a:p>
            </p:txBody>
          </p:sp>
        </mc:Choice>
        <mc:Fallback>
          <p:sp>
            <p:nvSpPr>
              <p:cNvPr id="15" name="TextBox 14">
                <a:extLst>
                  <a:ext uri="{FF2B5EF4-FFF2-40B4-BE49-F238E27FC236}">
                    <a16:creationId xmlns:a16="http://schemas.microsoft.com/office/drawing/2014/main" id="{8D60A828-BDC4-6CD9-C323-641755B9F6C0}"/>
                  </a:ext>
                </a:extLst>
              </p:cNvPr>
              <p:cNvSpPr txBox="1">
                <a:spLocks noRot="1" noChangeAspect="1" noMove="1" noResize="1" noEditPoints="1" noAdjustHandles="1" noChangeArrowheads="1" noChangeShapeType="1" noTextEdit="1"/>
              </p:cNvSpPr>
              <p:nvPr/>
            </p:nvSpPr>
            <p:spPr>
              <a:xfrm>
                <a:off x="5307370" y="607759"/>
                <a:ext cx="246747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6B0A02BF-FE4D-19D6-76DB-48B98E9B3FE8}"/>
                  </a:ext>
                </a:extLst>
              </p:cNvPr>
              <p:cNvSpPr txBox="1"/>
              <p:nvPr/>
            </p:nvSpPr>
            <p:spPr>
              <a:xfrm>
                <a:off x="8271238" y="607759"/>
                <a:ext cx="33100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sSup>
                        <m:sSupPr>
                          <m:ctrlPr>
                            <a:rPr lang="en-US" sz="2800" b="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𝜙</m:t>
                          </m:r>
                        </m:e>
                        <m:sup>
                          <m:r>
                            <a:rPr lang="en-US" sz="2800" b="0" i="1" smtClean="0">
                              <a:solidFill>
                                <a:srgbClr val="548235"/>
                              </a:solidFill>
                              <a:latin typeface="Cambria Math" panose="02040503050406030204" pitchFamily="18" charset="0"/>
                            </a:rPr>
                            <m:t>2</m:t>
                          </m:r>
                        </m:sup>
                      </m:sSup>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b="0" i="1" smtClean="0">
                          <a:solidFill>
                            <a:srgbClr val="548235"/>
                          </a:solidFill>
                          <a:latin typeface="Cambria Math" panose="02040503050406030204" pitchFamily="18" charset="0"/>
                        </a:rPr>
                        <m:t>𝐶</m:t>
                      </m:r>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i="1">
                          <a:solidFill>
                            <a:srgbClr val="548235"/>
                          </a:solidFill>
                          <a:latin typeface="Cambria Math" panose="02040503050406030204" pitchFamily="18" charset="0"/>
                        </a:rPr>
                        <m:t>𝜓</m:t>
                      </m:r>
                    </m:oMath>
                  </m:oMathPara>
                </a14:m>
                <a:endParaRPr lang="en-US" sz="2800" dirty="0">
                  <a:solidFill>
                    <a:srgbClr val="548235"/>
                  </a:solidFill>
                </a:endParaRPr>
              </a:p>
            </p:txBody>
          </p:sp>
        </mc:Choice>
        <mc:Fallback>
          <p:sp>
            <p:nvSpPr>
              <p:cNvPr id="20" name="TextBox 19">
                <a:extLst>
                  <a:ext uri="{FF2B5EF4-FFF2-40B4-BE49-F238E27FC236}">
                    <a16:creationId xmlns:a16="http://schemas.microsoft.com/office/drawing/2014/main" id="{6B0A02BF-FE4D-19D6-76DB-48B98E9B3FE8}"/>
                  </a:ext>
                </a:extLst>
              </p:cNvPr>
              <p:cNvSpPr txBox="1">
                <a:spLocks noRot="1" noChangeAspect="1" noMove="1" noResize="1" noEditPoints="1" noAdjustHandles="1" noChangeArrowheads="1" noChangeShapeType="1" noTextEdit="1"/>
              </p:cNvSpPr>
              <p:nvPr/>
            </p:nvSpPr>
            <p:spPr>
              <a:xfrm>
                <a:off x="8271238" y="607759"/>
                <a:ext cx="33100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TextBox 34">
                <a:extLst>
                  <a:ext uri="{FF2B5EF4-FFF2-40B4-BE49-F238E27FC236}">
                    <a16:creationId xmlns:a16="http://schemas.microsoft.com/office/drawing/2014/main" id="{E6D9DE26-BBD5-E4EB-C9E1-EDD5CC528AD7}"/>
                  </a:ext>
                </a:extLst>
              </p:cNvPr>
              <p:cNvSpPr txBox="1"/>
              <p:nvPr/>
            </p:nvSpPr>
            <p:spPr>
              <a:xfrm>
                <a:off x="2399383" y="3292879"/>
                <a:ext cx="104740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e>
                          <m:r>
                            <a:rPr lang="en-US" sz="2000" b="0" i="1" smtClean="0">
                              <a:latin typeface="Cambria Math" panose="02040503050406030204" pitchFamily="18" charset="0"/>
                            </a:rPr>
                            <m:t>𝜙</m:t>
                          </m:r>
                        </m:e>
                      </m:d>
                    </m:oMath>
                  </m:oMathPara>
                </a14:m>
                <a:endParaRPr lang="en-US" sz="2000" dirty="0"/>
              </a:p>
            </p:txBody>
          </p:sp>
        </mc:Choice>
        <mc:Fallback>
          <p:sp>
            <p:nvSpPr>
              <p:cNvPr id="35" name="TextBox 34">
                <a:extLst>
                  <a:ext uri="{FF2B5EF4-FFF2-40B4-BE49-F238E27FC236}">
                    <a16:creationId xmlns:a16="http://schemas.microsoft.com/office/drawing/2014/main" id="{E6D9DE26-BBD5-E4EB-C9E1-EDD5CC528AD7}"/>
                  </a:ext>
                </a:extLst>
              </p:cNvPr>
              <p:cNvSpPr txBox="1">
                <a:spLocks noRot="1" noChangeAspect="1" noMove="1" noResize="1" noEditPoints="1" noAdjustHandles="1" noChangeArrowheads="1" noChangeShapeType="1" noTextEdit="1"/>
              </p:cNvSpPr>
              <p:nvPr/>
            </p:nvSpPr>
            <p:spPr>
              <a:xfrm>
                <a:off x="2399383" y="3292879"/>
                <a:ext cx="1047402" cy="400110"/>
              </a:xfrm>
              <a:prstGeom prst="rect">
                <a:avLst/>
              </a:prstGeom>
              <a:blipFill>
                <a:blip r:embed="rId11"/>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16016524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D0675E-3809-62E1-9A00-00DD0A22FA7D}"/>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F9A815E-FB11-0FAE-63C1-7B14E2FF50F3}"/>
              </a:ext>
            </a:extLst>
          </p:cNvPr>
          <p:cNvSpPr/>
          <p:nvPr/>
        </p:nvSpPr>
        <p:spPr>
          <a:xfrm>
            <a:off x="1957178" y="3694472"/>
            <a:ext cx="2042713" cy="2922705"/>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Connector 12">
            <a:extLst>
              <a:ext uri="{FF2B5EF4-FFF2-40B4-BE49-F238E27FC236}">
                <a16:creationId xmlns:a16="http://schemas.microsoft.com/office/drawing/2014/main" id="{F2CE1177-D08C-05EB-D92B-16513A209EE5}"/>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0E5177CB-D4A7-0AF8-BD2D-F89575C94A6A}"/>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6DD55957-007A-D69D-E626-7AA39B5F1158}"/>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331175C-28B7-8B59-675B-6654D6DA7783}"/>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90A766B-7977-FDE7-7CCF-A38193243C5F}"/>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91CD4E11-1321-604A-6392-D3C49919391A}"/>
                  </a:ext>
                </a:extLst>
              </p:cNvPr>
              <p:cNvSpPr txBox="1"/>
              <p:nvPr/>
            </p:nvSpPr>
            <p:spPr>
              <a:xfrm>
                <a:off x="4852135" y="3507602"/>
                <a:ext cx="4272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𝜓</m:t>
                      </m:r>
                    </m:oMath>
                  </m:oMathPara>
                </a14:m>
                <a:endParaRPr lang="en-US" sz="2000" dirty="0"/>
              </a:p>
            </p:txBody>
          </p:sp>
        </mc:Choice>
        <mc:Fallback>
          <p:sp>
            <p:nvSpPr>
              <p:cNvPr id="12" name="TextBox 11">
                <a:extLst>
                  <a:ext uri="{FF2B5EF4-FFF2-40B4-BE49-F238E27FC236}">
                    <a16:creationId xmlns:a16="http://schemas.microsoft.com/office/drawing/2014/main" id="{91CD4E11-1321-604A-6392-D3C49919391A}"/>
                  </a:ext>
                </a:extLst>
              </p:cNvPr>
              <p:cNvSpPr txBox="1">
                <a:spLocks noRot="1" noChangeAspect="1" noMove="1" noResize="1" noEditPoints="1" noAdjustHandles="1" noChangeArrowheads="1" noChangeShapeType="1" noTextEdit="1"/>
              </p:cNvSpPr>
              <p:nvPr/>
            </p:nvSpPr>
            <p:spPr>
              <a:xfrm>
                <a:off x="4852135" y="3507602"/>
                <a:ext cx="427296"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950123C-77D5-0351-39FA-0D9BEA1694CF}"/>
                  </a:ext>
                </a:extLst>
              </p:cNvPr>
              <p:cNvSpPr txBox="1"/>
              <p:nvPr/>
            </p:nvSpPr>
            <p:spPr>
              <a:xfrm>
                <a:off x="3862398" y="1976614"/>
                <a:ext cx="4226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𝜙</m:t>
                      </m:r>
                    </m:oMath>
                  </m:oMathPara>
                </a14:m>
                <a:endParaRPr lang="en-US" sz="2000" dirty="0"/>
              </a:p>
            </p:txBody>
          </p:sp>
        </mc:Choice>
        <mc:Fallback>
          <p:sp>
            <p:nvSpPr>
              <p:cNvPr id="14" name="TextBox 13">
                <a:extLst>
                  <a:ext uri="{FF2B5EF4-FFF2-40B4-BE49-F238E27FC236}">
                    <a16:creationId xmlns:a16="http://schemas.microsoft.com/office/drawing/2014/main" id="{D950123C-77D5-0351-39FA-0D9BEA1694CF}"/>
                  </a:ext>
                </a:extLst>
              </p:cNvPr>
              <p:cNvSpPr txBox="1">
                <a:spLocks noRot="1" noChangeAspect="1" noMove="1" noResize="1" noEditPoints="1" noAdjustHandles="1" noChangeArrowheads="1" noChangeShapeType="1" noTextEdit="1"/>
              </p:cNvSpPr>
              <p:nvPr/>
            </p:nvSpPr>
            <p:spPr>
              <a:xfrm>
                <a:off x="3862398" y="1976614"/>
                <a:ext cx="422615"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A6625A42-3E41-3BCD-A30E-E19EF552CC9F}"/>
                  </a:ext>
                </a:extLst>
              </p:cNvPr>
              <p:cNvSpPr txBox="1"/>
              <p:nvPr/>
            </p:nvSpPr>
            <p:spPr>
              <a:xfrm>
                <a:off x="4333801" y="2635166"/>
                <a:ext cx="3897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oMath>
                  </m:oMathPara>
                </a14:m>
                <a:endParaRPr lang="en-US" sz="2000" dirty="0"/>
              </a:p>
            </p:txBody>
          </p:sp>
        </mc:Choice>
        <mc:Fallback>
          <p:sp>
            <p:nvSpPr>
              <p:cNvPr id="16" name="TextBox 15">
                <a:extLst>
                  <a:ext uri="{FF2B5EF4-FFF2-40B4-BE49-F238E27FC236}">
                    <a16:creationId xmlns:a16="http://schemas.microsoft.com/office/drawing/2014/main" id="{A6625A42-3E41-3BCD-A30E-E19EF552CC9F}"/>
                  </a:ext>
                </a:extLst>
              </p:cNvPr>
              <p:cNvSpPr txBox="1">
                <a:spLocks noRot="1" noChangeAspect="1" noMove="1" noResize="1" noEditPoints="1" noAdjustHandles="1" noChangeArrowheads="1" noChangeShapeType="1" noTextEdit="1"/>
              </p:cNvSpPr>
              <p:nvPr/>
            </p:nvSpPr>
            <p:spPr>
              <a:xfrm>
                <a:off x="4333801" y="2635166"/>
                <a:ext cx="389787" cy="400110"/>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3D7F3BC-9B32-CAD9-9582-DEC0DAA8F613}"/>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F649A59C-8B18-D8C4-0A5E-92595AF377D9}"/>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0097199A-0A95-CD4C-E373-54603D28E394}"/>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69C8EE77-34AF-CFA8-02F6-E4175E4BF56C}"/>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5F8FF9CB-E28F-2C64-2DF0-68EEE7DA9BA1}"/>
                  </a:ext>
                </a:extLst>
              </p:cNvPr>
              <p:cNvSpPr txBox="1"/>
              <p:nvPr/>
            </p:nvSpPr>
            <p:spPr>
              <a:xfrm>
                <a:off x="1480313" y="3468793"/>
                <a:ext cx="5756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r>
                            <a:rPr lang="en-US" sz="2000" b="0" i="1" smtClean="0">
                              <a:latin typeface="Cambria Math" panose="02040503050406030204" pitchFamily="18" charset="0"/>
                            </a:rPr>
                            <m:t>⊥</m:t>
                          </m:r>
                        </m:sup>
                      </m:sSup>
                    </m:oMath>
                  </m:oMathPara>
                </a14:m>
                <a:endParaRPr lang="en-US" sz="2000" dirty="0"/>
              </a:p>
            </p:txBody>
          </p:sp>
        </mc:Choice>
        <mc:Fallback>
          <p:sp>
            <p:nvSpPr>
              <p:cNvPr id="57" name="TextBox 56">
                <a:extLst>
                  <a:ext uri="{FF2B5EF4-FFF2-40B4-BE49-F238E27FC236}">
                    <a16:creationId xmlns:a16="http://schemas.microsoft.com/office/drawing/2014/main" id="{5F8FF9CB-E28F-2C64-2DF0-68EEE7DA9BA1}"/>
                  </a:ext>
                </a:extLst>
              </p:cNvPr>
              <p:cNvSpPr txBox="1">
                <a:spLocks noRot="1" noChangeAspect="1" noMove="1" noResize="1" noEditPoints="1" noAdjustHandles="1" noChangeArrowheads="1" noChangeShapeType="1" noTextEdit="1"/>
              </p:cNvSpPr>
              <p:nvPr/>
            </p:nvSpPr>
            <p:spPr>
              <a:xfrm>
                <a:off x="1480313" y="3468793"/>
                <a:ext cx="575670"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8F16A3FA-DADE-7396-165B-4B7CBE6B6350}"/>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48CA3730-4D3B-7DB9-4CF2-11D11B8B81DB}"/>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6BE996AD-43F3-520D-CB55-55970204BAD6}"/>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4A4E81CE-01A8-7F82-BDAF-F0C32E206EA1}"/>
              </a:ext>
            </a:extLst>
          </p:cNvPr>
          <p:cNvCxnSpPr>
            <a:cxnSpLocks/>
            <a:stCxn id="2" idx="2"/>
          </p:cNvCxnSpPr>
          <p:nvPr/>
        </p:nvCxnSpPr>
        <p:spPr>
          <a:xfrm flipV="1">
            <a:off x="1955254" y="2326262"/>
            <a:ext cx="2039845" cy="1360479"/>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25889B5B-FEA9-1DC8-1BAC-D826F934566D}"/>
              </a:ext>
            </a:extLst>
          </p:cNvPr>
          <p:cNvSpPr/>
          <p:nvPr/>
        </p:nvSpPr>
        <p:spPr>
          <a:xfrm rot="19598101">
            <a:off x="1080620" y="775504"/>
            <a:ext cx="2439889" cy="2439888"/>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B8845213-D04B-ABEE-44B4-E8FCCB0A5140}"/>
                  </a:ext>
                </a:extLst>
              </p:cNvPr>
              <p:cNvSpPr txBox="1"/>
              <p:nvPr/>
            </p:nvSpPr>
            <p:spPr>
              <a:xfrm>
                <a:off x="5307370" y="607759"/>
                <a:ext cx="2467470"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90</m:t>
                          </m:r>
                        </m:e>
                        <m:sup>
                          <m:r>
                            <a:rPr lang="en-US" sz="2800" b="0" i="1" smtClean="0">
                              <a:latin typeface="Cambria Math" panose="02040503050406030204" pitchFamily="18" charset="0"/>
                            </a:rPr>
                            <m:t>∘</m:t>
                          </m:r>
                        </m:sup>
                      </m:sSup>
                    </m:oMath>
                  </m:oMathPara>
                </a14:m>
                <a:endParaRPr lang="en-US" sz="2800" dirty="0"/>
              </a:p>
            </p:txBody>
          </p:sp>
        </mc:Choice>
        <mc:Fallback>
          <p:sp>
            <p:nvSpPr>
              <p:cNvPr id="15" name="TextBox 14">
                <a:extLst>
                  <a:ext uri="{FF2B5EF4-FFF2-40B4-BE49-F238E27FC236}">
                    <a16:creationId xmlns:a16="http://schemas.microsoft.com/office/drawing/2014/main" id="{B8845213-D04B-ABEE-44B4-E8FCCB0A5140}"/>
                  </a:ext>
                </a:extLst>
              </p:cNvPr>
              <p:cNvSpPr txBox="1">
                <a:spLocks noRot="1" noChangeAspect="1" noMove="1" noResize="1" noEditPoints="1" noAdjustHandles="1" noChangeArrowheads="1" noChangeShapeType="1" noTextEdit="1"/>
              </p:cNvSpPr>
              <p:nvPr/>
            </p:nvSpPr>
            <p:spPr>
              <a:xfrm>
                <a:off x="5307370" y="607759"/>
                <a:ext cx="246747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0899D34A-D0CD-74A2-E39B-4E93F0E5AAEC}"/>
                  </a:ext>
                </a:extLst>
              </p:cNvPr>
              <p:cNvSpPr txBox="1"/>
              <p:nvPr/>
            </p:nvSpPr>
            <p:spPr>
              <a:xfrm>
                <a:off x="8271238" y="607759"/>
                <a:ext cx="33100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sSup>
                        <m:sSupPr>
                          <m:ctrlPr>
                            <a:rPr lang="en-US" sz="2800" b="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𝜙</m:t>
                          </m:r>
                        </m:e>
                        <m:sup>
                          <m:r>
                            <a:rPr lang="en-US" sz="2800" b="0" i="1" smtClean="0">
                              <a:solidFill>
                                <a:srgbClr val="548235"/>
                              </a:solidFill>
                              <a:latin typeface="Cambria Math" panose="02040503050406030204" pitchFamily="18" charset="0"/>
                            </a:rPr>
                            <m:t>2</m:t>
                          </m:r>
                        </m:sup>
                      </m:sSup>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b="0" i="1" smtClean="0">
                          <a:solidFill>
                            <a:srgbClr val="548235"/>
                          </a:solidFill>
                          <a:latin typeface="Cambria Math" panose="02040503050406030204" pitchFamily="18" charset="0"/>
                        </a:rPr>
                        <m:t>𝐶</m:t>
                      </m:r>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i="1">
                          <a:solidFill>
                            <a:srgbClr val="548235"/>
                          </a:solidFill>
                          <a:latin typeface="Cambria Math" panose="02040503050406030204" pitchFamily="18" charset="0"/>
                        </a:rPr>
                        <m:t>𝜓</m:t>
                      </m:r>
                    </m:oMath>
                  </m:oMathPara>
                </a14:m>
                <a:endParaRPr lang="en-US" sz="2800" dirty="0">
                  <a:solidFill>
                    <a:srgbClr val="548235"/>
                  </a:solidFill>
                </a:endParaRPr>
              </a:p>
            </p:txBody>
          </p:sp>
        </mc:Choice>
        <mc:Fallback>
          <p:sp>
            <p:nvSpPr>
              <p:cNvPr id="20" name="TextBox 19">
                <a:extLst>
                  <a:ext uri="{FF2B5EF4-FFF2-40B4-BE49-F238E27FC236}">
                    <a16:creationId xmlns:a16="http://schemas.microsoft.com/office/drawing/2014/main" id="{0899D34A-D0CD-74A2-E39B-4E93F0E5AAEC}"/>
                  </a:ext>
                </a:extLst>
              </p:cNvPr>
              <p:cNvSpPr txBox="1">
                <a:spLocks noRot="1" noChangeAspect="1" noMove="1" noResize="1" noEditPoints="1" noAdjustHandles="1" noChangeArrowheads="1" noChangeShapeType="1" noTextEdit="1"/>
              </p:cNvSpPr>
              <p:nvPr/>
            </p:nvSpPr>
            <p:spPr>
              <a:xfrm>
                <a:off x="8271238" y="607759"/>
                <a:ext cx="33100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76932FF8-DECE-5E48-07AB-0742039749F7}"/>
                  </a:ext>
                </a:extLst>
              </p:cNvPr>
              <p:cNvSpPr txBox="1"/>
              <p:nvPr/>
            </p:nvSpPr>
            <p:spPr>
              <a:xfrm>
                <a:off x="6135700" y="2075087"/>
                <a:ext cx="2994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smtClean="0"/>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ea typeface="Cambria Math" panose="02040503050406030204" pitchFamily="18" charset="0"/>
                        </a:rPr>
                        <m:t>∼</m:t>
                      </m:r>
                      <m:r>
                        <m:rPr>
                          <m:nor/>
                        </m:rPr>
                        <a:rPr lang="en-US" sz="2800"/>
                        <m:t>△</m:t>
                      </m:r>
                      <m:r>
                        <a:rPr lang="en-US" sz="2800" b="0" i="1" smtClean="0">
                          <a:latin typeface="Cambria Math" panose="02040503050406030204" pitchFamily="18" charset="0"/>
                          <a:ea typeface="Cambria Math" panose="02040503050406030204" pitchFamily="18" charset="0"/>
                        </a:rPr>
                        <m:t>𝑂</m:t>
                      </m:r>
                      <m:r>
                        <a:rPr lang="en-US" sz="2800" b="0" i="1" smtClean="0">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m:oMathPara>
                </a14:m>
                <a:endParaRPr lang="en-US" sz="2800" dirty="0"/>
              </a:p>
            </p:txBody>
          </p:sp>
        </mc:Choice>
        <mc:Fallback>
          <p:sp>
            <p:nvSpPr>
              <p:cNvPr id="21" name="TextBox 20">
                <a:extLst>
                  <a:ext uri="{FF2B5EF4-FFF2-40B4-BE49-F238E27FC236}">
                    <a16:creationId xmlns:a16="http://schemas.microsoft.com/office/drawing/2014/main" id="{76932FF8-DECE-5E48-07AB-0742039749F7}"/>
                  </a:ext>
                </a:extLst>
              </p:cNvPr>
              <p:cNvSpPr txBox="1">
                <a:spLocks noRot="1" noChangeAspect="1" noMove="1" noResize="1" noEditPoints="1" noAdjustHandles="1" noChangeArrowheads="1" noChangeShapeType="1" noTextEdit="1"/>
              </p:cNvSpPr>
              <p:nvPr/>
            </p:nvSpPr>
            <p:spPr>
              <a:xfrm>
                <a:off x="6135700" y="2075087"/>
                <a:ext cx="2994859"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EC2179AE-0224-3058-FDAA-611CD1177C7B}"/>
                  </a:ext>
                </a:extLst>
              </p:cNvPr>
              <p:cNvSpPr txBox="1"/>
              <p:nvPr/>
            </p:nvSpPr>
            <p:spPr>
              <a:xfrm>
                <a:off x="5402907" y="1472228"/>
                <a:ext cx="1896738" cy="523220"/>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rPr>
                      <m:t>𝜙𝜓</m:t>
                    </m:r>
                    <m:r>
                      <a:rPr lang="en-US" sz="2800" b="0" i="1" smtClean="0">
                        <a:latin typeface="Cambria Math" panose="02040503050406030204" pitchFamily="18" charset="0"/>
                      </a:rPr>
                      <m:t>=2</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a14:m>
                <a:r>
                  <a:rPr lang="en-US" sz="2800" dirty="0"/>
                  <a:t> </a:t>
                </a:r>
              </a:p>
            </p:txBody>
          </p:sp>
        </mc:Choice>
        <mc:Fallback>
          <p:sp>
            <p:nvSpPr>
              <p:cNvPr id="24" name="TextBox 23">
                <a:extLst>
                  <a:ext uri="{FF2B5EF4-FFF2-40B4-BE49-F238E27FC236}">
                    <a16:creationId xmlns:a16="http://schemas.microsoft.com/office/drawing/2014/main" id="{EC2179AE-0224-3058-FDAA-611CD1177C7B}"/>
                  </a:ext>
                </a:extLst>
              </p:cNvPr>
              <p:cNvSpPr txBox="1">
                <a:spLocks noRot="1" noChangeAspect="1" noMove="1" noResize="1" noEditPoints="1" noAdjustHandles="1" noChangeArrowheads="1" noChangeShapeType="1" noTextEdit="1"/>
              </p:cNvSpPr>
              <p:nvPr/>
            </p:nvSpPr>
            <p:spPr>
              <a:xfrm>
                <a:off x="5402907" y="1472228"/>
                <a:ext cx="1896738"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349C2696-3758-DD3C-598E-B2E478998835}"/>
                  </a:ext>
                </a:extLst>
              </p:cNvPr>
              <p:cNvSpPr txBox="1"/>
              <p:nvPr/>
            </p:nvSpPr>
            <p:spPr>
              <a:xfrm>
                <a:off x="7633130" y="1472228"/>
                <a:ext cx="2158091"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𝜓</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rPr>
                      <m:t>𝜓</m:t>
                    </m:r>
                  </m:oMath>
                </a14:m>
                <a:r>
                  <a:rPr lang="en-US" sz="2800" dirty="0"/>
                  <a:t> </a:t>
                </a:r>
              </a:p>
            </p:txBody>
          </p:sp>
        </mc:Choice>
        <mc:Fallback>
          <p:sp>
            <p:nvSpPr>
              <p:cNvPr id="26" name="TextBox 25">
                <a:extLst>
                  <a:ext uri="{FF2B5EF4-FFF2-40B4-BE49-F238E27FC236}">
                    <a16:creationId xmlns:a16="http://schemas.microsoft.com/office/drawing/2014/main" id="{349C2696-3758-DD3C-598E-B2E478998835}"/>
                  </a:ext>
                </a:extLst>
              </p:cNvPr>
              <p:cNvSpPr txBox="1">
                <a:spLocks noRot="1" noChangeAspect="1" noMove="1" noResize="1" noEditPoints="1" noAdjustHandles="1" noChangeArrowheads="1" noChangeShapeType="1" noTextEdit="1"/>
              </p:cNvSpPr>
              <p:nvPr/>
            </p:nvSpPr>
            <p:spPr>
              <a:xfrm>
                <a:off x="7633130" y="1472228"/>
                <a:ext cx="2158091"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15A8083F-F9C6-D6B6-0547-0D4F1229126D}"/>
                  </a:ext>
                </a:extLst>
              </p:cNvPr>
              <p:cNvSpPr txBox="1"/>
              <p:nvPr/>
            </p:nvSpPr>
            <p:spPr>
              <a:xfrm>
                <a:off x="6463568" y="2769659"/>
                <a:ext cx="2100319"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ea typeface="Cambria Math" panose="02040503050406030204" pitchFamily="18" charset="0"/>
                      </a:rPr>
                      <m:t>𝜌</m:t>
                    </m:r>
                  </m:oMath>
                </a14:m>
                <a:r>
                  <a:rPr lang="en-US" sz="2800" dirty="0"/>
                  <a:t> </a:t>
                </a:r>
              </a:p>
            </p:txBody>
          </p:sp>
        </mc:Choice>
        <mc:Fallback>
          <p:sp>
            <p:nvSpPr>
              <p:cNvPr id="30" name="TextBox 29">
                <a:extLst>
                  <a:ext uri="{FF2B5EF4-FFF2-40B4-BE49-F238E27FC236}">
                    <a16:creationId xmlns:a16="http://schemas.microsoft.com/office/drawing/2014/main" id="{15A8083F-F9C6-D6B6-0547-0D4F1229126D}"/>
                  </a:ext>
                </a:extLst>
              </p:cNvPr>
              <p:cNvSpPr txBox="1">
                <a:spLocks noRot="1" noChangeAspect="1" noMove="1" noResize="1" noEditPoints="1" noAdjustHandles="1" noChangeArrowheads="1" noChangeShapeType="1" noTextEdit="1"/>
              </p:cNvSpPr>
              <p:nvPr/>
            </p:nvSpPr>
            <p:spPr>
              <a:xfrm>
                <a:off x="6463568" y="2769659"/>
                <a:ext cx="2100319"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B91006CD-CD0E-4C16-1032-D6B539986CF6}"/>
                  </a:ext>
                </a:extLst>
              </p:cNvPr>
              <p:cNvSpPr txBox="1"/>
              <p:nvPr/>
            </p:nvSpPr>
            <p:spPr>
              <a:xfrm>
                <a:off x="2399383" y="3292879"/>
                <a:ext cx="104740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e>
                          <m:r>
                            <a:rPr lang="en-US" sz="2000" b="0" i="1" smtClean="0">
                              <a:latin typeface="Cambria Math" panose="02040503050406030204" pitchFamily="18" charset="0"/>
                            </a:rPr>
                            <m:t>𝜙</m:t>
                          </m:r>
                        </m:e>
                      </m:d>
                    </m:oMath>
                  </m:oMathPara>
                </a14:m>
                <a:endParaRPr lang="en-US" sz="2000" dirty="0"/>
              </a:p>
            </p:txBody>
          </p:sp>
        </mc:Choice>
        <mc:Fallback>
          <p:sp>
            <p:nvSpPr>
              <p:cNvPr id="33" name="TextBox 32">
                <a:extLst>
                  <a:ext uri="{FF2B5EF4-FFF2-40B4-BE49-F238E27FC236}">
                    <a16:creationId xmlns:a16="http://schemas.microsoft.com/office/drawing/2014/main" id="{B91006CD-CD0E-4C16-1032-D6B539986CF6}"/>
                  </a:ext>
                </a:extLst>
              </p:cNvPr>
              <p:cNvSpPr txBox="1">
                <a:spLocks noRot="1" noChangeAspect="1" noMove="1" noResize="1" noEditPoints="1" noAdjustHandles="1" noChangeArrowheads="1" noChangeShapeType="1" noTextEdit="1"/>
              </p:cNvSpPr>
              <p:nvPr/>
            </p:nvSpPr>
            <p:spPr>
              <a:xfrm>
                <a:off x="2399383" y="3292879"/>
                <a:ext cx="1047402" cy="400110"/>
              </a:xfrm>
              <a:prstGeom prst="rect">
                <a:avLst/>
              </a:prstGeom>
              <a:blipFill>
                <a:blip r:embed="rId15"/>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37807134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40D0-EA1B-3138-8DFF-6F1118B2340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F5273B1-69B1-C278-0361-DE6A8445A355}"/>
              </a:ext>
            </a:extLst>
          </p:cNvPr>
          <p:cNvSpPr/>
          <p:nvPr/>
        </p:nvSpPr>
        <p:spPr>
          <a:xfrm rot="19598101">
            <a:off x="2980286" y="2219742"/>
            <a:ext cx="1224349" cy="1224349"/>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089D6C94-8B7B-A12A-B994-610BB69DE68C}"/>
              </a:ext>
            </a:extLst>
          </p:cNvPr>
          <p:cNvSpPr/>
          <p:nvPr/>
        </p:nvSpPr>
        <p:spPr>
          <a:xfrm>
            <a:off x="1957178" y="3694472"/>
            <a:ext cx="2042713" cy="2922705"/>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D3E14AFD-A02C-314F-A461-2B10F847247F}"/>
              </a:ext>
            </a:extLst>
          </p:cNvPr>
          <p:cNvSpPr/>
          <p:nvPr/>
        </p:nvSpPr>
        <p:spPr>
          <a:xfrm>
            <a:off x="3417570" y="3686712"/>
            <a:ext cx="1015611" cy="1478038"/>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Connector 12">
            <a:extLst>
              <a:ext uri="{FF2B5EF4-FFF2-40B4-BE49-F238E27FC236}">
                <a16:creationId xmlns:a16="http://schemas.microsoft.com/office/drawing/2014/main" id="{85A5D3BB-21C8-C28D-FA12-E343B5C73FC7}"/>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5894A540-3BA1-AD27-A342-37AD91B5DA10}"/>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453EF139-CA8D-80B4-7F49-D058114B09F7}"/>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EFE6E0A9-8511-1F7F-DDA5-C4821F88C21F}"/>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04B6C99-2A2D-1FB6-75FE-37E0C062A530}"/>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8BDB74ED-7E21-44E4-54CC-51B39F408A08}"/>
                  </a:ext>
                </a:extLst>
              </p:cNvPr>
              <p:cNvSpPr txBox="1"/>
              <p:nvPr/>
            </p:nvSpPr>
            <p:spPr>
              <a:xfrm>
                <a:off x="4852135" y="3507602"/>
                <a:ext cx="4272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𝜓</m:t>
                      </m:r>
                    </m:oMath>
                  </m:oMathPara>
                </a14:m>
                <a:endParaRPr lang="en-US" sz="2000" dirty="0"/>
              </a:p>
            </p:txBody>
          </p:sp>
        </mc:Choice>
        <mc:Fallback>
          <p:sp>
            <p:nvSpPr>
              <p:cNvPr id="12" name="TextBox 11">
                <a:extLst>
                  <a:ext uri="{FF2B5EF4-FFF2-40B4-BE49-F238E27FC236}">
                    <a16:creationId xmlns:a16="http://schemas.microsoft.com/office/drawing/2014/main" id="{8BDB74ED-7E21-44E4-54CC-51B39F408A08}"/>
                  </a:ext>
                </a:extLst>
              </p:cNvPr>
              <p:cNvSpPr txBox="1">
                <a:spLocks noRot="1" noChangeAspect="1" noMove="1" noResize="1" noEditPoints="1" noAdjustHandles="1" noChangeArrowheads="1" noChangeShapeType="1" noTextEdit="1"/>
              </p:cNvSpPr>
              <p:nvPr/>
            </p:nvSpPr>
            <p:spPr>
              <a:xfrm>
                <a:off x="4852135" y="3507602"/>
                <a:ext cx="427296"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0D8793A3-2460-A95D-9C1C-9B36B8E3A974}"/>
                  </a:ext>
                </a:extLst>
              </p:cNvPr>
              <p:cNvSpPr txBox="1"/>
              <p:nvPr/>
            </p:nvSpPr>
            <p:spPr>
              <a:xfrm>
                <a:off x="3862398" y="1976614"/>
                <a:ext cx="4226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𝜙</m:t>
                      </m:r>
                    </m:oMath>
                  </m:oMathPara>
                </a14:m>
                <a:endParaRPr lang="en-US" sz="2000" dirty="0"/>
              </a:p>
            </p:txBody>
          </p:sp>
        </mc:Choice>
        <mc:Fallback>
          <p:sp>
            <p:nvSpPr>
              <p:cNvPr id="14" name="TextBox 13">
                <a:extLst>
                  <a:ext uri="{FF2B5EF4-FFF2-40B4-BE49-F238E27FC236}">
                    <a16:creationId xmlns:a16="http://schemas.microsoft.com/office/drawing/2014/main" id="{0D8793A3-2460-A95D-9C1C-9B36B8E3A974}"/>
                  </a:ext>
                </a:extLst>
              </p:cNvPr>
              <p:cNvSpPr txBox="1">
                <a:spLocks noRot="1" noChangeAspect="1" noMove="1" noResize="1" noEditPoints="1" noAdjustHandles="1" noChangeArrowheads="1" noChangeShapeType="1" noTextEdit="1"/>
              </p:cNvSpPr>
              <p:nvPr/>
            </p:nvSpPr>
            <p:spPr>
              <a:xfrm>
                <a:off x="3862398" y="1976614"/>
                <a:ext cx="422615"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8841CEF-38D7-1775-1AC8-35E24185C3FD}"/>
                  </a:ext>
                </a:extLst>
              </p:cNvPr>
              <p:cNvSpPr txBox="1"/>
              <p:nvPr/>
            </p:nvSpPr>
            <p:spPr>
              <a:xfrm>
                <a:off x="4333801" y="2635166"/>
                <a:ext cx="3897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oMath>
                  </m:oMathPara>
                </a14:m>
                <a:endParaRPr lang="en-US" sz="2000" dirty="0"/>
              </a:p>
            </p:txBody>
          </p:sp>
        </mc:Choice>
        <mc:Fallback>
          <p:sp>
            <p:nvSpPr>
              <p:cNvPr id="16" name="TextBox 15">
                <a:extLst>
                  <a:ext uri="{FF2B5EF4-FFF2-40B4-BE49-F238E27FC236}">
                    <a16:creationId xmlns:a16="http://schemas.microsoft.com/office/drawing/2014/main" id="{B8841CEF-38D7-1775-1AC8-35E24185C3FD}"/>
                  </a:ext>
                </a:extLst>
              </p:cNvPr>
              <p:cNvSpPr txBox="1">
                <a:spLocks noRot="1" noChangeAspect="1" noMove="1" noResize="1" noEditPoints="1" noAdjustHandles="1" noChangeArrowheads="1" noChangeShapeType="1" noTextEdit="1"/>
              </p:cNvSpPr>
              <p:nvPr/>
            </p:nvSpPr>
            <p:spPr>
              <a:xfrm>
                <a:off x="4333801" y="2635166"/>
                <a:ext cx="389787" cy="400110"/>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FED63FC-9BE7-335C-A24B-C04857D32FC6}"/>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E0F40B94-53BC-513C-AD92-9408C3593386}"/>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A0389D15-209C-5614-E562-32DB0453DFD7}"/>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4C528DA4-412F-F130-752F-63C66AD368A6}"/>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C7AF1236-9872-5A32-F8BD-9EB61B5C082A}"/>
                  </a:ext>
                </a:extLst>
              </p:cNvPr>
              <p:cNvSpPr txBox="1"/>
              <p:nvPr/>
            </p:nvSpPr>
            <p:spPr>
              <a:xfrm>
                <a:off x="1480313" y="3468793"/>
                <a:ext cx="5756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r>
                            <a:rPr lang="en-US" sz="2000" b="0" i="1" smtClean="0">
                              <a:latin typeface="Cambria Math" panose="02040503050406030204" pitchFamily="18" charset="0"/>
                            </a:rPr>
                            <m:t>⊥</m:t>
                          </m:r>
                        </m:sup>
                      </m:sSup>
                    </m:oMath>
                  </m:oMathPara>
                </a14:m>
                <a:endParaRPr lang="en-US" sz="2000" dirty="0"/>
              </a:p>
            </p:txBody>
          </p:sp>
        </mc:Choice>
        <mc:Fallback>
          <p:sp>
            <p:nvSpPr>
              <p:cNvPr id="57" name="TextBox 56">
                <a:extLst>
                  <a:ext uri="{FF2B5EF4-FFF2-40B4-BE49-F238E27FC236}">
                    <a16:creationId xmlns:a16="http://schemas.microsoft.com/office/drawing/2014/main" id="{C7AF1236-9872-5A32-F8BD-9EB61B5C082A}"/>
                  </a:ext>
                </a:extLst>
              </p:cNvPr>
              <p:cNvSpPr txBox="1">
                <a:spLocks noRot="1" noChangeAspect="1" noMove="1" noResize="1" noEditPoints="1" noAdjustHandles="1" noChangeArrowheads="1" noChangeShapeType="1" noTextEdit="1"/>
              </p:cNvSpPr>
              <p:nvPr/>
            </p:nvSpPr>
            <p:spPr>
              <a:xfrm>
                <a:off x="1480313" y="3468793"/>
                <a:ext cx="575670"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AC2840C0-E780-27B9-2122-F0EC530103C0}"/>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0FE961E2-59B5-F3A0-7374-E3B6F9527506}"/>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CC26F0E8-3CE1-C8E3-70CC-20E74502D4E3}"/>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CE8321A5-45D7-E8CA-E226-1776CF2B8329}"/>
              </a:ext>
            </a:extLst>
          </p:cNvPr>
          <p:cNvCxnSpPr>
            <a:cxnSpLocks/>
            <a:stCxn id="2" idx="2"/>
          </p:cNvCxnSpPr>
          <p:nvPr/>
        </p:nvCxnSpPr>
        <p:spPr>
          <a:xfrm flipV="1">
            <a:off x="1955254" y="2326262"/>
            <a:ext cx="2039845" cy="1360479"/>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A51B1572-FDA7-53BD-AC3E-CB83E34EBD53}"/>
              </a:ext>
            </a:extLst>
          </p:cNvPr>
          <p:cNvSpPr/>
          <p:nvPr/>
        </p:nvSpPr>
        <p:spPr>
          <a:xfrm rot="19598101">
            <a:off x="1080620" y="775504"/>
            <a:ext cx="2439889" cy="2439888"/>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D16E70C2-314F-EA5B-CFA8-76F7A52AC2D1}"/>
                  </a:ext>
                </a:extLst>
              </p:cNvPr>
              <p:cNvSpPr txBox="1"/>
              <p:nvPr/>
            </p:nvSpPr>
            <p:spPr>
              <a:xfrm>
                <a:off x="5307370" y="607759"/>
                <a:ext cx="2467470"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90</m:t>
                          </m:r>
                        </m:e>
                        <m:sup>
                          <m:r>
                            <a:rPr lang="en-US" sz="2800" b="0" i="1" smtClean="0">
                              <a:latin typeface="Cambria Math" panose="02040503050406030204" pitchFamily="18" charset="0"/>
                            </a:rPr>
                            <m:t>∘</m:t>
                          </m:r>
                        </m:sup>
                      </m:sSup>
                    </m:oMath>
                  </m:oMathPara>
                </a14:m>
                <a:endParaRPr lang="en-US" sz="2800" dirty="0"/>
              </a:p>
            </p:txBody>
          </p:sp>
        </mc:Choice>
        <mc:Fallback>
          <p:sp>
            <p:nvSpPr>
              <p:cNvPr id="15" name="TextBox 14">
                <a:extLst>
                  <a:ext uri="{FF2B5EF4-FFF2-40B4-BE49-F238E27FC236}">
                    <a16:creationId xmlns:a16="http://schemas.microsoft.com/office/drawing/2014/main" id="{D16E70C2-314F-EA5B-CFA8-76F7A52AC2D1}"/>
                  </a:ext>
                </a:extLst>
              </p:cNvPr>
              <p:cNvSpPr txBox="1">
                <a:spLocks noRot="1" noChangeAspect="1" noMove="1" noResize="1" noEditPoints="1" noAdjustHandles="1" noChangeArrowheads="1" noChangeShapeType="1" noTextEdit="1"/>
              </p:cNvSpPr>
              <p:nvPr/>
            </p:nvSpPr>
            <p:spPr>
              <a:xfrm>
                <a:off x="5307370" y="607759"/>
                <a:ext cx="246747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36FC6F75-8DC6-7C5E-F1F0-C070D6FA0926}"/>
                  </a:ext>
                </a:extLst>
              </p:cNvPr>
              <p:cNvSpPr txBox="1"/>
              <p:nvPr/>
            </p:nvSpPr>
            <p:spPr>
              <a:xfrm>
                <a:off x="8271238" y="607759"/>
                <a:ext cx="33100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sSup>
                        <m:sSupPr>
                          <m:ctrlPr>
                            <a:rPr lang="en-US" sz="2800" b="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𝜙</m:t>
                          </m:r>
                        </m:e>
                        <m:sup>
                          <m:r>
                            <a:rPr lang="en-US" sz="2800" b="0" i="1" smtClean="0">
                              <a:solidFill>
                                <a:srgbClr val="548235"/>
                              </a:solidFill>
                              <a:latin typeface="Cambria Math" panose="02040503050406030204" pitchFamily="18" charset="0"/>
                            </a:rPr>
                            <m:t>2</m:t>
                          </m:r>
                        </m:sup>
                      </m:sSup>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b="0" i="1" smtClean="0">
                          <a:solidFill>
                            <a:srgbClr val="548235"/>
                          </a:solidFill>
                          <a:latin typeface="Cambria Math" panose="02040503050406030204" pitchFamily="18" charset="0"/>
                        </a:rPr>
                        <m:t>𝐶</m:t>
                      </m:r>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i="1">
                          <a:solidFill>
                            <a:srgbClr val="548235"/>
                          </a:solidFill>
                          <a:latin typeface="Cambria Math" panose="02040503050406030204" pitchFamily="18" charset="0"/>
                        </a:rPr>
                        <m:t>𝜓</m:t>
                      </m:r>
                    </m:oMath>
                  </m:oMathPara>
                </a14:m>
                <a:endParaRPr lang="en-US" sz="2800" dirty="0">
                  <a:solidFill>
                    <a:srgbClr val="548235"/>
                  </a:solidFill>
                </a:endParaRPr>
              </a:p>
            </p:txBody>
          </p:sp>
        </mc:Choice>
        <mc:Fallback>
          <p:sp>
            <p:nvSpPr>
              <p:cNvPr id="20" name="TextBox 19">
                <a:extLst>
                  <a:ext uri="{FF2B5EF4-FFF2-40B4-BE49-F238E27FC236}">
                    <a16:creationId xmlns:a16="http://schemas.microsoft.com/office/drawing/2014/main" id="{36FC6F75-8DC6-7C5E-F1F0-C070D6FA0926}"/>
                  </a:ext>
                </a:extLst>
              </p:cNvPr>
              <p:cNvSpPr txBox="1">
                <a:spLocks noRot="1" noChangeAspect="1" noMove="1" noResize="1" noEditPoints="1" noAdjustHandles="1" noChangeArrowheads="1" noChangeShapeType="1" noTextEdit="1"/>
              </p:cNvSpPr>
              <p:nvPr/>
            </p:nvSpPr>
            <p:spPr>
              <a:xfrm>
                <a:off x="8271238" y="607759"/>
                <a:ext cx="33100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E9C5BF7E-2940-C431-301A-7289D23146DD}"/>
                  </a:ext>
                </a:extLst>
              </p:cNvPr>
              <p:cNvSpPr txBox="1"/>
              <p:nvPr/>
            </p:nvSpPr>
            <p:spPr>
              <a:xfrm>
                <a:off x="6135700" y="2075087"/>
                <a:ext cx="2994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smtClean="0"/>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ea typeface="Cambria Math" panose="02040503050406030204" pitchFamily="18" charset="0"/>
                        </a:rPr>
                        <m:t>∼</m:t>
                      </m:r>
                      <m:r>
                        <m:rPr>
                          <m:nor/>
                        </m:rPr>
                        <a:rPr lang="en-US" sz="2800"/>
                        <m:t>△</m:t>
                      </m:r>
                      <m:r>
                        <a:rPr lang="en-US" sz="2800" b="0" i="1" smtClean="0">
                          <a:latin typeface="Cambria Math" panose="02040503050406030204" pitchFamily="18" charset="0"/>
                          <a:ea typeface="Cambria Math" panose="02040503050406030204" pitchFamily="18" charset="0"/>
                        </a:rPr>
                        <m:t>𝑂</m:t>
                      </m:r>
                      <m:r>
                        <a:rPr lang="en-US" sz="2800" b="0" i="1" smtClean="0">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m:oMathPara>
                </a14:m>
                <a:endParaRPr lang="en-US" sz="2800" dirty="0"/>
              </a:p>
            </p:txBody>
          </p:sp>
        </mc:Choice>
        <mc:Fallback>
          <p:sp>
            <p:nvSpPr>
              <p:cNvPr id="21" name="TextBox 20">
                <a:extLst>
                  <a:ext uri="{FF2B5EF4-FFF2-40B4-BE49-F238E27FC236}">
                    <a16:creationId xmlns:a16="http://schemas.microsoft.com/office/drawing/2014/main" id="{E9C5BF7E-2940-C431-301A-7289D23146DD}"/>
                  </a:ext>
                </a:extLst>
              </p:cNvPr>
              <p:cNvSpPr txBox="1">
                <a:spLocks noRot="1" noChangeAspect="1" noMove="1" noResize="1" noEditPoints="1" noAdjustHandles="1" noChangeArrowheads="1" noChangeShapeType="1" noTextEdit="1"/>
              </p:cNvSpPr>
              <p:nvPr/>
            </p:nvSpPr>
            <p:spPr>
              <a:xfrm>
                <a:off x="6135700" y="2075087"/>
                <a:ext cx="2994859"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96F0EBBF-77B0-9213-C1ED-7C33C0FBA09B}"/>
                  </a:ext>
                </a:extLst>
              </p:cNvPr>
              <p:cNvSpPr txBox="1"/>
              <p:nvPr/>
            </p:nvSpPr>
            <p:spPr>
              <a:xfrm>
                <a:off x="5402907" y="1472228"/>
                <a:ext cx="1896738" cy="523220"/>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rPr>
                      <m:t>𝜙𝜓</m:t>
                    </m:r>
                    <m:r>
                      <a:rPr lang="en-US" sz="2800" b="0" i="1" smtClean="0">
                        <a:latin typeface="Cambria Math" panose="02040503050406030204" pitchFamily="18" charset="0"/>
                      </a:rPr>
                      <m:t>=2</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a14:m>
                <a:r>
                  <a:rPr lang="en-US" sz="2800" dirty="0"/>
                  <a:t> </a:t>
                </a:r>
              </a:p>
            </p:txBody>
          </p:sp>
        </mc:Choice>
        <mc:Fallback>
          <p:sp>
            <p:nvSpPr>
              <p:cNvPr id="24" name="TextBox 23">
                <a:extLst>
                  <a:ext uri="{FF2B5EF4-FFF2-40B4-BE49-F238E27FC236}">
                    <a16:creationId xmlns:a16="http://schemas.microsoft.com/office/drawing/2014/main" id="{96F0EBBF-77B0-9213-C1ED-7C33C0FBA09B}"/>
                  </a:ext>
                </a:extLst>
              </p:cNvPr>
              <p:cNvSpPr txBox="1">
                <a:spLocks noRot="1" noChangeAspect="1" noMove="1" noResize="1" noEditPoints="1" noAdjustHandles="1" noChangeArrowheads="1" noChangeShapeType="1" noTextEdit="1"/>
              </p:cNvSpPr>
              <p:nvPr/>
            </p:nvSpPr>
            <p:spPr>
              <a:xfrm>
                <a:off x="5402907" y="1472228"/>
                <a:ext cx="1896738"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D1C872B3-9296-21C1-A65C-F8F009F382F9}"/>
                  </a:ext>
                </a:extLst>
              </p:cNvPr>
              <p:cNvSpPr txBox="1"/>
              <p:nvPr/>
            </p:nvSpPr>
            <p:spPr>
              <a:xfrm>
                <a:off x="7633130" y="1472228"/>
                <a:ext cx="2158091"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𝜓</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rPr>
                      <m:t>𝜓</m:t>
                    </m:r>
                  </m:oMath>
                </a14:m>
                <a:r>
                  <a:rPr lang="en-US" sz="2800" dirty="0"/>
                  <a:t> </a:t>
                </a:r>
              </a:p>
            </p:txBody>
          </p:sp>
        </mc:Choice>
        <mc:Fallback>
          <p:sp>
            <p:nvSpPr>
              <p:cNvPr id="26" name="TextBox 25">
                <a:extLst>
                  <a:ext uri="{FF2B5EF4-FFF2-40B4-BE49-F238E27FC236}">
                    <a16:creationId xmlns:a16="http://schemas.microsoft.com/office/drawing/2014/main" id="{D1C872B3-9296-21C1-A65C-F8F009F382F9}"/>
                  </a:ext>
                </a:extLst>
              </p:cNvPr>
              <p:cNvSpPr txBox="1">
                <a:spLocks noRot="1" noChangeAspect="1" noMove="1" noResize="1" noEditPoints="1" noAdjustHandles="1" noChangeArrowheads="1" noChangeShapeType="1" noTextEdit="1"/>
              </p:cNvSpPr>
              <p:nvPr/>
            </p:nvSpPr>
            <p:spPr>
              <a:xfrm>
                <a:off x="7633130" y="1472228"/>
                <a:ext cx="2158091"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DAE08B41-3428-E89F-9674-0A881D9D9B9F}"/>
                  </a:ext>
                </a:extLst>
              </p:cNvPr>
              <p:cNvSpPr txBox="1"/>
              <p:nvPr/>
            </p:nvSpPr>
            <p:spPr>
              <a:xfrm>
                <a:off x="6463568" y="2769659"/>
                <a:ext cx="2100319"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ea typeface="Cambria Math" panose="02040503050406030204" pitchFamily="18" charset="0"/>
                      </a:rPr>
                      <m:t>𝜌</m:t>
                    </m:r>
                  </m:oMath>
                </a14:m>
                <a:r>
                  <a:rPr lang="en-US" sz="2800" dirty="0"/>
                  <a:t> </a:t>
                </a:r>
              </a:p>
            </p:txBody>
          </p:sp>
        </mc:Choice>
        <mc:Fallback>
          <p:sp>
            <p:nvSpPr>
              <p:cNvPr id="27" name="TextBox 26">
                <a:extLst>
                  <a:ext uri="{FF2B5EF4-FFF2-40B4-BE49-F238E27FC236}">
                    <a16:creationId xmlns:a16="http://schemas.microsoft.com/office/drawing/2014/main" id="{DAE08B41-3428-E89F-9674-0A881D9D9B9F}"/>
                  </a:ext>
                </a:extLst>
              </p:cNvPr>
              <p:cNvSpPr txBox="1">
                <a:spLocks noRot="1" noChangeAspect="1" noMove="1" noResize="1" noEditPoints="1" noAdjustHandles="1" noChangeArrowheads="1" noChangeShapeType="1" noTextEdit="1"/>
              </p:cNvSpPr>
              <p:nvPr/>
            </p:nvSpPr>
            <p:spPr>
              <a:xfrm>
                <a:off x="6463568" y="2769659"/>
                <a:ext cx="2100319"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C1CF3159-B318-9990-76B4-D8DFDA9B06B9}"/>
                  </a:ext>
                </a:extLst>
              </p:cNvPr>
              <p:cNvSpPr txBox="1"/>
              <p:nvPr/>
            </p:nvSpPr>
            <p:spPr>
              <a:xfrm>
                <a:off x="6298958" y="3429000"/>
                <a:ext cx="2058640" cy="9532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𝑂</m:t>
                      </m:r>
                      <m:sSup>
                        <m:sSupPr>
                          <m:ctrlPr>
                            <a:rPr lang="en-US" sz="2800" b="0" i="1" smtClean="0">
                              <a:latin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𝜌</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b="0" i="1" smtClean="0">
                              <a:latin typeface="Cambria Math" panose="02040503050406030204" pitchFamily="18" charset="0"/>
                            </a:rPr>
                            <m:t>𝐶</m:t>
                          </m:r>
                        </m:num>
                        <m:den>
                          <m:r>
                            <a:rPr lang="en-US" sz="2800" b="0" i="1" smtClean="0">
                              <a:latin typeface="Cambria Math" panose="02040503050406030204" pitchFamily="18" charset="0"/>
                            </a:rPr>
                            <m:t>2</m:t>
                          </m:r>
                        </m:den>
                      </m:f>
                    </m:oMath>
                  </m:oMathPara>
                </a14:m>
                <a:endParaRPr lang="en-US" sz="2800" dirty="0"/>
              </a:p>
            </p:txBody>
          </p:sp>
        </mc:Choice>
        <mc:Fallback>
          <p:sp>
            <p:nvSpPr>
              <p:cNvPr id="28" name="TextBox 27">
                <a:extLst>
                  <a:ext uri="{FF2B5EF4-FFF2-40B4-BE49-F238E27FC236}">
                    <a16:creationId xmlns:a16="http://schemas.microsoft.com/office/drawing/2014/main" id="{C1CF3159-B318-9990-76B4-D8DFDA9B06B9}"/>
                  </a:ext>
                </a:extLst>
              </p:cNvPr>
              <p:cNvSpPr txBox="1">
                <a:spLocks noRot="1" noChangeAspect="1" noMove="1" noResize="1" noEditPoints="1" noAdjustHandles="1" noChangeArrowheads="1" noChangeShapeType="1" noTextEdit="1"/>
              </p:cNvSpPr>
              <p:nvPr/>
            </p:nvSpPr>
            <p:spPr>
              <a:xfrm>
                <a:off x="6298958" y="3429000"/>
                <a:ext cx="2058640" cy="953210"/>
              </a:xfrm>
              <a:prstGeom prst="rect">
                <a:avLst/>
              </a:prstGeom>
              <a:blipFill>
                <a:blip r:embed="rId15"/>
                <a:stretch>
                  <a:fillRect/>
                </a:stretch>
              </a:blipFill>
            </p:spPr>
            <p:txBody>
              <a:bodyPr/>
              <a:lstStyle/>
              <a:p>
                <a:r>
                  <a:rPr lang="en-US">
                    <a:noFill/>
                  </a:rPr>
                  <a:t> </a:t>
                </a:r>
              </a:p>
            </p:txBody>
          </p:sp>
        </mc:Fallback>
      </mc:AlternateContent>
      <p:cxnSp>
        <p:nvCxnSpPr>
          <p:cNvPr id="32" name="Straight Arrow Connector 31">
            <a:extLst>
              <a:ext uri="{FF2B5EF4-FFF2-40B4-BE49-F238E27FC236}">
                <a16:creationId xmlns:a16="http://schemas.microsoft.com/office/drawing/2014/main" id="{80E3E890-5207-AF63-B830-BFF8F6EB7F85}"/>
              </a:ext>
            </a:extLst>
          </p:cNvPr>
          <p:cNvCxnSpPr>
            <a:cxnSpLocks/>
          </p:cNvCxnSpPr>
          <p:nvPr/>
        </p:nvCxnSpPr>
        <p:spPr>
          <a:xfrm flipH="1">
            <a:off x="8555461" y="1130979"/>
            <a:ext cx="2127779" cy="253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A185F3AE-314E-9B98-4F41-9EDA52660CD7}"/>
              </a:ext>
            </a:extLst>
          </p:cNvPr>
          <p:cNvCxnSpPr>
            <a:cxnSpLocks/>
          </p:cNvCxnSpPr>
          <p:nvPr/>
        </p:nvCxnSpPr>
        <p:spPr>
          <a:xfrm flipV="1">
            <a:off x="7633129" y="1066249"/>
            <a:ext cx="1077791" cy="1808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B4A9CE71-7E1F-00CF-1A7E-8B1A9A185AC8}"/>
                  </a:ext>
                </a:extLst>
              </p:cNvPr>
              <p:cNvSpPr txBox="1"/>
              <p:nvPr/>
            </p:nvSpPr>
            <p:spPr>
              <a:xfrm>
                <a:off x="9680715" y="2276935"/>
                <a:ext cx="452368" cy="483466"/>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a14:m>
                <a:r>
                  <a:rPr lang="en-US" dirty="0"/>
                  <a:t> </a:t>
                </a:r>
              </a:p>
            </p:txBody>
          </p:sp>
        </mc:Choice>
        <mc:Fallback>
          <p:sp>
            <p:nvSpPr>
              <p:cNvPr id="22" name="TextBox 21">
                <a:extLst>
                  <a:ext uri="{FF2B5EF4-FFF2-40B4-BE49-F238E27FC236}">
                    <a16:creationId xmlns:a16="http://schemas.microsoft.com/office/drawing/2014/main" id="{B4A9CE71-7E1F-00CF-1A7E-8B1A9A185AC8}"/>
                  </a:ext>
                </a:extLst>
              </p:cNvPr>
              <p:cNvSpPr txBox="1">
                <a:spLocks noRot="1" noChangeAspect="1" noMove="1" noResize="1" noEditPoints="1" noAdjustHandles="1" noChangeArrowheads="1" noChangeShapeType="1" noTextEdit="1"/>
              </p:cNvSpPr>
              <p:nvPr/>
            </p:nvSpPr>
            <p:spPr>
              <a:xfrm>
                <a:off x="9680715" y="2276935"/>
                <a:ext cx="452368" cy="483466"/>
              </a:xfrm>
              <a:prstGeom prst="rect">
                <a:avLst/>
              </a:prstGeom>
              <a:blipFill>
                <a:blip r:embed="rId16"/>
                <a:stretch>
                  <a:fillRect b="-12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3" name="TextBox 32">
                <a:extLst>
                  <a:ext uri="{FF2B5EF4-FFF2-40B4-BE49-F238E27FC236}">
                    <a16:creationId xmlns:a16="http://schemas.microsoft.com/office/drawing/2014/main" id="{85F9151E-30D0-6D90-54F7-ABA741452B3C}"/>
                  </a:ext>
                </a:extLst>
              </p:cNvPr>
              <p:cNvSpPr txBox="1"/>
              <p:nvPr/>
            </p:nvSpPr>
            <p:spPr>
              <a:xfrm>
                <a:off x="2399383" y="3292879"/>
                <a:ext cx="104740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e>
                          <m:r>
                            <a:rPr lang="en-US" sz="2000" b="0" i="1" smtClean="0">
                              <a:latin typeface="Cambria Math" panose="02040503050406030204" pitchFamily="18" charset="0"/>
                            </a:rPr>
                            <m:t>𝜙</m:t>
                          </m:r>
                        </m:e>
                      </m:d>
                    </m:oMath>
                  </m:oMathPara>
                </a14:m>
                <a:endParaRPr lang="en-US" sz="2000" dirty="0"/>
              </a:p>
            </p:txBody>
          </p:sp>
        </mc:Choice>
        <mc:Fallback>
          <p:sp>
            <p:nvSpPr>
              <p:cNvPr id="33" name="TextBox 32">
                <a:extLst>
                  <a:ext uri="{FF2B5EF4-FFF2-40B4-BE49-F238E27FC236}">
                    <a16:creationId xmlns:a16="http://schemas.microsoft.com/office/drawing/2014/main" id="{85F9151E-30D0-6D90-54F7-ABA741452B3C}"/>
                  </a:ext>
                </a:extLst>
              </p:cNvPr>
              <p:cNvSpPr txBox="1">
                <a:spLocks noRot="1" noChangeAspect="1" noMove="1" noResize="1" noEditPoints="1" noAdjustHandles="1" noChangeArrowheads="1" noChangeShapeType="1" noTextEdit="1"/>
              </p:cNvSpPr>
              <p:nvPr/>
            </p:nvSpPr>
            <p:spPr>
              <a:xfrm>
                <a:off x="2399383" y="3292879"/>
                <a:ext cx="1047402" cy="400110"/>
              </a:xfrm>
              <a:prstGeom prst="rect">
                <a:avLst/>
              </a:prstGeom>
              <a:blipFill>
                <a:blip r:embed="rId17"/>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3684514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967789-683A-7B6D-FDA2-0DB7F8947A7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8B140F3-1A93-C7FC-EBD3-BC3AB34A09C8}"/>
              </a:ext>
            </a:extLst>
          </p:cNvPr>
          <p:cNvSpPr/>
          <p:nvPr/>
        </p:nvSpPr>
        <p:spPr>
          <a:xfrm rot="19598101">
            <a:off x="2980286" y="2219742"/>
            <a:ext cx="1224349" cy="1224349"/>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DDC54DB4-FCA9-D0BC-8C1E-E32F6850AA29}"/>
              </a:ext>
            </a:extLst>
          </p:cNvPr>
          <p:cNvSpPr/>
          <p:nvPr/>
        </p:nvSpPr>
        <p:spPr>
          <a:xfrm>
            <a:off x="1957178" y="3694472"/>
            <a:ext cx="2042713" cy="2922705"/>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713EFA45-12E2-1C85-37F1-452CC6D1C5E8}"/>
              </a:ext>
            </a:extLst>
          </p:cNvPr>
          <p:cNvSpPr/>
          <p:nvPr/>
        </p:nvSpPr>
        <p:spPr>
          <a:xfrm>
            <a:off x="3417570" y="3686712"/>
            <a:ext cx="1015611" cy="1478038"/>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Connector 12">
            <a:extLst>
              <a:ext uri="{FF2B5EF4-FFF2-40B4-BE49-F238E27FC236}">
                <a16:creationId xmlns:a16="http://schemas.microsoft.com/office/drawing/2014/main" id="{C09AEED4-B788-683D-9AE6-86B24A0BBB06}"/>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5D877881-A311-F87D-F187-26FBC4522C53}"/>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46E05667-4AF6-7F3B-6331-5900AB4D0772}"/>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23C3837-3BEC-B252-3219-3B38FC1D99FD}"/>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55FAFF3B-ADFC-1EDC-E7AA-6BEF89257CEB}"/>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A7F8577C-C923-47DC-20BD-00C35E232C5D}"/>
                  </a:ext>
                </a:extLst>
              </p:cNvPr>
              <p:cNvSpPr txBox="1"/>
              <p:nvPr/>
            </p:nvSpPr>
            <p:spPr>
              <a:xfrm>
                <a:off x="4852135" y="3507602"/>
                <a:ext cx="42729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𝜓</m:t>
                      </m:r>
                    </m:oMath>
                  </m:oMathPara>
                </a14:m>
                <a:endParaRPr lang="en-US" sz="2000" dirty="0"/>
              </a:p>
            </p:txBody>
          </p:sp>
        </mc:Choice>
        <mc:Fallback>
          <p:sp>
            <p:nvSpPr>
              <p:cNvPr id="12" name="TextBox 11">
                <a:extLst>
                  <a:ext uri="{FF2B5EF4-FFF2-40B4-BE49-F238E27FC236}">
                    <a16:creationId xmlns:a16="http://schemas.microsoft.com/office/drawing/2014/main" id="{A7F8577C-C923-47DC-20BD-00C35E232C5D}"/>
                  </a:ext>
                </a:extLst>
              </p:cNvPr>
              <p:cNvSpPr txBox="1">
                <a:spLocks noRot="1" noChangeAspect="1" noMove="1" noResize="1" noEditPoints="1" noAdjustHandles="1" noChangeArrowheads="1" noChangeShapeType="1" noTextEdit="1"/>
              </p:cNvSpPr>
              <p:nvPr/>
            </p:nvSpPr>
            <p:spPr>
              <a:xfrm>
                <a:off x="4852135" y="3507602"/>
                <a:ext cx="427296" cy="400110"/>
              </a:xfrm>
              <a:prstGeom prst="rect">
                <a:avLst/>
              </a:prstGeom>
              <a:blipFill>
                <a:blip r:embed="rId2"/>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C0BB31B5-AE8F-D404-C162-CADF0E924858}"/>
                  </a:ext>
                </a:extLst>
              </p:cNvPr>
              <p:cNvSpPr txBox="1"/>
              <p:nvPr/>
            </p:nvSpPr>
            <p:spPr>
              <a:xfrm>
                <a:off x="3862398" y="1976614"/>
                <a:ext cx="42261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𝜙</m:t>
                      </m:r>
                    </m:oMath>
                  </m:oMathPara>
                </a14:m>
                <a:endParaRPr lang="en-US" sz="2000" dirty="0"/>
              </a:p>
            </p:txBody>
          </p:sp>
        </mc:Choice>
        <mc:Fallback>
          <p:sp>
            <p:nvSpPr>
              <p:cNvPr id="14" name="TextBox 13">
                <a:extLst>
                  <a:ext uri="{FF2B5EF4-FFF2-40B4-BE49-F238E27FC236}">
                    <a16:creationId xmlns:a16="http://schemas.microsoft.com/office/drawing/2014/main" id="{C0BB31B5-AE8F-D404-C162-CADF0E924858}"/>
                  </a:ext>
                </a:extLst>
              </p:cNvPr>
              <p:cNvSpPr txBox="1">
                <a:spLocks noRot="1" noChangeAspect="1" noMove="1" noResize="1" noEditPoints="1" noAdjustHandles="1" noChangeArrowheads="1" noChangeShapeType="1" noTextEdit="1"/>
              </p:cNvSpPr>
              <p:nvPr/>
            </p:nvSpPr>
            <p:spPr>
              <a:xfrm>
                <a:off x="3862398" y="1976614"/>
                <a:ext cx="422615" cy="400110"/>
              </a:xfrm>
              <a:prstGeom prst="rect">
                <a:avLst/>
              </a:prstGeom>
              <a:blipFill>
                <a:blip r:embed="rId3"/>
                <a:stretch>
                  <a:fillRect b="-1363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699035C2-D878-7CFA-F8FC-19030E95BC02}"/>
                  </a:ext>
                </a:extLst>
              </p:cNvPr>
              <p:cNvSpPr txBox="1"/>
              <p:nvPr/>
            </p:nvSpPr>
            <p:spPr>
              <a:xfrm>
                <a:off x="4333801" y="2635166"/>
                <a:ext cx="389787"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𝜌</m:t>
                      </m:r>
                    </m:oMath>
                  </m:oMathPara>
                </a14:m>
                <a:endParaRPr lang="en-US" sz="2000" dirty="0"/>
              </a:p>
            </p:txBody>
          </p:sp>
        </mc:Choice>
        <mc:Fallback>
          <p:sp>
            <p:nvSpPr>
              <p:cNvPr id="16" name="TextBox 15">
                <a:extLst>
                  <a:ext uri="{FF2B5EF4-FFF2-40B4-BE49-F238E27FC236}">
                    <a16:creationId xmlns:a16="http://schemas.microsoft.com/office/drawing/2014/main" id="{699035C2-D878-7CFA-F8FC-19030E95BC02}"/>
                  </a:ext>
                </a:extLst>
              </p:cNvPr>
              <p:cNvSpPr txBox="1">
                <a:spLocks noRot="1" noChangeAspect="1" noMove="1" noResize="1" noEditPoints="1" noAdjustHandles="1" noChangeArrowheads="1" noChangeShapeType="1" noTextEdit="1"/>
              </p:cNvSpPr>
              <p:nvPr/>
            </p:nvSpPr>
            <p:spPr>
              <a:xfrm>
                <a:off x="4333801" y="2635166"/>
                <a:ext cx="389787" cy="400110"/>
              </a:xfrm>
              <a:prstGeom prst="rect">
                <a:avLst/>
              </a:prstGeom>
              <a:blipFill>
                <a:blip r:embed="rId4"/>
                <a:stretch>
                  <a:fillRect b="-75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EF53AABE-DDD1-2A22-EAC9-56C63631D091}"/>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C442D6D9-F6B2-82CF-C514-18178A227D06}"/>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9B02B12E-A13A-99B9-37D6-D392EF568635}"/>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E6082AB8-D1B4-3B79-D761-943969307413}"/>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2EE012F3-8628-DA87-97B6-1C95D9FA023E}"/>
                  </a:ext>
                </a:extLst>
              </p:cNvPr>
              <p:cNvSpPr txBox="1"/>
              <p:nvPr/>
            </p:nvSpPr>
            <p:spPr>
              <a:xfrm>
                <a:off x="1480313" y="3468793"/>
                <a:ext cx="575670"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𝜓</m:t>
                          </m:r>
                        </m:e>
                        <m:sup>
                          <m:r>
                            <a:rPr lang="en-US" sz="2000" b="0" i="1" smtClean="0">
                              <a:latin typeface="Cambria Math" panose="02040503050406030204" pitchFamily="18" charset="0"/>
                            </a:rPr>
                            <m:t>⊥</m:t>
                          </m:r>
                        </m:sup>
                      </m:sSup>
                    </m:oMath>
                  </m:oMathPara>
                </a14:m>
                <a:endParaRPr lang="en-US" sz="2000" dirty="0"/>
              </a:p>
            </p:txBody>
          </p:sp>
        </mc:Choice>
        <mc:Fallback>
          <p:sp>
            <p:nvSpPr>
              <p:cNvPr id="57" name="TextBox 56">
                <a:extLst>
                  <a:ext uri="{FF2B5EF4-FFF2-40B4-BE49-F238E27FC236}">
                    <a16:creationId xmlns:a16="http://schemas.microsoft.com/office/drawing/2014/main" id="{2EE012F3-8628-DA87-97B6-1C95D9FA023E}"/>
                  </a:ext>
                </a:extLst>
              </p:cNvPr>
              <p:cNvSpPr txBox="1">
                <a:spLocks noRot="1" noChangeAspect="1" noMove="1" noResize="1" noEditPoints="1" noAdjustHandles="1" noChangeArrowheads="1" noChangeShapeType="1" noTextEdit="1"/>
              </p:cNvSpPr>
              <p:nvPr/>
            </p:nvSpPr>
            <p:spPr>
              <a:xfrm>
                <a:off x="1480313" y="3468793"/>
                <a:ext cx="575670" cy="400110"/>
              </a:xfrm>
              <a:prstGeom prst="rect">
                <a:avLst/>
              </a:prstGeom>
              <a:blipFill>
                <a:blip r:embed="rId6"/>
                <a:stretch>
                  <a:fillRect b="-1363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445B2EF5-01C4-5DCA-A1BF-16349B26F9F7}"/>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894CC0EC-40AD-E15E-F0F1-FAC6B19F60BF}"/>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173D0470-9EDE-EA3E-3CB1-26CE931AA909}"/>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97FD9CBF-A340-A2A4-B86C-0B51DAAFA8DD}"/>
              </a:ext>
            </a:extLst>
          </p:cNvPr>
          <p:cNvCxnSpPr>
            <a:cxnSpLocks/>
            <a:stCxn id="2" idx="2"/>
          </p:cNvCxnSpPr>
          <p:nvPr/>
        </p:nvCxnSpPr>
        <p:spPr>
          <a:xfrm flipV="1">
            <a:off x="1955254" y="2326262"/>
            <a:ext cx="2039845" cy="1360479"/>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BE4927E-FB68-FF6B-3A26-D8545409D0CB}"/>
              </a:ext>
            </a:extLst>
          </p:cNvPr>
          <p:cNvSpPr/>
          <p:nvPr/>
        </p:nvSpPr>
        <p:spPr>
          <a:xfrm rot="19598101">
            <a:off x="1080620" y="775504"/>
            <a:ext cx="2439889" cy="2439888"/>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6E2960E3-CD85-BF9A-3F42-3088BC043D1E}"/>
                  </a:ext>
                </a:extLst>
              </p:cNvPr>
              <p:cNvSpPr txBox="1"/>
              <p:nvPr/>
            </p:nvSpPr>
            <p:spPr>
              <a:xfrm>
                <a:off x="5307370" y="607759"/>
                <a:ext cx="2467470"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a:rPr lang="en-US" sz="2800" i="1">
                          <a:latin typeface="Cambria Math" panose="02040503050406030204" pitchFamily="18" charset="0"/>
                        </a:rPr>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90</m:t>
                          </m:r>
                        </m:e>
                        <m:sup>
                          <m:r>
                            <a:rPr lang="en-US" sz="2800" b="0" i="1" smtClean="0">
                              <a:latin typeface="Cambria Math" panose="02040503050406030204" pitchFamily="18" charset="0"/>
                            </a:rPr>
                            <m:t>∘</m:t>
                          </m:r>
                        </m:sup>
                      </m:sSup>
                    </m:oMath>
                  </m:oMathPara>
                </a14:m>
                <a:endParaRPr lang="en-US" sz="2800" dirty="0"/>
              </a:p>
            </p:txBody>
          </p:sp>
        </mc:Choice>
        <mc:Fallback>
          <p:sp>
            <p:nvSpPr>
              <p:cNvPr id="15" name="TextBox 14">
                <a:extLst>
                  <a:ext uri="{FF2B5EF4-FFF2-40B4-BE49-F238E27FC236}">
                    <a16:creationId xmlns:a16="http://schemas.microsoft.com/office/drawing/2014/main" id="{6E2960E3-CD85-BF9A-3F42-3088BC043D1E}"/>
                  </a:ext>
                </a:extLst>
              </p:cNvPr>
              <p:cNvSpPr txBox="1">
                <a:spLocks noRot="1" noChangeAspect="1" noMove="1" noResize="1" noEditPoints="1" noAdjustHandles="1" noChangeArrowheads="1" noChangeShapeType="1" noTextEdit="1"/>
              </p:cNvSpPr>
              <p:nvPr/>
            </p:nvSpPr>
            <p:spPr>
              <a:xfrm>
                <a:off x="5307370" y="607759"/>
                <a:ext cx="2467470" cy="523220"/>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E4D2D940-4FF3-509F-8B67-E4AAA33ABA9B}"/>
                  </a:ext>
                </a:extLst>
              </p:cNvPr>
              <p:cNvSpPr txBox="1"/>
              <p:nvPr/>
            </p:nvSpPr>
            <p:spPr>
              <a:xfrm>
                <a:off x="8271238" y="607759"/>
                <a:ext cx="331000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sz="280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sSup>
                        <m:sSupPr>
                          <m:ctrlPr>
                            <a:rPr lang="en-US" sz="2800" b="0" i="1" smtClean="0">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𝜙</m:t>
                          </m:r>
                        </m:e>
                        <m:sup>
                          <m:r>
                            <a:rPr lang="en-US" sz="2800" b="0" i="1" smtClean="0">
                              <a:solidFill>
                                <a:srgbClr val="548235"/>
                              </a:solidFill>
                              <a:latin typeface="Cambria Math" panose="02040503050406030204" pitchFamily="18" charset="0"/>
                            </a:rPr>
                            <m:t>2</m:t>
                          </m:r>
                        </m:sup>
                      </m:sSup>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b="0" i="1" smtClean="0">
                          <a:solidFill>
                            <a:srgbClr val="548235"/>
                          </a:solidFill>
                          <a:latin typeface="Cambria Math" panose="02040503050406030204" pitchFamily="18" charset="0"/>
                        </a:rPr>
                        <m:t>𝐶</m:t>
                      </m:r>
                      <m:r>
                        <a:rPr lang="en-US" sz="2800" b="0" i="1" smtClean="0">
                          <a:solidFill>
                            <a:srgbClr val="548235"/>
                          </a:solidFill>
                          <a:latin typeface="Cambria Math" panose="02040503050406030204" pitchFamily="18" charset="0"/>
                        </a:rPr>
                        <m:t>⋅</m:t>
                      </m:r>
                      <m:sSup>
                        <m:sSupPr>
                          <m:ctrlPr>
                            <a:rPr lang="en-US" sz="2800" i="1">
                              <a:solidFill>
                                <a:srgbClr val="548235"/>
                              </a:solidFill>
                              <a:latin typeface="Cambria Math" panose="02040503050406030204" pitchFamily="18" charset="0"/>
                            </a:rPr>
                          </m:ctrlPr>
                        </m:sSupPr>
                        <m:e>
                          <m:r>
                            <a:rPr lang="en-US" sz="2800" i="1">
                              <a:solidFill>
                                <a:srgbClr val="548235"/>
                              </a:solidFill>
                              <a:latin typeface="Cambria Math" panose="02040503050406030204" pitchFamily="18" charset="0"/>
                            </a:rPr>
                            <m:t>𝜓</m:t>
                          </m:r>
                        </m:e>
                        <m:sup>
                          <m:r>
                            <a:rPr lang="en-US" sz="2800" i="1">
                              <a:solidFill>
                                <a:srgbClr val="548235"/>
                              </a:solidFill>
                              <a:latin typeface="Cambria Math" panose="02040503050406030204" pitchFamily="18" charset="0"/>
                            </a:rPr>
                            <m:t>⊥</m:t>
                          </m:r>
                        </m:sup>
                      </m:sSup>
                      <m:r>
                        <a:rPr lang="en-US" sz="2800" i="1">
                          <a:solidFill>
                            <a:srgbClr val="548235"/>
                          </a:solidFill>
                          <a:latin typeface="Cambria Math" panose="02040503050406030204" pitchFamily="18" charset="0"/>
                        </a:rPr>
                        <m:t>𝜓</m:t>
                      </m:r>
                    </m:oMath>
                  </m:oMathPara>
                </a14:m>
                <a:endParaRPr lang="en-US" sz="2800" dirty="0">
                  <a:solidFill>
                    <a:srgbClr val="548235"/>
                  </a:solidFill>
                </a:endParaRPr>
              </a:p>
            </p:txBody>
          </p:sp>
        </mc:Choice>
        <mc:Fallback>
          <p:sp>
            <p:nvSpPr>
              <p:cNvPr id="20" name="TextBox 19">
                <a:extLst>
                  <a:ext uri="{FF2B5EF4-FFF2-40B4-BE49-F238E27FC236}">
                    <a16:creationId xmlns:a16="http://schemas.microsoft.com/office/drawing/2014/main" id="{E4D2D940-4FF3-509F-8B67-E4AAA33ABA9B}"/>
                  </a:ext>
                </a:extLst>
              </p:cNvPr>
              <p:cNvSpPr txBox="1">
                <a:spLocks noRot="1" noChangeAspect="1" noMove="1" noResize="1" noEditPoints="1" noAdjustHandles="1" noChangeArrowheads="1" noChangeShapeType="1" noTextEdit="1"/>
              </p:cNvSpPr>
              <p:nvPr/>
            </p:nvSpPr>
            <p:spPr>
              <a:xfrm>
                <a:off x="8271238" y="607759"/>
                <a:ext cx="3310009"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AD0FC2D4-D691-8C43-AF24-5759A292AF96}"/>
                  </a:ext>
                </a:extLst>
              </p:cNvPr>
              <p:cNvSpPr txBox="1"/>
              <p:nvPr/>
            </p:nvSpPr>
            <p:spPr>
              <a:xfrm>
                <a:off x="6135700" y="2075087"/>
                <a:ext cx="299485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smtClean="0"/>
                        <m:t>△</m:t>
                      </m:r>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𝜙𝜓</m:t>
                      </m:r>
                      <m:r>
                        <a:rPr lang="en-US" sz="2800" b="0" i="1" smtClean="0">
                          <a:latin typeface="Cambria Math" panose="02040503050406030204" pitchFamily="18" charset="0"/>
                          <a:ea typeface="Cambria Math" panose="02040503050406030204" pitchFamily="18" charset="0"/>
                        </a:rPr>
                        <m:t>∼</m:t>
                      </m:r>
                      <m:r>
                        <m:rPr>
                          <m:nor/>
                        </m:rPr>
                        <a:rPr lang="en-US" sz="2800"/>
                        <m:t>△</m:t>
                      </m:r>
                      <m:r>
                        <a:rPr lang="en-US" sz="2800" b="0" i="1" smtClean="0">
                          <a:latin typeface="Cambria Math" panose="02040503050406030204" pitchFamily="18" charset="0"/>
                          <a:ea typeface="Cambria Math" panose="02040503050406030204" pitchFamily="18" charset="0"/>
                        </a:rPr>
                        <m:t>𝑂</m:t>
                      </m:r>
                      <m:r>
                        <a:rPr lang="en-US" sz="2800" b="0" i="1" smtClean="0">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m:oMathPara>
                </a14:m>
                <a:endParaRPr lang="en-US" sz="2800" dirty="0"/>
              </a:p>
            </p:txBody>
          </p:sp>
        </mc:Choice>
        <mc:Fallback>
          <p:sp>
            <p:nvSpPr>
              <p:cNvPr id="21" name="TextBox 20">
                <a:extLst>
                  <a:ext uri="{FF2B5EF4-FFF2-40B4-BE49-F238E27FC236}">
                    <a16:creationId xmlns:a16="http://schemas.microsoft.com/office/drawing/2014/main" id="{AD0FC2D4-D691-8C43-AF24-5759A292AF96}"/>
                  </a:ext>
                </a:extLst>
              </p:cNvPr>
              <p:cNvSpPr txBox="1">
                <a:spLocks noRot="1" noChangeAspect="1" noMove="1" noResize="1" noEditPoints="1" noAdjustHandles="1" noChangeArrowheads="1" noChangeShapeType="1" noTextEdit="1"/>
              </p:cNvSpPr>
              <p:nvPr/>
            </p:nvSpPr>
            <p:spPr>
              <a:xfrm>
                <a:off x="6135700" y="2075087"/>
                <a:ext cx="2994859"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2AFF5228-A1B8-B696-18CB-27EE2C341763}"/>
                  </a:ext>
                </a:extLst>
              </p:cNvPr>
              <p:cNvSpPr txBox="1"/>
              <p:nvPr/>
            </p:nvSpPr>
            <p:spPr>
              <a:xfrm>
                <a:off x="5402907" y="1472228"/>
                <a:ext cx="1896738" cy="523220"/>
              </a:xfrm>
              <a:prstGeom prst="rect">
                <a:avLst/>
              </a:prstGeom>
              <a:noFill/>
            </p:spPr>
            <p:txBody>
              <a:bodyPr wrap="none" rtlCol="0">
                <a:spAutoFit/>
              </a:bodyPr>
              <a:lstStyle/>
              <a:p>
                <a14:m>
                  <m:oMath xmlns:m="http://schemas.openxmlformats.org/officeDocument/2006/math">
                    <m:r>
                      <a:rPr lang="en-US" sz="2800" i="1">
                        <a:latin typeface="Cambria Math" panose="02040503050406030204" pitchFamily="18" charset="0"/>
                      </a:rPr>
                      <m:t>𝜙𝜓</m:t>
                    </m:r>
                    <m:r>
                      <a:rPr lang="en-US" sz="2800" b="0" i="1" smtClean="0">
                        <a:latin typeface="Cambria Math" panose="02040503050406030204" pitchFamily="18" charset="0"/>
                      </a:rPr>
                      <m:t>=2</m:t>
                    </m:r>
                    <m:r>
                      <a:rPr lang="en-US" sz="2800" i="1">
                        <a:latin typeface="Cambria Math" panose="02040503050406030204" pitchFamily="18" charset="0"/>
                        <a:ea typeface="Cambria Math" panose="02040503050406030204" pitchFamily="18" charset="0"/>
                      </a:rPr>
                      <m:t>𝜌</m:t>
                    </m:r>
                    <m:r>
                      <a:rPr lang="en-US" sz="2800" i="1">
                        <a:latin typeface="Cambria Math" panose="02040503050406030204" pitchFamily="18" charset="0"/>
                      </a:rPr>
                      <m:t>𝜓</m:t>
                    </m:r>
                  </m:oMath>
                </a14:m>
                <a:r>
                  <a:rPr lang="en-US" sz="2800" dirty="0"/>
                  <a:t> </a:t>
                </a:r>
              </a:p>
            </p:txBody>
          </p:sp>
        </mc:Choice>
        <mc:Fallback>
          <p:sp>
            <p:nvSpPr>
              <p:cNvPr id="24" name="TextBox 23">
                <a:extLst>
                  <a:ext uri="{FF2B5EF4-FFF2-40B4-BE49-F238E27FC236}">
                    <a16:creationId xmlns:a16="http://schemas.microsoft.com/office/drawing/2014/main" id="{2AFF5228-A1B8-B696-18CB-27EE2C341763}"/>
                  </a:ext>
                </a:extLst>
              </p:cNvPr>
              <p:cNvSpPr txBox="1">
                <a:spLocks noRot="1" noChangeAspect="1" noMove="1" noResize="1" noEditPoints="1" noAdjustHandles="1" noChangeArrowheads="1" noChangeShapeType="1" noTextEdit="1"/>
              </p:cNvSpPr>
              <p:nvPr/>
            </p:nvSpPr>
            <p:spPr>
              <a:xfrm>
                <a:off x="5402907" y="1472228"/>
                <a:ext cx="1896738"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CBE22B08-4078-72F8-2C65-19C4F71C6D74}"/>
                  </a:ext>
                </a:extLst>
              </p:cNvPr>
              <p:cNvSpPr txBox="1"/>
              <p:nvPr/>
            </p:nvSpPr>
            <p:spPr>
              <a:xfrm>
                <a:off x="7633130" y="1472228"/>
                <a:ext cx="2158091"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𝜓</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rPr>
                      <m:t>𝜓</m:t>
                    </m:r>
                  </m:oMath>
                </a14:m>
                <a:r>
                  <a:rPr lang="en-US" sz="2800" dirty="0"/>
                  <a:t> </a:t>
                </a:r>
              </a:p>
            </p:txBody>
          </p:sp>
        </mc:Choice>
        <mc:Fallback>
          <p:sp>
            <p:nvSpPr>
              <p:cNvPr id="26" name="TextBox 25">
                <a:extLst>
                  <a:ext uri="{FF2B5EF4-FFF2-40B4-BE49-F238E27FC236}">
                    <a16:creationId xmlns:a16="http://schemas.microsoft.com/office/drawing/2014/main" id="{CBE22B08-4078-72F8-2C65-19C4F71C6D74}"/>
                  </a:ext>
                </a:extLst>
              </p:cNvPr>
              <p:cNvSpPr txBox="1">
                <a:spLocks noRot="1" noChangeAspect="1" noMove="1" noResize="1" noEditPoints="1" noAdjustHandles="1" noChangeArrowheads="1" noChangeShapeType="1" noTextEdit="1"/>
              </p:cNvSpPr>
              <p:nvPr/>
            </p:nvSpPr>
            <p:spPr>
              <a:xfrm>
                <a:off x="7633130" y="1472228"/>
                <a:ext cx="2158091"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 name="TextBox 26">
                <a:extLst>
                  <a:ext uri="{FF2B5EF4-FFF2-40B4-BE49-F238E27FC236}">
                    <a16:creationId xmlns:a16="http://schemas.microsoft.com/office/drawing/2014/main" id="{26F83192-377B-D17A-2BCA-626E038A4AC6}"/>
                  </a:ext>
                </a:extLst>
              </p:cNvPr>
              <p:cNvSpPr txBox="1"/>
              <p:nvPr/>
            </p:nvSpPr>
            <p:spPr>
              <a:xfrm>
                <a:off x="6463568" y="2769659"/>
                <a:ext cx="2100319" cy="523220"/>
              </a:xfrm>
              <a:prstGeom prst="rect">
                <a:avLst/>
              </a:prstGeom>
              <a:noFill/>
            </p:spPr>
            <p:txBody>
              <a:bodyPr wrap="none" rtlCol="0">
                <a:spAutoFit/>
              </a:bodyPr>
              <a:lstStyle/>
              <a:p>
                <a14:m>
                  <m:oMath xmlns:m="http://schemas.openxmlformats.org/officeDocument/2006/math">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i="1">
                        <a:latin typeface="Cambria Math" panose="02040503050406030204" pitchFamily="18" charset="0"/>
                      </a:rPr>
                      <m:t>𝜙</m:t>
                    </m:r>
                    <m:r>
                      <a:rPr lang="en-US" sz="2800" b="0" i="1" smtClean="0">
                        <a:latin typeface="Cambria Math" panose="02040503050406030204" pitchFamily="18" charset="0"/>
                      </a:rPr>
                      <m:t>=2</m:t>
                    </m:r>
                    <m:r>
                      <a:rPr lang="en-US" sz="2800" b="0" i="1" smtClean="0">
                        <a:latin typeface="Cambria Math" panose="02040503050406030204" pitchFamily="18" charset="0"/>
                      </a:rPr>
                      <m:t>𝑂</m:t>
                    </m:r>
                    <m:r>
                      <a:rPr lang="en-US" sz="2800" i="1">
                        <a:latin typeface="Cambria Math" panose="02040503050406030204" pitchFamily="18" charset="0"/>
                        <a:ea typeface="Cambria Math" panose="02040503050406030204" pitchFamily="18" charset="0"/>
                      </a:rPr>
                      <m:t>𝜌</m:t>
                    </m:r>
                  </m:oMath>
                </a14:m>
                <a:r>
                  <a:rPr lang="en-US" sz="2800" dirty="0"/>
                  <a:t> </a:t>
                </a:r>
              </a:p>
            </p:txBody>
          </p:sp>
        </mc:Choice>
        <mc:Fallback>
          <p:sp>
            <p:nvSpPr>
              <p:cNvPr id="27" name="TextBox 26">
                <a:extLst>
                  <a:ext uri="{FF2B5EF4-FFF2-40B4-BE49-F238E27FC236}">
                    <a16:creationId xmlns:a16="http://schemas.microsoft.com/office/drawing/2014/main" id="{26F83192-377B-D17A-2BCA-626E038A4AC6}"/>
                  </a:ext>
                </a:extLst>
              </p:cNvPr>
              <p:cNvSpPr txBox="1">
                <a:spLocks noRot="1" noChangeAspect="1" noMove="1" noResize="1" noEditPoints="1" noAdjustHandles="1" noChangeArrowheads="1" noChangeShapeType="1" noTextEdit="1"/>
              </p:cNvSpPr>
              <p:nvPr/>
            </p:nvSpPr>
            <p:spPr>
              <a:xfrm>
                <a:off x="6463568" y="2769659"/>
                <a:ext cx="2100319"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87710DE4-529A-9F1F-570B-171B2CD822B5}"/>
                  </a:ext>
                </a:extLst>
              </p:cNvPr>
              <p:cNvSpPr txBox="1"/>
              <p:nvPr/>
            </p:nvSpPr>
            <p:spPr>
              <a:xfrm>
                <a:off x="6541105" y="4641530"/>
                <a:ext cx="2217723" cy="523220"/>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𝑟</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𝜓</m:t>
                          </m:r>
                        </m:e>
                        <m:e>
                          <m:r>
                            <a:rPr lang="en-US" sz="2800" i="1">
                              <a:latin typeface="Cambria Math" panose="02040503050406030204" pitchFamily="18" charset="0"/>
                            </a:rPr>
                            <m:t>𝜙</m:t>
                          </m:r>
                        </m:e>
                      </m:d>
                    </m:oMath>
                  </m:oMathPara>
                </a14:m>
                <a:endParaRPr lang="en-US" sz="2800" dirty="0"/>
              </a:p>
            </p:txBody>
          </p:sp>
        </mc:Choice>
        <mc:Fallback>
          <p:sp>
            <p:nvSpPr>
              <p:cNvPr id="8" name="TextBox 7">
                <a:extLst>
                  <a:ext uri="{FF2B5EF4-FFF2-40B4-BE49-F238E27FC236}">
                    <a16:creationId xmlns:a16="http://schemas.microsoft.com/office/drawing/2014/main" id="{87710DE4-529A-9F1F-570B-171B2CD822B5}"/>
                  </a:ext>
                </a:extLst>
              </p:cNvPr>
              <p:cNvSpPr txBox="1">
                <a:spLocks noRot="1" noChangeAspect="1" noMove="1" noResize="1" noEditPoints="1" noAdjustHandles="1" noChangeArrowheads="1" noChangeShapeType="1" noTextEdit="1"/>
              </p:cNvSpPr>
              <p:nvPr/>
            </p:nvSpPr>
            <p:spPr>
              <a:xfrm>
                <a:off x="6541105" y="4641530"/>
                <a:ext cx="2217723"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77281F82-D19E-0D28-A680-E6DF3966FB5A}"/>
                  </a:ext>
                </a:extLst>
              </p:cNvPr>
              <p:cNvSpPr txBox="1"/>
              <p:nvPr/>
            </p:nvSpPr>
            <p:spPr>
              <a:xfrm>
                <a:off x="6541105" y="5267120"/>
                <a:ext cx="2389372" cy="61414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𝑟</m:t>
                      </m:r>
                      <m:r>
                        <a:rPr lang="en-US" sz="2800" b="0" i="1" smtClean="0">
                          <a:latin typeface="Cambria Math" panose="02040503050406030204" pitchFamily="18" charset="0"/>
                        </a:rPr>
                        <m:t>=</m:t>
                      </m:r>
                      <m:rad>
                        <m:radPr>
                          <m:degHide m:val="on"/>
                          <m:ctrlPr>
                            <a:rPr lang="en-US" sz="2800" b="0" i="1" smtClean="0">
                              <a:latin typeface="Cambria Math" panose="02040503050406030204" pitchFamily="18" charset="0"/>
                            </a:rPr>
                          </m:ctrlPr>
                        </m:radPr>
                        <m:deg/>
                        <m:e>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𝜓</m:t>
                              </m:r>
                            </m:e>
                            <m:e>
                              <m:r>
                                <a:rPr lang="en-US" sz="2800" i="1">
                                  <a:latin typeface="Cambria Math" panose="02040503050406030204" pitchFamily="18" charset="0"/>
                                </a:rPr>
                                <m:t>𝜙</m:t>
                              </m:r>
                            </m:e>
                          </m:d>
                          <m:r>
                            <m:rPr>
                              <m:nor/>
                            </m:rPr>
                            <a:rPr lang="en-US" sz="2800" dirty="0"/>
                            <m:t> </m:t>
                          </m:r>
                        </m:e>
                      </m:rad>
                    </m:oMath>
                  </m:oMathPara>
                </a14:m>
                <a:endParaRPr lang="en-US" sz="2800" dirty="0"/>
              </a:p>
            </p:txBody>
          </p:sp>
        </mc:Choice>
        <mc:Fallback>
          <p:sp>
            <p:nvSpPr>
              <p:cNvPr id="29" name="TextBox 28">
                <a:extLst>
                  <a:ext uri="{FF2B5EF4-FFF2-40B4-BE49-F238E27FC236}">
                    <a16:creationId xmlns:a16="http://schemas.microsoft.com/office/drawing/2014/main" id="{77281F82-D19E-0D28-A680-E6DF3966FB5A}"/>
                  </a:ext>
                </a:extLst>
              </p:cNvPr>
              <p:cNvSpPr txBox="1">
                <a:spLocks noRot="1" noChangeAspect="1" noMove="1" noResize="1" noEditPoints="1" noAdjustHandles="1" noChangeArrowheads="1" noChangeShapeType="1" noTextEdit="1"/>
              </p:cNvSpPr>
              <p:nvPr/>
            </p:nvSpPr>
            <p:spPr>
              <a:xfrm>
                <a:off x="6541105" y="5267120"/>
                <a:ext cx="2389372" cy="614142"/>
              </a:xfrm>
              <a:prstGeom prst="rect">
                <a:avLst/>
              </a:prstGeom>
              <a:blipFill>
                <a:blip r:embed="rId16"/>
                <a:stretch>
                  <a:fillRect/>
                </a:stretch>
              </a:blipFill>
            </p:spPr>
            <p:txBody>
              <a:bodyPr/>
              <a:lstStyle/>
              <a:p>
                <a:r>
                  <a:rPr lang="en-US">
                    <a:noFill/>
                  </a:rPr>
                  <a:t> </a:t>
                </a:r>
              </a:p>
            </p:txBody>
          </p:sp>
        </mc:Fallback>
      </mc:AlternateContent>
      <p:cxnSp>
        <p:nvCxnSpPr>
          <p:cNvPr id="34" name="Straight Arrow Connector 33">
            <a:extLst>
              <a:ext uri="{FF2B5EF4-FFF2-40B4-BE49-F238E27FC236}">
                <a16:creationId xmlns:a16="http://schemas.microsoft.com/office/drawing/2014/main" id="{6BEC5BAD-18EC-2724-CAF8-EEB20A524885}"/>
              </a:ext>
            </a:extLst>
          </p:cNvPr>
          <p:cNvCxnSpPr>
            <a:cxnSpLocks/>
          </p:cNvCxnSpPr>
          <p:nvPr/>
        </p:nvCxnSpPr>
        <p:spPr>
          <a:xfrm flipV="1">
            <a:off x="7633129" y="1066249"/>
            <a:ext cx="1077791" cy="18083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5F785EDF-589D-9F73-3C97-A39B37644C6B}"/>
                  </a:ext>
                </a:extLst>
              </p:cNvPr>
              <p:cNvSpPr txBox="1"/>
              <p:nvPr/>
            </p:nvSpPr>
            <p:spPr>
              <a:xfrm>
                <a:off x="6298958" y="3429000"/>
                <a:ext cx="2058640" cy="9532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𝑂</m:t>
                      </m:r>
                      <m:sSup>
                        <m:sSupPr>
                          <m:ctrlPr>
                            <a:rPr lang="en-US" sz="2800" b="0" i="1" smtClean="0">
                              <a:latin typeface="Cambria Math" panose="02040503050406030204" pitchFamily="18" charset="0"/>
                            </a:rPr>
                          </m:ctrlPr>
                        </m:sSupPr>
                        <m:e>
                          <m:r>
                            <a:rPr lang="en-US" sz="2800" i="1">
                              <a:latin typeface="Cambria Math" panose="02040503050406030204" pitchFamily="18" charset="0"/>
                              <a:ea typeface="Cambria Math" panose="02040503050406030204" pitchFamily="18" charset="0"/>
                            </a:rPr>
                            <m:t>𝜌</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sSup>
                            <m:sSupPr>
                              <m:ctrlPr>
                                <a:rPr lang="en-US" sz="2800" i="1">
                                  <a:latin typeface="Cambria Math" panose="02040503050406030204" pitchFamily="18" charset="0"/>
                                </a:rPr>
                              </m:ctrlPr>
                            </m:sSupPr>
                            <m:e>
                              <m:r>
                                <a:rPr lang="en-US" sz="2800" i="1">
                                  <a:latin typeface="Cambria Math" panose="02040503050406030204" pitchFamily="18" charset="0"/>
                                </a:rPr>
                                <m:t>𝜓</m:t>
                              </m:r>
                            </m:e>
                            <m:sup>
                              <m:r>
                                <a:rPr lang="en-US" sz="2800" i="1">
                                  <a:latin typeface="Cambria Math" panose="02040503050406030204" pitchFamily="18" charset="0"/>
                                </a:rPr>
                                <m:t>⊥</m:t>
                              </m:r>
                            </m:sup>
                          </m:sSup>
                          <m:r>
                            <a:rPr lang="en-US" sz="2800" b="0" i="1" smtClean="0">
                              <a:latin typeface="Cambria Math" panose="02040503050406030204" pitchFamily="18" charset="0"/>
                            </a:rPr>
                            <m:t>𝐶</m:t>
                          </m:r>
                        </m:num>
                        <m:den>
                          <m:r>
                            <a:rPr lang="en-US" sz="2800" b="0" i="1" smtClean="0">
                              <a:latin typeface="Cambria Math" panose="02040503050406030204" pitchFamily="18" charset="0"/>
                            </a:rPr>
                            <m:t>2</m:t>
                          </m:r>
                        </m:den>
                      </m:f>
                    </m:oMath>
                  </m:oMathPara>
                </a14:m>
                <a:endParaRPr lang="en-US" sz="2800" dirty="0"/>
              </a:p>
            </p:txBody>
          </p:sp>
        </mc:Choice>
        <mc:Fallback>
          <p:sp>
            <p:nvSpPr>
              <p:cNvPr id="38" name="TextBox 37">
                <a:extLst>
                  <a:ext uri="{FF2B5EF4-FFF2-40B4-BE49-F238E27FC236}">
                    <a16:creationId xmlns:a16="http://schemas.microsoft.com/office/drawing/2014/main" id="{5F785EDF-589D-9F73-3C97-A39B37644C6B}"/>
                  </a:ext>
                </a:extLst>
              </p:cNvPr>
              <p:cNvSpPr txBox="1">
                <a:spLocks noRot="1" noChangeAspect="1" noMove="1" noResize="1" noEditPoints="1" noAdjustHandles="1" noChangeArrowheads="1" noChangeShapeType="1" noTextEdit="1"/>
              </p:cNvSpPr>
              <p:nvPr/>
            </p:nvSpPr>
            <p:spPr>
              <a:xfrm>
                <a:off x="6298958" y="3429000"/>
                <a:ext cx="2058640" cy="953210"/>
              </a:xfrm>
              <a:prstGeom prst="rect">
                <a:avLst/>
              </a:prstGeom>
              <a:blipFill>
                <a:blip r:embed="rId17"/>
                <a:stretch>
                  <a:fillRect/>
                </a:stretch>
              </a:blipFill>
            </p:spPr>
            <p:txBody>
              <a:bodyPr/>
              <a:lstStyle/>
              <a:p>
                <a:r>
                  <a:rPr lang="en-US">
                    <a:noFill/>
                  </a:rPr>
                  <a:t> </a:t>
                </a:r>
              </a:p>
            </p:txBody>
          </p:sp>
        </mc:Fallback>
      </mc:AlternateContent>
      <p:cxnSp>
        <p:nvCxnSpPr>
          <p:cNvPr id="39" name="Straight Arrow Connector 38">
            <a:extLst>
              <a:ext uri="{FF2B5EF4-FFF2-40B4-BE49-F238E27FC236}">
                <a16:creationId xmlns:a16="http://schemas.microsoft.com/office/drawing/2014/main" id="{6973F7A3-5C31-4BCE-F921-1856BCBFFCAC}"/>
              </a:ext>
            </a:extLst>
          </p:cNvPr>
          <p:cNvCxnSpPr>
            <a:cxnSpLocks/>
          </p:cNvCxnSpPr>
          <p:nvPr/>
        </p:nvCxnSpPr>
        <p:spPr>
          <a:xfrm flipH="1">
            <a:off x="8555461" y="1130979"/>
            <a:ext cx="2127779" cy="2537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1BEF2581-2DB8-8204-6FFD-EAA66E317146}"/>
                  </a:ext>
                </a:extLst>
              </p:cNvPr>
              <p:cNvSpPr txBox="1"/>
              <p:nvPr/>
            </p:nvSpPr>
            <p:spPr>
              <a:xfrm>
                <a:off x="9680715" y="2276935"/>
                <a:ext cx="452368" cy="483466"/>
              </a:xfrm>
              <a:prstGeom prst="rect">
                <a:avLst/>
              </a:prstGeom>
              <a:noFill/>
            </p:spPr>
            <p:txBody>
              <a:bodyPr wrap="none" rtlCol="0">
                <a:spAutoFit/>
              </a:bodyPr>
              <a:lstStyle/>
              <a:p>
                <a14:m>
                  <m:oMath xmlns:m="http://schemas.openxmlformats.org/officeDocument/2006/math">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4</m:t>
                        </m:r>
                      </m:den>
                    </m:f>
                  </m:oMath>
                </a14:m>
                <a:r>
                  <a:rPr lang="en-US" dirty="0"/>
                  <a:t> </a:t>
                </a:r>
              </a:p>
            </p:txBody>
          </p:sp>
        </mc:Choice>
        <mc:Fallback>
          <p:sp>
            <p:nvSpPr>
              <p:cNvPr id="42" name="TextBox 41">
                <a:extLst>
                  <a:ext uri="{FF2B5EF4-FFF2-40B4-BE49-F238E27FC236}">
                    <a16:creationId xmlns:a16="http://schemas.microsoft.com/office/drawing/2014/main" id="{1BEF2581-2DB8-8204-6FFD-EAA66E317146}"/>
                  </a:ext>
                </a:extLst>
              </p:cNvPr>
              <p:cNvSpPr txBox="1">
                <a:spLocks noRot="1" noChangeAspect="1" noMove="1" noResize="1" noEditPoints="1" noAdjustHandles="1" noChangeArrowheads="1" noChangeShapeType="1" noTextEdit="1"/>
              </p:cNvSpPr>
              <p:nvPr/>
            </p:nvSpPr>
            <p:spPr>
              <a:xfrm>
                <a:off x="9680715" y="2276935"/>
                <a:ext cx="452368" cy="483466"/>
              </a:xfrm>
              <a:prstGeom prst="rect">
                <a:avLst/>
              </a:prstGeom>
              <a:blipFill>
                <a:blip r:embed="rId18"/>
                <a:stretch>
                  <a:fillRect b="-126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83D6971F-E609-3F2C-286D-542C662FF920}"/>
                  </a:ext>
                </a:extLst>
              </p:cNvPr>
              <p:cNvSpPr txBox="1"/>
              <p:nvPr/>
            </p:nvSpPr>
            <p:spPr>
              <a:xfrm>
                <a:off x="2399383" y="3292879"/>
                <a:ext cx="104740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𝜓</m:t>
                          </m:r>
                        </m:e>
                        <m:e>
                          <m:r>
                            <a:rPr lang="en-US" sz="2000" b="0" i="1" smtClean="0">
                              <a:latin typeface="Cambria Math" panose="02040503050406030204" pitchFamily="18" charset="0"/>
                            </a:rPr>
                            <m:t>𝜙</m:t>
                          </m:r>
                        </m:e>
                      </m:d>
                    </m:oMath>
                  </m:oMathPara>
                </a14:m>
                <a:endParaRPr lang="en-US" sz="2000" dirty="0"/>
              </a:p>
            </p:txBody>
          </p:sp>
        </mc:Choice>
        <mc:Fallback>
          <p:sp>
            <p:nvSpPr>
              <p:cNvPr id="44" name="TextBox 43">
                <a:extLst>
                  <a:ext uri="{FF2B5EF4-FFF2-40B4-BE49-F238E27FC236}">
                    <a16:creationId xmlns:a16="http://schemas.microsoft.com/office/drawing/2014/main" id="{83D6971F-E609-3F2C-286D-542C662FF920}"/>
                  </a:ext>
                </a:extLst>
              </p:cNvPr>
              <p:cNvSpPr txBox="1">
                <a:spLocks noRot="1" noChangeAspect="1" noMove="1" noResize="1" noEditPoints="1" noAdjustHandles="1" noChangeArrowheads="1" noChangeShapeType="1" noTextEdit="1"/>
              </p:cNvSpPr>
              <p:nvPr/>
            </p:nvSpPr>
            <p:spPr>
              <a:xfrm>
                <a:off x="2399383" y="3292879"/>
                <a:ext cx="1047402" cy="400110"/>
              </a:xfrm>
              <a:prstGeom prst="rect">
                <a:avLst/>
              </a:prstGeom>
              <a:blipFill>
                <a:blip r:embed="rId19"/>
                <a:stretch>
                  <a:fillRect b="-13636"/>
                </a:stretch>
              </a:blipFill>
            </p:spPr>
            <p:txBody>
              <a:bodyPr/>
              <a:lstStyle/>
              <a:p>
                <a:r>
                  <a:rPr lang="en-US">
                    <a:noFill/>
                  </a:rPr>
                  <a:t> </a:t>
                </a:r>
              </a:p>
            </p:txBody>
          </p:sp>
        </mc:Fallback>
      </mc:AlternateContent>
    </p:spTree>
    <p:extLst>
      <p:ext uri="{BB962C8B-B14F-4D97-AF65-F5344CB8AC3E}">
        <p14:creationId xmlns:p14="http://schemas.microsoft.com/office/powerpoint/2010/main" val="31903659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6FD76834-9592-89FF-B530-99764E486868}"/>
                  </a:ext>
                </a:extLst>
              </p:cNvPr>
              <p:cNvSpPr txBox="1"/>
              <p:nvPr/>
            </p:nvSpPr>
            <p:spPr>
              <a:xfrm>
                <a:off x="2042999" y="1730829"/>
                <a:ext cx="8106002" cy="1200329"/>
              </a:xfrm>
              <a:prstGeom prst="rect">
                <a:avLst/>
              </a:prstGeom>
              <a:noFill/>
            </p:spPr>
            <p:txBody>
              <a:bodyPr wrap="none" rtlCol="0">
                <a:spAutoFit/>
              </a:bodyPr>
              <a:lstStyle/>
              <a:p>
                <a:r>
                  <a:rPr lang="en-US" sz="7200" dirty="0">
                    <a:solidFill>
                      <a:srgbClr val="548235"/>
                    </a:solidFill>
                  </a:rPr>
                  <a:t>Born rule </a:t>
                </a:r>
                <a14:m>
                  <m:oMath xmlns:m="http://schemas.openxmlformats.org/officeDocument/2006/math">
                    <m:r>
                      <a:rPr lang="en-US" sz="7200" i="1">
                        <a:solidFill>
                          <a:srgbClr val="548235"/>
                        </a:solidFill>
                        <a:latin typeface="Cambria Math" panose="02040503050406030204" pitchFamily="18" charset="0"/>
                        <a:ea typeface="Cambria Math" panose="02040503050406030204" pitchFamily="18" charset="0"/>
                      </a:rPr>
                      <m:t>⟺</m:t>
                    </m:r>
                  </m:oMath>
                </a14:m>
                <a:r>
                  <a:rPr lang="en-US" sz="7200" dirty="0">
                    <a:solidFill>
                      <a:srgbClr val="548235"/>
                    </a:solidFill>
                  </a:rPr>
                  <a:t> Entropy</a:t>
                </a:r>
              </a:p>
            </p:txBody>
          </p:sp>
        </mc:Choice>
        <mc:Fallback>
          <p:sp>
            <p:nvSpPr>
              <p:cNvPr id="2" name="TextBox 1">
                <a:extLst>
                  <a:ext uri="{FF2B5EF4-FFF2-40B4-BE49-F238E27FC236}">
                    <a16:creationId xmlns:a16="http://schemas.microsoft.com/office/drawing/2014/main" id="{6FD76834-9592-89FF-B530-99764E486868}"/>
                  </a:ext>
                </a:extLst>
              </p:cNvPr>
              <p:cNvSpPr txBox="1">
                <a:spLocks noRot="1" noChangeAspect="1" noMove="1" noResize="1" noEditPoints="1" noAdjustHandles="1" noChangeArrowheads="1" noChangeShapeType="1" noTextEdit="1"/>
              </p:cNvSpPr>
              <p:nvPr/>
            </p:nvSpPr>
            <p:spPr>
              <a:xfrm>
                <a:off x="2042999" y="1730829"/>
                <a:ext cx="8106002" cy="1200329"/>
              </a:xfrm>
              <a:prstGeom prst="rect">
                <a:avLst/>
              </a:prstGeom>
              <a:blipFill>
                <a:blip r:embed="rId2"/>
                <a:stretch>
                  <a:fillRect l="-5639" t="-19289" r="-4737" b="-41117"/>
                </a:stretch>
              </a:blipFill>
            </p:spPr>
            <p:txBody>
              <a:bodyPr/>
              <a:lstStyle/>
              <a:p>
                <a:r>
                  <a:rPr lang="en-US">
                    <a:noFill/>
                  </a:rPr>
                  <a:t> </a:t>
                </a:r>
              </a:p>
            </p:txBody>
          </p:sp>
        </mc:Fallback>
      </mc:AlternateContent>
    </p:spTree>
    <p:extLst>
      <p:ext uri="{BB962C8B-B14F-4D97-AF65-F5344CB8AC3E}">
        <p14:creationId xmlns:p14="http://schemas.microsoft.com/office/powerpoint/2010/main" val="1991951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8897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A336E2B6-47AE-26E9-46BB-4F99E8117303}"/>
                  </a:ext>
                </a:extLst>
              </p:cNvPr>
              <p:cNvSpPr txBox="1"/>
              <p:nvPr/>
            </p:nvSpPr>
            <p:spPr>
              <a:xfrm>
                <a:off x="741542" y="594151"/>
                <a:ext cx="11635429" cy="830997"/>
              </a:xfrm>
              <a:prstGeom prst="rect">
                <a:avLst/>
              </a:prstGeom>
              <a:noFill/>
            </p:spPr>
            <p:txBody>
              <a:bodyPr wrap="none" rtlCol="0">
                <a:spAutoFit/>
              </a:bodyPr>
              <a:lstStyle/>
              <a:p>
                <a:r>
                  <a:rPr lang="en-US" sz="4800" dirty="0">
                    <a:solidFill>
                      <a:schemeClr val="accent6">
                        <a:lumMod val="75000"/>
                      </a:schemeClr>
                    </a:solidFill>
                  </a:rPr>
                  <a:t>Let’s find the relationship between </a:t>
                </a:r>
                <a14:m>
                  <m:oMath xmlns:m="http://schemas.openxmlformats.org/officeDocument/2006/math">
                    <m:r>
                      <a:rPr lang="en-US" sz="4800" b="0" i="1" smtClean="0">
                        <a:solidFill>
                          <a:schemeClr val="accent6">
                            <a:lumMod val="75000"/>
                          </a:schemeClr>
                        </a:solidFill>
                        <a:latin typeface="Cambria Math" panose="02040503050406030204" pitchFamily="18" charset="0"/>
                      </a:rPr>
                      <m:t>𝜃</m:t>
                    </m:r>
                  </m:oMath>
                </a14:m>
                <a:r>
                  <a:rPr lang="en-US" sz="4800" dirty="0">
                    <a:solidFill>
                      <a:schemeClr val="accent6">
                        <a:lumMod val="75000"/>
                      </a:schemeClr>
                    </a:solidFill>
                  </a:rPr>
                  <a:t> prove it!</a:t>
                </a:r>
              </a:p>
            </p:txBody>
          </p:sp>
        </mc:Choice>
        <mc:Fallback>
          <p:sp>
            <p:nvSpPr>
              <p:cNvPr id="18" name="TextBox 17">
                <a:extLst>
                  <a:ext uri="{FF2B5EF4-FFF2-40B4-BE49-F238E27FC236}">
                    <a16:creationId xmlns:a16="http://schemas.microsoft.com/office/drawing/2014/main" id="{A336E2B6-47AE-26E9-46BB-4F99E8117303}"/>
                  </a:ext>
                </a:extLst>
              </p:cNvPr>
              <p:cNvSpPr txBox="1">
                <a:spLocks noRot="1" noChangeAspect="1" noMove="1" noResize="1" noEditPoints="1" noAdjustHandles="1" noChangeArrowheads="1" noChangeShapeType="1" noTextEdit="1"/>
              </p:cNvSpPr>
              <p:nvPr/>
            </p:nvSpPr>
            <p:spPr>
              <a:xfrm>
                <a:off x="741542" y="594151"/>
                <a:ext cx="11635429" cy="830997"/>
              </a:xfrm>
              <a:prstGeom prst="rect">
                <a:avLst/>
              </a:prstGeom>
              <a:blipFill>
                <a:blip r:embed="rId2"/>
                <a:stretch>
                  <a:fillRect l="-2411" t="-16058" r="-1468" b="-3795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C9E7648B-83A9-7A52-CED2-F7CEAB5AD520}"/>
                  </a:ext>
                </a:extLst>
              </p:cNvPr>
              <p:cNvSpPr txBox="1"/>
              <p:nvPr/>
            </p:nvSpPr>
            <p:spPr>
              <a:xfrm>
                <a:off x="1759847" y="2326708"/>
                <a:ext cx="8226163" cy="923330"/>
              </a:xfrm>
              <a:prstGeom prst="rect">
                <a:avLst/>
              </a:prstGeom>
              <a:noFill/>
            </p:spPr>
            <p:txBody>
              <a:bodyPr wrap="none" rtlCol="0">
                <a:spAutoFit/>
              </a:bodyPr>
              <a:lstStyle/>
              <a:p>
                <a:pPr algn="ctr"/>
                <a14:m>
                  <m:oMathPara xmlns:m="http://schemas.openxmlformats.org/officeDocument/2006/math">
                    <m:oMathParaPr>
                      <m:jc m:val="centerGroup"/>
                    </m:oMathParaPr>
                    <m:oMath xmlns:m="http://schemas.openxmlformats.org/officeDocument/2006/math">
                      <m:r>
                        <a:rPr lang="en-US" sz="5400" b="0" i="1" smtClean="0">
                          <a:latin typeface="Cambria Math" panose="02040503050406030204" pitchFamily="18" charset="0"/>
                        </a:rPr>
                        <m:t>𝑝</m:t>
                      </m:r>
                      <m:d>
                        <m:dPr>
                          <m:ctrlPr>
                            <a:rPr lang="en-US" sz="5400" b="0" i="1" smtClean="0">
                              <a:latin typeface="Cambria Math" panose="02040503050406030204" pitchFamily="18" charset="0"/>
                            </a:rPr>
                          </m:ctrlPr>
                        </m:dPr>
                        <m:e>
                          <m:r>
                            <a:rPr lang="en-US" sz="5400" b="0" i="1" smtClean="0">
                              <a:latin typeface="Cambria Math" panose="02040503050406030204" pitchFamily="18" charset="0"/>
                            </a:rPr>
                            <m:t>𝜓</m:t>
                          </m:r>
                        </m:e>
                        <m:e>
                          <m:r>
                            <a:rPr lang="en-US" sz="5400" b="0" i="1" smtClean="0">
                              <a:latin typeface="Cambria Math" panose="02040503050406030204" pitchFamily="18" charset="0"/>
                            </a:rPr>
                            <m:t>𝜙</m:t>
                          </m:r>
                        </m:e>
                      </m:d>
                      <m:r>
                        <a:rPr lang="en-US" sz="5400" i="1">
                          <a:latin typeface="Cambria Math" panose="02040503050406030204" pitchFamily="18" charset="0"/>
                          <a:ea typeface="Cambria Math" panose="02040503050406030204" pitchFamily="18" charset="0"/>
                        </a:rPr>
                        <m:t>⟺</m:t>
                      </m:r>
                      <m:r>
                        <a:rPr lang="en-US" sz="5400" i="1">
                          <a:latin typeface="Cambria Math" panose="02040503050406030204" pitchFamily="18" charset="0"/>
                          <a:ea typeface="Cambria Math" panose="02040503050406030204" pitchFamily="18" charset="0"/>
                        </a:rPr>
                        <m:t>𝜃</m:t>
                      </m:r>
                      <m:r>
                        <a:rPr lang="en-US" sz="5400" i="1">
                          <a:latin typeface="Cambria Math" panose="02040503050406030204" pitchFamily="18" charset="0"/>
                          <a:ea typeface="Cambria Math" panose="02040503050406030204" pitchFamily="18" charset="0"/>
                        </a:rPr>
                        <m:t>⟺</m:t>
                      </m:r>
                      <m:r>
                        <a:rPr lang="en-US" sz="5400" b="0" i="1" smtClean="0">
                          <a:latin typeface="Cambria Math" panose="02040503050406030204" pitchFamily="18" charset="0"/>
                          <a:ea typeface="Cambria Math" panose="02040503050406030204" pitchFamily="18" charset="0"/>
                        </a:rPr>
                        <m:t>𝑟</m:t>
                      </m:r>
                      <m:r>
                        <a:rPr lang="en-US" sz="5400" i="1">
                          <a:latin typeface="Cambria Math" panose="02040503050406030204" pitchFamily="18" charset="0"/>
                          <a:ea typeface="Cambria Math" panose="02040503050406030204" pitchFamily="18" charset="0"/>
                        </a:rPr>
                        <m:t>⟺</m:t>
                      </m:r>
                      <m:r>
                        <a:rPr lang="en-US" sz="5400" b="0" i="1" smtClean="0">
                          <a:latin typeface="Cambria Math" panose="02040503050406030204" pitchFamily="18" charset="0"/>
                          <a:ea typeface="Cambria Math" panose="02040503050406030204" pitchFamily="18" charset="0"/>
                        </a:rPr>
                        <m:t>𝑆</m:t>
                      </m:r>
                      <m:d>
                        <m:dPr>
                          <m:ctrlPr>
                            <a:rPr lang="en-US" sz="5400" b="0" i="1" smtClean="0">
                              <a:latin typeface="Cambria Math" panose="02040503050406030204" pitchFamily="18" charset="0"/>
                              <a:ea typeface="Cambria Math" panose="02040503050406030204" pitchFamily="18" charset="0"/>
                            </a:rPr>
                          </m:ctrlPr>
                        </m:dPr>
                        <m:e>
                          <m:r>
                            <a:rPr lang="en-US" sz="5400" b="0" i="1" smtClean="0">
                              <a:latin typeface="Cambria Math" panose="02040503050406030204" pitchFamily="18" charset="0"/>
                              <a:ea typeface="Cambria Math" panose="02040503050406030204" pitchFamily="18" charset="0"/>
                            </a:rPr>
                            <m:t>𝜌</m:t>
                          </m:r>
                        </m:e>
                      </m:d>
                    </m:oMath>
                  </m:oMathPara>
                </a14:m>
                <a:endParaRPr lang="en-US" sz="5400" dirty="0"/>
              </a:p>
            </p:txBody>
          </p:sp>
        </mc:Choice>
        <mc:Fallback>
          <p:sp>
            <p:nvSpPr>
              <p:cNvPr id="5" name="TextBox 4">
                <a:extLst>
                  <a:ext uri="{FF2B5EF4-FFF2-40B4-BE49-F238E27FC236}">
                    <a16:creationId xmlns:a16="http://schemas.microsoft.com/office/drawing/2014/main" id="{C9E7648B-83A9-7A52-CED2-F7CEAB5AD520}"/>
                  </a:ext>
                </a:extLst>
              </p:cNvPr>
              <p:cNvSpPr txBox="1">
                <a:spLocks noRot="1" noChangeAspect="1" noMove="1" noResize="1" noEditPoints="1" noAdjustHandles="1" noChangeArrowheads="1" noChangeShapeType="1" noTextEdit="1"/>
              </p:cNvSpPr>
              <p:nvPr/>
            </p:nvSpPr>
            <p:spPr>
              <a:xfrm>
                <a:off x="1759847" y="2326708"/>
                <a:ext cx="8226163" cy="92333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423421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EE211-52C9-B9CB-A112-097DFE23A17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39D47A7-CDB7-5471-EBF9-57A436CCB356}"/>
              </a:ext>
            </a:extLst>
          </p:cNvPr>
          <p:cNvSpPr/>
          <p:nvPr/>
        </p:nvSpPr>
        <p:spPr>
          <a:xfrm rot="19598101">
            <a:off x="2980286" y="2219742"/>
            <a:ext cx="1224349" cy="1224349"/>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7" name="Rectangle 6">
            <a:extLst>
              <a:ext uri="{FF2B5EF4-FFF2-40B4-BE49-F238E27FC236}">
                <a16:creationId xmlns:a16="http://schemas.microsoft.com/office/drawing/2014/main" id="{1AC42096-B8CA-A214-4B39-D1B0D4F8AC6B}"/>
              </a:ext>
            </a:extLst>
          </p:cNvPr>
          <p:cNvSpPr/>
          <p:nvPr/>
        </p:nvSpPr>
        <p:spPr>
          <a:xfrm>
            <a:off x="1957178" y="3694472"/>
            <a:ext cx="2042713" cy="2922705"/>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sp>
        <p:nvSpPr>
          <p:cNvPr id="10" name="Rectangle 9">
            <a:extLst>
              <a:ext uri="{FF2B5EF4-FFF2-40B4-BE49-F238E27FC236}">
                <a16:creationId xmlns:a16="http://schemas.microsoft.com/office/drawing/2014/main" id="{FD3641AE-DD83-98EB-FC30-950A25336E10}"/>
              </a:ext>
            </a:extLst>
          </p:cNvPr>
          <p:cNvSpPr/>
          <p:nvPr/>
        </p:nvSpPr>
        <p:spPr>
          <a:xfrm>
            <a:off x="3417570" y="3686712"/>
            <a:ext cx="1015611" cy="1478038"/>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p:cxnSp>
        <p:nvCxnSpPr>
          <p:cNvPr id="13" name="Straight Connector 12">
            <a:extLst>
              <a:ext uri="{FF2B5EF4-FFF2-40B4-BE49-F238E27FC236}">
                <a16:creationId xmlns:a16="http://schemas.microsoft.com/office/drawing/2014/main" id="{50E42FE5-45C0-533D-9604-08AD3A3DCD59}"/>
              </a:ext>
            </a:extLst>
          </p:cNvPr>
          <p:cNvCxnSpPr>
            <a:cxnSpLocks/>
          </p:cNvCxnSpPr>
          <p:nvPr/>
        </p:nvCxnSpPr>
        <p:spPr>
          <a:xfrm flipV="1">
            <a:off x="2203280" y="2874625"/>
            <a:ext cx="2438766" cy="1614525"/>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27AADA78-0D71-54F8-29DF-46956FD06D6F}"/>
              </a:ext>
            </a:extLst>
          </p:cNvPr>
          <p:cNvSpPr/>
          <p:nvPr/>
        </p:nvSpPr>
        <p:spPr>
          <a:xfrm>
            <a:off x="1955254" y="2208734"/>
            <a:ext cx="2924630" cy="2956016"/>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4" name="Straight Connector 3">
            <a:extLst>
              <a:ext uri="{FF2B5EF4-FFF2-40B4-BE49-F238E27FC236}">
                <a16:creationId xmlns:a16="http://schemas.microsoft.com/office/drawing/2014/main" id="{0C00810C-91AB-2728-BDD5-2CF1536332D5}"/>
              </a:ext>
            </a:extLst>
          </p:cNvPr>
          <p:cNvCxnSpPr>
            <a:stCxn id="2" idx="2"/>
            <a:endCxn id="2" idx="6"/>
          </p:cNvCxnSpPr>
          <p:nvPr/>
        </p:nvCxnSpPr>
        <p:spPr>
          <a:xfrm>
            <a:off x="1955254" y="3686742"/>
            <a:ext cx="292463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A0D00DC4-B848-6EBC-C5DF-1DD5CD9C8C51}"/>
              </a:ext>
            </a:extLst>
          </p:cNvPr>
          <p:cNvCxnSpPr>
            <a:cxnSpLocks/>
            <a:endCxn id="2" idx="6"/>
          </p:cNvCxnSpPr>
          <p:nvPr/>
        </p:nvCxnSpPr>
        <p:spPr>
          <a:xfrm>
            <a:off x="3995099" y="2325185"/>
            <a:ext cx="884785" cy="136155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5029283-F6E5-4689-9601-FD69FE4DE942}"/>
              </a:ext>
            </a:extLst>
          </p:cNvPr>
          <p:cNvCxnSpPr>
            <a:cxnSpLocks/>
          </p:cNvCxnSpPr>
          <p:nvPr/>
        </p:nvCxnSpPr>
        <p:spPr>
          <a:xfrm flipV="1">
            <a:off x="3417569" y="3000930"/>
            <a:ext cx="1033690" cy="68432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ADD5179-D767-1AED-1FC6-D47F14BE0F45}"/>
                  </a:ext>
                </a:extLst>
              </p:cNvPr>
              <p:cNvSpPr txBox="1"/>
              <p:nvPr/>
            </p:nvSpPr>
            <p:spPr>
              <a:xfrm>
                <a:off x="4852135" y="3507602"/>
                <a:ext cx="40735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𝑃</m:t>
                      </m:r>
                    </m:oMath>
                  </m:oMathPara>
                </a14:m>
                <a:endParaRPr lang="en-US" sz="2000" dirty="0"/>
              </a:p>
            </p:txBody>
          </p:sp>
        </mc:Choice>
        <mc:Fallback xmlns="">
          <p:sp>
            <p:nvSpPr>
              <p:cNvPr id="12" name="TextBox 11">
                <a:extLst>
                  <a:ext uri="{FF2B5EF4-FFF2-40B4-BE49-F238E27FC236}">
                    <a16:creationId xmlns:a16="http://schemas.microsoft.com/office/drawing/2014/main" id="{7ADD5179-D767-1AED-1FC6-D47F14BE0F45}"/>
                  </a:ext>
                </a:extLst>
              </p:cNvPr>
              <p:cNvSpPr txBox="1">
                <a:spLocks noRot="1" noChangeAspect="1" noMove="1" noResize="1" noEditPoints="1" noAdjustHandles="1" noChangeArrowheads="1" noChangeShapeType="1" noTextEdit="1"/>
              </p:cNvSpPr>
              <p:nvPr/>
            </p:nvSpPr>
            <p:spPr>
              <a:xfrm>
                <a:off x="4852135" y="3507602"/>
                <a:ext cx="407356" cy="40011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F307847-3D1E-B0B3-4F79-91D7BB0CDD18}"/>
                  </a:ext>
                </a:extLst>
              </p:cNvPr>
              <p:cNvSpPr txBox="1"/>
              <p:nvPr/>
            </p:nvSpPr>
            <p:spPr>
              <a:xfrm>
                <a:off x="3862398" y="1976614"/>
                <a:ext cx="40947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𝐹</m:t>
                      </m:r>
                    </m:oMath>
                  </m:oMathPara>
                </a14:m>
                <a:endParaRPr lang="en-US" sz="2000" dirty="0"/>
              </a:p>
            </p:txBody>
          </p:sp>
        </mc:Choice>
        <mc:Fallback xmlns="">
          <p:sp>
            <p:nvSpPr>
              <p:cNvPr id="14" name="TextBox 13">
                <a:extLst>
                  <a:ext uri="{FF2B5EF4-FFF2-40B4-BE49-F238E27FC236}">
                    <a16:creationId xmlns:a16="http://schemas.microsoft.com/office/drawing/2014/main" id="{4F307847-3D1E-B0B3-4F79-91D7BB0CDD18}"/>
                  </a:ext>
                </a:extLst>
              </p:cNvPr>
              <p:cNvSpPr txBox="1">
                <a:spLocks noRot="1" noChangeAspect="1" noMove="1" noResize="1" noEditPoints="1" noAdjustHandles="1" noChangeArrowheads="1" noChangeShapeType="1" noTextEdit="1"/>
              </p:cNvSpPr>
              <p:nvPr/>
            </p:nvSpPr>
            <p:spPr>
              <a:xfrm>
                <a:off x="3862398" y="1976614"/>
                <a:ext cx="409471" cy="40011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0DEA38B-BEEA-B23F-FE0E-68923BF5EF38}"/>
                  </a:ext>
                </a:extLst>
              </p:cNvPr>
              <p:cNvSpPr txBox="1"/>
              <p:nvPr/>
            </p:nvSpPr>
            <p:spPr>
              <a:xfrm>
                <a:off x="4333801" y="2635166"/>
                <a:ext cx="466666"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𝑀</m:t>
                      </m:r>
                    </m:oMath>
                  </m:oMathPara>
                </a14:m>
                <a:endParaRPr lang="en-US" sz="2000" dirty="0"/>
              </a:p>
            </p:txBody>
          </p:sp>
        </mc:Choice>
        <mc:Fallback xmlns="">
          <p:sp>
            <p:nvSpPr>
              <p:cNvPr id="16" name="TextBox 15">
                <a:extLst>
                  <a:ext uri="{FF2B5EF4-FFF2-40B4-BE49-F238E27FC236}">
                    <a16:creationId xmlns:a16="http://schemas.microsoft.com/office/drawing/2014/main" id="{70DEA38B-BEEA-B23F-FE0E-68923BF5EF38}"/>
                  </a:ext>
                </a:extLst>
              </p:cNvPr>
              <p:cNvSpPr txBox="1">
                <a:spLocks noRot="1" noChangeAspect="1" noMove="1" noResize="1" noEditPoints="1" noAdjustHandles="1" noChangeArrowheads="1" noChangeShapeType="1" noTextEdit="1"/>
              </p:cNvSpPr>
              <p:nvPr/>
            </p:nvSpPr>
            <p:spPr>
              <a:xfrm>
                <a:off x="4333801" y="2635166"/>
                <a:ext cx="466666" cy="40011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2EB2357-FDEF-BAA7-F75F-32D7E208F8E1}"/>
                  </a:ext>
                </a:extLst>
              </p:cNvPr>
              <p:cNvSpPr txBox="1"/>
              <p:nvPr/>
            </p:nvSpPr>
            <p:spPr>
              <a:xfrm>
                <a:off x="3888219" y="3611509"/>
                <a:ext cx="405944"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𝐶</m:t>
                      </m:r>
                    </m:oMath>
                  </m:oMathPara>
                </a14:m>
                <a:endParaRPr lang="en-US" sz="2000" dirty="0"/>
              </a:p>
            </p:txBody>
          </p:sp>
        </mc:Choice>
        <mc:Fallback xmlns="">
          <p:sp>
            <p:nvSpPr>
              <p:cNvPr id="19" name="TextBox 18">
                <a:extLst>
                  <a:ext uri="{FF2B5EF4-FFF2-40B4-BE49-F238E27FC236}">
                    <a16:creationId xmlns:a16="http://schemas.microsoft.com/office/drawing/2014/main" id="{A2EB2357-FDEF-BAA7-F75F-32D7E208F8E1}"/>
                  </a:ext>
                </a:extLst>
              </p:cNvPr>
              <p:cNvSpPr txBox="1">
                <a:spLocks noRot="1" noChangeAspect="1" noMove="1" noResize="1" noEditPoints="1" noAdjustHandles="1" noChangeArrowheads="1" noChangeShapeType="1" noTextEdit="1"/>
              </p:cNvSpPr>
              <p:nvPr/>
            </p:nvSpPr>
            <p:spPr>
              <a:xfrm>
                <a:off x="3888219" y="3611509"/>
                <a:ext cx="405944" cy="400110"/>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F1253115-7673-5025-7C1A-8F356A157A38}"/>
              </a:ext>
            </a:extLst>
          </p:cNvPr>
          <p:cNvCxnSpPr>
            <a:cxnSpLocks/>
          </p:cNvCxnSpPr>
          <p:nvPr/>
        </p:nvCxnSpPr>
        <p:spPr>
          <a:xfrm flipV="1">
            <a:off x="3417569" y="2338847"/>
            <a:ext cx="571552" cy="1343040"/>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8F284C7A-490D-DCA1-1A80-1041987D2BE6}"/>
              </a:ext>
            </a:extLst>
          </p:cNvPr>
          <p:cNvSpPr/>
          <p:nvPr/>
        </p:nvSpPr>
        <p:spPr>
          <a:xfrm>
            <a:off x="4417925" y="2983737"/>
            <a:ext cx="46249" cy="46745"/>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000"/>
          </a:p>
        </p:txBody>
      </p:sp>
      <p:cxnSp>
        <p:nvCxnSpPr>
          <p:cNvPr id="54" name="Straight Connector 53">
            <a:extLst>
              <a:ext uri="{FF2B5EF4-FFF2-40B4-BE49-F238E27FC236}">
                <a16:creationId xmlns:a16="http://schemas.microsoft.com/office/drawing/2014/main" id="{AE813FE5-13B8-BD54-E66B-0D05865A384F}"/>
              </a:ext>
            </a:extLst>
          </p:cNvPr>
          <p:cNvCxnSpPr>
            <a:cxnSpLocks/>
          </p:cNvCxnSpPr>
          <p:nvPr/>
        </p:nvCxnSpPr>
        <p:spPr>
          <a:xfrm>
            <a:off x="3998657" y="2338847"/>
            <a:ext cx="1235" cy="1355626"/>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DE8E31B-D3E6-43DF-A397-6E5A94C60155}"/>
                  </a:ext>
                </a:extLst>
              </p:cNvPr>
              <p:cNvSpPr txBox="1"/>
              <p:nvPr/>
            </p:nvSpPr>
            <p:spPr>
              <a:xfrm>
                <a:off x="1548893" y="3468793"/>
                <a:ext cx="423001"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𝑄</m:t>
                      </m:r>
                    </m:oMath>
                  </m:oMathPara>
                </a14:m>
                <a:endParaRPr lang="en-US" sz="2000" dirty="0"/>
              </a:p>
            </p:txBody>
          </p:sp>
        </mc:Choice>
        <mc:Fallback xmlns="">
          <p:sp>
            <p:nvSpPr>
              <p:cNvPr id="57" name="TextBox 56">
                <a:extLst>
                  <a:ext uri="{FF2B5EF4-FFF2-40B4-BE49-F238E27FC236}">
                    <a16:creationId xmlns:a16="http://schemas.microsoft.com/office/drawing/2014/main" id="{5DE8E31B-D3E6-43DF-A397-6E5A94C60155}"/>
                  </a:ext>
                </a:extLst>
              </p:cNvPr>
              <p:cNvSpPr txBox="1">
                <a:spLocks noRot="1" noChangeAspect="1" noMove="1" noResize="1" noEditPoints="1" noAdjustHandles="1" noChangeArrowheads="1" noChangeShapeType="1" noTextEdit="1"/>
              </p:cNvSpPr>
              <p:nvPr/>
            </p:nvSpPr>
            <p:spPr>
              <a:xfrm>
                <a:off x="1548893" y="3468793"/>
                <a:ext cx="423001" cy="400110"/>
              </a:xfrm>
              <a:prstGeom prst="rect">
                <a:avLst/>
              </a:prstGeom>
              <a:blipFill>
                <a:blip r:embed="rId6"/>
                <a:stretch>
                  <a:fillRect b="-909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F1EF5F9B-5E58-44CC-FC60-F8730B4DA8BA}"/>
                  </a:ext>
                </a:extLst>
              </p:cNvPr>
              <p:cNvSpPr txBox="1"/>
              <p:nvPr/>
            </p:nvSpPr>
            <p:spPr>
              <a:xfrm>
                <a:off x="3215940" y="3630679"/>
                <a:ext cx="421782"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𝑂</m:t>
                      </m:r>
                    </m:oMath>
                  </m:oMathPara>
                </a14:m>
                <a:endParaRPr lang="en-US" sz="2000" dirty="0"/>
              </a:p>
            </p:txBody>
          </p:sp>
        </mc:Choice>
        <mc:Fallback xmlns="">
          <p:sp>
            <p:nvSpPr>
              <p:cNvPr id="58" name="TextBox 57">
                <a:extLst>
                  <a:ext uri="{FF2B5EF4-FFF2-40B4-BE49-F238E27FC236}">
                    <a16:creationId xmlns:a16="http://schemas.microsoft.com/office/drawing/2014/main" id="{F1EF5F9B-5E58-44CC-FC60-F8730B4DA8BA}"/>
                  </a:ext>
                </a:extLst>
              </p:cNvPr>
              <p:cNvSpPr txBox="1">
                <a:spLocks noRot="1" noChangeAspect="1" noMove="1" noResize="1" noEditPoints="1" noAdjustHandles="1" noChangeArrowheads="1" noChangeShapeType="1" noTextEdit="1"/>
              </p:cNvSpPr>
              <p:nvPr/>
            </p:nvSpPr>
            <p:spPr>
              <a:xfrm>
                <a:off x="3215940" y="3630679"/>
                <a:ext cx="421782" cy="400110"/>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8B24F9CA-BFB6-BF96-ADC2-34BE9C7B4889}"/>
              </a:ext>
            </a:extLst>
          </p:cNvPr>
          <p:cNvCxnSpPr>
            <a:cxnSpLocks/>
          </p:cNvCxnSpPr>
          <p:nvPr/>
        </p:nvCxnSpPr>
        <p:spPr>
          <a:xfrm>
            <a:off x="1955254" y="3686742"/>
            <a:ext cx="204463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5D26CE5-F1CD-CB10-717F-A0684F1E6609}"/>
                  </a:ext>
                </a:extLst>
              </p:cNvPr>
              <p:cNvSpPr txBox="1"/>
              <p:nvPr/>
            </p:nvSpPr>
            <p:spPr>
              <a:xfrm>
                <a:off x="3721345" y="2981017"/>
                <a:ext cx="369845"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𝑟</m:t>
                      </m:r>
                    </m:oMath>
                  </m:oMathPara>
                </a14:m>
                <a:endParaRPr lang="en-US" sz="2000" dirty="0"/>
              </a:p>
            </p:txBody>
          </p:sp>
        </mc:Choice>
        <mc:Fallback xmlns="">
          <p:sp>
            <p:nvSpPr>
              <p:cNvPr id="17" name="TextBox 16">
                <a:extLst>
                  <a:ext uri="{FF2B5EF4-FFF2-40B4-BE49-F238E27FC236}">
                    <a16:creationId xmlns:a16="http://schemas.microsoft.com/office/drawing/2014/main" id="{95D26CE5-F1CD-CB10-717F-A0684F1E6609}"/>
                  </a:ext>
                </a:extLst>
              </p:cNvPr>
              <p:cNvSpPr txBox="1">
                <a:spLocks noRot="1" noChangeAspect="1" noMove="1" noResize="1" noEditPoints="1" noAdjustHandles="1" noChangeArrowheads="1" noChangeShapeType="1" noTextEdit="1"/>
              </p:cNvSpPr>
              <p:nvPr/>
            </p:nvSpPr>
            <p:spPr>
              <a:xfrm>
                <a:off x="3721345" y="2981017"/>
                <a:ext cx="369845" cy="40011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E94E842-349A-194B-E6F2-B00CAC088A6B}"/>
                  </a:ext>
                </a:extLst>
              </p:cNvPr>
              <p:cNvSpPr txBox="1"/>
              <p:nvPr/>
            </p:nvSpPr>
            <p:spPr>
              <a:xfrm>
                <a:off x="2938223" y="3292879"/>
                <a:ext cx="388183" cy="40011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𝑝</m:t>
                      </m:r>
                    </m:oMath>
                  </m:oMathPara>
                </a14:m>
                <a:endParaRPr lang="en-US" sz="2000" dirty="0"/>
              </a:p>
            </p:txBody>
          </p:sp>
        </mc:Choice>
        <mc:Fallback xmlns="">
          <p:sp>
            <p:nvSpPr>
              <p:cNvPr id="18" name="TextBox 17">
                <a:extLst>
                  <a:ext uri="{FF2B5EF4-FFF2-40B4-BE49-F238E27FC236}">
                    <a16:creationId xmlns:a16="http://schemas.microsoft.com/office/drawing/2014/main" id="{6E94E842-349A-194B-E6F2-B00CAC088A6B}"/>
                  </a:ext>
                </a:extLst>
              </p:cNvPr>
              <p:cNvSpPr txBox="1">
                <a:spLocks noRot="1" noChangeAspect="1" noMove="1" noResize="1" noEditPoints="1" noAdjustHandles="1" noChangeArrowheads="1" noChangeShapeType="1" noTextEdit="1"/>
              </p:cNvSpPr>
              <p:nvPr/>
            </p:nvSpPr>
            <p:spPr>
              <a:xfrm>
                <a:off x="2938223" y="3292879"/>
                <a:ext cx="388183" cy="400110"/>
              </a:xfrm>
              <a:prstGeom prst="rect">
                <a:avLst/>
              </a:prstGeom>
              <a:blipFill>
                <a:blip r:embed="rId9"/>
                <a:stretch>
                  <a:fillRect b="-7576"/>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01C99F26-26E6-ABF1-C5B8-1570322CF362}"/>
              </a:ext>
            </a:extLst>
          </p:cNvPr>
          <p:cNvCxnSpPr>
            <a:cxnSpLocks/>
            <a:stCxn id="2" idx="2"/>
          </p:cNvCxnSpPr>
          <p:nvPr/>
        </p:nvCxnSpPr>
        <p:spPr>
          <a:xfrm flipV="1">
            <a:off x="1955254" y="2326262"/>
            <a:ext cx="2039845" cy="1360479"/>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211901-D40F-940C-9231-478853AC1F49}"/>
              </a:ext>
            </a:extLst>
          </p:cNvPr>
          <p:cNvSpPr/>
          <p:nvPr/>
        </p:nvSpPr>
        <p:spPr>
          <a:xfrm rot="19598101">
            <a:off x="1080620" y="775504"/>
            <a:ext cx="2439889" cy="2439888"/>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400"/>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D8353E56-A4DE-A113-B811-CF77FED1523C}"/>
                  </a:ext>
                </a:extLst>
              </p:cNvPr>
              <p:cNvSpPr txBox="1"/>
              <p:nvPr/>
            </p:nvSpPr>
            <p:spPr>
              <a:xfrm>
                <a:off x="6324600" y="925002"/>
                <a:ext cx="219040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m:t>
                      </m:r>
                      <m:r>
                        <a:rPr lang="en-US" sz="2800" b="0" i="1" smtClean="0">
                          <a:latin typeface="Cambria Math" panose="02040503050406030204" pitchFamily="18" charset="0"/>
                        </a:rPr>
                        <m:t>𝑄𝐹𝑃</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90</m:t>
                          </m:r>
                        </m:e>
                        <m:sup>
                          <m:r>
                            <a:rPr lang="en-US" sz="2800" b="0" i="1" smtClean="0">
                              <a:latin typeface="Cambria Math" panose="02040503050406030204" pitchFamily="18" charset="0"/>
                            </a:rPr>
                            <m:t>∘</m:t>
                          </m:r>
                        </m:sup>
                      </m:sSup>
                    </m:oMath>
                  </m:oMathPara>
                </a14:m>
                <a:endParaRPr lang="en-US" sz="2800" dirty="0"/>
              </a:p>
            </p:txBody>
          </p:sp>
        </mc:Choice>
        <mc:Fallback xmlns="">
          <p:sp>
            <p:nvSpPr>
              <p:cNvPr id="15" name="TextBox 14">
                <a:extLst>
                  <a:ext uri="{FF2B5EF4-FFF2-40B4-BE49-F238E27FC236}">
                    <a16:creationId xmlns:a16="http://schemas.microsoft.com/office/drawing/2014/main" id="{D8353E56-A4DE-A113-B811-CF77FED1523C}"/>
                  </a:ext>
                </a:extLst>
              </p:cNvPr>
              <p:cNvSpPr txBox="1">
                <a:spLocks noRot="1" noChangeAspect="1" noMove="1" noResize="1" noEditPoints="1" noAdjustHandles="1" noChangeArrowheads="1" noChangeShapeType="1" noTextEdit="1"/>
              </p:cNvSpPr>
              <p:nvPr/>
            </p:nvSpPr>
            <p:spPr>
              <a:xfrm>
                <a:off x="6324600" y="925002"/>
                <a:ext cx="2190408" cy="523220"/>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5C35DFC-01F9-E319-0B73-D00FC5CC17AB}"/>
                  </a:ext>
                </a:extLst>
              </p:cNvPr>
              <p:cNvSpPr txBox="1"/>
              <p:nvPr/>
            </p:nvSpPr>
            <p:spPr>
              <a:xfrm>
                <a:off x="6395136" y="1685514"/>
                <a:ext cx="2593851"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𝑄</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𝐹</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𝑄𝐶</m:t>
                      </m:r>
                      <m:r>
                        <a:rPr lang="en-US" sz="2800" b="0" i="1" smtClean="0">
                          <a:latin typeface="Cambria Math" panose="02040503050406030204" pitchFamily="18" charset="0"/>
                        </a:rPr>
                        <m:t>⋅</m:t>
                      </m:r>
                      <m:r>
                        <a:rPr lang="en-US" sz="2800" b="0" i="1" smtClean="0">
                          <a:latin typeface="Cambria Math" panose="02040503050406030204" pitchFamily="18" charset="0"/>
                        </a:rPr>
                        <m:t>𝑄𝑃</m:t>
                      </m:r>
                    </m:oMath>
                  </m:oMathPara>
                </a14:m>
                <a:endParaRPr lang="en-US" sz="2800" dirty="0"/>
              </a:p>
            </p:txBody>
          </p:sp>
        </mc:Choice>
        <mc:Fallback xmlns="">
          <p:sp>
            <p:nvSpPr>
              <p:cNvPr id="20" name="TextBox 19">
                <a:extLst>
                  <a:ext uri="{FF2B5EF4-FFF2-40B4-BE49-F238E27FC236}">
                    <a16:creationId xmlns:a16="http://schemas.microsoft.com/office/drawing/2014/main" id="{95C35DFC-01F9-E319-0B73-D00FC5CC17AB}"/>
                  </a:ext>
                </a:extLst>
              </p:cNvPr>
              <p:cNvSpPr txBox="1">
                <a:spLocks noRot="1" noChangeAspect="1" noMove="1" noResize="1" noEditPoints="1" noAdjustHandles="1" noChangeArrowheads="1" noChangeShapeType="1" noTextEdit="1"/>
              </p:cNvSpPr>
              <p:nvPr/>
            </p:nvSpPr>
            <p:spPr>
              <a:xfrm>
                <a:off x="6395136" y="1685514"/>
                <a:ext cx="2593851" cy="523220"/>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4CEEDCC8-F7B9-3438-5749-2094416439D6}"/>
                  </a:ext>
                </a:extLst>
              </p:cNvPr>
              <p:cNvSpPr txBox="1"/>
              <p:nvPr/>
            </p:nvSpPr>
            <p:spPr>
              <a:xfrm>
                <a:off x="6395136" y="3707657"/>
                <a:ext cx="279506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US" sz="2800" smtClean="0"/>
                        <m:t>△</m:t>
                      </m:r>
                      <m:r>
                        <a:rPr lang="en-US" sz="2800" b="0" i="1" smtClean="0">
                          <a:latin typeface="Cambria Math" panose="02040503050406030204" pitchFamily="18" charset="0"/>
                          <a:ea typeface="Cambria Math" panose="02040503050406030204" pitchFamily="18" charset="0"/>
                        </a:rPr>
                        <m:t>𝑄𝐹𝑃</m:t>
                      </m:r>
                      <m:r>
                        <a:rPr lang="en-US" sz="2800" b="0" i="1" smtClean="0">
                          <a:latin typeface="Cambria Math" panose="02040503050406030204" pitchFamily="18" charset="0"/>
                          <a:ea typeface="Cambria Math" panose="02040503050406030204" pitchFamily="18" charset="0"/>
                        </a:rPr>
                        <m:t>∼</m:t>
                      </m:r>
                      <m:r>
                        <m:rPr>
                          <m:nor/>
                        </m:rPr>
                        <a:rPr lang="en-US" sz="2800"/>
                        <m:t>△</m:t>
                      </m:r>
                      <m:r>
                        <a:rPr lang="en-US" sz="2800" b="0" i="1" smtClean="0">
                          <a:latin typeface="Cambria Math" panose="02040503050406030204" pitchFamily="18" charset="0"/>
                          <a:ea typeface="Cambria Math" panose="02040503050406030204" pitchFamily="18" charset="0"/>
                        </a:rPr>
                        <m:t>𝑂𝑀</m:t>
                      </m:r>
                      <m:r>
                        <a:rPr lang="en-US" sz="2800" i="1">
                          <a:latin typeface="Cambria Math" panose="02040503050406030204" pitchFamily="18" charset="0"/>
                          <a:ea typeface="Cambria Math" panose="02040503050406030204" pitchFamily="18" charset="0"/>
                        </a:rPr>
                        <m:t>𝑃</m:t>
                      </m:r>
                    </m:oMath>
                  </m:oMathPara>
                </a14:m>
                <a:endParaRPr lang="en-US" sz="2800" dirty="0"/>
              </a:p>
            </p:txBody>
          </p:sp>
        </mc:Choice>
        <mc:Fallback xmlns="">
          <p:sp>
            <p:nvSpPr>
              <p:cNvPr id="21" name="TextBox 20">
                <a:extLst>
                  <a:ext uri="{FF2B5EF4-FFF2-40B4-BE49-F238E27FC236}">
                    <a16:creationId xmlns:a16="http://schemas.microsoft.com/office/drawing/2014/main" id="{4CEEDCC8-F7B9-3438-5749-2094416439D6}"/>
                  </a:ext>
                </a:extLst>
              </p:cNvPr>
              <p:cNvSpPr txBox="1">
                <a:spLocks noRot="1" noChangeAspect="1" noMove="1" noResize="1" noEditPoints="1" noAdjustHandles="1" noChangeArrowheads="1" noChangeShapeType="1" noTextEdit="1"/>
              </p:cNvSpPr>
              <p:nvPr/>
            </p:nvSpPr>
            <p:spPr>
              <a:xfrm>
                <a:off x="6395136" y="3707657"/>
                <a:ext cx="2795060" cy="523220"/>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4EB4E088-5E2A-C9E1-4AA6-DCDD762EE0F2}"/>
                  </a:ext>
                </a:extLst>
              </p:cNvPr>
              <p:cNvSpPr txBox="1"/>
              <p:nvPr/>
            </p:nvSpPr>
            <p:spPr>
              <a:xfrm>
                <a:off x="6724681" y="2497492"/>
                <a:ext cx="1921423" cy="523220"/>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𝐹𝑃</m:t>
                    </m:r>
                    <m:r>
                      <a:rPr lang="en-US" sz="2800" b="0" i="1" smtClean="0">
                        <a:latin typeface="Cambria Math" panose="02040503050406030204" pitchFamily="18" charset="0"/>
                      </a:rPr>
                      <m:t>=2</m:t>
                    </m:r>
                    <m:r>
                      <a:rPr lang="en-US" sz="2800" b="0" i="1" smtClean="0">
                        <a:latin typeface="Cambria Math" panose="02040503050406030204" pitchFamily="18" charset="0"/>
                      </a:rPr>
                      <m:t>𝑀𝑃</m:t>
                    </m:r>
                  </m:oMath>
                </a14:m>
                <a:r>
                  <a:rPr lang="en-US" sz="2800" dirty="0"/>
                  <a:t> </a:t>
                </a:r>
              </a:p>
            </p:txBody>
          </p:sp>
        </mc:Choice>
        <mc:Fallback xmlns="">
          <p:sp>
            <p:nvSpPr>
              <p:cNvPr id="24" name="TextBox 23">
                <a:extLst>
                  <a:ext uri="{FF2B5EF4-FFF2-40B4-BE49-F238E27FC236}">
                    <a16:creationId xmlns:a16="http://schemas.microsoft.com/office/drawing/2014/main" id="{4EB4E088-5E2A-C9E1-4AA6-DCDD762EE0F2}"/>
                  </a:ext>
                </a:extLst>
              </p:cNvPr>
              <p:cNvSpPr txBox="1">
                <a:spLocks noRot="1" noChangeAspect="1" noMove="1" noResize="1" noEditPoints="1" noAdjustHandles="1" noChangeArrowheads="1" noChangeShapeType="1" noTextEdit="1"/>
              </p:cNvSpPr>
              <p:nvPr/>
            </p:nvSpPr>
            <p:spPr>
              <a:xfrm>
                <a:off x="6724681" y="2497492"/>
                <a:ext cx="1921423" cy="523220"/>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94BE22A4-F3C2-B05B-5147-4B4ABEFADCA9}"/>
                  </a:ext>
                </a:extLst>
              </p:cNvPr>
              <p:cNvSpPr txBox="1"/>
              <p:nvPr/>
            </p:nvSpPr>
            <p:spPr>
              <a:xfrm>
                <a:off x="6878966" y="3136602"/>
                <a:ext cx="1879745" cy="523220"/>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𝑄𝑃</m:t>
                    </m:r>
                    <m:r>
                      <a:rPr lang="en-US" sz="2800" b="0" i="1" smtClean="0">
                        <a:latin typeface="Cambria Math" panose="02040503050406030204" pitchFamily="18" charset="0"/>
                      </a:rPr>
                      <m:t>=2</m:t>
                    </m:r>
                    <m:r>
                      <a:rPr lang="en-US" sz="2800" b="0" i="1" smtClean="0">
                        <a:latin typeface="Cambria Math" panose="02040503050406030204" pitchFamily="18" charset="0"/>
                      </a:rPr>
                      <m:t>𝑂𝑃</m:t>
                    </m:r>
                  </m:oMath>
                </a14:m>
                <a:r>
                  <a:rPr lang="en-US" sz="2800" dirty="0"/>
                  <a:t> </a:t>
                </a:r>
              </a:p>
            </p:txBody>
          </p:sp>
        </mc:Choice>
        <mc:Fallback xmlns="">
          <p:sp>
            <p:nvSpPr>
              <p:cNvPr id="26" name="TextBox 25">
                <a:extLst>
                  <a:ext uri="{FF2B5EF4-FFF2-40B4-BE49-F238E27FC236}">
                    <a16:creationId xmlns:a16="http://schemas.microsoft.com/office/drawing/2014/main" id="{94BE22A4-F3C2-B05B-5147-4B4ABEFADCA9}"/>
                  </a:ext>
                </a:extLst>
              </p:cNvPr>
              <p:cNvSpPr txBox="1">
                <a:spLocks noRot="1" noChangeAspect="1" noMove="1" noResize="1" noEditPoints="1" noAdjustHandles="1" noChangeArrowheads="1" noChangeShapeType="1" noTextEdit="1"/>
              </p:cNvSpPr>
              <p:nvPr/>
            </p:nvSpPr>
            <p:spPr>
              <a:xfrm>
                <a:off x="6878966" y="3136602"/>
                <a:ext cx="1879745" cy="523220"/>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E44E5424-8844-C268-1B15-27F281AF0EED}"/>
                  </a:ext>
                </a:extLst>
              </p:cNvPr>
              <p:cNvSpPr txBox="1"/>
              <p:nvPr/>
            </p:nvSpPr>
            <p:spPr>
              <a:xfrm>
                <a:off x="6724681" y="4346767"/>
                <a:ext cx="1965153" cy="523220"/>
              </a:xfrm>
              <a:prstGeom prst="rect">
                <a:avLst/>
              </a:prstGeom>
              <a:noFill/>
            </p:spPr>
            <p:txBody>
              <a:bodyPr wrap="none" rtlCol="0">
                <a:spAutoFit/>
              </a:bodyPr>
              <a:lstStyle/>
              <a:p>
                <a14:m>
                  <m:oMath xmlns:m="http://schemas.openxmlformats.org/officeDocument/2006/math">
                    <m:r>
                      <a:rPr lang="en-US" sz="2800" b="0" i="1" smtClean="0">
                        <a:latin typeface="Cambria Math" panose="02040503050406030204" pitchFamily="18" charset="0"/>
                      </a:rPr>
                      <m:t>𝑄𝐹</m:t>
                    </m:r>
                    <m:r>
                      <a:rPr lang="en-US" sz="2800" b="0" i="1" smtClean="0">
                        <a:latin typeface="Cambria Math" panose="02040503050406030204" pitchFamily="18" charset="0"/>
                      </a:rPr>
                      <m:t>=2</m:t>
                    </m:r>
                    <m:r>
                      <a:rPr lang="en-US" sz="2800" b="0" i="1" smtClean="0">
                        <a:latin typeface="Cambria Math" panose="02040503050406030204" pitchFamily="18" charset="0"/>
                      </a:rPr>
                      <m:t>𝑂𝑀</m:t>
                    </m:r>
                  </m:oMath>
                </a14:m>
                <a:r>
                  <a:rPr lang="en-US" sz="2800" dirty="0"/>
                  <a:t> </a:t>
                </a:r>
              </a:p>
            </p:txBody>
          </p:sp>
        </mc:Choice>
        <mc:Fallback xmlns="">
          <p:sp>
            <p:nvSpPr>
              <p:cNvPr id="27" name="TextBox 26">
                <a:extLst>
                  <a:ext uri="{FF2B5EF4-FFF2-40B4-BE49-F238E27FC236}">
                    <a16:creationId xmlns:a16="http://schemas.microsoft.com/office/drawing/2014/main" id="{E44E5424-8844-C268-1B15-27F281AF0EED}"/>
                  </a:ext>
                </a:extLst>
              </p:cNvPr>
              <p:cNvSpPr txBox="1">
                <a:spLocks noRot="1" noChangeAspect="1" noMove="1" noResize="1" noEditPoints="1" noAdjustHandles="1" noChangeArrowheads="1" noChangeShapeType="1" noTextEdit="1"/>
              </p:cNvSpPr>
              <p:nvPr/>
            </p:nvSpPr>
            <p:spPr>
              <a:xfrm>
                <a:off x="6724681" y="4346767"/>
                <a:ext cx="1965153" cy="523220"/>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F28668CD-1A52-4A2F-DCB9-B64215E80442}"/>
                  </a:ext>
                </a:extLst>
              </p:cNvPr>
              <p:cNvSpPr txBox="1"/>
              <p:nvPr/>
            </p:nvSpPr>
            <p:spPr>
              <a:xfrm>
                <a:off x="6395136" y="5232293"/>
                <a:ext cx="3070969"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4</m:t>
                      </m:r>
                      <m:r>
                        <a:rPr lang="en-US" sz="2800" b="0" i="1" smtClean="0">
                          <a:latin typeface="Cambria Math" panose="02040503050406030204" pitchFamily="18" charset="0"/>
                        </a:rPr>
                        <m:t>𝑂</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𝑀</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r>
                        <a:rPr lang="en-US" sz="2800" b="0" i="1" smtClean="0">
                          <a:latin typeface="Cambria Math" panose="02040503050406030204" pitchFamily="18" charset="0"/>
                        </a:rPr>
                        <m:t>𝑄𝐶</m:t>
                      </m:r>
                      <m:r>
                        <a:rPr lang="en-US" sz="2800" b="0" i="1" smtClean="0">
                          <a:latin typeface="Cambria Math" panose="02040503050406030204" pitchFamily="18" charset="0"/>
                        </a:rPr>
                        <m:t>⋅2</m:t>
                      </m:r>
                      <m:r>
                        <a:rPr lang="en-US" sz="2800" b="0" i="1" smtClean="0">
                          <a:latin typeface="Cambria Math" panose="02040503050406030204" pitchFamily="18" charset="0"/>
                        </a:rPr>
                        <m:t>𝑂𝑃</m:t>
                      </m:r>
                    </m:oMath>
                  </m:oMathPara>
                </a14:m>
                <a:endParaRPr lang="en-US" sz="2800" dirty="0"/>
              </a:p>
            </p:txBody>
          </p:sp>
        </mc:Choice>
        <mc:Fallback xmlns="">
          <p:sp>
            <p:nvSpPr>
              <p:cNvPr id="28" name="TextBox 27">
                <a:extLst>
                  <a:ext uri="{FF2B5EF4-FFF2-40B4-BE49-F238E27FC236}">
                    <a16:creationId xmlns:a16="http://schemas.microsoft.com/office/drawing/2014/main" id="{F28668CD-1A52-4A2F-DCB9-B64215E80442}"/>
                  </a:ext>
                </a:extLst>
              </p:cNvPr>
              <p:cNvSpPr txBox="1">
                <a:spLocks noRot="1" noChangeAspect="1" noMove="1" noResize="1" noEditPoints="1" noAdjustHandles="1" noChangeArrowheads="1" noChangeShapeType="1" noTextEdit="1"/>
              </p:cNvSpPr>
              <p:nvPr/>
            </p:nvSpPr>
            <p:spPr>
              <a:xfrm>
                <a:off x="6395136" y="5232293"/>
                <a:ext cx="3070969" cy="523220"/>
              </a:xfrm>
              <a:prstGeom prst="rect">
                <a:avLst/>
              </a:prstGeom>
              <a:blipFill>
                <a:blip r:embed="rId1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6268375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80C37-A19B-1864-614C-EC5DADB0FB64}"/>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F3BF4A6-D7A9-2611-09E4-50D06A4F98C1}"/>
                  </a:ext>
                </a:extLst>
              </p:cNvPr>
              <p:cNvSpPr txBox="1"/>
              <p:nvPr/>
            </p:nvSpPr>
            <p:spPr>
              <a:xfrm>
                <a:off x="578081" y="273827"/>
                <a:ext cx="5932970" cy="125617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𝜌</m:t>
                      </m:r>
                      <m:r>
                        <a:rPr lang="en-US" sz="3200" b="0" i="1" smtClean="0">
                          <a:latin typeface="Cambria Math" panose="02040503050406030204" pitchFamily="18" charset="0"/>
                        </a:rPr>
                        <m:t>=</m:t>
                      </m:r>
                      <m:f>
                        <m:fPr>
                          <m:ctrlPr>
                            <a:rPr lang="en-US" sz="3200" i="1">
                              <a:latin typeface="Cambria Math" panose="02040503050406030204" pitchFamily="18" charset="0"/>
                            </a:rPr>
                          </m:ctrlPr>
                        </m:fPr>
                        <m:num>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𝜌</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2</m:t>
                                  </m:r>
                                </m:sub>
                              </m:sSub>
                            </m:e>
                          </m:bar>
                        </m:num>
                        <m:den>
                          <m:acc>
                            <m:accPr>
                              <m:chr m:val="̅"/>
                              <m:ctrlPr>
                                <a:rPr lang="en-US" sz="3200" b="0" i="1" smtClean="0">
                                  <a:latin typeface="Cambria Math" panose="02040503050406030204" pitchFamily="18" charset="0"/>
                                </a:rPr>
                              </m:ctrlPr>
                            </m:acc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2</m:t>
                                  </m:r>
                                </m:sub>
                              </m:sSub>
                            </m:e>
                          </m:acc>
                        </m:den>
                      </m:f>
                      <m:d>
                        <m:dPr>
                          <m:begChr m:val="|"/>
                          <m:endChr m:val="⟩"/>
                          <m:ctrlPr>
                            <a:rPr lang="en-US" sz="3200" i="1">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e>
                      </m:d>
                      <m:d>
                        <m:dPr>
                          <m:begChr m:val="⟨"/>
                          <m:endChr m:val="|"/>
                          <m:ctrlPr>
                            <a:rPr lang="en-US" sz="3200" i="1">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e>
                      </m:d>
                      <m:r>
                        <a:rPr lang="en-US" sz="3200" i="1">
                          <a:latin typeface="Cambria Math" panose="02040503050406030204" pitchFamily="18" charset="0"/>
                        </a:rPr>
                        <m:t>+</m:t>
                      </m:r>
                      <m:f>
                        <m:fPr>
                          <m:ctrlPr>
                            <a:rPr lang="en-US" sz="3200" i="1">
                              <a:latin typeface="Cambria Math" panose="02040503050406030204" pitchFamily="18" charset="0"/>
                            </a:rPr>
                          </m:ctrlPr>
                        </m:fPr>
                        <m:num>
                          <m:bar>
                            <m:barPr>
                              <m:pos m:val="top"/>
                              <m:ctrlPr>
                                <a:rPr lang="en-US" sz="3200" i="1">
                                  <a:latin typeface="Cambria Math" panose="02040503050406030204" pitchFamily="18" charset="0"/>
                                </a:rPr>
                              </m:ctrlPr>
                            </m:barPr>
                            <m:e>
                              <m:r>
                                <a:rPr lang="en-US" sz="3200" i="1">
                                  <a:latin typeface="Cambria Math" panose="02040503050406030204" pitchFamily="18" charset="0"/>
                                </a:rPr>
                                <m:t>𝜌</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e>
                          </m:bar>
                        </m:num>
                        <m:den>
                          <m:acc>
                            <m:accPr>
                              <m:chr m:val="̅"/>
                              <m:ctrlPr>
                                <a:rPr lang="en-US" sz="3200" i="1">
                                  <a:latin typeface="Cambria Math" panose="02040503050406030204" pitchFamily="18" charset="0"/>
                                </a:rPr>
                              </m:ctrlPr>
                            </m:acc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1</m:t>
                                  </m:r>
                                </m:sub>
                              </m:sSub>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2</m:t>
                                  </m:r>
                                </m:sub>
                              </m:sSub>
                            </m:e>
                          </m:acc>
                        </m:den>
                      </m:f>
                      <m:d>
                        <m:dPr>
                          <m:begChr m:val="|"/>
                          <m:endChr m:val="⟩"/>
                          <m:ctrlPr>
                            <a:rPr lang="en-US" sz="3200" i="1">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2</m:t>
                              </m:r>
                            </m:sub>
                          </m:sSub>
                        </m:e>
                      </m:d>
                      <m:d>
                        <m:dPr>
                          <m:begChr m:val="⟨"/>
                          <m:endChr m:val="|"/>
                          <m:ctrlPr>
                            <a:rPr lang="en-US" sz="3200" i="1">
                              <a:latin typeface="Cambria Math" panose="02040503050406030204" pitchFamily="18" charset="0"/>
                            </a:rPr>
                          </m:ctrlPr>
                        </m:dPr>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2</m:t>
                              </m:r>
                            </m:sub>
                          </m:sSub>
                        </m:e>
                      </m:d>
                    </m:oMath>
                  </m:oMathPara>
                </a14:m>
                <a:endParaRPr lang="en-US" sz="3200" dirty="0"/>
              </a:p>
            </p:txBody>
          </p:sp>
        </mc:Choice>
        <mc:Fallback>
          <p:sp>
            <p:nvSpPr>
              <p:cNvPr id="3" name="TextBox 2">
                <a:extLst>
                  <a:ext uri="{FF2B5EF4-FFF2-40B4-BE49-F238E27FC236}">
                    <a16:creationId xmlns:a16="http://schemas.microsoft.com/office/drawing/2014/main" id="{BF3BF4A6-D7A9-2611-09E4-50D06A4F98C1}"/>
                  </a:ext>
                </a:extLst>
              </p:cNvPr>
              <p:cNvSpPr txBox="1">
                <a:spLocks noRot="1" noChangeAspect="1" noMove="1" noResize="1" noEditPoints="1" noAdjustHandles="1" noChangeArrowheads="1" noChangeShapeType="1" noTextEdit="1"/>
              </p:cNvSpPr>
              <p:nvPr/>
            </p:nvSpPr>
            <p:spPr>
              <a:xfrm>
                <a:off x="578081" y="273827"/>
                <a:ext cx="5932970" cy="1256178"/>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79C8988E-7492-8F7B-A28F-774DB41E108B}"/>
                  </a:ext>
                </a:extLst>
              </p:cNvPr>
              <p:cNvSpPr txBox="1"/>
              <p:nvPr/>
            </p:nvSpPr>
            <p:spPr>
              <a:xfrm>
                <a:off x="920222" y="1514064"/>
                <a:ext cx="6449843" cy="113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𝑂</m:t>
                              </m:r>
                              <m:r>
                                <a:rPr lang="en-US" sz="3200" b="0" i="1" smtClean="0">
                                  <a:latin typeface="Cambria Math" panose="02040503050406030204" pitchFamily="18" charset="0"/>
                                </a:rPr>
                                <m:t>𝜌</m:t>
                              </m:r>
                            </m:e>
                          </m:bar>
                        </m:num>
                        <m:den>
                          <m:r>
                            <a:rPr lang="en-US" sz="3200" b="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1</m:t>
                              </m:r>
                            </m:sub>
                          </m:sSub>
                        </m:e>
                      </m:d>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1</m:t>
                              </m:r>
                            </m:sub>
                          </m:sSub>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bar>
                            <m:barPr>
                              <m:pos m:val="top"/>
                              <m:ctrlPr>
                                <a:rPr lang="en-US" sz="3200" i="1">
                                  <a:latin typeface="Cambria Math" panose="02040503050406030204" pitchFamily="18" charset="0"/>
                                </a:rPr>
                              </m:ctrlPr>
                            </m:barPr>
                            <m:e>
                              <m:r>
                                <a:rPr lang="en-US" sz="3200" b="0" i="1" smtClean="0">
                                  <a:latin typeface="Cambria Math" panose="02040503050406030204" pitchFamily="18" charset="0"/>
                                </a:rPr>
                                <m:t>𝑂</m:t>
                              </m:r>
                              <m:r>
                                <a:rPr lang="en-US" sz="3200" i="1">
                                  <a:latin typeface="Cambria Math" panose="02040503050406030204" pitchFamily="18" charset="0"/>
                                </a:rPr>
                                <m:t>𝜌</m:t>
                              </m:r>
                            </m:e>
                          </m:bar>
                        </m:num>
                        <m:den>
                          <m:r>
                            <a:rPr lang="en-US" sz="320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2</m:t>
                              </m:r>
                            </m:sub>
                          </m:sSub>
                        </m:e>
                      </m:d>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2</m:t>
                              </m:r>
                            </m:sub>
                          </m:sSub>
                        </m:e>
                      </m:d>
                    </m:oMath>
                  </m:oMathPara>
                </a14:m>
                <a:endParaRPr lang="en-US" sz="3200" dirty="0"/>
              </a:p>
            </p:txBody>
          </p:sp>
        </mc:Choice>
        <mc:Fallback>
          <p:sp>
            <p:nvSpPr>
              <p:cNvPr id="5" name="TextBox 4">
                <a:extLst>
                  <a:ext uri="{FF2B5EF4-FFF2-40B4-BE49-F238E27FC236}">
                    <a16:creationId xmlns:a16="http://schemas.microsoft.com/office/drawing/2014/main" id="{79C8988E-7492-8F7B-A28F-774DB41E108B}"/>
                  </a:ext>
                </a:extLst>
              </p:cNvPr>
              <p:cNvSpPr txBox="1">
                <a:spLocks noRot="1" noChangeAspect="1" noMove="1" noResize="1" noEditPoints="1" noAdjustHandles="1" noChangeArrowheads="1" noChangeShapeType="1" noTextEdit="1"/>
              </p:cNvSpPr>
              <p:nvPr/>
            </p:nvSpPr>
            <p:spPr>
              <a:xfrm>
                <a:off x="920222" y="1514064"/>
                <a:ext cx="6449843" cy="113678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TextBox 16">
                <a:extLst>
                  <a:ext uri="{FF2B5EF4-FFF2-40B4-BE49-F238E27FC236}">
                    <a16:creationId xmlns:a16="http://schemas.microsoft.com/office/drawing/2014/main" id="{BEE58EFF-5995-8015-D0BA-3AAD957B965A}"/>
                  </a:ext>
                </a:extLst>
              </p:cNvPr>
              <p:cNvSpPr txBox="1"/>
              <p:nvPr/>
            </p:nvSpPr>
            <p:spPr>
              <a:xfrm>
                <a:off x="766270" y="2985280"/>
                <a:ext cx="5394297" cy="1036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𝑟</m:t>
                      </m:r>
                      <m:r>
                        <a:rPr lang="en-US" sz="3200" b="0" i="1" smtClean="0">
                          <a:latin typeface="Cambria Math" panose="02040503050406030204" pitchFamily="18" charset="0"/>
                        </a:rPr>
                        <m:t>=</m:t>
                      </m:r>
                      <m:bar>
                        <m:barPr>
                          <m:pos m:val="top"/>
                          <m:ctrlPr>
                            <a:rPr lang="en-US" sz="3200" i="1" smtClean="0">
                              <a:latin typeface="Cambria Math" panose="02040503050406030204" pitchFamily="18" charset="0"/>
                            </a:rPr>
                          </m:ctrlPr>
                        </m:barPr>
                        <m:e>
                          <m:r>
                            <a:rPr lang="en-US" sz="3200" b="0" i="1" smtClean="0">
                              <a:latin typeface="Cambria Math" panose="02040503050406030204" pitchFamily="18" charset="0"/>
                            </a:rPr>
                            <m:t>𝑂</m:t>
                          </m:r>
                          <m:r>
                            <a:rPr lang="en-US" sz="3200" i="1">
                              <a:latin typeface="Cambria Math" panose="02040503050406030204" pitchFamily="18" charset="0"/>
                            </a:rPr>
                            <m:t>𝜌</m:t>
                          </m:r>
                        </m:e>
                      </m:ba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𝑏</m:t>
                                  </m:r>
                                </m:e>
                                <m:sub>
                                  <m:r>
                                    <a:rPr lang="en-US" sz="3200" b="0" i="1" smtClean="0">
                                      <a:latin typeface="Cambria Math" panose="02040503050406030204" pitchFamily="18" charset="0"/>
                                    </a:rPr>
                                    <m:t>1</m:t>
                                  </m:r>
                                </m:sub>
                              </m:sSub>
                            </m:sub>
                          </m:sSub>
                        </m:e>
                      </m:func>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𝜓𝜙</m:t>
                                  </m:r>
                                </m:sub>
                              </m:sSub>
                            </m:num>
                            <m:den>
                              <m:r>
                                <a:rPr lang="en-US" sz="3200" b="0" i="1" smtClean="0">
                                  <a:latin typeface="Cambria Math" panose="02040503050406030204" pitchFamily="18" charset="0"/>
                                </a:rPr>
                                <m:t>2</m:t>
                              </m:r>
                            </m:den>
                          </m:f>
                        </m:e>
                      </m:func>
                    </m:oMath>
                  </m:oMathPara>
                </a14:m>
                <a:endParaRPr lang="en-US" sz="3200" dirty="0"/>
              </a:p>
            </p:txBody>
          </p:sp>
        </mc:Choice>
        <mc:Fallback>
          <p:sp>
            <p:nvSpPr>
              <p:cNvPr id="17" name="TextBox 16">
                <a:extLst>
                  <a:ext uri="{FF2B5EF4-FFF2-40B4-BE49-F238E27FC236}">
                    <a16:creationId xmlns:a16="http://schemas.microsoft.com/office/drawing/2014/main" id="{BEE58EFF-5995-8015-D0BA-3AAD957B965A}"/>
                  </a:ext>
                </a:extLst>
              </p:cNvPr>
              <p:cNvSpPr txBox="1">
                <a:spLocks noRot="1" noChangeAspect="1" noMove="1" noResize="1" noEditPoints="1" noAdjustHandles="1" noChangeArrowheads="1" noChangeShapeType="1" noTextEdit="1"/>
              </p:cNvSpPr>
              <p:nvPr/>
            </p:nvSpPr>
            <p:spPr>
              <a:xfrm>
                <a:off x="766270" y="2985280"/>
                <a:ext cx="5394297" cy="1036887"/>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D0B35AFB-9408-5079-85A3-EC7E13257BB4}"/>
                  </a:ext>
                </a:extLst>
              </p:cNvPr>
              <p:cNvSpPr txBox="1"/>
              <p:nvPr/>
            </p:nvSpPr>
            <p:spPr>
              <a:xfrm>
                <a:off x="578081" y="4448405"/>
                <a:ext cx="8977522" cy="1156214"/>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𝜌</m:t>
                      </m:r>
                      <m:r>
                        <a:rPr lang="en-US" sz="3200" b="0" i="1" smtClean="0">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d>
                                <m:dPr>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rad>
                        </m:num>
                        <m:den>
                          <m:r>
                            <a:rPr lang="en-US" sz="3200" b="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1</m:t>
                              </m:r>
                            </m:sub>
                          </m:sSub>
                        </m:e>
                      </m:d>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1</m:t>
                              </m:r>
                            </m:sub>
                          </m:sSub>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rad>
                            <m:radPr>
                              <m:degHide m:val="on"/>
                              <m:ctrlPr>
                                <a:rPr lang="en-US" sz="3200" i="1">
                                  <a:latin typeface="Cambria Math" panose="02040503050406030204" pitchFamily="18" charset="0"/>
                                </a:rPr>
                              </m:ctrlPr>
                            </m:radPr>
                            <m:deg/>
                            <m:e>
                              <m:r>
                                <a:rPr lang="en-US" sz="3200" i="1">
                                  <a:latin typeface="Cambria Math" panose="02040503050406030204" pitchFamily="18" charset="0"/>
                                </a:rPr>
                                <m:t>𝑝</m:t>
                              </m:r>
                              <m:d>
                                <m:dPr>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rad>
                        </m:num>
                        <m:den>
                          <m:r>
                            <a:rPr lang="en-US" sz="320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2</m:t>
                              </m:r>
                            </m:sub>
                          </m:sSub>
                        </m:e>
                      </m:d>
                      <m:d>
                        <m:dPr>
                          <m:begChr m:val="⟨"/>
                          <m:endChr m:val="|"/>
                          <m:ctrlPr>
                            <a:rPr lang="en-US" sz="3200" i="1">
                              <a:latin typeface="Cambria Math" panose="02040503050406030204" pitchFamily="18" charset="0"/>
                            </a:rPr>
                          </m:ctrlPr>
                        </m:dPr>
                        <m:e>
                          <m:sSub>
                            <m:sSubPr>
                              <m:ctrlPr>
                                <a:rPr lang="en-US" sz="3200" i="1">
                                  <a:latin typeface="Cambria Math" panose="02040503050406030204" pitchFamily="18" charset="0"/>
                                </a:rPr>
                              </m:ctrlPr>
                            </m:sSubPr>
                            <m:e>
                              <m:r>
                                <a:rPr lang="en-US" sz="3200" i="1">
                                  <a:latin typeface="Cambria Math" panose="02040503050406030204" pitchFamily="18" charset="0"/>
                                </a:rPr>
                                <m:t>𝑏</m:t>
                              </m:r>
                            </m:e>
                            <m:sub>
                              <m:r>
                                <a:rPr lang="en-US" sz="3200" i="1">
                                  <a:latin typeface="Cambria Math" panose="02040503050406030204" pitchFamily="18" charset="0"/>
                                </a:rPr>
                                <m:t>2</m:t>
                              </m:r>
                            </m:sub>
                          </m:sSub>
                        </m:e>
                      </m:d>
                    </m:oMath>
                  </m:oMathPara>
                </a14:m>
                <a:endParaRPr lang="en-US" sz="3200" dirty="0"/>
              </a:p>
            </p:txBody>
          </p:sp>
        </mc:Choice>
        <mc:Fallback>
          <p:sp>
            <p:nvSpPr>
              <p:cNvPr id="20" name="TextBox 19">
                <a:extLst>
                  <a:ext uri="{FF2B5EF4-FFF2-40B4-BE49-F238E27FC236}">
                    <a16:creationId xmlns:a16="http://schemas.microsoft.com/office/drawing/2014/main" id="{D0B35AFB-9408-5079-85A3-EC7E13257BB4}"/>
                  </a:ext>
                </a:extLst>
              </p:cNvPr>
              <p:cNvSpPr txBox="1">
                <a:spLocks noRot="1" noChangeAspect="1" noMove="1" noResize="1" noEditPoints="1" noAdjustHandles="1" noChangeArrowheads="1" noChangeShapeType="1" noTextEdit="1"/>
              </p:cNvSpPr>
              <p:nvPr/>
            </p:nvSpPr>
            <p:spPr>
              <a:xfrm>
                <a:off x="578081" y="4448405"/>
                <a:ext cx="8977522" cy="1156214"/>
              </a:xfrm>
              <a:prstGeom prst="rect">
                <a:avLst/>
              </a:prstGeom>
              <a:blipFill>
                <a:blip r:embed="rId5"/>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82282252-DBFB-6652-4C24-D7D8B87D29A1}"/>
              </a:ext>
            </a:extLst>
          </p:cNvPr>
          <p:cNvSpPr/>
          <p:nvPr/>
        </p:nvSpPr>
        <p:spPr>
          <a:xfrm>
            <a:off x="8421181" y="371640"/>
            <a:ext cx="3132083" cy="3132083"/>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740EE64-D879-7F3A-FF99-CB56FD9BB24B}"/>
              </a:ext>
            </a:extLst>
          </p:cNvPr>
          <p:cNvCxnSpPr>
            <a:cxnSpLocks/>
            <a:endCxn id="10" idx="6"/>
          </p:cNvCxnSpPr>
          <p:nvPr/>
        </p:nvCxnSpPr>
        <p:spPr>
          <a:xfrm>
            <a:off x="9987222" y="1937682"/>
            <a:ext cx="156604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C866CE7-C032-A87A-6A0D-A97F54E16BCF}"/>
              </a:ext>
            </a:extLst>
          </p:cNvPr>
          <p:cNvCxnSpPr>
            <a:cxnSpLocks/>
            <a:endCxn id="10" idx="6"/>
          </p:cNvCxnSpPr>
          <p:nvPr/>
        </p:nvCxnSpPr>
        <p:spPr>
          <a:xfrm>
            <a:off x="10605718" y="495027"/>
            <a:ext cx="947546" cy="144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D47BD877-B5BB-CB22-0F90-AD7949B03525}"/>
              </a:ext>
            </a:extLst>
          </p:cNvPr>
          <p:cNvCxnSpPr>
            <a:cxnSpLocks/>
          </p:cNvCxnSpPr>
          <p:nvPr/>
        </p:nvCxnSpPr>
        <p:spPr>
          <a:xfrm flipV="1">
            <a:off x="8686800" y="1077193"/>
            <a:ext cx="2611755" cy="17106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2" name="TextBox 21">
                <a:extLst>
                  <a:ext uri="{FF2B5EF4-FFF2-40B4-BE49-F238E27FC236}">
                    <a16:creationId xmlns:a16="http://schemas.microsoft.com/office/drawing/2014/main" id="{8962E611-212B-D9D0-F703-DD442A82C4ED}"/>
                  </a:ext>
                </a:extLst>
              </p:cNvPr>
              <p:cNvSpPr txBox="1"/>
              <p:nvPr/>
            </p:nvSpPr>
            <p:spPr>
              <a:xfrm>
                <a:off x="11496872" y="1747872"/>
                <a:ext cx="4028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p:sp>
            <p:nvSpPr>
              <p:cNvPr id="22" name="TextBox 21">
                <a:extLst>
                  <a:ext uri="{FF2B5EF4-FFF2-40B4-BE49-F238E27FC236}">
                    <a16:creationId xmlns:a16="http://schemas.microsoft.com/office/drawing/2014/main" id="{8962E611-212B-D9D0-F703-DD442A82C4ED}"/>
                  </a:ext>
                </a:extLst>
              </p:cNvPr>
              <p:cNvSpPr txBox="1">
                <a:spLocks noRot="1" noChangeAspect="1" noMove="1" noResize="1" noEditPoints="1" noAdjustHandles="1" noChangeArrowheads="1" noChangeShapeType="1" noTextEdit="1"/>
              </p:cNvSpPr>
              <p:nvPr/>
            </p:nvSpPr>
            <p:spPr>
              <a:xfrm>
                <a:off x="11496872" y="1747872"/>
                <a:ext cx="402866" cy="369332"/>
              </a:xfrm>
              <a:prstGeom prst="rect">
                <a:avLst/>
              </a:prstGeom>
              <a:blipFill>
                <a:blip r:embed="rId6"/>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A46BD26C-73DE-2089-EAAC-EDE41772EDBC}"/>
                  </a:ext>
                </a:extLst>
              </p:cNvPr>
              <p:cNvSpPr txBox="1"/>
              <p:nvPr/>
            </p:nvSpPr>
            <p:spPr>
              <a:xfrm>
                <a:off x="10463604" y="125695"/>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p:sp>
            <p:nvSpPr>
              <p:cNvPr id="23" name="TextBox 22">
                <a:extLst>
                  <a:ext uri="{FF2B5EF4-FFF2-40B4-BE49-F238E27FC236}">
                    <a16:creationId xmlns:a16="http://schemas.microsoft.com/office/drawing/2014/main" id="{A46BD26C-73DE-2089-EAAC-EDE41772EDBC}"/>
                  </a:ext>
                </a:extLst>
              </p:cNvPr>
              <p:cNvSpPr txBox="1">
                <a:spLocks noRot="1" noChangeAspect="1" noMove="1" noResize="1" noEditPoints="1" noAdjustHandles="1" noChangeArrowheads="1" noChangeShapeType="1" noTextEdit="1"/>
              </p:cNvSpPr>
              <p:nvPr/>
            </p:nvSpPr>
            <p:spPr>
              <a:xfrm>
                <a:off x="10463604" y="125695"/>
                <a:ext cx="399597" cy="369332"/>
              </a:xfrm>
              <a:prstGeom prst="rect">
                <a:avLst/>
              </a:prstGeom>
              <a:blipFill>
                <a:blip r:embed="rId7"/>
                <a:stretch>
                  <a:fillRect b="-13333"/>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230F549F-44CC-6D5A-8864-3748456CB707}"/>
                  </a:ext>
                </a:extLst>
              </p:cNvPr>
              <p:cNvSpPr txBox="1"/>
              <p:nvPr/>
            </p:nvSpPr>
            <p:spPr>
              <a:xfrm>
                <a:off x="10968445" y="823471"/>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p:sp>
            <p:nvSpPr>
              <p:cNvPr id="24" name="TextBox 23">
                <a:extLst>
                  <a:ext uri="{FF2B5EF4-FFF2-40B4-BE49-F238E27FC236}">
                    <a16:creationId xmlns:a16="http://schemas.microsoft.com/office/drawing/2014/main" id="{230F549F-44CC-6D5A-8864-3748456CB707}"/>
                  </a:ext>
                </a:extLst>
              </p:cNvPr>
              <p:cNvSpPr txBox="1">
                <a:spLocks noRot="1" noChangeAspect="1" noMove="1" noResize="1" noEditPoints="1" noAdjustHandles="1" noChangeArrowheads="1" noChangeShapeType="1" noTextEdit="1"/>
              </p:cNvSpPr>
              <p:nvPr/>
            </p:nvSpPr>
            <p:spPr>
              <a:xfrm>
                <a:off x="10968445" y="823471"/>
                <a:ext cx="370230" cy="369332"/>
              </a:xfrm>
              <a:prstGeom prst="rect">
                <a:avLst/>
              </a:prstGeom>
              <a:blipFill>
                <a:blip r:embed="rId8"/>
                <a:stretch>
                  <a:fillRect b="-6557"/>
                </a:stretch>
              </a:blipFill>
            </p:spPr>
            <p:txBody>
              <a:bodyPr/>
              <a:lstStyle/>
              <a:p>
                <a:r>
                  <a:rPr lang="en-US">
                    <a:noFill/>
                  </a:rPr>
                  <a:t> </a:t>
                </a:r>
              </a:p>
            </p:txBody>
          </p:sp>
        </mc:Fallback>
      </mc:AlternateContent>
      <p:cxnSp>
        <p:nvCxnSpPr>
          <p:cNvPr id="26" name="Straight Connector 25">
            <a:extLst>
              <a:ext uri="{FF2B5EF4-FFF2-40B4-BE49-F238E27FC236}">
                <a16:creationId xmlns:a16="http://schemas.microsoft.com/office/drawing/2014/main" id="{970D9B21-B649-5A4B-74B2-8B7B96FEBD70}"/>
              </a:ext>
            </a:extLst>
          </p:cNvPr>
          <p:cNvCxnSpPr>
            <a:cxnSpLocks/>
          </p:cNvCxnSpPr>
          <p:nvPr/>
        </p:nvCxnSpPr>
        <p:spPr>
          <a:xfrm flipV="1">
            <a:off x="9987222" y="509503"/>
            <a:ext cx="612094" cy="1423035"/>
          </a:xfrm>
          <a:prstGeom prst="line">
            <a:avLst/>
          </a:prstGeom>
        </p:spPr>
        <p:style>
          <a:lnRef idx="1">
            <a:schemeClr val="accent1"/>
          </a:lnRef>
          <a:fillRef idx="0">
            <a:schemeClr val="accent1"/>
          </a:fillRef>
          <a:effectRef idx="0">
            <a:schemeClr val="accent1"/>
          </a:effectRef>
          <a:fontRef idx="minor">
            <a:schemeClr val="tx1"/>
          </a:fontRef>
        </p:style>
      </p:cxnSp>
      <p:sp>
        <p:nvSpPr>
          <p:cNvPr id="27" name="Oval 26">
            <a:extLst>
              <a:ext uri="{FF2B5EF4-FFF2-40B4-BE49-F238E27FC236}">
                <a16:creationId xmlns:a16="http://schemas.microsoft.com/office/drawing/2014/main" id="{3688179B-C084-4295-C01A-7066C214D020}"/>
              </a:ext>
            </a:extLst>
          </p:cNvPr>
          <p:cNvSpPr/>
          <p:nvPr/>
        </p:nvSpPr>
        <p:spPr>
          <a:xfrm>
            <a:off x="11058536" y="1192804"/>
            <a:ext cx="49530" cy="4953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A34EFB1D-2F63-B458-B855-E1E58E88212A}"/>
                  </a:ext>
                </a:extLst>
              </p:cNvPr>
              <p:cNvSpPr txBox="1"/>
              <p:nvPr/>
            </p:nvSpPr>
            <p:spPr>
              <a:xfrm>
                <a:off x="8224174" y="2701716"/>
                <a:ext cx="46262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2</m:t>
                          </m:r>
                        </m:sub>
                      </m:sSub>
                    </m:oMath>
                  </m:oMathPara>
                </a14:m>
                <a:endParaRPr lang="en-US" dirty="0"/>
              </a:p>
            </p:txBody>
          </p:sp>
        </mc:Choice>
        <mc:Fallback>
          <p:sp>
            <p:nvSpPr>
              <p:cNvPr id="29" name="TextBox 28">
                <a:extLst>
                  <a:ext uri="{FF2B5EF4-FFF2-40B4-BE49-F238E27FC236}">
                    <a16:creationId xmlns:a16="http://schemas.microsoft.com/office/drawing/2014/main" id="{A34EFB1D-2F63-B458-B855-E1E58E88212A}"/>
                  </a:ext>
                </a:extLst>
              </p:cNvPr>
              <p:cNvSpPr txBox="1">
                <a:spLocks noRot="1" noChangeAspect="1" noMove="1" noResize="1" noEditPoints="1" noAdjustHandles="1" noChangeArrowheads="1" noChangeShapeType="1" noTextEdit="1"/>
              </p:cNvSpPr>
              <p:nvPr/>
            </p:nvSpPr>
            <p:spPr>
              <a:xfrm>
                <a:off x="8224174" y="2701716"/>
                <a:ext cx="462626" cy="369332"/>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EEB08F7-A644-D3E0-3F35-72E2ABDF9406}"/>
                  </a:ext>
                </a:extLst>
              </p:cNvPr>
              <p:cNvSpPr txBox="1"/>
              <p:nvPr/>
            </p:nvSpPr>
            <p:spPr>
              <a:xfrm>
                <a:off x="9716945" y="1623357"/>
                <a:ext cx="3986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oMath>
                  </m:oMathPara>
                </a14:m>
                <a:endParaRPr lang="en-US" dirty="0"/>
              </a:p>
            </p:txBody>
          </p:sp>
        </mc:Choice>
        <mc:Fallback>
          <p:sp>
            <p:nvSpPr>
              <p:cNvPr id="30" name="TextBox 29">
                <a:extLst>
                  <a:ext uri="{FF2B5EF4-FFF2-40B4-BE49-F238E27FC236}">
                    <a16:creationId xmlns:a16="http://schemas.microsoft.com/office/drawing/2014/main" id="{FEEB08F7-A644-D3E0-3F35-72E2ABDF9406}"/>
                  </a:ext>
                </a:extLst>
              </p:cNvPr>
              <p:cNvSpPr txBox="1">
                <a:spLocks noRot="1" noChangeAspect="1" noMove="1" noResize="1" noEditPoints="1" noAdjustHandles="1" noChangeArrowheads="1" noChangeShapeType="1" noTextEdit="1"/>
              </p:cNvSpPr>
              <p:nvPr/>
            </p:nvSpPr>
            <p:spPr>
              <a:xfrm>
                <a:off x="9716945" y="1623357"/>
                <a:ext cx="398699"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2" name="TextBox 31">
                <a:extLst>
                  <a:ext uri="{FF2B5EF4-FFF2-40B4-BE49-F238E27FC236}">
                    <a16:creationId xmlns:a16="http://schemas.microsoft.com/office/drawing/2014/main" id="{C9DDE898-83EB-721F-AABF-7D24DA5B4F1E}"/>
                  </a:ext>
                </a:extLst>
              </p:cNvPr>
              <p:cNvSpPr txBox="1"/>
              <p:nvPr/>
            </p:nvSpPr>
            <p:spPr>
              <a:xfrm>
                <a:off x="11287645" y="734588"/>
                <a:ext cx="4573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𝑏</m:t>
                          </m:r>
                        </m:e>
                        <m:sub>
                          <m:r>
                            <a:rPr lang="en-US" b="0" i="1" smtClean="0">
                              <a:latin typeface="Cambria Math" panose="02040503050406030204" pitchFamily="18" charset="0"/>
                            </a:rPr>
                            <m:t>1</m:t>
                          </m:r>
                        </m:sub>
                      </m:sSub>
                    </m:oMath>
                  </m:oMathPara>
                </a14:m>
                <a:endParaRPr lang="en-US" dirty="0"/>
              </a:p>
            </p:txBody>
          </p:sp>
        </mc:Choice>
        <mc:Fallback>
          <p:sp>
            <p:nvSpPr>
              <p:cNvPr id="32" name="TextBox 31">
                <a:extLst>
                  <a:ext uri="{FF2B5EF4-FFF2-40B4-BE49-F238E27FC236}">
                    <a16:creationId xmlns:a16="http://schemas.microsoft.com/office/drawing/2014/main" id="{C9DDE898-83EB-721F-AABF-7D24DA5B4F1E}"/>
                  </a:ext>
                </a:extLst>
              </p:cNvPr>
              <p:cNvSpPr txBox="1">
                <a:spLocks noRot="1" noChangeAspect="1" noMove="1" noResize="1" noEditPoints="1" noAdjustHandles="1" noChangeArrowheads="1" noChangeShapeType="1" noTextEdit="1"/>
              </p:cNvSpPr>
              <p:nvPr/>
            </p:nvSpPr>
            <p:spPr>
              <a:xfrm>
                <a:off x="11287645" y="734588"/>
                <a:ext cx="457305" cy="369332"/>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293666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107FC7-5D4D-3155-BA05-93177B999966}"/>
            </a:ext>
          </a:extLst>
        </p:cNvPr>
        <p:cNvGrpSpPr/>
        <p:nvPr/>
      </p:nvGrpSpPr>
      <p:grpSpPr>
        <a:xfrm>
          <a:off x="0" y="0"/>
          <a:ext cx="0" cy="0"/>
          <a:chOff x="0" y="0"/>
          <a:chExt cx="0" cy="0"/>
        </a:xfrm>
      </p:grpSpPr>
      <p:sp>
        <p:nvSpPr>
          <p:cNvPr id="2" name="Oval 1">
            <a:extLst>
              <a:ext uri="{FF2B5EF4-FFF2-40B4-BE49-F238E27FC236}">
                <a16:creationId xmlns:a16="http://schemas.microsoft.com/office/drawing/2014/main" id="{A266DE09-45F0-6FDB-D443-B9965D9392E2}"/>
              </a:ext>
            </a:extLst>
          </p:cNvPr>
          <p:cNvSpPr/>
          <p:nvPr/>
        </p:nvSpPr>
        <p:spPr>
          <a:xfrm>
            <a:off x="7988847" y="438149"/>
            <a:ext cx="3132083" cy="3132083"/>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99AD3B53-D2EE-CA6F-CCC7-55E7B931EF31}"/>
              </a:ext>
            </a:extLst>
          </p:cNvPr>
          <p:cNvCxnSpPr>
            <a:stCxn id="2" idx="2"/>
            <a:endCxn id="2" idx="6"/>
          </p:cNvCxnSpPr>
          <p:nvPr/>
        </p:nvCxnSpPr>
        <p:spPr>
          <a:xfrm>
            <a:off x="7988847" y="2004191"/>
            <a:ext cx="31320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0A93B5A-5CAC-6D2E-166D-B32E98E5C55A}"/>
              </a:ext>
            </a:extLst>
          </p:cNvPr>
          <p:cNvCxnSpPr>
            <a:cxnSpLocks/>
          </p:cNvCxnSpPr>
          <p:nvPr/>
        </p:nvCxnSpPr>
        <p:spPr>
          <a:xfrm>
            <a:off x="10774089" y="1023938"/>
            <a:ext cx="0" cy="1961342"/>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F70B067-3DBA-C4DE-35ED-67C6A4748EAA}"/>
              </a:ext>
            </a:extLst>
          </p:cNvPr>
          <p:cNvCxnSpPr/>
          <p:nvPr/>
        </p:nvCxnSpPr>
        <p:spPr>
          <a:xfrm flipV="1">
            <a:off x="9554888" y="1023938"/>
            <a:ext cx="1198837" cy="98025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595C3A2-3F89-D593-F021-D2EAA9A59B6F}"/>
              </a:ext>
            </a:extLst>
          </p:cNvPr>
          <p:cNvCxnSpPr>
            <a:cxnSpLocks/>
          </p:cNvCxnSpPr>
          <p:nvPr/>
        </p:nvCxnSpPr>
        <p:spPr>
          <a:xfrm>
            <a:off x="9554888" y="2005028"/>
            <a:ext cx="1198837" cy="980252"/>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4FABC6D-736B-64BA-49F8-CDAB5853DC14}"/>
                  </a:ext>
                </a:extLst>
              </p:cNvPr>
              <p:cNvSpPr txBox="1"/>
              <p:nvPr/>
            </p:nvSpPr>
            <p:spPr>
              <a:xfrm>
                <a:off x="10753725" y="667172"/>
                <a:ext cx="4028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xmlns="">
          <p:sp>
            <p:nvSpPr>
              <p:cNvPr id="12" name="TextBox 11">
                <a:extLst>
                  <a:ext uri="{FF2B5EF4-FFF2-40B4-BE49-F238E27FC236}">
                    <a16:creationId xmlns:a16="http://schemas.microsoft.com/office/drawing/2014/main" id="{74FABC6D-736B-64BA-49F8-CDAB5853DC14}"/>
                  </a:ext>
                </a:extLst>
              </p:cNvPr>
              <p:cNvSpPr txBox="1">
                <a:spLocks noRot="1" noChangeAspect="1" noMove="1" noResize="1" noEditPoints="1" noAdjustHandles="1" noChangeArrowheads="1" noChangeShapeType="1" noTextEdit="1"/>
              </p:cNvSpPr>
              <p:nvPr/>
            </p:nvSpPr>
            <p:spPr>
              <a:xfrm>
                <a:off x="10753725" y="667172"/>
                <a:ext cx="402866" cy="369332"/>
              </a:xfrm>
              <a:prstGeom prst="rect">
                <a:avLst/>
              </a:prstGeom>
              <a:blipFill>
                <a:blip r:embed="rId2"/>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7B7C1734-797F-08E2-5899-4DA2ABF07759}"/>
                  </a:ext>
                </a:extLst>
              </p:cNvPr>
              <p:cNvSpPr txBox="1"/>
              <p:nvPr/>
            </p:nvSpPr>
            <p:spPr>
              <a:xfrm>
                <a:off x="10774089" y="2888218"/>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xmlns="">
          <p:sp>
            <p:nvSpPr>
              <p:cNvPr id="13" name="TextBox 12">
                <a:extLst>
                  <a:ext uri="{FF2B5EF4-FFF2-40B4-BE49-F238E27FC236}">
                    <a16:creationId xmlns:a16="http://schemas.microsoft.com/office/drawing/2014/main" id="{7B7C1734-797F-08E2-5899-4DA2ABF07759}"/>
                  </a:ext>
                </a:extLst>
              </p:cNvPr>
              <p:cNvSpPr txBox="1">
                <a:spLocks noRot="1" noChangeAspect="1" noMove="1" noResize="1" noEditPoints="1" noAdjustHandles="1" noChangeArrowheads="1" noChangeShapeType="1" noTextEdit="1"/>
              </p:cNvSpPr>
              <p:nvPr/>
            </p:nvSpPr>
            <p:spPr>
              <a:xfrm>
                <a:off x="10774089" y="2888218"/>
                <a:ext cx="399597" cy="369332"/>
              </a:xfrm>
              <a:prstGeom prst="rect">
                <a:avLst/>
              </a:prstGeom>
              <a:blipFill>
                <a:blip r:embed="rId3"/>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D93FB4A-37AC-5D2F-AEFD-E207C859755A}"/>
                  </a:ext>
                </a:extLst>
              </p:cNvPr>
              <p:cNvSpPr txBox="1"/>
              <p:nvPr/>
            </p:nvSpPr>
            <p:spPr>
              <a:xfrm>
                <a:off x="11120930" y="1819524"/>
                <a:ext cx="36766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𝑏</m:t>
                      </m:r>
                    </m:oMath>
                  </m:oMathPara>
                </a14:m>
                <a:endParaRPr lang="en-US" dirty="0"/>
              </a:p>
            </p:txBody>
          </p:sp>
        </mc:Choice>
        <mc:Fallback xmlns="">
          <p:sp>
            <p:nvSpPr>
              <p:cNvPr id="14" name="TextBox 13">
                <a:extLst>
                  <a:ext uri="{FF2B5EF4-FFF2-40B4-BE49-F238E27FC236}">
                    <a16:creationId xmlns:a16="http://schemas.microsoft.com/office/drawing/2014/main" id="{6D93FB4A-37AC-5D2F-AEFD-E207C859755A}"/>
                  </a:ext>
                </a:extLst>
              </p:cNvPr>
              <p:cNvSpPr txBox="1">
                <a:spLocks noRot="1" noChangeAspect="1" noMove="1" noResize="1" noEditPoints="1" noAdjustHandles="1" noChangeArrowheads="1" noChangeShapeType="1" noTextEdit="1"/>
              </p:cNvSpPr>
              <p:nvPr/>
            </p:nvSpPr>
            <p:spPr>
              <a:xfrm>
                <a:off x="11120930" y="1819524"/>
                <a:ext cx="367665"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36A5428-F3E8-A757-1A47-9B00432D3063}"/>
                  </a:ext>
                </a:extLst>
              </p:cNvPr>
              <p:cNvSpPr txBox="1"/>
              <p:nvPr/>
            </p:nvSpPr>
            <p:spPr>
              <a:xfrm>
                <a:off x="10730335" y="1606533"/>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xmlns="">
          <p:sp>
            <p:nvSpPr>
              <p:cNvPr id="16" name="TextBox 15">
                <a:extLst>
                  <a:ext uri="{FF2B5EF4-FFF2-40B4-BE49-F238E27FC236}">
                    <a16:creationId xmlns:a16="http://schemas.microsoft.com/office/drawing/2014/main" id="{E36A5428-F3E8-A757-1A47-9B00432D3063}"/>
                  </a:ext>
                </a:extLst>
              </p:cNvPr>
              <p:cNvSpPr txBox="1">
                <a:spLocks noRot="1" noChangeAspect="1" noMove="1" noResize="1" noEditPoints="1" noAdjustHandles="1" noChangeArrowheads="1" noChangeShapeType="1" noTextEdit="1"/>
              </p:cNvSpPr>
              <p:nvPr/>
            </p:nvSpPr>
            <p:spPr>
              <a:xfrm>
                <a:off x="10730335" y="1606533"/>
                <a:ext cx="370230" cy="369332"/>
              </a:xfrm>
              <a:prstGeom prst="rect">
                <a:avLst/>
              </a:prstGeom>
              <a:blipFill>
                <a:blip r:embed="rId5"/>
                <a:stretch>
                  <a:fillRect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3F06675A-69F6-A9A3-FF66-D4F5D900A6C5}"/>
                  </a:ext>
                </a:extLst>
              </p:cNvPr>
              <p:cNvSpPr txBox="1"/>
              <p:nvPr/>
            </p:nvSpPr>
            <p:spPr>
              <a:xfrm>
                <a:off x="578081" y="273827"/>
                <a:ext cx="4789709" cy="1175643"/>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𝜌</m:t>
                      </m:r>
                      <m:r>
                        <a:rPr lang="en-US" sz="3200" b="0" i="1" smtClean="0">
                          <a:latin typeface="Cambria Math" panose="02040503050406030204" pitchFamily="18" charset="0"/>
                        </a:rPr>
                        <m:t>=</m:t>
                      </m:r>
                      <m:f>
                        <m:fPr>
                          <m:ctrlPr>
                            <a:rPr lang="en-US" sz="3200" i="1">
                              <a:latin typeface="Cambria Math" panose="02040503050406030204" pitchFamily="18" charset="0"/>
                            </a:rPr>
                          </m:ctrlPr>
                        </m:fPr>
                        <m:num>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𝑎</m:t>
                              </m:r>
                              <m:r>
                                <a:rPr lang="en-US" sz="3200" b="0" i="1" smtClean="0">
                                  <a:latin typeface="Cambria Math" panose="02040503050406030204" pitchFamily="18" charset="0"/>
                                </a:rPr>
                                <m:t>𝜌</m:t>
                              </m:r>
                            </m:e>
                          </m:bar>
                        </m:num>
                        <m:den>
                          <m:acc>
                            <m:accPr>
                              <m:chr m:val="̅"/>
                              <m:ctrlPr>
                                <a:rPr lang="en-US" sz="3200" b="0" i="1" smtClean="0">
                                  <a:latin typeface="Cambria Math" panose="02040503050406030204" pitchFamily="18" charset="0"/>
                                </a:rPr>
                              </m:ctrlPr>
                            </m:accPr>
                            <m:e>
                              <m:r>
                                <a:rPr lang="en-US" sz="3200" b="0" i="1" smtClean="0">
                                  <a:latin typeface="Cambria Math" panose="02040503050406030204" pitchFamily="18" charset="0"/>
                                </a:rPr>
                                <m:t>𝑎𝑏</m:t>
                              </m:r>
                            </m:e>
                          </m:acc>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r>
                        <a:rPr lang="en-US" sz="3200" i="1">
                          <a:latin typeface="Cambria Math" panose="02040503050406030204" pitchFamily="18" charset="0"/>
                        </a:rPr>
                        <m:t>+</m:t>
                      </m:r>
                      <m:f>
                        <m:fPr>
                          <m:ctrlPr>
                            <a:rPr lang="en-US" sz="3200" i="1">
                              <a:latin typeface="Cambria Math" panose="02040503050406030204" pitchFamily="18" charset="0"/>
                            </a:rPr>
                          </m:ctrlPr>
                        </m:fPr>
                        <m:num>
                          <m:bar>
                            <m:barPr>
                              <m:pos m:val="top"/>
                              <m:ctrlPr>
                                <a:rPr lang="en-US" sz="3200" i="1">
                                  <a:latin typeface="Cambria Math" panose="02040503050406030204" pitchFamily="18" charset="0"/>
                                </a:rPr>
                              </m:ctrlPr>
                            </m:barPr>
                            <m:e>
                              <m:r>
                                <a:rPr lang="en-US" sz="3200" i="1">
                                  <a:latin typeface="Cambria Math" panose="02040503050406030204" pitchFamily="18" charset="0"/>
                                </a:rPr>
                                <m:t>𝜌</m:t>
                              </m:r>
                              <m:r>
                                <a:rPr lang="en-US" sz="3200" b="0" i="1" smtClean="0">
                                  <a:latin typeface="Cambria Math" panose="02040503050406030204" pitchFamily="18" charset="0"/>
                                </a:rPr>
                                <m:t>𝑏</m:t>
                              </m:r>
                            </m:e>
                          </m:bar>
                        </m:num>
                        <m:den>
                          <m:acc>
                            <m:accPr>
                              <m:chr m:val="̅"/>
                              <m:ctrlPr>
                                <a:rPr lang="en-US" sz="3200" i="1">
                                  <a:latin typeface="Cambria Math" panose="02040503050406030204" pitchFamily="18" charset="0"/>
                                </a:rPr>
                              </m:ctrlPr>
                            </m:accPr>
                            <m:e>
                              <m:r>
                                <a:rPr lang="en-US" sz="3200" b="0" i="1" smtClean="0">
                                  <a:latin typeface="Cambria Math" panose="02040503050406030204" pitchFamily="18" charset="0"/>
                                </a:rPr>
                                <m:t>𝑎𝑏</m:t>
                              </m:r>
                            </m:e>
                          </m:acc>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oMath>
                  </m:oMathPara>
                </a14:m>
                <a:endParaRPr lang="en-US" sz="3200" dirty="0"/>
              </a:p>
            </p:txBody>
          </p:sp>
        </mc:Choice>
        <mc:Fallback xmlns="">
          <p:sp>
            <p:nvSpPr>
              <p:cNvPr id="3" name="TextBox 2">
                <a:extLst>
                  <a:ext uri="{FF2B5EF4-FFF2-40B4-BE49-F238E27FC236}">
                    <a16:creationId xmlns:a16="http://schemas.microsoft.com/office/drawing/2014/main" id="{3F06675A-69F6-A9A3-FF66-D4F5D900A6C5}"/>
                  </a:ext>
                </a:extLst>
              </p:cNvPr>
              <p:cNvSpPr txBox="1">
                <a:spLocks noRot="1" noChangeAspect="1" noMove="1" noResize="1" noEditPoints="1" noAdjustHandles="1" noChangeArrowheads="1" noChangeShapeType="1" noTextEdit="1"/>
              </p:cNvSpPr>
              <p:nvPr/>
            </p:nvSpPr>
            <p:spPr>
              <a:xfrm>
                <a:off x="578081" y="273827"/>
                <a:ext cx="4789709" cy="117564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C927EA35-AC90-E529-5A8E-ABE9F1BAC0FF}"/>
                  </a:ext>
                </a:extLst>
              </p:cNvPr>
              <p:cNvSpPr txBox="1"/>
              <p:nvPr/>
            </p:nvSpPr>
            <p:spPr>
              <a:xfrm>
                <a:off x="9292918" y="1634858"/>
                <a:ext cx="3855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oMath>
                  </m:oMathPara>
                </a14:m>
                <a:endParaRPr lang="en-US" dirty="0"/>
              </a:p>
            </p:txBody>
          </p:sp>
        </mc:Choice>
        <mc:Fallback xmlns="">
          <p:sp>
            <p:nvSpPr>
              <p:cNvPr id="19" name="TextBox 18">
                <a:extLst>
                  <a:ext uri="{FF2B5EF4-FFF2-40B4-BE49-F238E27FC236}">
                    <a16:creationId xmlns:a16="http://schemas.microsoft.com/office/drawing/2014/main" id="{C927EA35-AC90-E529-5A8E-ABE9F1BAC0FF}"/>
                  </a:ext>
                </a:extLst>
              </p:cNvPr>
              <p:cNvSpPr txBox="1">
                <a:spLocks noRot="1" noChangeAspect="1" noMove="1" noResize="1" noEditPoints="1" noAdjustHandles="1" noChangeArrowheads="1" noChangeShapeType="1" noTextEdit="1"/>
              </p:cNvSpPr>
              <p:nvPr/>
            </p:nvSpPr>
            <p:spPr>
              <a:xfrm>
                <a:off x="9292918" y="1634858"/>
                <a:ext cx="385555"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60634965-E90C-C2E5-F7F0-6701362626A1}"/>
                  </a:ext>
                </a:extLst>
              </p:cNvPr>
              <p:cNvSpPr txBox="1"/>
              <p:nvPr/>
            </p:nvSpPr>
            <p:spPr>
              <a:xfrm>
                <a:off x="920222" y="1514064"/>
                <a:ext cx="5889754" cy="113678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bar>
                            <m:barPr>
                              <m:pos m:val="top"/>
                              <m:ctrlPr>
                                <a:rPr lang="en-US" sz="3200" b="0" i="1" smtClean="0">
                                  <a:latin typeface="Cambria Math" panose="02040503050406030204" pitchFamily="18" charset="0"/>
                                </a:rPr>
                              </m:ctrlPr>
                            </m:barPr>
                            <m:e>
                              <m:r>
                                <a:rPr lang="en-US" sz="3200" b="0" i="1" smtClean="0">
                                  <a:latin typeface="Cambria Math" panose="02040503050406030204" pitchFamily="18" charset="0"/>
                                </a:rPr>
                                <m:t>𝐶</m:t>
                              </m:r>
                              <m:r>
                                <a:rPr lang="en-US" sz="3200" b="0" i="1" smtClean="0">
                                  <a:latin typeface="Cambria Math" panose="02040503050406030204" pitchFamily="18" charset="0"/>
                                </a:rPr>
                                <m:t>𝜌</m:t>
                              </m:r>
                            </m:e>
                          </m:bar>
                        </m:num>
                        <m:den>
                          <m:r>
                            <a:rPr lang="en-US" sz="3200" b="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bar>
                            <m:barPr>
                              <m:pos m:val="top"/>
                              <m:ctrlPr>
                                <a:rPr lang="en-US" sz="3200" i="1">
                                  <a:latin typeface="Cambria Math" panose="02040503050406030204" pitchFamily="18" charset="0"/>
                                </a:rPr>
                              </m:ctrlPr>
                            </m:barPr>
                            <m:e>
                              <m:r>
                                <a:rPr lang="en-US" sz="3200" b="0" i="1" smtClean="0">
                                  <a:latin typeface="Cambria Math" panose="02040503050406030204" pitchFamily="18" charset="0"/>
                                </a:rPr>
                                <m:t>𝐶</m:t>
                              </m:r>
                              <m:r>
                                <a:rPr lang="en-US" sz="3200" i="1">
                                  <a:latin typeface="Cambria Math" panose="02040503050406030204" pitchFamily="18" charset="0"/>
                                </a:rPr>
                                <m:t>𝜌</m:t>
                              </m:r>
                            </m:e>
                          </m:bar>
                        </m:num>
                        <m:den>
                          <m:r>
                            <a:rPr lang="en-US" sz="320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oMath>
                  </m:oMathPara>
                </a14:m>
                <a:endParaRPr lang="en-US" sz="3200" dirty="0"/>
              </a:p>
            </p:txBody>
          </p:sp>
        </mc:Choice>
        <mc:Fallback xmlns="">
          <p:sp>
            <p:nvSpPr>
              <p:cNvPr id="5" name="TextBox 4">
                <a:extLst>
                  <a:ext uri="{FF2B5EF4-FFF2-40B4-BE49-F238E27FC236}">
                    <a16:creationId xmlns:a16="http://schemas.microsoft.com/office/drawing/2014/main" id="{60634965-E90C-C2E5-F7F0-6701362626A1}"/>
                  </a:ext>
                </a:extLst>
              </p:cNvPr>
              <p:cNvSpPr txBox="1">
                <a:spLocks noRot="1" noChangeAspect="1" noMove="1" noResize="1" noEditPoints="1" noAdjustHandles="1" noChangeArrowheads="1" noChangeShapeType="1" noTextEdit="1"/>
              </p:cNvSpPr>
              <p:nvPr/>
            </p:nvSpPr>
            <p:spPr>
              <a:xfrm>
                <a:off x="920222" y="1514064"/>
                <a:ext cx="5889754" cy="1136786"/>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DF29CFB-6F66-85EB-0B02-1F5C3A7C4BAD}"/>
                  </a:ext>
                </a:extLst>
              </p:cNvPr>
              <p:cNvSpPr txBox="1"/>
              <p:nvPr/>
            </p:nvSpPr>
            <p:spPr>
              <a:xfrm>
                <a:off x="766270" y="2985280"/>
                <a:ext cx="6448817" cy="103688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bar>
                        <m:barPr>
                          <m:pos m:val="top"/>
                          <m:ctrlPr>
                            <a:rPr lang="en-US" sz="3200" i="1" smtClean="0">
                              <a:latin typeface="Cambria Math" panose="02040503050406030204" pitchFamily="18" charset="0"/>
                            </a:rPr>
                          </m:ctrlPr>
                        </m:barPr>
                        <m:e>
                          <m:r>
                            <a:rPr lang="en-US" sz="3200" i="1">
                              <a:latin typeface="Cambria Math" panose="02040503050406030204" pitchFamily="18" charset="0"/>
                            </a:rPr>
                            <m:t>𝐶</m:t>
                          </m:r>
                          <m:r>
                            <a:rPr lang="en-US" sz="3200" i="1">
                              <a:latin typeface="Cambria Math" panose="02040503050406030204" pitchFamily="18" charset="0"/>
                            </a:rPr>
                            <m:t>𝜌</m:t>
                          </m:r>
                        </m:e>
                      </m:bar>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m:t>
                              </m:r>
                              <m:r>
                                <a:rPr lang="en-US" sz="3200" b="0" i="1" smtClean="0">
                                  <a:latin typeface="Cambria Math" panose="02040503050406030204" pitchFamily="18" charset="0"/>
                                </a:rPr>
                                <m:t>𝑏</m:t>
                              </m:r>
                            </m:sub>
                          </m:sSub>
                        </m:e>
                      </m:func>
                      <m:r>
                        <a:rPr lang="en-US" sz="3200" b="0" i="1" smtClean="0">
                          <a:latin typeface="Cambria Math" panose="02040503050406030204" pitchFamily="18" charset="0"/>
                        </a:rPr>
                        <m:t>=</m:t>
                      </m:r>
                      <m:func>
                        <m:funcPr>
                          <m:ctrlPr>
                            <a:rPr lang="en-US" sz="3200" b="0" i="1" smtClean="0">
                              <a:latin typeface="Cambria Math" panose="02040503050406030204" pitchFamily="18" charset="0"/>
                            </a:rPr>
                          </m:ctrlPr>
                        </m:funcPr>
                        <m:fName>
                          <m:r>
                            <m:rPr>
                              <m:sty m:val="p"/>
                            </m:rPr>
                            <a:rPr lang="en-US" sz="3200" b="0" i="0" smtClean="0">
                              <a:latin typeface="Cambria Math" panose="02040503050406030204" pitchFamily="18" charset="0"/>
                            </a:rPr>
                            <m:t>cos</m:t>
                          </m:r>
                        </m:fName>
                        <m:e>
                          <m:f>
                            <m:fPr>
                              <m:ctrlPr>
                                <a:rPr lang="en-US" sz="3200" b="0" i="1" smtClean="0">
                                  <a:latin typeface="Cambria Math" panose="02040503050406030204" pitchFamily="18" charset="0"/>
                                </a:rPr>
                              </m:ctrlPr>
                            </m:fPr>
                            <m:num>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𝜃</m:t>
                                  </m:r>
                                </m:e>
                                <m:sub>
                                  <m:r>
                                    <a:rPr lang="en-US" sz="3200" b="0" i="1" smtClean="0">
                                      <a:latin typeface="Cambria Math" panose="02040503050406030204" pitchFamily="18" charset="0"/>
                                    </a:rPr>
                                    <m:t>𝜓𝜙</m:t>
                                  </m:r>
                                </m:sub>
                              </m:sSub>
                            </m:num>
                            <m:den>
                              <m:r>
                                <a:rPr lang="en-US" sz="3200" b="0" i="1" smtClean="0">
                                  <a:latin typeface="Cambria Math" panose="02040503050406030204" pitchFamily="18" charset="0"/>
                                </a:rPr>
                                <m:t>2</m:t>
                              </m:r>
                            </m:den>
                          </m:f>
                        </m:e>
                      </m:func>
                      <m:r>
                        <a:rPr lang="en-US" sz="3200" b="0" i="1" smtClean="0">
                          <a:latin typeface="Cambria Math" panose="02040503050406030204" pitchFamily="18" charset="0"/>
                        </a:rPr>
                        <m:t>=</m:t>
                      </m:r>
                      <m:d>
                        <m:dPr>
                          <m:begChr m:val="|"/>
                          <m:endChr m:val="|"/>
                          <m:ctrlPr>
                            <a:rPr lang="en-US" sz="3200" i="1">
                              <a:latin typeface="Cambria Math" panose="02040503050406030204" pitchFamily="18" charset="0"/>
                            </a:rPr>
                          </m:ctrlPr>
                        </m:dPr>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d>
                    </m:oMath>
                  </m:oMathPara>
                </a14:m>
                <a:endParaRPr lang="en-US" sz="3200" dirty="0"/>
              </a:p>
            </p:txBody>
          </p:sp>
        </mc:Choice>
        <mc:Fallback xmlns="">
          <p:sp>
            <p:nvSpPr>
              <p:cNvPr id="17" name="TextBox 16">
                <a:extLst>
                  <a:ext uri="{FF2B5EF4-FFF2-40B4-BE49-F238E27FC236}">
                    <a16:creationId xmlns:a16="http://schemas.microsoft.com/office/drawing/2014/main" id="{0DF29CFB-6F66-85EB-0B02-1F5C3A7C4BAD}"/>
                  </a:ext>
                </a:extLst>
              </p:cNvPr>
              <p:cNvSpPr txBox="1">
                <a:spLocks noRot="1" noChangeAspect="1" noMove="1" noResize="1" noEditPoints="1" noAdjustHandles="1" noChangeArrowheads="1" noChangeShapeType="1" noTextEdit="1"/>
              </p:cNvSpPr>
              <p:nvPr/>
            </p:nvSpPr>
            <p:spPr>
              <a:xfrm>
                <a:off x="766270" y="2985280"/>
                <a:ext cx="6448817" cy="1036887"/>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D48B9B74-F84D-3BA5-F2A4-E6A942AC2F99}"/>
                  </a:ext>
                </a:extLst>
              </p:cNvPr>
              <p:cNvSpPr txBox="1"/>
              <p:nvPr/>
            </p:nvSpPr>
            <p:spPr>
              <a:xfrm>
                <a:off x="7577280" y="1819524"/>
                <a:ext cx="37144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𝑎</m:t>
                      </m:r>
                    </m:oMath>
                  </m:oMathPara>
                </a14:m>
                <a:endParaRPr lang="en-US" dirty="0"/>
              </a:p>
            </p:txBody>
          </p:sp>
        </mc:Choice>
        <mc:Fallback xmlns="">
          <p:sp>
            <p:nvSpPr>
              <p:cNvPr id="18" name="TextBox 17">
                <a:extLst>
                  <a:ext uri="{FF2B5EF4-FFF2-40B4-BE49-F238E27FC236}">
                    <a16:creationId xmlns:a16="http://schemas.microsoft.com/office/drawing/2014/main" id="{D48B9B74-F84D-3BA5-F2A4-E6A942AC2F99}"/>
                  </a:ext>
                </a:extLst>
              </p:cNvPr>
              <p:cNvSpPr txBox="1">
                <a:spLocks noRot="1" noChangeAspect="1" noMove="1" noResize="1" noEditPoints="1" noAdjustHandles="1" noChangeArrowheads="1" noChangeShapeType="1" noTextEdit="1"/>
              </p:cNvSpPr>
              <p:nvPr/>
            </p:nvSpPr>
            <p:spPr>
              <a:xfrm>
                <a:off x="7577280" y="1819524"/>
                <a:ext cx="371447"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4E9A6969-F840-EC2E-FF01-0B453C77D76F}"/>
                  </a:ext>
                </a:extLst>
              </p:cNvPr>
              <p:cNvSpPr txBox="1"/>
              <p:nvPr/>
            </p:nvSpPr>
            <p:spPr>
              <a:xfrm>
                <a:off x="578081" y="4448405"/>
                <a:ext cx="7812652" cy="104220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3200" b="0" i="1" smtClean="0">
                          <a:latin typeface="Cambria Math" panose="02040503050406030204" pitchFamily="18" charset="0"/>
                        </a:rPr>
                        <m:t>𝜌</m:t>
                      </m:r>
                      <m:r>
                        <a:rPr lang="en-US" sz="3200" b="0" i="1" smtClean="0">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d>
                            <m:dPr>
                              <m:begChr m:val="|"/>
                              <m:endChr m:val="|"/>
                              <m:ctrlPr>
                                <a:rPr lang="en-US" sz="3200" i="1">
                                  <a:latin typeface="Cambria Math" panose="02040503050406030204" pitchFamily="18" charset="0"/>
                                </a:rPr>
                              </m:ctrlPr>
                            </m:dPr>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d>
                        </m:num>
                        <m:den>
                          <m:r>
                            <a:rPr lang="en-US" sz="3200" b="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𝑏</m:t>
                          </m:r>
                        </m:e>
                      </m:d>
                      <m:r>
                        <a:rPr lang="en-US" sz="3200" i="1">
                          <a:latin typeface="Cambria Math" panose="02040503050406030204" pitchFamily="18" charset="0"/>
                        </a:rPr>
                        <m:t>+</m:t>
                      </m:r>
                      <m:f>
                        <m:fPr>
                          <m:ctrlPr>
                            <a:rPr lang="en-US" sz="3200" i="1">
                              <a:latin typeface="Cambria Math" panose="02040503050406030204" pitchFamily="18" charset="0"/>
                            </a:rPr>
                          </m:ctrlPr>
                        </m:fPr>
                        <m:num>
                          <m:r>
                            <a:rPr lang="en-US" sz="3200" b="0" i="1" smtClean="0">
                              <a:latin typeface="Cambria Math" panose="02040503050406030204" pitchFamily="18" charset="0"/>
                            </a:rPr>
                            <m:t>1−</m:t>
                          </m:r>
                          <m:d>
                            <m:dPr>
                              <m:begChr m:val="|"/>
                              <m:endChr m:val="|"/>
                              <m:ctrlPr>
                                <a:rPr lang="en-US" sz="3200" i="1">
                                  <a:latin typeface="Cambria Math" panose="02040503050406030204" pitchFamily="18" charset="0"/>
                                </a:rPr>
                              </m:ctrlPr>
                            </m:dPr>
                            <m:e>
                              <m:d>
                                <m:dPr>
                                  <m:begChr m:val="⟨"/>
                                  <m:endChr m:val="⟩"/>
                                  <m:ctrlPr>
                                    <a:rPr lang="en-US" sz="3200" i="1">
                                      <a:latin typeface="Cambria Math" panose="02040503050406030204" pitchFamily="18" charset="0"/>
                                    </a:rPr>
                                  </m:ctrlPr>
                                </m:dPr>
                                <m:e>
                                  <m:r>
                                    <a:rPr lang="en-US" sz="3200" i="1">
                                      <a:latin typeface="Cambria Math" panose="02040503050406030204" pitchFamily="18" charset="0"/>
                                    </a:rPr>
                                    <m:t>𝜓</m:t>
                                  </m:r>
                                </m:e>
                                <m:e>
                                  <m:r>
                                    <a:rPr lang="en-US" sz="3200" i="1">
                                      <a:latin typeface="Cambria Math" panose="02040503050406030204" pitchFamily="18" charset="0"/>
                                    </a:rPr>
                                    <m:t>𝜙</m:t>
                                  </m:r>
                                </m:e>
                              </m:d>
                            </m:e>
                          </m:d>
                        </m:num>
                        <m:den>
                          <m:r>
                            <a:rPr lang="en-US" sz="3200" i="1" smtClean="0">
                              <a:latin typeface="Cambria Math" panose="02040503050406030204" pitchFamily="18" charset="0"/>
                            </a:rPr>
                            <m:t>2</m:t>
                          </m:r>
                        </m:den>
                      </m:f>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d>
                        <m:dPr>
                          <m:begChr m:val="⟨"/>
                          <m:endChr m:val="|"/>
                          <m:ctrlPr>
                            <a:rPr lang="en-US" sz="3200" i="1">
                              <a:latin typeface="Cambria Math" panose="02040503050406030204" pitchFamily="18" charset="0"/>
                            </a:rPr>
                          </m:ctrlPr>
                        </m:dPr>
                        <m:e>
                          <m:r>
                            <a:rPr lang="en-US" sz="3200" b="0" i="1" smtClean="0">
                              <a:latin typeface="Cambria Math" panose="02040503050406030204" pitchFamily="18" charset="0"/>
                            </a:rPr>
                            <m:t>𝑎</m:t>
                          </m:r>
                        </m:e>
                      </m:d>
                    </m:oMath>
                  </m:oMathPara>
                </a14:m>
                <a:endParaRPr lang="en-US" sz="3200" dirty="0"/>
              </a:p>
            </p:txBody>
          </p:sp>
        </mc:Choice>
        <mc:Fallback xmlns="">
          <p:sp>
            <p:nvSpPr>
              <p:cNvPr id="20" name="TextBox 19">
                <a:extLst>
                  <a:ext uri="{FF2B5EF4-FFF2-40B4-BE49-F238E27FC236}">
                    <a16:creationId xmlns:a16="http://schemas.microsoft.com/office/drawing/2014/main" id="{4E9A6969-F840-EC2E-FF01-0B453C77D76F}"/>
                  </a:ext>
                </a:extLst>
              </p:cNvPr>
              <p:cNvSpPr txBox="1">
                <a:spLocks noRot="1" noChangeAspect="1" noMove="1" noResize="1" noEditPoints="1" noAdjustHandles="1" noChangeArrowheads="1" noChangeShapeType="1" noTextEdit="1"/>
              </p:cNvSpPr>
              <p:nvPr/>
            </p:nvSpPr>
            <p:spPr>
              <a:xfrm>
                <a:off x="578081" y="4448405"/>
                <a:ext cx="7812652" cy="1042208"/>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0813432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C7697-7B0C-E13A-AF39-F6F31D57BEA4}"/>
            </a:ext>
          </a:extLst>
        </p:cNvPr>
        <p:cNvGrpSpPr/>
        <p:nvPr/>
      </p:nvGrpSpPr>
      <p:grpSpPr>
        <a:xfrm>
          <a:off x="0" y="0"/>
          <a:ext cx="0" cy="0"/>
          <a:chOff x="0" y="0"/>
          <a:chExt cx="0" cy="0"/>
        </a:xfrm>
      </p:grpSpPr>
      <p:grpSp>
        <p:nvGrpSpPr>
          <p:cNvPr id="59" name="Group 58">
            <a:extLst>
              <a:ext uri="{FF2B5EF4-FFF2-40B4-BE49-F238E27FC236}">
                <a16:creationId xmlns:a16="http://schemas.microsoft.com/office/drawing/2014/main" id="{0BF19EE3-CA95-4FBB-9A54-4D67CD3CF9AA}"/>
              </a:ext>
            </a:extLst>
          </p:cNvPr>
          <p:cNvGrpSpPr/>
          <p:nvPr/>
        </p:nvGrpSpPr>
        <p:grpSpPr>
          <a:xfrm>
            <a:off x="3834765" y="1130667"/>
            <a:ext cx="3934933" cy="3378028"/>
            <a:chOff x="3834765" y="1130667"/>
            <a:chExt cx="3934933" cy="3378028"/>
          </a:xfrm>
        </p:grpSpPr>
        <p:sp>
          <p:nvSpPr>
            <p:cNvPr id="2" name="Oval 1">
              <a:extLst>
                <a:ext uri="{FF2B5EF4-FFF2-40B4-BE49-F238E27FC236}">
                  <a16:creationId xmlns:a16="http://schemas.microsoft.com/office/drawing/2014/main" id="{39BB1732-DEDF-591E-7344-517595029D42}"/>
                </a:ext>
              </a:extLst>
            </p:cNvPr>
            <p:cNvSpPr/>
            <p:nvPr/>
          </p:nvSpPr>
          <p:spPr>
            <a:xfrm>
              <a:off x="4291141" y="1376612"/>
              <a:ext cx="3132083" cy="3132083"/>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 name="Straight Connector 3">
              <a:extLst>
                <a:ext uri="{FF2B5EF4-FFF2-40B4-BE49-F238E27FC236}">
                  <a16:creationId xmlns:a16="http://schemas.microsoft.com/office/drawing/2014/main" id="{77FE09A2-6520-75CD-2DB2-1D239F6B946D}"/>
                </a:ext>
              </a:extLst>
            </p:cNvPr>
            <p:cNvCxnSpPr>
              <a:stCxn id="2" idx="2"/>
              <a:endCxn id="2" idx="6"/>
            </p:cNvCxnSpPr>
            <p:nvPr/>
          </p:nvCxnSpPr>
          <p:spPr>
            <a:xfrm>
              <a:off x="4291141" y="2942654"/>
              <a:ext cx="313208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C51E1C39-EBE5-C48C-8F70-02C250D560CE}"/>
                </a:ext>
              </a:extLst>
            </p:cNvPr>
            <p:cNvCxnSpPr>
              <a:cxnSpLocks/>
              <a:endCxn id="2" idx="6"/>
            </p:cNvCxnSpPr>
            <p:nvPr/>
          </p:nvCxnSpPr>
          <p:spPr>
            <a:xfrm>
              <a:off x="6475678" y="1499999"/>
              <a:ext cx="947546" cy="1442655"/>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585A972-EF9E-A096-8F6F-292AFFF237BA}"/>
                </a:ext>
              </a:extLst>
            </p:cNvPr>
            <p:cNvCxnSpPr>
              <a:cxnSpLocks/>
            </p:cNvCxnSpPr>
            <p:nvPr/>
          </p:nvCxnSpPr>
          <p:spPr>
            <a:xfrm flipV="1">
              <a:off x="4556760" y="2082165"/>
              <a:ext cx="2611755" cy="171069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BCFFC53-23FA-6F02-816D-6418468B5DA6}"/>
                    </a:ext>
                  </a:extLst>
                </p:cNvPr>
                <p:cNvSpPr txBox="1"/>
                <p:nvPr/>
              </p:nvSpPr>
              <p:spPr>
                <a:xfrm>
                  <a:off x="7366832" y="2752844"/>
                  <a:ext cx="40286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𝜓</m:t>
                        </m:r>
                      </m:oMath>
                    </m:oMathPara>
                  </a14:m>
                  <a:endParaRPr lang="en-US" dirty="0"/>
                </a:p>
              </p:txBody>
            </p:sp>
          </mc:Choice>
          <mc:Fallback xmlns="">
            <p:sp>
              <p:nvSpPr>
                <p:cNvPr id="12" name="TextBox 11">
                  <a:extLst>
                    <a:ext uri="{FF2B5EF4-FFF2-40B4-BE49-F238E27FC236}">
                      <a16:creationId xmlns:a16="http://schemas.microsoft.com/office/drawing/2014/main" id="{9BCFFC53-23FA-6F02-816D-6418468B5DA6}"/>
                    </a:ext>
                  </a:extLst>
                </p:cNvPr>
                <p:cNvSpPr txBox="1">
                  <a:spLocks noRot="1" noChangeAspect="1" noMove="1" noResize="1" noEditPoints="1" noAdjustHandles="1" noChangeArrowheads="1" noChangeShapeType="1" noTextEdit="1"/>
                </p:cNvSpPr>
                <p:nvPr/>
              </p:nvSpPr>
              <p:spPr>
                <a:xfrm>
                  <a:off x="7366832" y="2752844"/>
                  <a:ext cx="402866" cy="369332"/>
                </a:xfrm>
                <a:prstGeom prst="rect">
                  <a:avLst/>
                </a:prstGeom>
                <a:blipFill>
                  <a:blip r:embed="rId2"/>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78FD217-A485-A654-30A9-E724C00A3C5C}"/>
                    </a:ext>
                  </a:extLst>
                </p:cNvPr>
                <p:cNvSpPr txBox="1"/>
                <p:nvPr/>
              </p:nvSpPr>
              <p:spPr>
                <a:xfrm>
                  <a:off x="6333564" y="1130667"/>
                  <a:ext cx="39959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𝜙</m:t>
                        </m:r>
                      </m:oMath>
                    </m:oMathPara>
                  </a14:m>
                  <a:endParaRPr lang="en-US" dirty="0"/>
                </a:p>
              </p:txBody>
            </p:sp>
          </mc:Choice>
          <mc:Fallback xmlns="">
            <p:sp>
              <p:nvSpPr>
                <p:cNvPr id="14" name="TextBox 13">
                  <a:extLst>
                    <a:ext uri="{FF2B5EF4-FFF2-40B4-BE49-F238E27FC236}">
                      <a16:creationId xmlns:a16="http://schemas.microsoft.com/office/drawing/2014/main" id="{578FD217-A485-A654-30A9-E724C00A3C5C}"/>
                    </a:ext>
                  </a:extLst>
                </p:cNvPr>
                <p:cNvSpPr txBox="1">
                  <a:spLocks noRot="1" noChangeAspect="1" noMove="1" noResize="1" noEditPoints="1" noAdjustHandles="1" noChangeArrowheads="1" noChangeShapeType="1" noTextEdit="1"/>
                </p:cNvSpPr>
                <p:nvPr/>
              </p:nvSpPr>
              <p:spPr>
                <a:xfrm>
                  <a:off x="6333564" y="1130667"/>
                  <a:ext cx="399597" cy="369332"/>
                </a:xfrm>
                <a:prstGeom prst="rect">
                  <a:avLst/>
                </a:prstGeom>
                <a:blipFill>
                  <a:blip r:embed="rId3"/>
                  <a:stretch>
                    <a:fillRect b="-114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654E6951-2398-0BD8-F8E7-8BC324618903}"/>
                    </a:ext>
                  </a:extLst>
                </p:cNvPr>
                <p:cNvSpPr txBox="1"/>
                <p:nvPr/>
              </p:nvSpPr>
              <p:spPr>
                <a:xfrm>
                  <a:off x="6838405" y="1828443"/>
                  <a:ext cx="37023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𝜌</m:t>
                        </m:r>
                      </m:oMath>
                    </m:oMathPara>
                  </a14:m>
                  <a:endParaRPr lang="en-US" dirty="0"/>
                </a:p>
              </p:txBody>
            </p:sp>
          </mc:Choice>
          <mc:Fallback xmlns="">
            <p:sp>
              <p:nvSpPr>
                <p:cNvPr id="16" name="TextBox 15">
                  <a:extLst>
                    <a:ext uri="{FF2B5EF4-FFF2-40B4-BE49-F238E27FC236}">
                      <a16:creationId xmlns:a16="http://schemas.microsoft.com/office/drawing/2014/main" id="{654E6951-2398-0BD8-F8E7-8BC324618903}"/>
                    </a:ext>
                  </a:extLst>
                </p:cNvPr>
                <p:cNvSpPr txBox="1">
                  <a:spLocks noRot="1" noChangeAspect="1" noMove="1" noResize="1" noEditPoints="1" noAdjustHandles="1" noChangeArrowheads="1" noChangeShapeType="1" noTextEdit="1"/>
                </p:cNvSpPr>
                <p:nvPr/>
              </p:nvSpPr>
              <p:spPr>
                <a:xfrm>
                  <a:off x="6838405" y="1828443"/>
                  <a:ext cx="370230" cy="369332"/>
                </a:xfrm>
                <a:prstGeom prst="rect">
                  <a:avLst/>
                </a:prstGeom>
                <a:blipFill>
                  <a:blip r:embed="rId4"/>
                  <a:stretch>
                    <a:fillRect b="-491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D7E57A0B-9214-56B3-4553-7C91D528C78C}"/>
                    </a:ext>
                  </a:extLst>
                </p:cNvPr>
                <p:cNvSpPr txBox="1"/>
                <p:nvPr/>
              </p:nvSpPr>
              <p:spPr>
                <a:xfrm>
                  <a:off x="6282900" y="2955989"/>
                  <a:ext cx="38555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oMath>
                    </m:oMathPara>
                  </a14:m>
                  <a:endParaRPr lang="en-US" dirty="0"/>
                </a:p>
              </p:txBody>
            </p:sp>
          </mc:Choice>
          <mc:Fallback xmlns="">
            <p:sp>
              <p:nvSpPr>
                <p:cNvPr id="19" name="TextBox 18">
                  <a:extLst>
                    <a:ext uri="{FF2B5EF4-FFF2-40B4-BE49-F238E27FC236}">
                      <a16:creationId xmlns:a16="http://schemas.microsoft.com/office/drawing/2014/main" id="{D7E57A0B-9214-56B3-4553-7C91D528C78C}"/>
                    </a:ext>
                  </a:extLst>
                </p:cNvPr>
                <p:cNvSpPr txBox="1">
                  <a:spLocks noRot="1" noChangeAspect="1" noMove="1" noResize="1" noEditPoints="1" noAdjustHandles="1" noChangeArrowheads="1" noChangeShapeType="1" noTextEdit="1"/>
                </p:cNvSpPr>
                <p:nvPr/>
              </p:nvSpPr>
              <p:spPr>
                <a:xfrm>
                  <a:off x="6282900" y="2955989"/>
                  <a:ext cx="385555" cy="369332"/>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71A34CCA-0D50-6549-446E-4843DF0E28B5}"/>
                </a:ext>
              </a:extLst>
            </p:cNvPr>
            <p:cNvCxnSpPr>
              <a:cxnSpLocks/>
            </p:cNvCxnSpPr>
            <p:nvPr/>
          </p:nvCxnSpPr>
          <p:spPr>
            <a:xfrm flipV="1">
              <a:off x="5857182" y="1514475"/>
              <a:ext cx="612094" cy="1423035"/>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26CBACCD-3D50-F267-94ED-1B11CF5B386A}"/>
                </a:ext>
              </a:extLst>
            </p:cNvPr>
            <p:cNvSpPr/>
            <p:nvPr/>
          </p:nvSpPr>
          <p:spPr>
            <a:xfrm>
              <a:off x="6928496" y="2197776"/>
              <a:ext cx="49530" cy="4953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4" name="Straight Connector 53">
              <a:extLst>
                <a:ext uri="{FF2B5EF4-FFF2-40B4-BE49-F238E27FC236}">
                  <a16:creationId xmlns:a16="http://schemas.microsoft.com/office/drawing/2014/main" id="{5B570509-5FB0-B8C0-CBD8-5D9A84BD06BA}"/>
                </a:ext>
              </a:extLst>
            </p:cNvPr>
            <p:cNvCxnSpPr>
              <a:cxnSpLocks/>
            </p:cNvCxnSpPr>
            <p:nvPr/>
          </p:nvCxnSpPr>
          <p:spPr>
            <a:xfrm>
              <a:off x="6479488" y="1514475"/>
              <a:ext cx="1322" cy="143637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8EED1AFB-28D8-0901-E626-990305AEEAC4}"/>
                    </a:ext>
                  </a:extLst>
                </p:cNvPr>
                <p:cNvSpPr txBox="1"/>
                <p:nvPr/>
              </p:nvSpPr>
              <p:spPr>
                <a:xfrm>
                  <a:off x="3834765" y="2727601"/>
                  <a:ext cx="53668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𝜓</m:t>
                            </m:r>
                          </m:e>
                          <m:sup>
                            <m:r>
                              <a:rPr lang="en-US" b="0" i="1" smtClean="0">
                                <a:latin typeface="Cambria Math" panose="02040503050406030204" pitchFamily="18" charset="0"/>
                              </a:rPr>
                              <m:t>⊥</m:t>
                            </m:r>
                          </m:sup>
                        </m:sSup>
                      </m:oMath>
                    </m:oMathPara>
                  </a14:m>
                  <a:endParaRPr lang="en-US" dirty="0"/>
                </a:p>
              </p:txBody>
            </p:sp>
          </mc:Choice>
          <mc:Fallback xmlns="">
            <p:sp>
              <p:nvSpPr>
                <p:cNvPr id="57" name="TextBox 56">
                  <a:extLst>
                    <a:ext uri="{FF2B5EF4-FFF2-40B4-BE49-F238E27FC236}">
                      <a16:creationId xmlns:a16="http://schemas.microsoft.com/office/drawing/2014/main" id="{8EED1AFB-28D8-0901-E626-990305AEEAC4}"/>
                    </a:ext>
                  </a:extLst>
                </p:cNvPr>
                <p:cNvSpPr txBox="1">
                  <a:spLocks noRot="1" noChangeAspect="1" noMove="1" noResize="1" noEditPoints="1" noAdjustHandles="1" noChangeArrowheads="1" noChangeShapeType="1" noTextEdit="1"/>
                </p:cNvSpPr>
                <p:nvPr/>
              </p:nvSpPr>
              <p:spPr>
                <a:xfrm>
                  <a:off x="3834765" y="2727601"/>
                  <a:ext cx="536685" cy="369332"/>
                </a:xfrm>
                <a:prstGeom prst="rect">
                  <a:avLst/>
                </a:prstGeom>
                <a:blipFill>
                  <a:blip r:embed="rId6"/>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B6A5267B-FF24-81CB-0AFB-49F396615DB0}"/>
                    </a:ext>
                  </a:extLst>
                </p:cNvPr>
                <p:cNvSpPr txBox="1"/>
                <p:nvPr/>
              </p:nvSpPr>
              <p:spPr>
                <a:xfrm>
                  <a:off x="5586905" y="2628329"/>
                  <a:ext cx="398699"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oMath>
                    </m:oMathPara>
                  </a14:m>
                  <a:endParaRPr lang="en-US" dirty="0"/>
                </a:p>
              </p:txBody>
            </p:sp>
          </mc:Choice>
          <mc:Fallback xmlns="">
            <p:sp>
              <p:nvSpPr>
                <p:cNvPr id="58" name="TextBox 57">
                  <a:extLst>
                    <a:ext uri="{FF2B5EF4-FFF2-40B4-BE49-F238E27FC236}">
                      <a16:creationId xmlns:a16="http://schemas.microsoft.com/office/drawing/2014/main" id="{B6A5267B-FF24-81CB-0AFB-49F396615DB0}"/>
                    </a:ext>
                  </a:extLst>
                </p:cNvPr>
                <p:cNvSpPr txBox="1">
                  <a:spLocks noRot="1" noChangeAspect="1" noMove="1" noResize="1" noEditPoints="1" noAdjustHandles="1" noChangeArrowheads="1" noChangeShapeType="1" noTextEdit="1"/>
                </p:cNvSpPr>
                <p:nvPr/>
              </p:nvSpPr>
              <p:spPr>
                <a:xfrm>
                  <a:off x="5586905" y="2628329"/>
                  <a:ext cx="398699" cy="369332"/>
                </a:xfrm>
                <a:prstGeom prst="rect">
                  <a:avLst/>
                </a:prstGeom>
                <a:blipFill>
                  <a:blip r:embed="rId7"/>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2798715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C3026-6C12-3D98-1E44-2F355537E130}"/>
            </a:ext>
          </a:extLst>
        </p:cNvPr>
        <p:cNvGrpSpPr/>
        <p:nvPr/>
      </p:nvGrpSpPr>
      <p:grpSpPr>
        <a:xfrm>
          <a:off x="0" y="0"/>
          <a:ext cx="0" cy="0"/>
          <a:chOff x="0" y="0"/>
          <a:chExt cx="0" cy="0"/>
        </a:xfrm>
      </p:grpSpPr>
      <p:cxnSp>
        <p:nvCxnSpPr>
          <p:cNvPr id="13" name="Straight Connector 12">
            <a:extLst>
              <a:ext uri="{FF2B5EF4-FFF2-40B4-BE49-F238E27FC236}">
                <a16:creationId xmlns:a16="http://schemas.microsoft.com/office/drawing/2014/main" id="{45D9EF22-903C-B574-22B3-2596596BDA4C}"/>
              </a:ext>
            </a:extLst>
          </p:cNvPr>
          <p:cNvCxnSpPr>
            <a:cxnSpLocks/>
          </p:cNvCxnSpPr>
          <p:nvPr/>
        </p:nvCxnSpPr>
        <p:spPr>
          <a:xfrm flipV="1">
            <a:off x="2008736" y="1991173"/>
            <a:ext cx="3927085" cy="2599830"/>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72A8AE86-5E87-F887-3F82-3B6D216A35E6}"/>
              </a:ext>
            </a:extLst>
          </p:cNvPr>
          <p:cNvSpPr/>
          <p:nvPr/>
        </p:nvSpPr>
        <p:spPr>
          <a:xfrm>
            <a:off x="1609346" y="918905"/>
            <a:ext cx="4709460" cy="476000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4" name="Straight Connector 3">
            <a:extLst>
              <a:ext uri="{FF2B5EF4-FFF2-40B4-BE49-F238E27FC236}">
                <a16:creationId xmlns:a16="http://schemas.microsoft.com/office/drawing/2014/main" id="{9F3271B5-BC9B-367C-1559-14AC7FAB13C8}"/>
              </a:ext>
            </a:extLst>
          </p:cNvPr>
          <p:cNvCxnSpPr>
            <a:stCxn id="2" idx="2"/>
            <a:endCxn id="2" idx="6"/>
          </p:cNvCxnSpPr>
          <p:nvPr/>
        </p:nvCxnSpPr>
        <p:spPr>
          <a:xfrm>
            <a:off x="1609346" y="3298906"/>
            <a:ext cx="47094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751B9878-EB4D-6345-30FC-5E97127C408B}"/>
              </a:ext>
            </a:extLst>
          </p:cNvPr>
          <p:cNvCxnSpPr>
            <a:cxnSpLocks/>
            <a:endCxn id="2" idx="6"/>
          </p:cNvCxnSpPr>
          <p:nvPr/>
        </p:nvCxnSpPr>
        <p:spPr>
          <a:xfrm>
            <a:off x="4894058" y="1106423"/>
            <a:ext cx="1424748" cy="2192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0D3F94E-E9B4-08A4-5D47-A5FC00302FCA}"/>
              </a:ext>
            </a:extLst>
          </p:cNvPr>
          <p:cNvCxnSpPr>
            <a:cxnSpLocks/>
          </p:cNvCxnSpPr>
          <p:nvPr/>
        </p:nvCxnSpPr>
        <p:spPr>
          <a:xfrm flipV="1">
            <a:off x="3964076" y="2194560"/>
            <a:ext cx="1664526" cy="11019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9807EE68-0299-814C-4475-A12678C0D745}"/>
                  </a:ext>
                </a:extLst>
              </p:cNvPr>
              <p:cNvSpPr txBox="1"/>
              <p:nvPr/>
            </p:nvSpPr>
            <p:spPr>
              <a:xfrm>
                <a:off x="6274122" y="3010441"/>
                <a:ext cx="4980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oMath>
                  </m:oMathPara>
                </a14:m>
                <a:endParaRPr lang="en-US" sz="2800" dirty="0"/>
              </a:p>
            </p:txBody>
          </p:sp>
        </mc:Choice>
        <mc:Fallback xmlns="">
          <p:sp>
            <p:nvSpPr>
              <p:cNvPr id="12" name="TextBox 11">
                <a:extLst>
                  <a:ext uri="{FF2B5EF4-FFF2-40B4-BE49-F238E27FC236}">
                    <a16:creationId xmlns:a16="http://schemas.microsoft.com/office/drawing/2014/main" id="{9807EE68-0299-814C-4475-A12678C0D745}"/>
                  </a:ext>
                </a:extLst>
              </p:cNvPr>
              <p:cNvSpPr txBox="1">
                <a:spLocks noRot="1" noChangeAspect="1" noMove="1" noResize="1" noEditPoints="1" noAdjustHandles="1" noChangeArrowheads="1" noChangeShapeType="1" noTextEdit="1"/>
              </p:cNvSpPr>
              <p:nvPr/>
            </p:nvSpPr>
            <p:spPr>
              <a:xfrm>
                <a:off x="6274122" y="3010441"/>
                <a:ext cx="498020"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A49219A-FD0C-235B-0CE6-1B14A5451A76}"/>
                  </a:ext>
                </a:extLst>
              </p:cNvPr>
              <p:cNvSpPr txBox="1"/>
              <p:nvPr/>
            </p:nvSpPr>
            <p:spPr>
              <a:xfrm>
                <a:off x="4680373" y="545129"/>
                <a:ext cx="50007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𝐹</m:t>
                      </m:r>
                    </m:oMath>
                  </m:oMathPara>
                </a14:m>
                <a:endParaRPr lang="en-US" sz="2800" dirty="0"/>
              </a:p>
            </p:txBody>
          </p:sp>
        </mc:Choice>
        <mc:Fallback xmlns="">
          <p:sp>
            <p:nvSpPr>
              <p:cNvPr id="14" name="TextBox 13">
                <a:extLst>
                  <a:ext uri="{FF2B5EF4-FFF2-40B4-BE49-F238E27FC236}">
                    <a16:creationId xmlns:a16="http://schemas.microsoft.com/office/drawing/2014/main" id="{DA49219A-FD0C-235B-0CE6-1B14A5451A76}"/>
                  </a:ext>
                </a:extLst>
              </p:cNvPr>
              <p:cNvSpPr txBox="1">
                <a:spLocks noRot="1" noChangeAspect="1" noMove="1" noResize="1" noEditPoints="1" noAdjustHandles="1" noChangeArrowheads="1" noChangeShapeType="1" noTextEdit="1"/>
              </p:cNvSpPr>
              <p:nvPr/>
            </p:nvSpPr>
            <p:spPr>
              <a:xfrm>
                <a:off x="4680373" y="545129"/>
                <a:ext cx="50007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9514FF1D-3428-69FB-432E-6932768B925D}"/>
                  </a:ext>
                </a:extLst>
              </p:cNvPr>
              <p:cNvSpPr txBox="1"/>
              <p:nvPr/>
            </p:nvSpPr>
            <p:spPr>
              <a:xfrm>
                <a:off x="5439462" y="1605578"/>
                <a:ext cx="5813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𝑀</m:t>
                      </m:r>
                    </m:oMath>
                  </m:oMathPara>
                </a14:m>
                <a:endParaRPr lang="en-US" sz="2800" dirty="0"/>
              </a:p>
            </p:txBody>
          </p:sp>
        </mc:Choice>
        <mc:Fallback xmlns="">
          <p:sp>
            <p:nvSpPr>
              <p:cNvPr id="16" name="TextBox 15">
                <a:extLst>
                  <a:ext uri="{FF2B5EF4-FFF2-40B4-BE49-F238E27FC236}">
                    <a16:creationId xmlns:a16="http://schemas.microsoft.com/office/drawing/2014/main" id="{9514FF1D-3428-69FB-432E-6932768B925D}"/>
                  </a:ext>
                </a:extLst>
              </p:cNvPr>
              <p:cNvSpPr txBox="1">
                <a:spLocks noRot="1" noChangeAspect="1" noMove="1" noResize="1" noEditPoints="1" noAdjustHandles="1" noChangeArrowheads="1" noChangeShapeType="1" noTextEdit="1"/>
              </p:cNvSpPr>
              <p:nvPr/>
            </p:nvSpPr>
            <p:spPr>
              <a:xfrm>
                <a:off x="5439462" y="1605578"/>
                <a:ext cx="581377"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93204C8A-D7A5-A395-6417-E51AAB1B99E7}"/>
                  </a:ext>
                </a:extLst>
              </p:cNvPr>
              <p:cNvSpPr txBox="1"/>
              <p:nvPr/>
            </p:nvSpPr>
            <p:spPr>
              <a:xfrm>
                <a:off x="4604194" y="3319172"/>
                <a:ext cx="537612" cy="572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𝐶</m:t>
                      </m:r>
                    </m:oMath>
                  </m:oMathPara>
                </a14:m>
                <a:endParaRPr lang="en-US" sz="2800" dirty="0"/>
              </a:p>
            </p:txBody>
          </p:sp>
        </mc:Choice>
        <mc:Fallback xmlns="">
          <p:sp>
            <p:nvSpPr>
              <p:cNvPr id="19" name="TextBox 18">
                <a:extLst>
                  <a:ext uri="{FF2B5EF4-FFF2-40B4-BE49-F238E27FC236}">
                    <a16:creationId xmlns:a16="http://schemas.microsoft.com/office/drawing/2014/main" id="{93204C8A-D7A5-A395-6417-E51AAB1B99E7}"/>
                  </a:ext>
                </a:extLst>
              </p:cNvPr>
              <p:cNvSpPr txBox="1">
                <a:spLocks noRot="1" noChangeAspect="1" noMove="1" noResize="1" noEditPoints="1" noAdjustHandles="1" noChangeArrowheads="1" noChangeShapeType="1" noTextEdit="1"/>
              </p:cNvSpPr>
              <p:nvPr/>
            </p:nvSpPr>
            <p:spPr>
              <a:xfrm>
                <a:off x="4604194" y="3319172"/>
                <a:ext cx="537612" cy="572051"/>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2B6B5469-3EE5-731F-5886-B2D98404F8B9}"/>
              </a:ext>
            </a:extLst>
          </p:cNvPr>
          <p:cNvCxnSpPr>
            <a:cxnSpLocks/>
          </p:cNvCxnSpPr>
          <p:nvPr/>
        </p:nvCxnSpPr>
        <p:spPr>
          <a:xfrm flipV="1">
            <a:off x="3964076" y="1128423"/>
            <a:ext cx="920356" cy="2162665"/>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7C242EBD-4E83-5554-BC26-D294CB36275F}"/>
              </a:ext>
            </a:extLst>
          </p:cNvPr>
          <p:cNvSpPr/>
          <p:nvPr/>
        </p:nvSpPr>
        <p:spPr>
          <a:xfrm>
            <a:off x="5574924" y="2166874"/>
            <a:ext cx="74474" cy="7527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54" name="Straight Connector 53">
            <a:extLst>
              <a:ext uri="{FF2B5EF4-FFF2-40B4-BE49-F238E27FC236}">
                <a16:creationId xmlns:a16="http://schemas.microsoft.com/office/drawing/2014/main" id="{243EFC29-AF10-DDBD-8290-749445995836}"/>
              </a:ext>
            </a:extLst>
          </p:cNvPr>
          <p:cNvCxnSpPr>
            <a:cxnSpLocks/>
          </p:cNvCxnSpPr>
          <p:nvPr/>
        </p:nvCxnSpPr>
        <p:spPr>
          <a:xfrm>
            <a:off x="4899787" y="1128423"/>
            <a:ext cx="1988" cy="218293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52B317B7-94E0-00F7-5864-E83BEFBA81CF}"/>
                  </a:ext>
                </a:extLst>
              </p:cNvPr>
              <p:cNvSpPr txBox="1"/>
              <p:nvPr/>
            </p:nvSpPr>
            <p:spPr>
              <a:xfrm>
                <a:off x="1115627" y="2972078"/>
                <a:ext cx="5189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𝑄</m:t>
                      </m:r>
                    </m:oMath>
                  </m:oMathPara>
                </a14:m>
                <a:endParaRPr lang="en-US" sz="2800" dirty="0"/>
              </a:p>
            </p:txBody>
          </p:sp>
        </mc:Choice>
        <mc:Fallback xmlns="">
          <p:sp>
            <p:nvSpPr>
              <p:cNvPr id="57" name="TextBox 56">
                <a:extLst>
                  <a:ext uri="{FF2B5EF4-FFF2-40B4-BE49-F238E27FC236}">
                    <a16:creationId xmlns:a16="http://schemas.microsoft.com/office/drawing/2014/main" id="{52B317B7-94E0-00F7-5864-E83BEFBA81CF}"/>
                  </a:ext>
                </a:extLst>
              </p:cNvPr>
              <p:cNvSpPr txBox="1">
                <a:spLocks noRot="1" noChangeAspect="1" noMove="1" noResize="1" noEditPoints="1" noAdjustHandles="1" noChangeArrowheads="1" noChangeShapeType="1" noTextEdit="1"/>
              </p:cNvSpPr>
              <p:nvPr/>
            </p:nvSpPr>
            <p:spPr>
              <a:xfrm>
                <a:off x="1115627" y="2972078"/>
                <a:ext cx="518988"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F98573E-24FE-9ED1-B34B-912A283FE75E}"/>
                  </a:ext>
                </a:extLst>
              </p:cNvPr>
              <p:cNvSpPr txBox="1"/>
              <p:nvPr/>
            </p:nvSpPr>
            <p:spPr>
              <a:xfrm>
                <a:off x="3557682" y="2821209"/>
                <a:ext cx="559528" cy="572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𝑂</m:t>
                      </m:r>
                    </m:oMath>
                  </m:oMathPara>
                </a14:m>
                <a:endParaRPr lang="en-US" sz="2800" dirty="0"/>
              </a:p>
            </p:txBody>
          </p:sp>
        </mc:Choice>
        <mc:Fallback xmlns="">
          <p:sp>
            <p:nvSpPr>
              <p:cNvPr id="58" name="TextBox 57">
                <a:extLst>
                  <a:ext uri="{FF2B5EF4-FFF2-40B4-BE49-F238E27FC236}">
                    <a16:creationId xmlns:a16="http://schemas.microsoft.com/office/drawing/2014/main" id="{3F98573E-24FE-9ED1-B34B-912A283FE75E}"/>
                  </a:ext>
                </a:extLst>
              </p:cNvPr>
              <p:cNvSpPr txBox="1">
                <a:spLocks noRot="1" noChangeAspect="1" noMove="1" noResize="1" noEditPoints="1" noAdjustHandles="1" noChangeArrowheads="1" noChangeShapeType="1" noTextEdit="1"/>
              </p:cNvSpPr>
              <p:nvPr/>
            </p:nvSpPr>
            <p:spPr>
              <a:xfrm>
                <a:off x="3557682" y="2821209"/>
                <a:ext cx="559528" cy="572051"/>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4F7EFA11-0E5D-0592-D77A-DEF5A2254F49}"/>
              </a:ext>
            </a:extLst>
          </p:cNvPr>
          <p:cNvCxnSpPr>
            <a:cxnSpLocks/>
          </p:cNvCxnSpPr>
          <p:nvPr/>
        </p:nvCxnSpPr>
        <p:spPr>
          <a:xfrm>
            <a:off x="1609346" y="3298906"/>
            <a:ext cx="32924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92FEC03F-8908-1CA3-D71C-D52F04A37D8A}"/>
                  </a:ext>
                </a:extLst>
              </p:cNvPr>
              <p:cNvSpPr txBox="1"/>
              <p:nvPr/>
            </p:nvSpPr>
            <p:spPr>
              <a:xfrm>
                <a:off x="4516600" y="2300783"/>
                <a:ext cx="44582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𝑟</m:t>
                      </m:r>
                    </m:oMath>
                  </m:oMathPara>
                </a14:m>
                <a:endParaRPr lang="en-US" sz="2800" dirty="0"/>
              </a:p>
            </p:txBody>
          </p:sp>
        </mc:Choice>
        <mc:Fallback xmlns="">
          <p:sp>
            <p:nvSpPr>
              <p:cNvPr id="17" name="TextBox 16">
                <a:extLst>
                  <a:ext uri="{FF2B5EF4-FFF2-40B4-BE49-F238E27FC236}">
                    <a16:creationId xmlns:a16="http://schemas.microsoft.com/office/drawing/2014/main" id="{92FEC03F-8908-1CA3-D71C-D52F04A37D8A}"/>
                  </a:ext>
                </a:extLst>
              </p:cNvPr>
              <p:cNvSpPr txBox="1">
                <a:spLocks noRot="1" noChangeAspect="1" noMove="1" noResize="1" noEditPoints="1" noAdjustHandles="1" noChangeArrowheads="1" noChangeShapeType="1" noTextEdit="1"/>
              </p:cNvSpPr>
              <p:nvPr/>
            </p:nvSpPr>
            <p:spPr>
              <a:xfrm>
                <a:off x="4516600" y="2300783"/>
                <a:ext cx="445828"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B4E0356-9C94-710D-F714-D37A1422466E}"/>
                  </a:ext>
                </a:extLst>
              </p:cNvPr>
              <p:cNvSpPr txBox="1"/>
              <p:nvPr/>
            </p:nvSpPr>
            <p:spPr>
              <a:xfrm>
                <a:off x="2886650" y="3224822"/>
                <a:ext cx="4711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𝑝</m:t>
                      </m:r>
                    </m:oMath>
                  </m:oMathPara>
                </a14:m>
                <a:endParaRPr lang="en-US" sz="2800" dirty="0"/>
              </a:p>
            </p:txBody>
          </p:sp>
        </mc:Choice>
        <mc:Fallback xmlns="">
          <p:sp>
            <p:nvSpPr>
              <p:cNvPr id="18" name="TextBox 17">
                <a:extLst>
                  <a:ext uri="{FF2B5EF4-FFF2-40B4-BE49-F238E27FC236}">
                    <a16:creationId xmlns:a16="http://schemas.microsoft.com/office/drawing/2014/main" id="{9B4E0356-9C94-710D-F714-D37A1422466E}"/>
                  </a:ext>
                </a:extLst>
              </p:cNvPr>
              <p:cNvSpPr txBox="1">
                <a:spLocks noRot="1" noChangeAspect="1" noMove="1" noResize="1" noEditPoints="1" noAdjustHandles="1" noChangeArrowheads="1" noChangeShapeType="1" noTextEdit="1"/>
              </p:cNvSpPr>
              <p:nvPr/>
            </p:nvSpPr>
            <p:spPr>
              <a:xfrm>
                <a:off x="2886650" y="3224822"/>
                <a:ext cx="471155" cy="523220"/>
              </a:xfrm>
              <a:prstGeom prst="rect">
                <a:avLst/>
              </a:prstGeom>
              <a:blipFill>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4324083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A883F-E897-EBAB-FFC8-A16CCE7D126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421D2E6-EB5E-C48B-C550-B48E5631CE2E}"/>
              </a:ext>
            </a:extLst>
          </p:cNvPr>
          <p:cNvSpPr/>
          <p:nvPr/>
        </p:nvSpPr>
        <p:spPr>
          <a:xfrm rot="19598101">
            <a:off x="3259929" y="936631"/>
            <a:ext cx="1971539" cy="1971539"/>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7E8830D-DE33-DE5A-D3F5-9A19A6831F28}"/>
              </a:ext>
            </a:extLst>
          </p:cNvPr>
          <p:cNvSpPr/>
          <p:nvPr/>
        </p:nvSpPr>
        <p:spPr>
          <a:xfrm>
            <a:off x="1612444" y="3311353"/>
            <a:ext cx="3289331" cy="4706361"/>
          </a:xfrm>
          <a:prstGeom prst="rect">
            <a:avLst/>
          </a:prstGeom>
          <a:solidFill>
            <a:srgbClr val="7030A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04EA11B-6196-AD91-026E-992A067C3A8E}"/>
              </a:ext>
            </a:extLst>
          </p:cNvPr>
          <p:cNvSpPr/>
          <p:nvPr/>
        </p:nvSpPr>
        <p:spPr>
          <a:xfrm>
            <a:off x="3964077" y="3298857"/>
            <a:ext cx="1635414" cy="2339943"/>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DC0559F2-4E3B-AFB1-51F2-A6DC5119D1B9}"/>
              </a:ext>
            </a:extLst>
          </p:cNvPr>
          <p:cNvCxnSpPr>
            <a:cxnSpLocks/>
          </p:cNvCxnSpPr>
          <p:nvPr/>
        </p:nvCxnSpPr>
        <p:spPr>
          <a:xfrm flipV="1">
            <a:off x="2008736" y="1991173"/>
            <a:ext cx="3927085" cy="2599830"/>
          </a:xfrm>
          <a:prstGeom prst="line">
            <a:avLst/>
          </a:prstGeom>
        </p:spPr>
        <p:style>
          <a:lnRef idx="1">
            <a:schemeClr val="accent1"/>
          </a:lnRef>
          <a:fillRef idx="0">
            <a:schemeClr val="accent1"/>
          </a:fillRef>
          <a:effectRef idx="0">
            <a:schemeClr val="accent1"/>
          </a:effectRef>
          <a:fontRef idx="minor">
            <a:schemeClr val="tx1"/>
          </a:fontRef>
        </p:style>
      </p:cxnSp>
      <p:sp>
        <p:nvSpPr>
          <p:cNvPr id="2" name="Oval 1">
            <a:extLst>
              <a:ext uri="{FF2B5EF4-FFF2-40B4-BE49-F238E27FC236}">
                <a16:creationId xmlns:a16="http://schemas.microsoft.com/office/drawing/2014/main" id="{527B0356-2EFC-E210-1109-9FF71C1AC866}"/>
              </a:ext>
            </a:extLst>
          </p:cNvPr>
          <p:cNvSpPr/>
          <p:nvPr/>
        </p:nvSpPr>
        <p:spPr>
          <a:xfrm>
            <a:off x="1609346" y="918905"/>
            <a:ext cx="4709460" cy="4760000"/>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4" name="Straight Connector 3">
            <a:extLst>
              <a:ext uri="{FF2B5EF4-FFF2-40B4-BE49-F238E27FC236}">
                <a16:creationId xmlns:a16="http://schemas.microsoft.com/office/drawing/2014/main" id="{E64D1309-A9FF-26F8-9878-09E7B2E0B00B}"/>
              </a:ext>
            </a:extLst>
          </p:cNvPr>
          <p:cNvCxnSpPr>
            <a:stCxn id="2" idx="2"/>
            <a:endCxn id="2" idx="6"/>
          </p:cNvCxnSpPr>
          <p:nvPr/>
        </p:nvCxnSpPr>
        <p:spPr>
          <a:xfrm>
            <a:off x="1609346" y="3298906"/>
            <a:ext cx="47094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551D17AD-6080-AA2A-2D68-D259D3F13F09}"/>
              </a:ext>
            </a:extLst>
          </p:cNvPr>
          <p:cNvCxnSpPr>
            <a:cxnSpLocks/>
            <a:endCxn id="2" idx="6"/>
          </p:cNvCxnSpPr>
          <p:nvPr/>
        </p:nvCxnSpPr>
        <p:spPr>
          <a:xfrm>
            <a:off x="4894058" y="1106423"/>
            <a:ext cx="1424748" cy="2192483"/>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169029B1-FF00-61CE-6C49-82408497DC24}"/>
              </a:ext>
            </a:extLst>
          </p:cNvPr>
          <p:cNvCxnSpPr>
            <a:cxnSpLocks/>
          </p:cNvCxnSpPr>
          <p:nvPr/>
        </p:nvCxnSpPr>
        <p:spPr>
          <a:xfrm flipV="1">
            <a:off x="3964076" y="2194560"/>
            <a:ext cx="1664526" cy="110195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3A6F35-239D-3236-01A9-CCE4FDB08F3A}"/>
                  </a:ext>
                </a:extLst>
              </p:cNvPr>
              <p:cNvSpPr txBox="1"/>
              <p:nvPr/>
            </p:nvSpPr>
            <p:spPr>
              <a:xfrm>
                <a:off x="6274122" y="3010441"/>
                <a:ext cx="498020"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𝑃</m:t>
                      </m:r>
                    </m:oMath>
                  </m:oMathPara>
                </a14:m>
                <a:endParaRPr lang="en-US" sz="2800" dirty="0"/>
              </a:p>
            </p:txBody>
          </p:sp>
        </mc:Choice>
        <mc:Fallback xmlns="">
          <p:sp>
            <p:nvSpPr>
              <p:cNvPr id="12" name="TextBox 11">
                <a:extLst>
                  <a:ext uri="{FF2B5EF4-FFF2-40B4-BE49-F238E27FC236}">
                    <a16:creationId xmlns:a16="http://schemas.microsoft.com/office/drawing/2014/main" id="{753A6F35-239D-3236-01A9-CCE4FDB08F3A}"/>
                  </a:ext>
                </a:extLst>
              </p:cNvPr>
              <p:cNvSpPr txBox="1">
                <a:spLocks noRot="1" noChangeAspect="1" noMove="1" noResize="1" noEditPoints="1" noAdjustHandles="1" noChangeArrowheads="1" noChangeShapeType="1" noTextEdit="1"/>
              </p:cNvSpPr>
              <p:nvPr/>
            </p:nvSpPr>
            <p:spPr>
              <a:xfrm>
                <a:off x="6274122" y="3010441"/>
                <a:ext cx="498020" cy="52322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09C995D8-DA1B-CBD0-2FC8-D2EAA021D421}"/>
                  </a:ext>
                </a:extLst>
              </p:cNvPr>
              <p:cNvSpPr txBox="1"/>
              <p:nvPr/>
            </p:nvSpPr>
            <p:spPr>
              <a:xfrm>
                <a:off x="4680373" y="545129"/>
                <a:ext cx="500072"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𝐹</m:t>
                      </m:r>
                    </m:oMath>
                  </m:oMathPara>
                </a14:m>
                <a:endParaRPr lang="en-US" sz="2800" dirty="0"/>
              </a:p>
            </p:txBody>
          </p:sp>
        </mc:Choice>
        <mc:Fallback xmlns="">
          <p:sp>
            <p:nvSpPr>
              <p:cNvPr id="14" name="TextBox 13">
                <a:extLst>
                  <a:ext uri="{FF2B5EF4-FFF2-40B4-BE49-F238E27FC236}">
                    <a16:creationId xmlns:a16="http://schemas.microsoft.com/office/drawing/2014/main" id="{09C995D8-DA1B-CBD0-2FC8-D2EAA021D421}"/>
                  </a:ext>
                </a:extLst>
              </p:cNvPr>
              <p:cNvSpPr txBox="1">
                <a:spLocks noRot="1" noChangeAspect="1" noMove="1" noResize="1" noEditPoints="1" noAdjustHandles="1" noChangeArrowheads="1" noChangeShapeType="1" noTextEdit="1"/>
              </p:cNvSpPr>
              <p:nvPr/>
            </p:nvSpPr>
            <p:spPr>
              <a:xfrm>
                <a:off x="4680373" y="545129"/>
                <a:ext cx="500072" cy="523220"/>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30D8E6-93D5-2ACF-C5FA-3D3553C77ADA}"/>
                  </a:ext>
                </a:extLst>
              </p:cNvPr>
              <p:cNvSpPr txBox="1"/>
              <p:nvPr/>
            </p:nvSpPr>
            <p:spPr>
              <a:xfrm>
                <a:off x="5439462" y="1605578"/>
                <a:ext cx="581377"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𝑀</m:t>
                      </m:r>
                    </m:oMath>
                  </m:oMathPara>
                </a14:m>
                <a:endParaRPr lang="en-US" sz="2800" dirty="0"/>
              </a:p>
            </p:txBody>
          </p:sp>
        </mc:Choice>
        <mc:Fallback xmlns="">
          <p:sp>
            <p:nvSpPr>
              <p:cNvPr id="16" name="TextBox 15">
                <a:extLst>
                  <a:ext uri="{FF2B5EF4-FFF2-40B4-BE49-F238E27FC236}">
                    <a16:creationId xmlns:a16="http://schemas.microsoft.com/office/drawing/2014/main" id="{E430D8E6-93D5-2ACF-C5FA-3D3553C77ADA}"/>
                  </a:ext>
                </a:extLst>
              </p:cNvPr>
              <p:cNvSpPr txBox="1">
                <a:spLocks noRot="1" noChangeAspect="1" noMove="1" noResize="1" noEditPoints="1" noAdjustHandles="1" noChangeArrowheads="1" noChangeShapeType="1" noTextEdit="1"/>
              </p:cNvSpPr>
              <p:nvPr/>
            </p:nvSpPr>
            <p:spPr>
              <a:xfrm>
                <a:off x="5439462" y="1605578"/>
                <a:ext cx="581377" cy="523220"/>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DBBCA22-3ED4-C7EB-3353-12B3078C56FD}"/>
                  </a:ext>
                </a:extLst>
              </p:cNvPr>
              <p:cNvSpPr txBox="1"/>
              <p:nvPr/>
            </p:nvSpPr>
            <p:spPr>
              <a:xfrm>
                <a:off x="4604194" y="3319172"/>
                <a:ext cx="537612" cy="572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𝐶</m:t>
                      </m:r>
                    </m:oMath>
                  </m:oMathPara>
                </a14:m>
                <a:endParaRPr lang="en-US" sz="2800" dirty="0"/>
              </a:p>
            </p:txBody>
          </p:sp>
        </mc:Choice>
        <mc:Fallback xmlns="">
          <p:sp>
            <p:nvSpPr>
              <p:cNvPr id="19" name="TextBox 18">
                <a:extLst>
                  <a:ext uri="{FF2B5EF4-FFF2-40B4-BE49-F238E27FC236}">
                    <a16:creationId xmlns:a16="http://schemas.microsoft.com/office/drawing/2014/main" id="{BDBBCA22-3ED4-C7EB-3353-12B3078C56FD}"/>
                  </a:ext>
                </a:extLst>
              </p:cNvPr>
              <p:cNvSpPr txBox="1">
                <a:spLocks noRot="1" noChangeAspect="1" noMove="1" noResize="1" noEditPoints="1" noAdjustHandles="1" noChangeArrowheads="1" noChangeShapeType="1" noTextEdit="1"/>
              </p:cNvSpPr>
              <p:nvPr/>
            </p:nvSpPr>
            <p:spPr>
              <a:xfrm>
                <a:off x="4604194" y="3319172"/>
                <a:ext cx="537612" cy="572051"/>
              </a:xfrm>
              <a:prstGeom prst="rect">
                <a:avLst/>
              </a:prstGeom>
              <a:blipFill>
                <a:blip r:embed="rId5"/>
                <a:stretch>
                  <a:fillRect/>
                </a:stretch>
              </a:blipFill>
            </p:spPr>
            <p:txBody>
              <a:bodyPr/>
              <a:lstStyle/>
              <a:p>
                <a:r>
                  <a:rPr lang="en-US">
                    <a:noFill/>
                  </a:rPr>
                  <a:t> </a:t>
                </a:r>
              </a:p>
            </p:txBody>
          </p:sp>
        </mc:Fallback>
      </mc:AlternateContent>
      <p:cxnSp>
        <p:nvCxnSpPr>
          <p:cNvPr id="25" name="Straight Connector 24">
            <a:extLst>
              <a:ext uri="{FF2B5EF4-FFF2-40B4-BE49-F238E27FC236}">
                <a16:creationId xmlns:a16="http://schemas.microsoft.com/office/drawing/2014/main" id="{607C5078-9845-D328-889E-6997F4980BE7}"/>
              </a:ext>
            </a:extLst>
          </p:cNvPr>
          <p:cNvCxnSpPr>
            <a:cxnSpLocks/>
          </p:cNvCxnSpPr>
          <p:nvPr/>
        </p:nvCxnSpPr>
        <p:spPr>
          <a:xfrm flipV="1">
            <a:off x="3964076" y="1128423"/>
            <a:ext cx="920356" cy="2162665"/>
          </a:xfrm>
          <a:prstGeom prst="line">
            <a:avLst/>
          </a:prstGeom>
        </p:spPr>
        <p:style>
          <a:lnRef idx="1">
            <a:schemeClr val="accent1"/>
          </a:lnRef>
          <a:fillRef idx="0">
            <a:schemeClr val="accent1"/>
          </a:fillRef>
          <a:effectRef idx="0">
            <a:schemeClr val="accent1"/>
          </a:effectRef>
          <a:fontRef idx="minor">
            <a:schemeClr val="tx1"/>
          </a:fontRef>
        </p:style>
      </p:cxnSp>
      <p:sp>
        <p:nvSpPr>
          <p:cNvPr id="40" name="Oval 39">
            <a:extLst>
              <a:ext uri="{FF2B5EF4-FFF2-40B4-BE49-F238E27FC236}">
                <a16:creationId xmlns:a16="http://schemas.microsoft.com/office/drawing/2014/main" id="{AA4F979F-71E3-AFE0-0E2A-77C4E3028A0F}"/>
              </a:ext>
            </a:extLst>
          </p:cNvPr>
          <p:cNvSpPr/>
          <p:nvPr/>
        </p:nvSpPr>
        <p:spPr>
          <a:xfrm>
            <a:off x="5574924" y="2166874"/>
            <a:ext cx="74474" cy="75273"/>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a:p>
        </p:txBody>
      </p:sp>
      <p:cxnSp>
        <p:nvCxnSpPr>
          <p:cNvPr id="54" name="Straight Connector 53">
            <a:extLst>
              <a:ext uri="{FF2B5EF4-FFF2-40B4-BE49-F238E27FC236}">
                <a16:creationId xmlns:a16="http://schemas.microsoft.com/office/drawing/2014/main" id="{D1BE67FA-3259-BC68-B981-7EDB3A081764}"/>
              </a:ext>
            </a:extLst>
          </p:cNvPr>
          <p:cNvCxnSpPr>
            <a:cxnSpLocks/>
          </p:cNvCxnSpPr>
          <p:nvPr/>
        </p:nvCxnSpPr>
        <p:spPr>
          <a:xfrm>
            <a:off x="4899787" y="1128423"/>
            <a:ext cx="1988" cy="2182931"/>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7" name="TextBox 56">
                <a:extLst>
                  <a:ext uri="{FF2B5EF4-FFF2-40B4-BE49-F238E27FC236}">
                    <a16:creationId xmlns:a16="http://schemas.microsoft.com/office/drawing/2014/main" id="{1A834679-2C42-1595-7B86-1586A5AA40D8}"/>
                  </a:ext>
                </a:extLst>
              </p:cNvPr>
              <p:cNvSpPr txBox="1"/>
              <p:nvPr/>
            </p:nvSpPr>
            <p:spPr>
              <a:xfrm>
                <a:off x="801097" y="2963212"/>
                <a:ext cx="51898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𝑄</m:t>
                      </m:r>
                    </m:oMath>
                  </m:oMathPara>
                </a14:m>
                <a:endParaRPr lang="en-US" sz="2800" dirty="0"/>
              </a:p>
            </p:txBody>
          </p:sp>
        </mc:Choice>
        <mc:Fallback xmlns="">
          <p:sp>
            <p:nvSpPr>
              <p:cNvPr id="57" name="TextBox 56">
                <a:extLst>
                  <a:ext uri="{FF2B5EF4-FFF2-40B4-BE49-F238E27FC236}">
                    <a16:creationId xmlns:a16="http://schemas.microsoft.com/office/drawing/2014/main" id="{1A834679-2C42-1595-7B86-1586A5AA40D8}"/>
                  </a:ext>
                </a:extLst>
              </p:cNvPr>
              <p:cNvSpPr txBox="1">
                <a:spLocks noRot="1" noChangeAspect="1" noMove="1" noResize="1" noEditPoints="1" noAdjustHandles="1" noChangeArrowheads="1" noChangeShapeType="1" noTextEdit="1"/>
              </p:cNvSpPr>
              <p:nvPr/>
            </p:nvSpPr>
            <p:spPr>
              <a:xfrm>
                <a:off x="801097" y="2963212"/>
                <a:ext cx="518988" cy="523220"/>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18016CED-F796-649D-EAAF-2118FDC5738C}"/>
                  </a:ext>
                </a:extLst>
              </p:cNvPr>
              <p:cNvSpPr txBox="1"/>
              <p:nvPr/>
            </p:nvSpPr>
            <p:spPr>
              <a:xfrm>
                <a:off x="3557682" y="2821209"/>
                <a:ext cx="559528" cy="572051"/>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𝑂</m:t>
                      </m:r>
                    </m:oMath>
                  </m:oMathPara>
                </a14:m>
                <a:endParaRPr lang="en-US" sz="2800" dirty="0"/>
              </a:p>
            </p:txBody>
          </p:sp>
        </mc:Choice>
        <mc:Fallback xmlns="">
          <p:sp>
            <p:nvSpPr>
              <p:cNvPr id="58" name="TextBox 57">
                <a:extLst>
                  <a:ext uri="{FF2B5EF4-FFF2-40B4-BE49-F238E27FC236}">
                    <a16:creationId xmlns:a16="http://schemas.microsoft.com/office/drawing/2014/main" id="{18016CED-F796-649D-EAAF-2118FDC5738C}"/>
                  </a:ext>
                </a:extLst>
              </p:cNvPr>
              <p:cNvSpPr txBox="1">
                <a:spLocks noRot="1" noChangeAspect="1" noMove="1" noResize="1" noEditPoints="1" noAdjustHandles="1" noChangeArrowheads="1" noChangeShapeType="1" noTextEdit="1"/>
              </p:cNvSpPr>
              <p:nvPr/>
            </p:nvSpPr>
            <p:spPr>
              <a:xfrm>
                <a:off x="3557682" y="2821209"/>
                <a:ext cx="559528" cy="572051"/>
              </a:xfrm>
              <a:prstGeom prst="rect">
                <a:avLst/>
              </a:prstGeom>
              <a:blipFill>
                <a:blip r:embed="rId7"/>
                <a:stretch>
                  <a:fillRect/>
                </a:stretch>
              </a:blipFill>
            </p:spPr>
            <p:txBody>
              <a:bodyPr/>
              <a:lstStyle/>
              <a:p>
                <a:r>
                  <a:rPr lang="en-US">
                    <a:noFill/>
                  </a:rPr>
                  <a:t> </a:t>
                </a:r>
              </a:p>
            </p:txBody>
          </p:sp>
        </mc:Fallback>
      </mc:AlternateContent>
      <p:cxnSp>
        <p:nvCxnSpPr>
          <p:cNvPr id="5" name="Straight Connector 4">
            <a:extLst>
              <a:ext uri="{FF2B5EF4-FFF2-40B4-BE49-F238E27FC236}">
                <a16:creationId xmlns:a16="http://schemas.microsoft.com/office/drawing/2014/main" id="{D3EDA78A-C79F-2E9C-1279-CFB7EE34BA2E}"/>
              </a:ext>
            </a:extLst>
          </p:cNvPr>
          <p:cNvCxnSpPr>
            <a:cxnSpLocks/>
          </p:cNvCxnSpPr>
          <p:nvPr/>
        </p:nvCxnSpPr>
        <p:spPr>
          <a:xfrm>
            <a:off x="1609346" y="3298906"/>
            <a:ext cx="32924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0F6B6E24-D591-D7C3-D84F-5D3BDD37E7A7}"/>
                  </a:ext>
                </a:extLst>
              </p:cNvPr>
              <p:cNvSpPr txBox="1"/>
              <p:nvPr/>
            </p:nvSpPr>
            <p:spPr>
              <a:xfrm>
                <a:off x="4516600" y="2300783"/>
                <a:ext cx="44582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𝑟</m:t>
                      </m:r>
                    </m:oMath>
                  </m:oMathPara>
                </a14:m>
                <a:endParaRPr lang="en-US" sz="2800" dirty="0"/>
              </a:p>
            </p:txBody>
          </p:sp>
        </mc:Choice>
        <mc:Fallback xmlns="">
          <p:sp>
            <p:nvSpPr>
              <p:cNvPr id="17" name="TextBox 16">
                <a:extLst>
                  <a:ext uri="{FF2B5EF4-FFF2-40B4-BE49-F238E27FC236}">
                    <a16:creationId xmlns:a16="http://schemas.microsoft.com/office/drawing/2014/main" id="{0F6B6E24-D591-D7C3-D84F-5D3BDD37E7A7}"/>
                  </a:ext>
                </a:extLst>
              </p:cNvPr>
              <p:cNvSpPr txBox="1">
                <a:spLocks noRot="1" noChangeAspect="1" noMove="1" noResize="1" noEditPoints="1" noAdjustHandles="1" noChangeArrowheads="1" noChangeShapeType="1" noTextEdit="1"/>
              </p:cNvSpPr>
              <p:nvPr/>
            </p:nvSpPr>
            <p:spPr>
              <a:xfrm>
                <a:off x="4516600" y="2300783"/>
                <a:ext cx="445828" cy="523220"/>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17C881B-695F-2DED-5BB8-13A00DB590C3}"/>
                  </a:ext>
                </a:extLst>
              </p:cNvPr>
              <p:cNvSpPr txBox="1"/>
              <p:nvPr/>
            </p:nvSpPr>
            <p:spPr>
              <a:xfrm>
                <a:off x="2886650" y="3224822"/>
                <a:ext cx="471155"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𝑝</m:t>
                      </m:r>
                    </m:oMath>
                  </m:oMathPara>
                </a14:m>
                <a:endParaRPr lang="en-US" sz="2800" dirty="0"/>
              </a:p>
            </p:txBody>
          </p:sp>
        </mc:Choice>
        <mc:Fallback xmlns="">
          <p:sp>
            <p:nvSpPr>
              <p:cNvPr id="18" name="TextBox 17">
                <a:extLst>
                  <a:ext uri="{FF2B5EF4-FFF2-40B4-BE49-F238E27FC236}">
                    <a16:creationId xmlns:a16="http://schemas.microsoft.com/office/drawing/2014/main" id="{617C881B-695F-2DED-5BB8-13A00DB590C3}"/>
                  </a:ext>
                </a:extLst>
              </p:cNvPr>
              <p:cNvSpPr txBox="1">
                <a:spLocks noRot="1" noChangeAspect="1" noMove="1" noResize="1" noEditPoints="1" noAdjustHandles="1" noChangeArrowheads="1" noChangeShapeType="1" noTextEdit="1"/>
              </p:cNvSpPr>
              <p:nvPr/>
            </p:nvSpPr>
            <p:spPr>
              <a:xfrm>
                <a:off x="2886650" y="3224822"/>
                <a:ext cx="471155" cy="523220"/>
              </a:xfrm>
              <a:prstGeom prst="rect">
                <a:avLst/>
              </a:prstGeom>
              <a:blipFill>
                <a:blip r:embed="rId9"/>
                <a:stretch>
                  <a:fillRect/>
                </a:stretch>
              </a:blipFill>
            </p:spPr>
            <p:txBody>
              <a:bodyPr/>
              <a:lstStyle/>
              <a:p>
                <a:r>
                  <a:rPr lang="en-US">
                    <a:noFill/>
                  </a:rPr>
                  <a:t> </a:t>
                </a:r>
              </a:p>
            </p:txBody>
          </p:sp>
        </mc:Fallback>
      </mc:AlternateContent>
      <p:cxnSp>
        <p:nvCxnSpPr>
          <p:cNvPr id="11" name="Straight Connector 10">
            <a:extLst>
              <a:ext uri="{FF2B5EF4-FFF2-40B4-BE49-F238E27FC236}">
                <a16:creationId xmlns:a16="http://schemas.microsoft.com/office/drawing/2014/main" id="{2F9C7FEB-F14A-F467-4D38-3C8E9A710C73}"/>
              </a:ext>
            </a:extLst>
          </p:cNvPr>
          <p:cNvCxnSpPr>
            <a:cxnSpLocks/>
            <a:stCxn id="2" idx="2"/>
          </p:cNvCxnSpPr>
          <p:nvPr/>
        </p:nvCxnSpPr>
        <p:spPr>
          <a:xfrm flipV="1">
            <a:off x="1609346" y="1108158"/>
            <a:ext cx="3284712" cy="2190747"/>
          </a:xfrm>
          <a:prstGeom prst="line">
            <a:avLst/>
          </a:prstGeom>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79DAD9E-4782-C1B9-F421-D651A5B45E8E}"/>
              </a:ext>
            </a:extLst>
          </p:cNvPr>
          <p:cNvSpPr/>
          <p:nvPr/>
        </p:nvSpPr>
        <p:spPr>
          <a:xfrm rot="19598101">
            <a:off x="200944" y="-1388990"/>
            <a:ext cx="3928893" cy="3928893"/>
          </a:xfrm>
          <a:prstGeom prst="rect">
            <a:avLst/>
          </a:prstGeom>
          <a:solidFill>
            <a:srgbClr val="548235">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21595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496E6-8E8B-43DA-723A-7E740AA679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5DD74A-9E8C-34EF-E147-E501D4C60D20}"/>
              </a:ext>
            </a:extLst>
          </p:cNvPr>
          <p:cNvSpPr txBox="1"/>
          <p:nvPr/>
        </p:nvSpPr>
        <p:spPr>
          <a:xfrm>
            <a:off x="3166159" y="232975"/>
            <a:ext cx="5859681" cy="830997"/>
          </a:xfrm>
          <a:prstGeom prst="rect">
            <a:avLst/>
          </a:prstGeom>
          <a:noFill/>
        </p:spPr>
        <p:txBody>
          <a:bodyPr wrap="none" rtlCol="0">
            <a:spAutoFit/>
          </a:bodyPr>
          <a:lstStyle/>
          <a:p>
            <a:pPr algn="ctr"/>
            <a:r>
              <a:rPr lang="en-US" sz="4800" dirty="0"/>
              <a:t>Von Neumann entropy</a:t>
            </a:r>
          </a:p>
        </p:txBody>
      </p:sp>
      <p:grpSp>
        <p:nvGrpSpPr>
          <p:cNvPr id="5" name="Group 4">
            <a:extLst>
              <a:ext uri="{FF2B5EF4-FFF2-40B4-BE49-F238E27FC236}">
                <a16:creationId xmlns:a16="http://schemas.microsoft.com/office/drawing/2014/main" id="{F8613324-7DE7-7644-5E35-136F0B7A1FB1}"/>
              </a:ext>
            </a:extLst>
          </p:cNvPr>
          <p:cNvGrpSpPr/>
          <p:nvPr/>
        </p:nvGrpSpPr>
        <p:grpSpPr>
          <a:xfrm>
            <a:off x="1037397" y="1511028"/>
            <a:ext cx="3577706" cy="3538485"/>
            <a:chOff x="1202189" y="1744892"/>
            <a:chExt cx="3077365" cy="3077101"/>
          </a:xfrm>
        </p:grpSpPr>
        <p:cxnSp>
          <p:nvCxnSpPr>
            <p:cNvPr id="6" name="Straight Connector 5">
              <a:extLst>
                <a:ext uri="{FF2B5EF4-FFF2-40B4-BE49-F238E27FC236}">
                  <a16:creationId xmlns:a16="http://schemas.microsoft.com/office/drawing/2014/main" id="{790682BA-7997-EBDB-26CD-703E428F7835}"/>
                </a:ext>
              </a:extLst>
            </p:cNvPr>
            <p:cNvCxnSpPr>
              <a:stCxn id="19" idx="0"/>
              <a:endCxn id="19" idx="2"/>
            </p:cNvCxnSpPr>
            <p:nvPr/>
          </p:nvCxnSpPr>
          <p:spPr>
            <a:xfrm>
              <a:off x="2740735" y="1744892"/>
              <a:ext cx="0" cy="3077101"/>
            </a:xfrm>
            <a:prstGeom prst="line">
              <a:avLst/>
            </a:prstGeom>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824C9196-3668-3366-2D82-9286A2E9EA79}"/>
                </a:ext>
              </a:extLst>
            </p:cNvPr>
            <p:cNvGrpSpPr/>
            <p:nvPr/>
          </p:nvGrpSpPr>
          <p:grpSpPr>
            <a:xfrm>
              <a:off x="1202189" y="1744892"/>
              <a:ext cx="3077365" cy="3077101"/>
              <a:chOff x="2521889" y="2808131"/>
              <a:chExt cx="1916430" cy="1916266"/>
            </a:xfrm>
          </p:grpSpPr>
          <p:sp>
            <p:nvSpPr>
              <p:cNvPr id="11" name="Oval 10">
                <a:extLst>
                  <a:ext uri="{FF2B5EF4-FFF2-40B4-BE49-F238E27FC236}">
                    <a16:creationId xmlns:a16="http://schemas.microsoft.com/office/drawing/2014/main" id="{181C1B7D-789E-3E45-BB98-CA40F15CCEF3}"/>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3200"/>
              </a:p>
            </p:txBody>
          </p:sp>
          <p:sp>
            <p:nvSpPr>
              <p:cNvPr id="12" name="Oval 31">
                <a:extLst>
                  <a:ext uri="{FF2B5EF4-FFF2-40B4-BE49-F238E27FC236}">
                    <a16:creationId xmlns:a16="http://schemas.microsoft.com/office/drawing/2014/main" id="{250D64A8-BDBB-FFE0-8CAB-08A12804D07C}"/>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13" name="Oval 12">
                <a:extLst>
                  <a:ext uri="{FF2B5EF4-FFF2-40B4-BE49-F238E27FC236}">
                    <a16:creationId xmlns:a16="http://schemas.microsoft.com/office/drawing/2014/main" id="{B640C1F2-CB6D-6076-AE35-DC22BC0D4710}"/>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nvGrpSpPr>
              <p:cNvPr id="14" name="Group 13">
                <a:extLst>
                  <a:ext uri="{FF2B5EF4-FFF2-40B4-BE49-F238E27FC236}">
                    <a16:creationId xmlns:a16="http://schemas.microsoft.com/office/drawing/2014/main" id="{40062561-544E-7359-5497-CF4BE54E0DD2}"/>
                  </a:ext>
                </a:extLst>
              </p:cNvPr>
              <p:cNvGrpSpPr/>
              <p:nvPr/>
            </p:nvGrpSpPr>
            <p:grpSpPr>
              <a:xfrm>
                <a:off x="2923755" y="2808131"/>
                <a:ext cx="1112528" cy="1916266"/>
                <a:chOff x="2734489" y="2655731"/>
                <a:chExt cx="1186260" cy="1916266"/>
              </a:xfrm>
            </p:grpSpPr>
            <p:sp>
              <p:nvSpPr>
                <p:cNvPr id="18" name="Oval 17">
                  <a:extLst>
                    <a:ext uri="{FF2B5EF4-FFF2-40B4-BE49-F238E27FC236}">
                      <a16:creationId xmlns:a16="http://schemas.microsoft.com/office/drawing/2014/main" id="{E0FE49E5-150A-C38C-FD82-279ECCFECF86}"/>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19" name="Oval 9">
                  <a:extLst>
                    <a:ext uri="{FF2B5EF4-FFF2-40B4-BE49-F238E27FC236}">
                      <a16:creationId xmlns:a16="http://schemas.microsoft.com/office/drawing/2014/main" id="{13808E36-DCDB-E82A-2E95-163EACE48A45}"/>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nvGrpSpPr>
              <p:cNvPr id="15" name="Group 14">
                <a:extLst>
                  <a:ext uri="{FF2B5EF4-FFF2-40B4-BE49-F238E27FC236}">
                    <a16:creationId xmlns:a16="http://schemas.microsoft.com/office/drawing/2014/main" id="{9AC5E856-0736-4DCA-C900-0FCC972BBB54}"/>
                  </a:ext>
                </a:extLst>
              </p:cNvPr>
              <p:cNvGrpSpPr/>
              <p:nvPr/>
            </p:nvGrpSpPr>
            <p:grpSpPr>
              <a:xfrm rot="16200000">
                <a:off x="2923922" y="2810085"/>
                <a:ext cx="1112528" cy="1916266"/>
                <a:chOff x="2734489" y="2655731"/>
                <a:chExt cx="1186260" cy="1916266"/>
              </a:xfrm>
            </p:grpSpPr>
            <p:sp>
              <p:nvSpPr>
                <p:cNvPr id="16" name="Oval 15">
                  <a:extLst>
                    <a:ext uri="{FF2B5EF4-FFF2-40B4-BE49-F238E27FC236}">
                      <a16:creationId xmlns:a16="http://schemas.microsoft.com/office/drawing/2014/main" id="{08FC7BE9-2521-EEA3-A3C2-274B1088CAEA}"/>
                    </a:ext>
                  </a:extLst>
                </p:cNvPr>
                <p:cNvSpPr/>
                <p:nvPr/>
              </p:nvSpPr>
              <p:spPr>
                <a:xfrm>
                  <a:off x="2734490" y="2655731"/>
                  <a:ext cx="1186259" cy="1916264"/>
                </a:xfrm>
                <a:prstGeom prst="ellipse">
                  <a:avLst/>
                </a:prstGeom>
                <a:noFill/>
                <a:ln w="28575">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lt1"/>
                    </a:solidFill>
                  </a:endParaRPr>
                </a:p>
              </p:txBody>
            </p:sp>
            <p:sp>
              <p:nvSpPr>
                <p:cNvPr id="17" name="Oval 9">
                  <a:extLst>
                    <a:ext uri="{FF2B5EF4-FFF2-40B4-BE49-F238E27FC236}">
                      <a16:creationId xmlns:a16="http://schemas.microsoft.com/office/drawing/2014/main" id="{3EF429FE-E0A6-1BEC-C35B-514DE71EAD9C}"/>
                    </a:ext>
                  </a:extLst>
                </p:cNvPr>
                <p:cNvSpPr/>
                <p:nvPr/>
              </p:nvSpPr>
              <p:spPr>
                <a:xfrm flipH="1">
                  <a:off x="2734489" y="2655731"/>
                  <a:ext cx="593130" cy="1916266"/>
                </a:xfrm>
                <a:custGeom>
                  <a:avLst/>
                  <a:gdLst>
                    <a:gd name="connsiteX0" fmla="*/ 0 w 687355"/>
                    <a:gd name="connsiteY0" fmla="*/ 555172 h 1110343"/>
                    <a:gd name="connsiteX1" fmla="*/ 343678 w 687355"/>
                    <a:gd name="connsiteY1" fmla="*/ 0 h 1110343"/>
                    <a:gd name="connsiteX2" fmla="*/ 687356 w 687355"/>
                    <a:gd name="connsiteY2" fmla="*/ 555172 h 1110343"/>
                    <a:gd name="connsiteX3" fmla="*/ 343678 w 687355"/>
                    <a:gd name="connsiteY3" fmla="*/ 1110344 h 1110343"/>
                    <a:gd name="connsiteX4" fmla="*/ 0 w 687355"/>
                    <a:gd name="connsiteY4" fmla="*/ 555172 h 1110343"/>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4" fmla="*/ 91440 w 687356"/>
                    <a:gd name="connsiteY4" fmla="*/ 646612 h 1110344"/>
                    <a:gd name="connsiteX0" fmla="*/ 0 w 687356"/>
                    <a:gd name="connsiteY0" fmla="*/ 555172 h 1110344"/>
                    <a:gd name="connsiteX1" fmla="*/ 343678 w 687356"/>
                    <a:gd name="connsiteY1" fmla="*/ 0 h 1110344"/>
                    <a:gd name="connsiteX2" fmla="*/ 687356 w 687356"/>
                    <a:gd name="connsiteY2" fmla="*/ 555172 h 1110344"/>
                    <a:gd name="connsiteX3" fmla="*/ 343678 w 687356"/>
                    <a:gd name="connsiteY3" fmla="*/ 1110344 h 1110344"/>
                    <a:gd name="connsiteX0" fmla="*/ 0 w 343678"/>
                    <a:gd name="connsiteY0" fmla="*/ 0 h 1110344"/>
                    <a:gd name="connsiteX1" fmla="*/ 343678 w 343678"/>
                    <a:gd name="connsiteY1" fmla="*/ 555172 h 1110344"/>
                    <a:gd name="connsiteX2" fmla="*/ 0 w 343678"/>
                    <a:gd name="connsiteY2" fmla="*/ 1110344 h 1110344"/>
                  </a:gdLst>
                  <a:ahLst/>
                  <a:cxnLst>
                    <a:cxn ang="0">
                      <a:pos x="connsiteX0" y="connsiteY0"/>
                    </a:cxn>
                    <a:cxn ang="0">
                      <a:pos x="connsiteX1" y="connsiteY1"/>
                    </a:cxn>
                    <a:cxn ang="0">
                      <a:pos x="connsiteX2" y="connsiteY2"/>
                    </a:cxn>
                  </a:cxnLst>
                  <a:rect l="l" t="t" r="r" b="b"/>
                  <a:pathLst>
                    <a:path w="343678" h="1110344">
                      <a:moveTo>
                        <a:pt x="0" y="0"/>
                      </a:moveTo>
                      <a:cubicBezTo>
                        <a:pt x="189808" y="0"/>
                        <a:pt x="343678" y="248559"/>
                        <a:pt x="343678" y="555172"/>
                      </a:cubicBezTo>
                      <a:cubicBezTo>
                        <a:pt x="343678" y="861785"/>
                        <a:pt x="189808" y="1110344"/>
                        <a:pt x="0" y="1110344"/>
                      </a:cubicBezTo>
                    </a:path>
                  </a:pathLst>
                </a:custGeom>
                <a:noFill/>
                <a:ln w="28575">
                  <a:solidFill>
                    <a:schemeClr val="accent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a:solidFill>
                      <a:schemeClr val="lt1"/>
                    </a:solidFill>
                  </a:endParaRPr>
                </a:p>
              </p:txBody>
            </p:sp>
          </p:grpSp>
        </p:grpSp>
      </p:grpSp>
      <p:sp>
        <p:nvSpPr>
          <p:cNvPr id="22" name="Oval 21">
            <a:extLst>
              <a:ext uri="{FF2B5EF4-FFF2-40B4-BE49-F238E27FC236}">
                <a16:creationId xmlns:a16="http://schemas.microsoft.com/office/drawing/2014/main" id="{1F107EF0-F317-7102-D754-93AB473CAB75}"/>
              </a:ext>
            </a:extLst>
          </p:cNvPr>
          <p:cNvSpPr/>
          <p:nvPr/>
        </p:nvSpPr>
        <p:spPr>
          <a:xfrm>
            <a:off x="2779829" y="2023379"/>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AE7CF28A-7077-E7B4-B292-841E922FB62A}"/>
              </a:ext>
            </a:extLst>
          </p:cNvPr>
          <p:cNvGrpSpPr/>
          <p:nvPr/>
        </p:nvGrpSpPr>
        <p:grpSpPr>
          <a:xfrm>
            <a:off x="6403959" y="1555785"/>
            <a:ext cx="3577708" cy="3577703"/>
            <a:chOff x="2521889" y="2808131"/>
            <a:chExt cx="1916265" cy="1916264"/>
          </a:xfrm>
        </p:grpSpPr>
        <p:sp>
          <p:nvSpPr>
            <p:cNvPr id="24" name="Oval 23">
              <a:extLst>
                <a:ext uri="{FF2B5EF4-FFF2-40B4-BE49-F238E27FC236}">
                  <a16:creationId xmlns:a16="http://schemas.microsoft.com/office/drawing/2014/main" id="{D5DD5AF8-B795-7A60-E99E-A86467A6212B}"/>
                </a:ext>
              </a:extLst>
            </p:cNvPr>
            <p:cNvSpPr/>
            <p:nvPr/>
          </p:nvSpPr>
          <p:spPr>
            <a:xfrm>
              <a:off x="2521889" y="2808131"/>
              <a:ext cx="1916264" cy="1916264"/>
            </a:xfrm>
            <a:prstGeom prst="ellips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Oval 31">
              <a:extLst>
                <a:ext uri="{FF2B5EF4-FFF2-40B4-BE49-F238E27FC236}">
                  <a16:creationId xmlns:a16="http://schemas.microsoft.com/office/drawing/2014/main" id="{0C4607B5-65C7-308F-9E44-342CB3652605}"/>
                </a:ext>
              </a:extLst>
            </p:cNvPr>
            <p:cNvSpPr/>
            <p:nvPr/>
          </p:nvSpPr>
          <p:spPr>
            <a:xfrm>
              <a:off x="2521889" y="2808132"/>
              <a:ext cx="1916264" cy="958132"/>
            </a:xfrm>
            <a:custGeom>
              <a:avLst/>
              <a:gdLst>
                <a:gd name="connsiteX0" fmla="*/ 0 w 1916264"/>
                <a:gd name="connsiteY0" fmla="*/ 958132 h 1916264"/>
                <a:gd name="connsiteX1" fmla="*/ 958132 w 1916264"/>
                <a:gd name="connsiteY1" fmla="*/ 0 h 1916264"/>
                <a:gd name="connsiteX2" fmla="*/ 1916264 w 1916264"/>
                <a:gd name="connsiteY2" fmla="*/ 958132 h 1916264"/>
                <a:gd name="connsiteX3" fmla="*/ 958132 w 1916264"/>
                <a:gd name="connsiteY3" fmla="*/ 1916264 h 1916264"/>
                <a:gd name="connsiteX4" fmla="*/ 0 w 1916264"/>
                <a:gd name="connsiteY4" fmla="*/ 958132 h 1916264"/>
                <a:gd name="connsiteX0" fmla="*/ 958132 w 1916264"/>
                <a:gd name="connsiteY0" fmla="*/ 1916264 h 2007704"/>
                <a:gd name="connsiteX1" fmla="*/ 0 w 1916264"/>
                <a:gd name="connsiteY1" fmla="*/ 958132 h 2007704"/>
                <a:gd name="connsiteX2" fmla="*/ 958132 w 1916264"/>
                <a:gd name="connsiteY2" fmla="*/ 0 h 2007704"/>
                <a:gd name="connsiteX3" fmla="*/ 1916264 w 1916264"/>
                <a:gd name="connsiteY3" fmla="*/ 958132 h 2007704"/>
                <a:gd name="connsiteX4" fmla="*/ 1049572 w 1916264"/>
                <a:gd name="connsiteY4" fmla="*/ 2007704 h 2007704"/>
                <a:gd name="connsiteX0" fmla="*/ 958132 w 1916264"/>
                <a:gd name="connsiteY0" fmla="*/ 1916264 h 1916264"/>
                <a:gd name="connsiteX1" fmla="*/ 0 w 1916264"/>
                <a:gd name="connsiteY1" fmla="*/ 958132 h 1916264"/>
                <a:gd name="connsiteX2" fmla="*/ 958132 w 1916264"/>
                <a:gd name="connsiteY2" fmla="*/ 0 h 1916264"/>
                <a:gd name="connsiteX3" fmla="*/ 1916264 w 1916264"/>
                <a:gd name="connsiteY3" fmla="*/ 958132 h 1916264"/>
                <a:gd name="connsiteX0" fmla="*/ 0 w 1916264"/>
                <a:gd name="connsiteY0" fmla="*/ 958132 h 958132"/>
                <a:gd name="connsiteX1" fmla="*/ 958132 w 1916264"/>
                <a:gd name="connsiteY1" fmla="*/ 0 h 958132"/>
                <a:gd name="connsiteX2" fmla="*/ 1916264 w 1916264"/>
                <a:gd name="connsiteY2" fmla="*/ 958132 h 958132"/>
              </a:gdLst>
              <a:ahLst/>
              <a:cxnLst>
                <a:cxn ang="0">
                  <a:pos x="connsiteX0" y="connsiteY0"/>
                </a:cxn>
                <a:cxn ang="0">
                  <a:pos x="connsiteX1" y="connsiteY1"/>
                </a:cxn>
                <a:cxn ang="0">
                  <a:pos x="connsiteX2" y="connsiteY2"/>
                </a:cxn>
              </a:cxnLst>
              <a:rect l="l" t="t" r="r" b="b"/>
              <a:pathLst>
                <a:path w="1916264" h="958132">
                  <a:moveTo>
                    <a:pt x="0" y="958132"/>
                  </a:moveTo>
                  <a:cubicBezTo>
                    <a:pt x="0" y="428970"/>
                    <a:pt x="428970" y="0"/>
                    <a:pt x="958132" y="0"/>
                  </a:cubicBezTo>
                  <a:cubicBezTo>
                    <a:pt x="1487294" y="0"/>
                    <a:pt x="1916264" y="428970"/>
                    <a:pt x="1916264" y="958132"/>
                  </a:cubicBezTo>
                </a:path>
              </a:pathLst>
            </a:cu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73866154-1A37-1D38-6DF0-F37CF4BF75B5}"/>
                </a:ext>
              </a:extLst>
            </p:cNvPr>
            <p:cNvSpPr/>
            <p:nvPr/>
          </p:nvSpPr>
          <p:spPr>
            <a:xfrm>
              <a:off x="2521889" y="2808131"/>
              <a:ext cx="1916265" cy="1916264"/>
            </a:xfrm>
            <a:prstGeom prst="ellipse">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grpSp>
      <p:cxnSp>
        <p:nvCxnSpPr>
          <p:cNvPr id="27" name="Straight Connector 26">
            <a:extLst>
              <a:ext uri="{FF2B5EF4-FFF2-40B4-BE49-F238E27FC236}">
                <a16:creationId xmlns:a16="http://schemas.microsoft.com/office/drawing/2014/main" id="{56AC6D03-030B-7E72-5877-F1E28F0F62A6}"/>
              </a:ext>
            </a:extLst>
          </p:cNvPr>
          <p:cNvCxnSpPr>
            <a:cxnSpLocks/>
          </p:cNvCxnSpPr>
          <p:nvPr/>
        </p:nvCxnSpPr>
        <p:spPr>
          <a:xfrm>
            <a:off x="8192813" y="1555785"/>
            <a:ext cx="0" cy="3577703"/>
          </a:xfrm>
          <a:prstGeom prst="line">
            <a:avLst/>
          </a:prstGeom>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F22FCA9E-C2D4-AA9C-1D32-605FD1D34525}"/>
              </a:ext>
            </a:extLst>
          </p:cNvPr>
          <p:cNvSpPr/>
          <p:nvPr/>
        </p:nvSpPr>
        <p:spPr>
          <a:xfrm flipH="1">
            <a:off x="8008688" y="1578808"/>
            <a:ext cx="169816" cy="49410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3" name="Right Brace 32">
            <a:extLst>
              <a:ext uri="{FF2B5EF4-FFF2-40B4-BE49-F238E27FC236}">
                <a16:creationId xmlns:a16="http://schemas.microsoft.com/office/drawing/2014/main" id="{617C61CB-E140-D5F6-3D5C-F9E1745A289D}"/>
              </a:ext>
            </a:extLst>
          </p:cNvPr>
          <p:cNvSpPr/>
          <p:nvPr/>
        </p:nvSpPr>
        <p:spPr>
          <a:xfrm flipH="1">
            <a:off x="2628968" y="2093158"/>
            <a:ext cx="169816" cy="125148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0" name="Oval 29">
            <a:extLst>
              <a:ext uri="{FF2B5EF4-FFF2-40B4-BE49-F238E27FC236}">
                <a16:creationId xmlns:a16="http://schemas.microsoft.com/office/drawing/2014/main" id="{B54E8F16-113F-D7F1-C004-AB66C4C59615}"/>
              </a:ext>
            </a:extLst>
          </p:cNvPr>
          <p:cNvSpPr/>
          <p:nvPr/>
        </p:nvSpPr>
        <p:spPr>
          <a:xfrm>
            <a:off x="8143130" y="2043628"/>
            <a:ext cx="99060" cy="99060"/>
          </a:xfrm>
          <a:prstGeom prst="ellips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3A43225E-66AF-8B28-9DC7-5F9A7895EA40}"/>
                  </a:ext>
                </a:extLst>
              </p:cNvPr>
              <p:cNvSpPr txBox="1"/>
              <p:nvPr/>
            </p:nvSpPr>
            <p:spPr>
              <a:xfrm>
                <a:off x="8183132" y="1681023"/>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37" name="TextBox 36">
                <a:extLst>
                  <a:ext uri="{FF2B5EF4-FFF2-40B4-BE49-F238E27FC236}">
                    <a16:creationId xmlns:a16="http://schemas.microsoft.com/office/drawing/2014/main" id="{3A43225E-66AF-8B28-9DC7-5F9A7895EA40}"/>
                  </a:ext>
                </a:extLst>
              </p:cNvPr>
              <p:cNvSpPr txBox="1">
                <a:spLocks noRot="1" noChangeAspect="1" noMove="1" noResize="1" noEditPoints="1" noAdjustHandles="1" noChangeArrowheads="1" noChangeShapeType="1" noTextEdit="1"/>
              </p:cNvSpPr>
              <p:nvPr/>
            </p:nvSpPr>
            <p:spPr>
              <a:xfrm>
                <a:off x="8183132" y="1681023"/>
                <a:ext cx="430502" cy="461665"/>
              </a:xfrm>
              <a:prstGeom prst="rect">
                <a:avLst/>
              </a:prstGeom>
              <a:blipFill>
                <a:blip r:embed="rId2"/>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138B1A30-DA91-4768-7099-2F9A009E77D7}"/>
                  </a:ext>
                </a:extLst>
              </p:cNvPr>
              <p:cNvSpPr txBox="1"/>
              <p:nvPr/>
            </p:nvSpPr>
            <p:spPr>
              <a:xfrm>
                <a:off x="2445272" y="1681023"/>
                <a:ext cx="430502"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𝜌</m:t>
                      </m:r>
                    </m:oMath>
                  </m:oMathPara>
                </a14:m>
                <a:endParaRPr lang="en-US" sz="2400" dirty="0"/>
              </a:p>
            </p:txBody>
          </p:sp>
        </mc:Choice>
        <mc:Fallback xmlns="">
          <p:sp>
            <p:nvSpPr>
              <p:cNvPr id="39" name="TextBox 38">
                <a:extLst>
                  <a:ext uri="{FF2B5EF4-FFF2-40B4-BE49-F238E27FC236}">
                    <a16:creationId xmlns:a16="http://schemas.microsoft.com/office/drawing/2014/main" id="{138B1A30-DA91-4768-7099-2F9A009E77D7}"/>
                  </a:ext>
                </a:extLst>
              </p:cNvPr>
              <p:cNvSpPr txBox="1">
                <a:spLocks noRot="1" noChangeAspect="1" noMove="1" noResize="1" noEditPoints="1" noAdjustHandles="1" noChangeArrowheads="1" noChangeShapeType="1" noTextEdit="1"/>
              </p:cNvSpPr>
              <p:nvPr/>
            </p:nvSpPr>
            <p:spPr>
              <a:xfrm>
                <a:off x="2445272" y="1681023"/>
                <a:ext cx="430502" cy="461665"/>
              </a:xfrm>
              <a:prstGeom prst="rect">
                <a:avLst/>
              </a:prstGeom>
              <a:blipFill>
                <a:blip r:embed="rId3"/>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E0E575EF-5300-089E-59C3-B3A454951464}"/>
                  </a:ext>
                </a:extLst>
              </p:cNvPr>
              <p:cNvSpPr txBox="1"/>
              <p:nvPr/>
            </p:nvSpPr>
            <p:spPr>
              <a:xfrm>
                <a:off x="2610039"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0" name="TextBox 39">
                <a:extLst>
                  <a:ext uri="{FF2B5EF4-FFF2-40B4-BE49-F238E27FC236}">
                    <a16:creationId xmlns:a16="http://schemas.microsoft.com/office/drawing/2014/main" id="{E0E575EF-5300-089E-59C3-B3A454951464}"/>
                  </a:ext>
                </a:extLst>
              </p:cNvPr>
              <p:cNvSpPr txBox="1">
                <a:spLocks noRot="1" noChangeAspect="1" noMove="1" noResize="1" noEditPoints="1" noAdjustHandles="1" noChangeArrowheads="1" noChangeShapeType="1" noTextEdit="1"/>
              </p:cNvSpPr>
              <p:nvPr/>
            </p:nvSpPr>
            <p:spPr>
              <a:xfrm>
                <a:off x="2610039" y="5087963"/>
                <a:ext cx="553164" cy="461665"/>
              </a:xfrm>
              <a:prstGeom prst="rect">
                <a:avLst/>
              </a:prstGeom>
              <a:blipFill>
                <a:blip r:embed="rId4"/>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6944EAF-97E1-E27D-6E0F-A5116D11BD0D}"/>
                  </a:ext>
                </a:extLst>
              </p:cNvPr>
              <p:cNvSpPr txBox="1"/>
              <p:nvPr/>
            </p:nvSpPr>
            <p:spPr>
              <a:xfrm>
                <a:off x="2610039"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1" name="TextBox 40">
                <a:extLst>
                  <a:ext uri="{FF2B5EF4-FFF2-40B4-BE49-F238E27FC236}">
                    <a16:creationId xmlns:a16="http://schemas.microsoft.com/office/drawing/2014/main" id="{96944EAF-97E1-E27D-6E0F-A5116D11BD0D}"/>
                  </a:ext>
                </a:extLst>
              </p:cNvPr>
              <p:cNvSpPr txBox="1">
                <a:spLocks noRot="1" noChangeAspect="1" noMove="1" noResize="1" noEditPoints="1" noAdjustHandles="1" noChangeArrowheads="1" noChangeShapeType="1" noTextEdit="1"/>
              </p:cNvSpPr>
              <p:nvPr/>
            </p:nvSpPr>
            <p:spPr>
              <a:xfrm>
                <a:off x="2610039" y="1049363"/>
                <a:ext cx="546047" cy="461665"/>
              </a:xfrm>
              <a:prstGeom prst="rect">
                <a:avLst/>
              </a:prstGeom>
              <a:blipFill>
                <a:blip r:embed="rId5"/>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6A6ED460-F23D-492E-A6CC-9463F3714A79}"/>
                  </a:ext>
                </a:extLst>
              </p:cNvPr>
              <p:cNvSpPr txBox="1"/>
              <p:nvPr/>
            </p:nvSpPr>
            <p:spPr>
              <a:xfrm>
                <a:off x="7577442" y="1508317"/>
                <a:ext cx="557973"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2" name="TextBox 41">
                <a:extLst>
                  <a:ext uri="{FF2B5EF4-FFF2-40B4-BE49-F238E27FC236}">
                    <a16:creationId xmlns:a16="http://schemas.microsoft.com/office/drawing/2014/main" id="{6A6ED460-F23D-492E-A6CC-9463F3714A79}"/>
                  </a:ext>
                </a:extLst>
              </p:cNvPr>
              <p:cNvSpPr txBox="1">
                <a:spLocks noRot="1" noChangeAspect="1" noMove="1" noResize="1" noEditPoints="1" noAdjustHandles="1" noChangeArrowheads="1" noChangeShapeType="1" noTextEdit="1"/>
              </p:cNvSpPr>
              <p:nvPr/>
            </p:nvSpPr>
            <p:spPr>
              <a:xfrm>
                <a:off x="7577442" y="1508317"/>
                <a:ext cx="557973" cy="461665"/>
              </a:xfrm>
              <a:prstGeom prst="rect">
                <a:avLst/>
              </a:prstGeom>
              <a:blipFill>
                <a:blip r:embed="rId6"/>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B63C9AD-AB0A-C73F-0608-C32BE92A53E6}"/>
                  </a:ext>
                </a:extLst>
              </p:cNvPr>
              <p:cNvSpPr txBox="1"/>
              <p:nvPr/>
            </p:nvSpPr>
            <p:spPr>
              <a:xfrm>
                <a:off x="7577442" y="3321877"/>
                <a:ext cx="550856"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𝑝</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3" name="TextBox 42">
                <a:extLst>
                  <a:ext uri="{FF2B5EF4-FFF2-40B4-BE49-F238E27FC236}">
                    <a16:creationId xmlns:a16="http://schemas.microsoft.com/office/drawing/2014/main" id="{0B63C9AD-AB0A-C73F-0608-C32BE92A53E6}"/>
                  </a:ext>
                </a:extLst>
              </p:cNvPr>
              <p:cNvSpPr txBox="1">
                <a:spLocks noRot="1" noChangeAspect="1" noMove="1" noResize="1" noEditPoints="1" noAdjustHandles="1" noChangeArrowheads="1" noChangeShapeType="1" noTextEdit="1"/>
              </p:cNvSpPr>
              <p:nvPr/>
            </p:nvSpPr>
            <p:spPr>
              <a:xfrm>
                <a:off x="7577442" y="3321877"/>
                <a:ext cx="550856" cy="461665"/>
              </a:xfrm>
              <a:prstGeom prst="rect">
                <a:avLst/>
              </a:prstGeom>
              <a:blipFill>
                <a:blip r:embed="rId7"/>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4C7A3C3-D536-61FA-2C6A-5702CB7E277C}"/>
                  </a:ext>
                </a:extLst>
              </p:cNvPr>
              <p:cNvSpPr txBox="1"/>
              <p:nvPr/>
            </p:nvSpPr>
            <p:spPr>
              <a:xfrm>
                <a:off x="7928799" y="5087963"/>
                <a:ext cx="553164"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2</m:t>
                          </m:r>
                        </m:sub>
                      </m:sSub>
                    </m:oMath>
                  </m:oMathPara>
                </a14:m>
                <a:endParaRPr lang="en-US" sz="2400" dirty="0"/>
              </a:p>
            </p:txBody>
          </p:sp>
        </mc:Choice>
        <mc:Fallback xmlns="">
          <p:sp>
            <p:nvSpPr>
              <p:cNvPr id="44" name="TextBox 43">
                <a:extLst>
                  <a:ext uri="{FF2B5EF4-FFF2-40B4-BE49-F238E27FC236}">
                    <a16:creationId xmlns:a16="http://schemas.microsoft.com/office/drawing/2014/main" id="{64C7A3C3-D536-61FA-2C6A-5702CB7E277C}"/>
                  </a:ext>
                </a:extLst>
              </p:cNvPr>
              <p:cNvSpPr txBox="1">
                <a:spLocks noRot="1" noChangeAspect="1" noMove="1" noResize="1" noEditPoints="1" noAdjustHandles="1" noChangeArrowheads="1" noChangeShapeType="1" noTextEdit="1"/>
              </p:cNvSpPr>
              <p:nvPr/>
            </p:nvSpPr>
            <p:spPr>
              <a:xfrm>
                <a:off x="7928799" y="5087963"/>
                <a:ext cx="553164" cy="461665"/>
              </a:xfrm>
              <a:prstGeom prst="rect">
                <a:avLst/>
              </a:prstGeom>
              <a:blipFill>
                <a:blip r:embed="rId8"/>
                <a:stretch>
                  <a:fillRect b="-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685D9870-5FBE-2F0F-EFE5-A9E3F8317B68}"/>
                  </a:ext>
                </a:extLst>
              </p:cNvPr>
              <p:cNvSpPr txBox="1"/>
              <p:nvPr/>
            </p:nvSpPr>
            <p:spPr>
              <a:xfrm>
                <a:off x="7928799" y="1049363"/>
                <a:ext cx="54604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𝑏</m:t>
                          </m:r>
                        </m:e>
                        <m:sub>
                          <m:r>
                            <a:rPr lang="en-US" sz="2400" b="0" i="1" dirty="0" smtClean="0">
                              <a:latin typeface="Cambria Math" panose="02040503050406030204" pitchFamily="18" charset="0"/>
                            </a:rPr>
                            <m:t>1</m:t>
                          </m:r>
                        </m:sub>
                      </m:sSub>
                    </m:oMath>
                  </m:oMathPara>
                </a14:m>
                <a:endParaRPr lang="en-US" sz="2400" dirty="0"/>
              </a:p>
            </p:txBody>
          </p:sp>
        </mc:Choice>
        <mc:Fallback xmlns="">
          <p:sp>
            <p:nvSpPr>
              <p:cNvPr id="45" name="TextBox 44">
                <a:extLst>
                  <a:ext uri="{FF2B5EF4-FFF2-40B4-BE49-F238E27FC236}">
                    <a16:creationId xmlns:a16="http://schemas.microsoft.com/office/drawing/2014/main" id="{685D9870-5FBE-2F0F-EFE5-A9E3F8317B68}"/>
                  </a:ext>
                </a:extLst>
              </p:cNvPr>
              <p:cNvSpPr txBox="1">
                <a:spLocks noRot="1" noChangeAspect="1" noMove="1" noResize="1" noEditPoints="1" noAdjustHandles="1" noChangeArrowheads="1" noChangeShapeType="1" noTextEdit="1"/>
              </p:cNvSpPr>
              <p:nvPr/>
            </p:nvSpPr>
            <p:spPr>
              <a:xfrm>
                <a:off x="7928799" y="1049363"/>
                <a:ext cx="546047" cy="461665"/>
              </a:xfrm>
              <a:prstGeom prst="rect">
                <a:avLst/>
              </a:prstGeom>
              <a:blipFill>
                <a:blip r:embed="rId9"/>
                <a:stretch>
                  <a:fillRect b="-131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45BDC70F-FDB1-3545-A295-D333947A94FF}"/>
                  </a:ext>
                </a:extLst>
              </p:cNvPr>
              <p:cNvSpPr txBox="1"/>
              <p:nvPr/>
            </p:nvSpPr>
            <p:spPr>
              <a:xfrm>
                <a:off x="664937" y="5530157"/>
                <a:ext cx="8259569" cy="1048429"/>
              </a:xfrm>
              <a:prstGeom prst="rect">
                <a:avLst/>
              </a:prstGeom>
              <a:noFill/>
            </p:spPr>
            <p:txBody>
              <a:bodyPr wrap="none" rtlCol="0">
                <a:spAutoFit/>
              </a:bodyPr>
              <a:lstStyle/>
              <a:p>
                <a14:m>
                  <m:oMath xmlns:m="http://schemas.openxmlformats.org/officeDocument/2006/math">
                    <m:r>
                      <a:rPr lang="en-US" sz="4400" b="0" i="1" smtClean="0">
                        <a:latin typeface="Cambria Math" panose="02040503050406030204" pitchFamily="18" charset="0"/>
                      </a:rPr>
                      <m:t>𝑆</m:t>
                    </m:r>
                    <m:d>
                      <m:dPr>
                        <m:ctrlPr>
                          <a:rPr lang="en-US" sz="4400" b="0" i="1" smtClean="0">
                            <a:latin typeface="Cambria Math" panose="02040503050406030204" pitchFamily="18" charset="0"/>
                          </a:rPr>
                        </m:ctrlPr>
                      </m:dPr>
                      <m:e>
                        <m:r>
                          <a:rPr lang="en-US" sz="4400" b="0" i="1" smtClean="0">
                            <a:latin typeface="Cambria Math" panose="02040503050406030204" pitchFamily="18" charset="0"/>
                          </a:rPr>
                          <m:t>𝜌</m:t>
                        </m:r>
                      </m:e>
                    </m:d>
                    <m:r>
                      <a:rPr lang="en-US" sz="4400" i="1">
                        <a:latin typeface="Cambria Math" panose="02040503050406030204" pitchFamily="18" charset="0"/>
                      </a:rPr>
                      <m:t>=</m:t>
                    </m:r>
                    <m:r>
                      <a:rPr lang="en-US" sz="4400" b="0" i="1" smtClean="0">
                        <a:latin typeface="Cambria Math" panose="02040503050406030204" pitchFamily="18" charset="0"/>
                      </a:rPr>
                      <m:t>−</m:t>
                    </m:r>
                    <m:f>
                      <m:fPr>
                        <m:ctrlPr>
                          <a:rPr lang="en-US" sz="4400" b="0" i="1" smtClean="0">
                            <a:latin typeface="Cambria Math" panose="02040503050406030204" pitchFamily="18" charset="0"/>
                          </a:rPr>
                        </m:ctrlPr>
                      </m:fPr>
                      <m:num>
                        <m:r>
                          <a:rPr lang="en-US" sz="4400" b="0" i="1" smtClean="0">
                            <a:latin typeface="Cambria Math" panose="02040503050406030204" pitchFamily="18" charset="0"/>
                          </a:rPr>
                          <m:t>1+</m:t>
                        </m:r>
                        <m:r>
                          <a:rPr lang="en-US" sz="4400" b="0" i="1" smtClean="0">
                            <a:latin typeface="Cambria Math" panose="02040503050406030204" pitchFamily="18" charset="0"/>
                          </a:rPr>
                          <m:t>𝑟</m:t>
                        </m:r>
                      </m:num>
                      <m:den>
                        <m:r>
                          <a:rPr lang="en-US" sz="4400" b="0" i="1" smtClean="0">
                            <a:latin typeface="Cambria Math" panose="02040503050406030204" pitchFamily="18" charset="0"/>
                          </a:rPr>
                          <m:t>2</m:t>
                        </m:r>
                      </m:den>
                    </m:f>
                    <m:func>
                      <m:funcPr>
                        <m:ctrlPr>
                          <a:rPr lang="en-US" sz="4400" b="0" i="1" smtClean="0">
                            <a:latin typeface="Cambria Math" panose="02040503050406030204" pitchFamily="18" charset="0"/>
                          </a:rPr>
                        </m:ctrlPr>
                      </m:funcPr>
                      <m:fName>
                        <m:r>
                          <m:rPr>
                            <m:sty m:val="p"/>
                          </m:rPr>
                          <a:rPr lang="en-US" sz="4400" b="0" i="0" smtClean="0">
                            <a:latin typeface="Cambria Math" panose="02040503050406030204" pitchFamily="18" charset="0"/>
                          </a:rPr>
                          <m:t>log</m:t>
                        </m:r>
                      </m:fName>
                      <m:e>
                        <m:f>
                          <m:fPr>
                            <m:ctrlPr>
                              <a:rPr lang="en-US" sz="4400" i="1">
                                <a:latin typeface="Cambria Math" panose="02040503050406030204" pitchFamily="18" charset="0"/>
                              </a:rPr>
                            </m:ctrlPr>
                          </m:fPr>
                          <m:num>
                            <m:r>
                              <a:rPr lang="en-US" sz="4400" i="1">
                                <a:latin typeface="Cambria Math" panose="02040503050406030204" pitchFamily="18" charset="0"/>
                              </a:rPr>
                              <m:t>1+</m:t>
                            </m:r>
                            <m:r>
                              <a:rPr lang="en-US" sz="4400" i="1">
                                <a:latin typeface="Cambria Math" panose="02040503050406030204" pitchFamily="18" charset="0"/>
                              </a:rPr>
                              <m:t>𝑟</m:t>
                            </m:r>
                          </m:num>
                          <m:den>
                            <m:r>
                              <a:rPr lang="en-US" sz="4400" i="1">
                                <a:latin typeface="Cambria Math" panose="02040503050406030204" pitchFamily="18" charset="0"/>
                              </a:rPr>
                              <m:t>2</m:t>
                            </m:r>
                          </m:den>
                        </m:f>
                      </m:e>
                    </m:func>
                    <m:r>
                      <a:rPr lang="en-US" sz="4400" b="0" i="1" smtClean="0">
                        <a:latin typeface="Cambria Math" panose="02040503050406030204" pitchFamily="18" charset="0"/>
                      </a:rPr>
                      <m:t>−</m:t>
                    </m:r>
                    <m:f>
                      <m:fPr>
                        <m:ctrlPr>
                          <a:rPr lang="en-US" sz="4400" i="1">
                            <a:latin typeface="Cambria Math" panose="02040503050406030204" pitchFamily="18" charset="0"/>
                          </a:rPr>
                        </m:ctrlPr>
                      </m:fPr>
                      <m:num>
                        <m:r>
                          <a:rPr lang="en-US" sz="4400" i="1">
                            <a:latin typeface="Cambria Math" panose="02040503050406030204" pitchFamily="18" charset="0"/>
                          </a:rPr>
                          <m:t>1</m:t>
                        </m:r>
                        <m:r>
                          <a:rPr lang="en-US" sz="4400" b="0" i="1" smtClean="0">
                            <a:latin typeface="Cambria Math" panose="02040503050406030204" pitchFamily="18" charset="0"/>
                          </a:rPr>
                          <m:t>−</m:t>
                        </m:r>
                        <m:r>
                          <a:rPr lang="en-US" sz="4400" i="1">
                            <a:latin typeface="Cambria Math" panose="02040503050406030204" pitchFamily="18" charset="0"/>
                          </a:rPr>
                          <m:t>𝑟</m:t>
                        </m:r>
                      </m:num>
                      <m:den>
                        <m:r>
                          <a:rPr lang="en-US" sz="4400" i="1">
                            <a:latin typeface="Cambria Math" panose="02040503050406030204" pitchFamily="18" charset="0"/>
                          </a:rPr>
                          <m:t>2</m:t>
                        </m:r>
                      </m:den>
                    </m:f>
                    <m:func>
                      <m:funcPr>
                        <m:ctrlPr>
                          <a:rPr lang="en-US" sz="4400" b="0" i="1" smtClean="0">
                            <a:latin typeface="Cambria Math" panose="02040503050406030204" pitchFamily="18" charset="0"/>
                          </a:rPr>
                        </m:ctrlPr>
                      </m:funcPr>
                      <m:fName>
                        <m:r>
                          <m:rPr>
                            <m:sty m:val="p"/>
                          </m:rPr>
                          <a:rPr lang="en-US" sz="4400" b="0" i="0" smtClean="0">
                            <a:latin typeface="Cambria Math" panose="02040503050406030204" pitchFamily="18" charset="0"/>
                          </a:rPr>
                          <m:t>log</m:t>
                        </m:r>
                      </m:fName>
                      <m:e>
                        <m:f>
                          <m:fPr>
                            <m:ctrlPr>
                              <a:rPr lang="en-US" sz="4400" i="1">
                                <a:latin typeface="Cambria Math" panose="02040503050406030204" pitchFamily="18" charset="0"/>
                              </a:rPr>
                            </m:ctrlPr>
                          </m:fPr>
                          <m:num>
                            <m:r>
                              <a:rPr lang="en-US" sz="4400" i="1">
                                <a:latin typeface="Cambria Math" panose="02040503050406030204" pitchFamily="18" charset="0"/>
                              </a:rPr>
                              <m:t>1−</m:t>
                            </m:r>
                            <m:r>
                              <a:rPr lang="en-US" sz="4400" i="1">
                                <a:latin typeface="Cambria Math" panose="02040503050406030204" pitchFamily="18" charset="0"/>
                              </a:rPr>
                              <m:t>𝑟</m:t>
                            </m:r>
                          </m:num>
                          <m:den>
                            <m:r>
                              <a:rPr lang="en-US" sz="4400" i="1">
                                <a:latin typeface="Cambria Math" panose="02040503050406030204" pitchFamily="18" charset="0"/>
                              </a:rPr>
                              <m:t>2</m:t>
                            </m:r>
                          </m:den>
                        </m:f>
                      </m:e>
                    </m:func>
                  </m:oMath>
                </a14:m>
                <a:r>
                  <a:rPr lang="en-US" sz="4400" dirty="0"/>
                  <a:t> </a:t>
                </a:r>
              </a:p>
            </p:txBody>
          </p:sp>
        </mc:Choice>
        <mc:Fallback xmlns="">
          <p:sp>
            <p:nvSpPr>
              <p:cNvPr id="46" name="TextBox 45">
                <a:extLst>
                  <a:ext uri="{FF2B5EF4-FFF2-40B4-BE49-F238E27FC236}">
                    <a16:creationId xmlns:a16="http://schemas.microsoft.com/office/drawing/2014/main" id="{45BDC70F-FDB1-3545-A295-D333947A94FF}"/>
                  </a:ext>
                </a:extLst>
              </p:cNvPr>
              <p:cNvSpPr txBox="1">
                <a:spLocks noRot="1" noChangeAspect="1" noMove="1" noResize="1" noEditPoints="1" noAdjustHandles="1" noChangeArrowheads="1" noChangeShapeType="1" noTextEdit="1"/>
              </p:cNvSpPr>
              <p:nvPr/>
            </p:nvSpPr>
            <p:spPr>
              <a:xfrm>
                <a:off x="664937" y="5530157"/>
                <a:ext cx="8259569" cy="1048429"/>
              </a:xfrm>
              <a:prstGeom prst="rect">
                <a:avLst/>
              </a:prstGeom>
              <a:blipFill>
                <a:blip r:embed="rId10"/>
                <a:stretch>
                  <a:fillRect/>
                </a:stretch>
              </a:blipFill>
            </p:spPr>
            <p:txBody>
              <a:bodyPr/>
              <a:lstStyle/>
              <a:p>
                <a:r>
                  <a:rPr lang="en-US">
                    <a:noFill/>
                  </a:rPr>
                  <a:t> </a:t>
                </a:r>
              </a:p>
            </p:txBody>
          </p:sp>
        </mc:Fallback>
      </mc:AlternateContent>
      <p:sp>
        <p:nvSpPr>
          <p:cNvPr id="47" name="Right Brace 46">
            <a:extLst>
              <a:ext uri="{FF2B5EF4-FFF2-40B4-BE49-F238E27FC236}">
                <a16:creationId xmlns:a16="http://schemas.microsoft.com/office/drawing/2014/main" id="{F4A7BFCE-702F-62CA-AA5C-16C891F688FD}"/>
              </a:ext>
            </a:extLst>
          </p:cNvPr>
          <p:cNvSpPr/>
          <p:nvPr/>
        </p:nvSpPr>
        <p:spPr>
          <a:xfrm flipH="1">
            <a:off x="8008688" y="2093158"/>
            <a:ext cx="169816" cy="301747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8226A9A5-5E45-54B1-7D6B-C6281C43A7CF}"/>
                  </a:ext>
                </a:extLst>
              </p:cNvPr>
              <p:cNvSpPr txBox="1"/>
              <p:nvPr/>
            </p:nvSpPr>
            <p:spPr>
              <a:xfrm>
                <a:off x="2237658" y="2414531"/>
                <a:ext cx="406200"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b="0" i="1" dirty="0" smtClean="0">
                          <a:latin typeface="Cambria Math" panose="02040503050406030204" pitchFamily="18" charset="0"/>
                        </a:rPr>
                        <m:t>𝑟</m:t>
                      </m:r>
                    </m:oMath>
                  </m:oMathPara>
                </a14:m>
                <a:endParaRPr lang="en-US" sz="2400" dirty="0"/>
              </a:p>
            </p:txBody>
          </p:sp>
        </mc:Choice>
        <mc:Fallback xmlns="">
          <p:sp>
            <p:nvSpPr>
              <p:cNvPr id="48" name="TextBox 47">
                <a:extLst>
                  <a:ext uri="{FF2B5EF4-FFF2-40B4-BE49-F238E27FC236}">
                    <a16:creationId xmlns:a16="http://schemas.microsoft.com/office/drawing/2014/main" id="{8226A9A5-5E45-54B1-7D6B-C6281C43A7CF}"/>
                  </a:ext>
                </a:extLst>
              </p:cNvPr>
              <p:cNvSpPr txBox="1">
                <a:spLocks noRot="1" noChangeAspect="1" noMove="1" noResize="1" noEditPoints="1" noAdjustHandles="1" noChangeArrowheads="1" noChangeShapeType="1" noTextEdit="1"/>
              </p:cNvSpPr>
              <p:nvPr/>
            </p:nvSpPr>
            <p:spPr>
              <a:xfrm>
                <a:off x="2237658" y="2414531"/>
                <a:ext cx="406200" cy="461665"/>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564294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40" grpId="0"/>
      <p:bldP spid="41" grpId="0"/>
      <p:bldP spid="42" grpId="0"/>
      <p:bldP spid="43" grpId="0"/>
      <p:bldP spid="44" grpId="0"/>
      <p:bldP spid="45" grpId="0"/>
      <p:bldP spid="46" grpId="0"/>
      <p:bldP spid="47" grpId="0" animBg="1"/>
      <p:bldP spid="48" grpId="0"/>
    </p:bldLst>
  </p:timing>
</p:sld>
</file>

<file path=ppt/theme/theme1.xml><?xml version="1.0" encoding="utf-8"?>
<a:theme xmlns:a="http://schemas.openxmlformats.org/drawingml/2006/main" name="Office Theme">
  <a:themeElements>
    <a:clrScheme name="AoP">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105190</TotalTime>
  <Words>941</Words>
  <Application>Microsoft Office PowerPoint</Application>
  <PresentationFormat>Widescreen</PresentationFormat>
  <Paragraphs>238</Paragraphs>
  <Slides>27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Cambria Math</vt:lpstr>
      <vt:lpstr>Office Theme</vt:lpstr>
      <vt:lpstr>Born rule is entropy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Gabriele Carcassi</dc:creator>
  <cp:lastModifiedBy>Gabriele Carcassi</cp:lastModifiedBy>
  <cp:revision>307</cp:revision>
  <dcterms:created xsi:type="dcterms:W3CDTF">2021-04-07T15:17:47Z</dcterms:created>
  <dcterms:modified xsi:type="dcterms:W3CDTF">2026-06-29T16:11:58Z</dcterms:modified>
</cp:coreProperties>
</file>