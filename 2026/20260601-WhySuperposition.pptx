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949" r:id="rId2"/>
    <p:sldId id="953" r:id="rId3"/>
    <p:sldId id="952" r:id="rId4"/>
    <p:sldId id="957" r:id="rId5"/>
    <p:sldId id="958" r:id="rId6"/>
    <p:sldId id="955" r:id="rId7"/>
    <p:sldId id="959" r:id="rId8"/>
    <p:sldId id="956" r:id="rId9"/>
    <p:sldId id="960" r:id="rId10"/>
    <p:sldId id="961" r:id="rId11"/>
    <p:sldId id="962" r:id="rId12"/>
    <p:sldId id="963" r:id="rId13"/>
    <p:sldId id="967" r:id="rId14"/>
    <p:sldId id="954" r:id="rId15"/>
    <p:sldId id="964" r:id="rId16"/>
    <p:sldId id="943" r:id="rId17"/>
    <p:sldId id="965" r:id="rId18"/>
    <p:sldId id="974" r:id="rId19"/>
    <p:sldId id="968" r:id="rId20"/>
    <p:sldId id="969" r:id="rId21"/>
    <p:sldId id="970" r:id="rId22"/>
    <p:sldId id="966" r:id="rId23"/>
    <p:sldId id="971" r:id="rId24"/>
    <p:sldId id="972" r:id="rId25"/>
    <p:sldId id="975" r:id="rId26"/>
    <p:sldId id="973" r:id="rId27"/>
    <p:sldId id="94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2397" autoAdjust="0"/>
  </p:normalViewPr>
  <p:slideViewPr>
    <p:cSldViewPr snapToGrid="0">
      <p:cViewPr varScale="1">
        <p:scale>
          <a:sx n="100" d="100"/>
          <a:sy n="100" d="100"/>
        </p:scale>
        <p:origin x="1200" y="67"/>
      </p:cViewPr>
      <p:guideLst/>
    </p:cSldViewPr>
  </p:slideViewPr>
  <p:outlineViewPr>
    <p:cViewPr>
      <p:scale>
        <a:sx n="33" d="100"/>
        <a:sy n="33" d="100"/>
      </p:scale>
      <p:origin x="0" y="-902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 superpositions again! In a previous video we saw that superpositions are just different states. All states are superpositions in some representation, and NOT superpositions in another. So, no, quantum systems are NOT undecided and can occupy multiple states at once. That is absolute nonsense. In this video we are going to answer the following question: why do we have superpositions in quantum mechanics? I mean, we don’t have them in classical mechanics. Do superposition correspond to some actual physical relationship? If I say that one state is a superposition of other two, is this just a mathematical artifact, or are they connected in some physically meaningful way? Of course they are: they are related by </a:t>
            </a:r>
            <a:r>
              <a:rPr lang="en-US" dirty="0" err="1"/>
              <a:t>multidecomposability</a:t>
            </a:r>
            <a:r>
              <a:rPr lang="en-US" dirty="0"/>
              <a:t>: one of the key features of quantum mechanics. And understanding this allows to understand the difference between classical and quantum mechanics. And understand a bit of Choquet theory and convex spaces! So fancy! So, let’s get to it!</a:t>
            </a:r>
          </a:p>
        </p:txBody>
      </p:sp>
      <p:sp>
        <p:nvSpPr>
          <p:cNvPr id="4" name="Slide Number Placeholder 3"/>
          <p:cNvSpPr>
            <a:spLocks noGrp="1"/>
          </p:cNvSpPr>
          <p:nvPr>
            <p:ph type="sldNum" sz="quarter" idx="5"/>
          </p:nvPr>
        </p:nvSpPr>
        <p:spPr/>
        <p:txBody>
          <a:bodyPr/>
          <a:lstStyle/>
          <a:p>
            <a:fld id="{A154F452-85BD-4268-B680-C313DBFDCEB3}" type="slidenum">
              <a:rPr lang="en-US" smtClean="0"/>
              <a:t>1</a:t>
            </a:fld>
            <a:endParaRPr lang="en-US"/>
          </a:p>
        </p:txBody>
      </p:sp>
    </p:spTree>
    <p:extLst>
      <p:ext uri="{BB962C8B-B14F-4D97-AF65-F5344CB8AC3E}">
        <p14:creationId xmlns:p14="http://schemas.microsoft.com/office/powerpoint/2010/main" val="1308143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46E33BD1-BDB8-4376-AAF8-3A003435480C}" type="datetime1">
              <a:rPr lang="en-US" smtClean="0"/>
              <a:t>5/21/2026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03588DA-AF3D-0538-FED6-B91B80D9B0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5482"/>
            <a:ext cx="1676403" cy="1523725"/>
          </a:xfrm>
          <a:prstGeom prst="rect">
            <a:avLst/>
          </a:prstGeom>
        </p:spPr>
      </p:pic>
      <p:pic>
        <p:nvPicPr>
          <p:cNvPr id="15" name="Picture 14">
            <a:extLst>
              <a:ext uri="{FF2B5EF4-FFF2-40B4-BE49-F238E27FC236}">
                <a16:creationId xmlns:a16="http://schemas.microsoft.com/office/drawing/2014/main" id="{4EEE5F5B-B632-2F49-E623-5C0F89CE0E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3727"/>
            <a:ext cx="2229706" cy="756859"/>
          </a:xfrm>
          <a:prstGeom prst="rect">
            <a:avLst/>
          </a:prstGeom>
        </p:spPr>
      </p:pic>
      <p:pic>
        <p:nvPicPr>
          <p:cNvPr id="16" name="Picture 15">
            <a:extLst>
              <a:ext uri="{FF2B5EF4-FFF2-40B4-BE49-F238E27FC236}">
                <a16:creationId xmlns:a16="http://schemas.microsoft.com/office/drawing/2014/main" id="{9AE0316C-62B2-770F-A578-C8D4BEA5E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032" y="4433212"/>
            <a:ext cx="1676403" cy="1523725"/>
          </a:xfrm>
          <a:prstGeom prst="rect">
            <a:avLst/>
          </a:prstGeom>
        </p:spPr>
      </p:pic>
      <p:pic>
        <p:nvPicPr>
          <p:cNvPr id="17" name="Picture 16">
            <a:extLst>
              <a:ext uri="{FF2B5EF4-FFF2-40B4-BE49-F238E27FC236}">
                <a16:creationId xmlns:a16="http://schemas.microsoft.com/office/drawing/2014/main" id="{730B28FF-2283-988B-15E2-3907B103BE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5381" y="6001457"/>
            <a:ext cx="2229706" cy="756859"/>
          </a:xfrm>
          <a:prstGeom prst="rect">
            <a:avLst/>
          </a:prstGeom>
        </p:spPr>
      </p:pic>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Gabriele Carcassi - Physics Department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62632B5B-3D6C-4612-9889-D56772AB65F7}" type="datetime1">
              <a:rPr lang="en-US" smtClean="0"/>
              <a:t>5/21/2026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489234EC-2A19-44A7-B16B-2575145E773E}" type="datetime1">
              <a:rPr lang="en-US" smtClean="0"/>
              <a:t>5/21/2026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4205EDB3-4761-4B82-865F-A5EEEFDA670E}" type="datetime1">
              <a:rPr lang="en-US" smtClean="0"/>
              <a:t>5/21/2026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Gabriele Carcassi - Physics Department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5BB56CE5-357E-4369-9BE4-05AD9FAD5660}" type="datetime1">
              <a:rPr lang="en-US" smtClean="0"/>
              <a:t>5/21/2026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Gabriele Carcassi - Physics Department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9EDE89CB-A9F6-477A-A4C2-11E3149C3A97}" type="datetime1">
              <a:rPr lang="en-US" smtClean="0"/>
              <a:t>5/21/2026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Gabriele Carcassi - Physics Department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6F4E52C4-4608-40F5-9B8E-BEEB48B105B6}" type="datetime1">
              <a:rPr lang="en-US" smtClean="0"/>
              <a:t>5/21/2026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Gabriele Carcassi - Physics Department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56CDB743-5423-42F1-9DC7-FD2205F9F888}" type="datetime1">
              <a:rPr lang="en-US" smtClean="0"/>
              <a:t>5/21/2026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Gabriele Carcassi - Physics Department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5AAF03F7-4D9C-4471-819E-E2C49033A744}" type="datetime1">
              <a:rPr lang="en-US" smtClean="0"/>
              <a:t>5/21/2026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Gabriele Carcassi - Physics Department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C06845AE-F78C-47ED-986D-2F5B5C247549}" type="datetime1">
              <a:rPr lang="en-US" smtClean="0"/>
              <a:t>5/21/2026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95AFA110-3775-4B6B-91E5-6049BB8CC0F2}" type="datetime1">
              <a:rPr lang="en-US" smtClean="0"/>
              <a:t>5/21/2026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0A85AB10-52F0-434A-B1D5-C9C9261256B7}" type="datetime1">
              <a:rPr lang="en-US" smtClean="0"/>
              <a:t>5/21/2026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Gabriele Carcassi - Physics Department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pic>
        <p:nvPicPr>
          <p:cNvPr id="14" name="Picture 13">
            <a:extLst>
              <a:ext uri="{FF2B5EF4-FFF2-40B4-BE49-F238E27FC236}">
                <a16:creationId xmlns:a16="http://schemas.microsoft.com/office/drawing/2014/main" id="{12EABDBC-29F5-54A5-0B74-DE652EDCED6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72"/>
            <a:ext cx="755811" cy="686976"/>
          </a:xfrm>
          <a:prstGeom prst="rect">
            <a:avLst/>
          </a:prstGeom>
        </p:spPr>
      </p:pic>
      <p:pic>
        <p:nvPicPr>
          <p:cNvPr id="17" name="Picture 16">
            <a:extLst>
              <a:ext uri="{FF2B5EF4-FFF2-40B4-BE49-F238E27FC236}">
                <a16:creationId xmlns:a16="http://schemas.microsoft.com/office/drawing/2014/main" id="{90CDCAE5-166F-5A8D-47B6-2316E82EF1E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4150" y="6274104"/>
            <a:ext cx="1313865" cy="445983"/>
          </a:xfrm>
          <a:prstGeom prst="rect">
            <a:avLst/>
          </a:prstGeom>
        </p:spPr>
      </p:pic>
    </p:spTree>
    <p:extLst>
      <p:ext uri="{BB962C8B-B14F-4D97-AF65-F5344CB8AC3E}">
        <p14:creationId xmlns:p14="http://schemas.microsoft.com/office/powerpoint/2010/main" val="360347769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6" animBg="1"/>
      <p:bldP spid="7" grpId="17" animBg="1"/>
      <p:bldP spid="7" grpId="18" animBg="1"/>
      <p:bldP spid="7" grpId="19" animBg="1"/>
      <p:bldP spid="7" grpId="20" animBg="1"/>
      <p:bldP spid="7" grpId="21" animBg="1"/>
      <p:bldP spid="7" grpId="22" animBg="1"/>
      <p:bldP spid="7" grpId="23" animBg="1"/>
      <p:bldP spid="7" grpId="24" animBg="1"/>
      <p:bldP spid="7" grpId="25" animBg="1"/>
      <p:bldP spid="7" grpId="26" animBg="1"/>
      <p:bldP spid="7" grpId="27" animBg="1"/>
      <p:bldP spid="7" grpId="28" animBg="1"/>
      <p:bldP spid="7" grpId="29" animBg="1"/>
      <p:bldP spid="7" grpId="30" animBg="1"/>
      <p:bldP spid="7" grpId="31" animBg="1"/>
      <p:bldP spid="7" grpId="32" animBg="1"/>
      <p:bldP spid="7" grpId="33" animBg="1"/>
      <p:bldP spid="7" grpId="38" animBg="1"/>
      <p:bldP spid="7" grpId="39" animBg="1"/>
      <p:bldP spid="7" grpId="40" animBg="1"/>
      <p:bldP spid="7" grpId="41" animBg="1"/>
      <p:bldP spid="7" grpId="42" animBg="1"/>
      <p:bldP spid="7" grpId="43" animBg="1"/>
      <p:bldP spid="7" grpId="44" animBg="1"/>
      <p:bldP spid="7" grpId="45" animBg="1"/>
      <p:bldP spid="7" grpId="46" animBg="1"/>
      <p:bldP spid="7" grpId="47" animBg="1"/>
      <p:bldP spid="7" grpId="48" animBg="1"/>
      <p:bldP spid="7" grpId="49" animBg="1"/>
      <p:bldP spid="7" grpId="50" animBg="1"/>
      <p:bldP spid="7" grpId="51" animBg="1"/>
      <p:bldP spid="7" grpId="52" animBg="1"/>
      <p:bldP spid="7" grpId="53" animBg="1"/>
      <p:bldP spid="7" grpId="54" animBg="1"/>
      <p:bldP spid="7" grpId="55" animBg="1"/>
      <p:bldP spid="7" grpId="56" animBg="1"/>
      <p:bldP spid="7" grpId="57" animBg="1"/>
    </p:bldLst>
  </p:timing>
  <p:hf sldNum="0" hdr="0" ft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7.png"/><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8.png"/><Relationship Id="rId5" Type="http://schemas.openxmlformats.org/officeDocument/2006/relationships/image" Target="../media/image8.png"/><Relationship Id="rId10" Type="http://schemas.openxmlformats.org/officeDocument/2006/relationships/image" Target="../media/image6.png"/><Relationship Id="rId4" Type="http://schemas.openxmlformats.org/officeDocument/2006/relationships/image" Target="../media/image7.png"/><Relationship Id="rId9"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2.png"/><Relationship Id="rId5" Type="http://schemas.openxmlformats.org/officeDocument/2006/relationships/image" Target="../media/image5.png"/><Relationship Id="rId10"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0.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1.png"/><Relationship Id="rId9" Type="http://schemas.openxmlformats.org/officeDocument/2006/relationships/image" Target="../media/image40.png"/><Relationship Id="rId14" Type="http://schemas.openxmlformats.org/officeDocument/2006/relationships/image" Target="../media/image45.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A50D-CD31-35BD-49B5-FDBCF34297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B0E934-66B9-BC67-3C9D-A8728F6692CF}"/>
              </a:ext>
            </a:extLst>
          </p:cNvPr>
          <p:cNvSpPr>
            <a:spLocks noGrp="1"/>
          </p:cNvSpPr>
          <p:nvPr>
            <p:ph idx="1"/>
          </p:nvPr>
        </p:nvSpPr>
        <p:spPr/>
        <p:txBody>
          <a:bodyPr/>
          <a:lstStyle/>
          <a:p>
            <a:r>
              <a:rPr lang="en-US" dirty="0"/>
              <a:t>We have seen that quantum superpositions are simply a way to represent other states. We saw that geometrically.</a:t>
            </a:r>
          </a:p>
          <a:p>
            <a:r>
              <a:rPr lang="en-US" dirty="0"/>
              <a:t>Is this just purely a mathematical representation, or is there a corresponding physical idea?</a:t>
            </a:r>
          </a:p>
          <a:p>
            <a:r>
              <a:rPr lang="en-US" dirty="0"/>
              <a:t>But why can we do that in quantum mechanics and why can’t we do that in classical mechanics?</a:t>
            </a:r>
          </a:p>
          <a:p>
            <a:r>
              <a:rPr lang="en-US" dirty="0"/>
              <a:t>Recap visually. Compare with classical. Show double decomposition visually</a:t>
            </a:r>
          </a:p>
          <a:p>
            <a:r>
              <a:rPr lang="en-US" dirty="0"/>
              <a:t>Show the math</a:t>
            </a:r>
          </a:p>
          <a:p>
            <a:r>
              <a:rPr lang="en-US" dirty="0"/>
              <a:t>Extend the math.</a:t>
            </a:r>
          </a:p>
        </p:txBody>
      </p:sp>
    </p:spTree>
    <p:extLst>
      <p:ext uri="{BB962C8B-B14F-4D97-AF65-F5344CB8AC3E}">
        <p14:creationId xmlns:p14="http://schemas.microsoft.com/office/powerpoint/2010/main" val="2297313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ACC6-3F69-6EC1-D41B-305DED3D551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AF03A8A-6663-A1BB-5E89-93434B05BFD9}"/>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EAF03A8A-6663-A1BB-5E89-93434B05BFD9}"/>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ADFB66E7-3B50-A8C7-C55B-05A1069710F1}"/>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4BBFC2B-A5B5-C733-AC03-98DDE2308A67}"/>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DEC9B69-4BEE-AD64-0F59-CCFD1F1821EF}"/>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0EFAF59-0948-8F9C-D305-335847803B2A}"/>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D6954A-27D8-A842-81C9-3CDA67171ED4}"/>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45D20E-2566-79CB-8D0D-D5902B47F020}"/>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4D96DCA-9805-B8E4-04F8-DC846D243BC2}"/>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77FDD32-F539-FE2D-B83E-2A1EF70AF519}"/>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B330CC05-81C7-A0F8-146B-6E2633F7307F}"/>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B330CC05-81C7-A0F8-146B-6E2633F7307F}"/>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3DB88B6A-1229-61ED-853A-49F8278FF1AE}"/>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3DB88B6A-1229-61ED-853A-49F8278FF1AE}"/>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8EABCBC6-D855-DC4F-097B-5F78679E5E7B}"/>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8EABCBC6-D855-DC4F-097B-5F78679E5E7B}"/>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095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35786-E978-AA9B-3FD2-14E0B7C14A7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F7D0B1F-0206-00E2-89C5-D7D24AD313C2}"/>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CF7D0B1F-0206-00E2-89C5-D7D24AD313C2}"/>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B861AA4D-4792-3B5F-B14E-FC309DE78A94}"/>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6D975C7-C6EE-4057-9F7D-082CA42ED73E}"/>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1831F10-B19D-1FDA-9E3F-3903440E21E5}"/>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A0CBBD3-5F00-D308-6234-CBCF2B193CCE}"/>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E97F70C-DAAE-3E50-65C2-7840205B022F}"/>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2843828-382B-F3CD-EC64-1B1700566951}"/>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FFAA8580-4CA1-7D4A-3A33-5800BDCBE592}"/>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31556E58-DAC0-F394-71B2-A79149AA0D86}"/>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50FE60BA-6901-5758-A448-81B6A8B2E5CD}"/>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7DF7E97-A5CB-BEBC-2708-9DB899FD71C3}"/>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E6A7528D-6F56-425E-E4CB-C6C0395E6E66}"/>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771AA2C0-E7FE-915F-D4E4-E1BE240002CA}"/>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011C8D76-01A3-BD7E-0DDE-DA6213B155CE}"/>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E606D804-345E-0C06-6DDF-2F3AC4157B9F}"/>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D575649B-5923-BDE4-2E97-CBF91ECFC384}"/>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CB5251EE-AE3A-E8D9-B2AF-00868C88D232}"/>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4CE4F7EB-87AA-5A06-D085-87E1DD0BF7FF}"/>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E4B10D3-F8BC-2175-CE84-DFA92E62499E}"/>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4E4B10D3-F8BC-2175-CE84-DFA92E62499E}"/>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BDFC90DB-6CCE-C3B3-E633-2EC84ACFAE72}"/>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BDFC90DB-6CCE-C3B3-E633-2EC84ACFAE72}"/>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BB47F59C-CBA5-8955-80FA-9668F9F138DF}"/>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3CED209-297C-EAF2-CF51-6F63A4EC2B20}"/>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59F07EC-5A13-450A-BA4E-5B34D56D7D07}"/>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B1EE59D-8E4A-40B9-DEFB-EB04BAEF89D2}"/>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89E7577A-386C-730D-E103-E7A2C4F9DA0B}"/>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89E7577A-386C-730D-E103-E7A2C4F9DA0B}"/>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BD7A14C2-DCBF-EFE1-E391-2CD39A82AAA4}"/>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BD7A14C2-DCBF-EFE1-E391-2CD39A82AAA4}"/>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A6F14143-6803-286E-8897-2E5BB047F05E}"/>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A6F14143-6803-286E-8897-2E5BB047F05E}"/>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2D6B2618-A2B1-4478-9668-56BBDF5FC466}"/>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2D6B2618-A2B1-4478-9668-56BBDF5FC466}"/>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9716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CC1CC-F39F-63A2-DEFD-724D0D95428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17DD7DD-8DF5-9B29-4F2D-C21978501BC5}"/>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317DD7DD-8DF5-9B29-4F2D-C21978501BC5}"/>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4FA616E7-D390-E775-B4C8-5DA815BD3EDA}"/>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54066F-73D6-AF89-5F7E-3E064F57AFF6}"/>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8618EBE-3397-A3E0-B9DD-9FD01EC33084}"/>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7413C47-B449-2767-0E02-61F69124A676}"/>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F121E7C-BB8F-39E9-403A-6879DD39E233}"/>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A41431B-FCA9-C66A-77BC-D9C8555FCFFF}"/>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15754F59-C8D4-77F8-8EA5-89C8C3E72D16}"/>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8355E034-A31D-5E78-1F45-F6FA660DC72D}"/>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C9E51975-B452-9CB5-4606-91B8CC8467D4}"/>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09CC17C-7424-C177-02DE-5703178E9A95}"/>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E3E968E8-008E-1E5A-D3F6-6E56689FDA23}"/>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404DB3E0-E14C-B7EE-D376-24E5CB225057}"/>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703018DD-1D25-DECA-6EE7-46B05F0B54F8}"/>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2CAB3C28-F737-6674-B8DB-B6FF4142A4C9}"/>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561BB556-BD56-99F9-4EAE-8379B9204217}"/>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62834236-0067-34CF-562D-832825D27ADD}"/>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3875D2D2-B869-5608-105D-30064E8DCA1A}"/>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016E874-742E-9D63-D5DE-9448FAC7E118}"/>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4016E874-742E-9D63-D5DE-9448FAC7E118}"/>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85496B52-C815-0FEE-BCAE-F583DE08D305}"/>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85496B52-C815-0FEE-BCAE-F583DE08D305}"/>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0BCBCAFA-E697-EDAD-299B-767EEF390732}"/>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11EBFD8-4D7E-8CFB-0EC4-0EB75D1AA8E4}"/>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3ED08C1-CFF0-7B6D-B176-865D6677653B}"/>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D06F4ED-B260-940F-114E-01256F0CCE14}"/>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1BF88E14-1021-0EA0-04CE-1B0EE8FC273D}"/>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1BF88E14-1021-0EA0-04CE-1B0EE8FC273D}"/>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A9A15879-3800-9074-BE34-A71E73F8CC36}"/>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A9A15879-3800-9074-BE34-A71E73F8CC36}"/>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A84FAE48-B69D-BC1C-203B-3A4BB064AC58}"/>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A84FAE48-B69D-BC1C-203B-3A4BB064AC58}"/>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EA1E904F-B503-EACE-1BB5-D8428BB96C4A}"/>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EA1E904F-B503-EACE-1BB5-D8428BB96C4A}"/>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3070C8A-B289-CDD8-59F5-46F6B16B7C9A}"/>
                  </a:ext>
                </a:extLst>
              </p:cNvPr>
              <p:cNvSpPr txBox="1"/>
              <p:nvPr/>
            </p:nvSpPr>
            <p:spPr>
              <a:xfrm>
                <a:off x="609600" y="5103337"/>
                <a:ext cx="8561703" cy="646331"/>
              </a:xfrm>
              <a:prstGeom prst="rect">
                <a:avLst/>
              </a:prstGeom>
              <a:noFill/>
            </p:spPr>
            <p:txBody>
              <a:bodyPr wrap="none" rtlCol="0">
                <a:spAutoFit/>
              </a:bodyPr>
              <a:lstStyle/>
              <a:p>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𝜓</m:t>
                        </m:r>
                      </m:e>
                      <m:sub>
                        <m:r>
                          <a:rPr lang="en-US" sz="3600" b="0" i="1" smtClean="0">
                            <a:latin typeface="Cambria Math" panose="02040503050406030204" pitchFamily="18" charset="0"/>
                          </a:rPr>
                          <m:t>1</m:t>
                        </m:r>
                      </m:sub>
                    </m:sSub>
                  </m:oMath>
                </a14:m>
                <a:r>
                  <a:rPr lang="en-US" sz="3600" dirty="0"/>
                  <a:t>,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𝜓</m:t>
                        </m:r>
                      </m:e>
                      <m:sub>
                        <m:r>
                          <a:rPr lang="en-US" sz="3600" b="0" i="1" smtClean="0">
                            <a:latin typeface="Cambria Math" panose="02040503050406030204" pitchFamily="18" charset="0"/>
                          </a:rPr>
                          <m:t>2</m:t>
                        </m:r>
                      </m:sub>
                    </m:sSub>
                  </m:oMath>
                </a14:m>
                <a:r>
                  <a:rPr lang="en-US" sz="3600" dirty="0"/>
                  <a:t> and </a:t>
                </a:r>
                <a14:m>
                  <m:oMath xmlns:m="http://schemas.openxmlformats.org/officeDocument/2006/math">
                    <m:r>
                      <a:rPr lang="en-US" sz="3600" b="0" i="1" smtClean="0">
                        <a:latin typeface="Cambria Math" panose="02040503050406030204" pitchFamily="18" charset="0"/>
                      </a:rPr>
                      <m:t>𝜙</m:t>
                    </m:r>
                  </m:oMath>
                </a14:m>
                <a:r>
                  <a:rPr lang="en-US" sz="3600" dirty="0"/>
                  <a:t> live on the same Bloch sphere!</a:t>
                </a:r>
              </a:p>
            </p:txBody>
          </p:sp>
        </mc:Choice>
        <mc:Fallback>
          <p:sp>
            <p:nvSpPr>
              <p:cNvPr id="4" name="TextBox 3">
                <a:extLst>
                  <a:ext uri="{FF2B5EF4-FFF2-40B4-BE49-F238E27FC236}">
                    <a16:creationId xmlns:a16="http://schemas.microsoft.com/office/drawing/2014/main" id="{83070C8A-B289-CDD8-59F5-46F6B16B7C9A}"/>
                  </a:ext>
                </a:extLst>
              </p:cNvPr>
              <p:cNvSpPr txBox="1">
                <a:spLocks noRot="1" noChangeAspect="1" noMove="1" noResize="1" noEditPoints="1" noAdjustHandles="1" noChangeArrowheads="1" noChangeShapeType="1" noTextEdit="1"/>
              </p:cNvSpPr>
              <p:nvPr/>
            </p:nvSpPr>
            <p:spPr>
              <a:xfrm>
                <a:off x="609600" y="5103337"/>
                <a:ext cx="8561703" cy="646331"/>
              </a:xfrm>
              <a:prstGeom prst="rect">
                <a:avLst/>
              </a:prstGeom>
              <a:blipFill>
                <a:blip r:embed="rId9"/>
                <a:stretch>
                  <a:fillRect t="-14151" r="-1068" b="-34906"/>
                </a:stretch>
              </a:blipFill>
            </p:spPr>
            <p:txBody>
              <a:bodyPr/>
              <a:lstStyle/>
              <a:p>
                <a:r>
                  <a:rPr lang="en-US">
                    <a:noFill/>
                  </a:rPr>
                  <a:t> </a:t>
                </a:r>
              </a:p>
            </p:txBody>
          </p:sp>
        </mc:Fallback>
      </mc:AlternateContent>
    </p:spTree>
    <p:extLst>
      <p:ext uri="{BB962C8B-B14F-4D97-AF65-F5344CB8AC3E}">
        <p14:creationId xmlns:p14="http://schemas.microsoft.com/office/powerpoint/2010/main" val="1609248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33AD-1CD2-D4E4-94F6-DEA6768A3F9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935055C-DEDE-A21E-57DA-0B8F9A9228F6}"/>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7935055C-DEDE-A21E-57DA-0B8F9A9228F6}"/>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E09E583F-E111-A3E5-3D19-CFFAA81E0FFC}"/>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484D980-EC31-A73E-81EF-D3E923B88185}"/>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31128B6-2910-2605-33FE-DD6AD0B736DB}"/>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E685500-0D9A-35AD-BA1B-787BC75055D7}"/>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D63B9F-73D1-5F9E-B896-6ECEB09E7DA8}"/>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701A8C4-26DD-B8BC-547C-119E70FB937E}"/>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57B0DE91-6E91-4BF2-EF01-49F091D87B91}"/>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906280F8-6711-158B-D6CA-049CD6744A47}"/>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CABF5C72-3584-F3CB-CD0B-8087A2FF56D0}"/>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8B2B36D-F31B-DAF3-3027-654831A1C8C1}"/>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B3681548-C38F-3D83-7E06-8737172449F3}"/>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D82A81F7-A483-F752-320C-52B6C084FD04}"/>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50139F09-B350-511D-FE9D-316901DEB115}"/>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20EFA50D-A13E-170C-7595-90280CC0D5EE}"/>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242E048B-207B-9C57-644E-352CE5C3C12C}"/>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B2F07D60-0B09-97D1-3865-FDF5E0F80D2B}"/>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3B6B5A51-2EAF-3DEA-3383-65E9E7521532}"/>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DA8D5998-0137-5AB3-1459-FF22C59C8D83}"/>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DA8D5998-0137-5AB3-1459-FF22C59C8D83}"/>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9AE49481-01DE-0F90-59E7-0DCFF919894A}"/>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9AE49481-01DE-0F90-59E7-0DCFF919894A}"/>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F92FA362-E235-FCA7-1063-8BA0D8CE9180}"/>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BB5DADB-BACB-7AEE-8734-638BB96EBD39}"/>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82A6A4B-C4A4-3EE5-4E08-4097866F3FD0}"/>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FEEAEEC-4195-4110-F2AB-A4ACC5152417}"/>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5D7486E6-735B-E53B-838E-6732C2DBF0E7}"/>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5D7486E6-735B-E53B-838E-6732C2DBF0E7}"/>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5AC2FD9C-E0B8-8241-B149-CA97CBFABFC0}"/>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5AC2FD9C-E0B8-8241-B149-CA97CBFABFC0}"/>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3B2C75EF-90BF-8222-2472-B3486FB39C0E}"/>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3B2C75EF-90BF-8222-2472-B3486FB39C0E}"/>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1B732DF6-12CE-0DA7-BAF6-FCF7282AABE9}"/>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1B732DF6-12CE-0DA7-BAF6-FCF7282AABE9}"/>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4115951-BB02-B124-8148-79919F43B133}"/>
                  </a:ext>
                </a:extLst>
              </p:cNvPr>
              <p:cNvSpPr txBox="1"/>
              <p:nvPr/>
            </p:nvSpPr>
            <p:spPr>
              <a:xfrm>
                <a:off x="609600" y="5103337"/>
                <a:ext cx="8561703" cy="646331"/>
              </a:xfrm>
              <a:prstGeom prst="rect">
                <a:avLst/>
              </a:prstGeom>
              <a:noFill/>
            </p:spPr>
            <p:txBody>
              <a:bodyPr wrap="none" rtlCol="0">
                <a:spAutoFit/>
              </a:bodyPr>
              <a:lstStyle/>
              <a:p>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𝜓</m:t>
                        </m:r>
                      </m:e>
                      <m:sub>
                        <m:r>
                          <a:rPr lang="en-US" sz="3600" b="0" i="1" smtClean="0">
                            <a:latin typeface="Cambria Math" panose="02040503050406030204" pitchFamily="18" charset="0"/>
                          </a:rPr>
                          <m:t>1</m:t>
                        </m:r>
                      </m:sub>
                    </m:sSub>
                  </m:oMath>
                </a14:m>
                <a:r>
                  <a:rPr lang="en-US" sz="3600" dirty="0"/>
                  <a:t>,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𝜓</m:t>
                        </m:r>
                      </m:e>
                      <m:sub>
                        <m:r>
                          <a:rPr lang="en-US" sz="3600" b="0" i="1" smtClean="0">
                            <a:latin typeface="Cambria Math" panose="02040503050406030204" pitchFamily="18" charset="0"/>
                          </a:rPr>
                          <m:t>2</m:t>
                        </m:r>
                      </m:sub>
                    </m:sSub>
                  </m:oMath>
                </a14:m>
                <a:r>
                  <a:rPr lang="en-US" sz="3600" dirty="0"/>
                  <a:t> and </a:t>
                </a:r>
                <a14:m>
                  <m:oMath xmlns:m="http://schemas.openxmlformats.org/officeDocument/2006/math">
                    <m:r>
                      <a:rPr lang="en-US" sz="3600" b="0" i="1" smtClean="0">
                        <a:latin typeface="Cambria Math" panose="02040503050406030204" pitchFamily="18" charset="0"/>
                      </a:rPr>
                      <m:t>𝜙</m:t>
                    </m:r>
                  </m:oMath>
                </a14:m>
                <a:r>
                  <a:rPr lang="en-US" sz="3600" dirty="0"/>
                  <a:t> live on the same Bloch sphere!</a:t>
                </a:r>
              </a:p>
            </p:txBody>
          </p:sp>
        </mc:Choice>
        <mc:Fallback>
          <p:sp>
            <p:nvSpPr>
              <p:cNvPr id="4" name="TextBox 3">
                <a:extLst>
                  <a:ext uri="{FF2B5EF4-FFF2-40B4-BE49-F238E27FC236}">
                    <a16:creationId xmlns:a16="http://schemas.microsoft.com/office/drawing/2014/main" id="{04115951-BB02-B124-8148-79919F43B133}"/>
                  </a:ext>
                </a:extLst>
              </p:cNvPr>
              <p:cNvSpPr txBox="1">
                <a:spLocks noRot="1" noChangeAspect="1" noMove="1" noResize="1" noEditPoints="1" noAdjustHandles="1" noChangeArrowheads="1" noChangeShapeType="1" noTextEdit="1"/>
              </p:cNvSpPr>
              <p:nvPr/>
            </p:nvSpPr>
            <p:spPr>
              <a:xfrm>
                <a:off x="609600" y="5103337"/>
                <a:ext cx="8561703" cy="646331"/>
              </a:xfrm>
              <a:prstGeom prst="rect">
                <a:avLst/>
              </a:prstGeom>
              <a:blipFill>
                <a:blip r:embed="rId9"/>
                <a:stretch>
                  <a:fillRect t="-14151" r="-1068" b="-3490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8AE4245-F743-3C4F-4D9A-AA28FAE45E00}"/>
              </a:ext>
            </a:extLst>
          </p:cNvPr>
          <p:cNvSpPr txBox="1"/>
          <p:nvPr/>
        </p:nvSpPr>
        <p:spPr>
          <a:xfrm>
            <a:off x="7680960" y="5849982"/>
            <a:ext cx="1282595" cy="369332"/>
          </a:xfrm>
          <a:prstGeom prst="rect">
            <a:avLst/>
          </a:prstGeom>
          <a:noFill/>
        </p:spPr>
        <p:txBody>
          <a:bodyPr wrap="none" rtlCol="0">
            <a:spAutoFit/>
          </a:bodyPr>
          <a:lstStyle/>
          <a:p>
            <a:r>
              <a:rPr lang="en-US" dirty="0"/>
              <a:t>Who cares?</a:t>
            </a:r>
          </a:p>
        </p:txBody>
      </p:sp>
    </p:spTree>
    <p:extLst>
      <p:ext uri="{BB962C8B-B14F-4D97-AF65-F5344CB8AC3E}">
        <p14:creationId xmlns:p14="http://schemas.microsoft.com/office/powerpoint/2010/main" val="271475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7F04-4EC1-3715-92CD-A8BA82B003C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EEA9F9-BD49-5221-8E70-E18D30437577}"/>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8CEEA9F9-BD49-5221-8E70-E18D30437577}"/>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56441B24-06D2-DB2F-C8DC-0F9D0D9B4D0F}"/>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E0D22EE-DE14-D97D-DCA3-EE8A2DF26DE5}"/>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771AF5-F030-ABA1-8294-F119C5663A50}"/>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FB68406-1B4B-6371-92F3-AC2F30846870}"/>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4280DBB-C5E1-A15E-0FC2-872DA54CAC3C}"/>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7F073F2-6F7E-B6D4-3199-58DD52E1635C}"/>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076051C1-85D7-EB2A-48EF-C74721F33B4D}"/>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DCC47099-02D8-39B4-916C-27AC76917525}"/>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EF7B0AA4-2C17-6B16-9D3C-F2D2FBC8D8CE}"/>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FEABFB3-825E-B4D4-9233-54BEF242187C}"/>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9D22C595-D958-01A9-A0AF-403666EBB765}"/>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E02F8649-13FD-0168-1A80-1BAD08BED5B2}"/>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C84F5E76-84ED-09F7-FB03-E1E6260FA5DD}"/>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CBDC58C9-A146-26B1-ED13-0B5D27CF8F63}"/>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2E0E8C8B-AA08-3E7D-765C-6B9A269C0249}"/>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42D23AE8-FECC-A248-6EB0-8D53F7BD197A}"/>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56B4857C-A992-D4D5-2860-5E8552FDCD56}"/>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2F6C3BEF-5982-A566-DA39-10AA35743C02}"/>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2F6C3BEF-5982-A566-DA39-10AA35743C02}"/>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E3A206EE-2938-88C1-3854-9FF5CAADC8E8}"/>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E3A206EE-2938-88C1-3854-9FF5CAADC8E8}"/>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461EE7FF-BAD5-1F2D-F6BB-77256D51BE0D}"/>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E49FCFC-67E5-FA22-FBBB-7A1664449956}"/>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1459D76-81D2-6882-89EB-53B42E55DE8A}"/>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817B1FA-EF1C-E8AD-E9F4-AFAD09D0E8F2}"/>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C2F24F86-D58B-6558-FD0D-B42786AC3FCF}"/>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C2F24F86-D58B-6558-FD0D-B42786AC3FCF}"/>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E653EB30-0BA0-494F-14E7-B22621350C3A}"/>
              </a:ext>
            </a:extLst>
          </p:cNvPr>
          <p:cNvCxnSpPr>
            <a:endCxn id="33" idx="5"/>
          </p:cNvCxnSpPr>
          <p:nvPr/>
        </p:nvCxnSpPr>
        <p:spPr>
          <a:xfrm>
            <a:off x="9486096" y="929341"/>
            <a:ext cx="416295" cy="281992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3E77E78D-692B-C416-0D8D-AC17BB2BB876}"/>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3E77E78D-692B-C416-0D8D-AC17BB2BB876}"/>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DC71128A-9570-D2E6-FBCA-F7B13EA62F75}"/>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DC71128A-9570-D2E6-FBCA-F7B13EA62F75}"/>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97EF0DDF-F2EC-BE89-F48E-817EE392FFC3}"/>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97EF0DDF-F2EC-BE89-F48E-817EE392FFC3}"/>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8"/>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D9ABDFF5-EB52-DC4C-7C69-5917A85B9862}"/>
              </a:ext>
            </a:extLst>
          </p:cNvPr>
          <p:cNvCxnSpPr/>
          <p:nvPr/>
        </p:nvCxnSpPr>
        <p:spPr>
          <a:xfrm flipV="1">
            <a:off x="7162800" y="3014047"/>
            <a:ext cx="2567940" cy="1877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D0229FC6-171C-AB1B-3BA4-03AB0DD11D1D}"/>
                  </a:ext>
                </a:extLst>
              </p:cNvPr>
              <p:cNvSpPr txBox="1"/>
              <p:nvPr/>
            </p:nvSpPr>
            <p:spPr>
              <a:xfrm>
                <a:off x="4822827" y="4925941"/>
                <a:ext cx="4252446" cy="461665"/>
              </a:xfrm>
              <a:prstGeom prst="rect">
                <a:avLst/>
              </a:prstGeom>
              <a:noFill/>
            </p:spPr>
            <p:txBody>
              <a:bodyPr wrap="none" rtlCol="0">
                <a:spAutoFit/>
              </a:bodyPr>
              <a:lstStyle/>
              <a:p>
                <a:r>
                  <a:rPr lang="en-US" sz="2400" dirty="0"/>
                  <a:t>Statistical mixtures of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2</m:t>
                        </m:r>
                      </m:sub>
                    </m:sSub>
                  </m:oMath>
                </a14:m>
                <a:endParaRPr lang="en-US" sz="2400" dirty="0"/>
              </a:p>
            </p:txBody>
          </p:sp>
        </mc:Choice>
        <mc:Fallback>
          <p:sp>
            <p:nvSpPr>
              <p:cNvPr id="10" name="TextBox 9">
                <a:extLst>
                  <a:ext uri="{FF2B5EF4-FFF2-40B4-BE49-F238E27FC236}">
                    <a16:creationId xmlns:a16="http://schemas.microsoft.com/office/drawing/2014/main" id="{D0229FC6-171C-AB1B-3BA4-03AB0DD11D1D}"/>
                  </a:ext>
                </a:extLst>
              </p:cNvPr>
              <p:cNvSpPr txBox="1">
                <a:spLocks noRot="1" noChangeAspect="1" noMove="1" noResize="1" noEditPoints="1" noAdjustHandles="1" noChangeArrowheads="1" noChangeShapeType="1" noTextEdit="1"/>
              </p:cNvSpPr>
              <p:nvPr/>
            </p:nvSpPr>
            <p:spPr>
              <a:xfrm>
                <a:off x="4822827" y="4925941"/>
                <a:ext cx="4252446" cy="461665"/>
              </a:xfrm>
              <a:prstGeom prst="rect">
                <a:avLst/>
              </a:prstGeom>
              <a:blipFill>
                <a:blip r:embed="rId9"/>
                <a:stretch>
                  <a:fillRect l="-2149"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4053183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526BE-67FA-D4D1-85D8-EA14B731E6F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6C1BF41-A752-9287-4432-B4C001A36A38}"/>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96C1BF41-A752-9287-4432-B4C001A36A38}"/>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24C50246-48C7-AD3D-318C-E747FB710F15}"/>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73D2232-5DA2-AB28-909D-0B58CE80ED06}"/>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46B30EF-3592-5090-EBC8-D12AEF071768}"/>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C1CF6E2-686D-8D61-7365-B201A7A8703C}"/>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CBBCCBF-E52C-5572-9843-65CED1232A44}"/>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F29D102-B6E6-5189-DEAB-37EA01434F64}"/>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2EBCA2BC-0FAE-F048-28F6-A5AA574D8AB9}"/>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96F06CF7-8C69-6969-F937-467C5AB8AAE7}"/>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EE8F4CD9-0C8A-7A3E-DDBC-80AD438E517B}"/>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2163F1D-F2AE-D84A-83FC-249313522C13}"/>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213801D8-35AB-85A3-AE91-73618E2B8C32}"/>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6CCCDE66-E8B4-DAE3-5973-A0DF03ABC6A0}"/>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E48927C1-05B7-B9EB-4745-3FB617CDF696}"/>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0356EA2D-E195-E3A1-99E0-5875BB1B3141}"/>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84587439-B33A-DFD0-8799-48BAA6D2267E}"/>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61F4265A-3C9A-0E64-9A16-EFEEA4376100}"/>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42533AAA-68FC-0776-1142-DAE2CD27F1C4}"/>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ED8EDE65-A73A-C503-FA98-0C180108A8A1}"/>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ED8EDE65-A73A-C503-FA98-0C180108A8A1}"/>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D176779-E77B-7BAB-36EF-7F00E9D9B20D}"/>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5D176779-E77B-7BAB-36EF-7F00E9D9B20D}"/>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04F389A3-05CC-6699-186E-46912734E744}"/>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12A0D1C-B5D6-0780-A92A-EFA389B3FBD1}"/>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E06BFBE-4E2C-7224-1532-A5038E94FFC0}"/>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8F928A5-53F3-429D-97F2-5A57BAB02F71}"/>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B31488B9-6830-7B8F-2366-6B18EA2F5482}"/>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B31488B9-6830-7B8F-2366-6B18EA2F5482}"/>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CB7D5C08-D0AC-542B-5634-B43919FB8FD2}"/>
              </a:ext>
            </a:extLst>
          </p:cNvPr>
          <p:cNvCxnSpPr>
            <a:endCxn id="33" idx="5"/>
          </p:cNvCxnSpPr>
          <p:nvPr/>
        </p:nvCxnSpPr>
        <p:spPr>
          <a:xfrm>
            <a:off x="9486096" y="929341"/>
            <a:ext cx="416295" cy="281992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0B9B0403-F394-FB14-FA3B-B7ACA53B2DCC}"/>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0B9B0403-F394-FB14-FA3B-B7ACA53B2DCC}"/>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E0877DE9-322A-0AAB-9674-36CE0056DCA5}"/>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E0877DE9-322A-0AAB-9674-36CE0056DCA5}"/>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C7714F8C-0B28-03DE-F0DD-EBADA15F5425}"/>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C7714F8C-0B28-03DE-F0DD-EBADA15F5425}"/>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8"/>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4FDC7F4B-9C6C-8F11-ED17-1737AF556EC1}"/>
              </a:ext>
            </a:extLst>
          </p:cNvPr>
          <p:cNvSpPr/>
          <p:nvPr/>
        </p:nvSpPr>
        <p:spPr>
          <a:xfrm>
            <a:off x="9538317" y="1467780"/>
            <a:ext cx="66918" cy="6382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22094B0-FEC3-4EB9-6912-6A5F22B23BA0}"/>
              </a:ext>
            </a:extLst>
          </p:cNvPr>
          <p:cNvCxnSpPr/>
          <p:nvPr/>
        </p:nvCxnSpPr>
        <p:spPr>
          <a:xfrm flipV="1">
            <a:off x="6598920" y="1531603"/>
            <a:ext cx="2887176" cy="2339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57784FE-3CC6-EF14-4F35-318E97200FF4}"/>
              </a:ext>
            </a:extLst>
          </p:cNvPr>
          <p:cNvSpPr txBox="1"/>
          <p:nvPr/>
        </p:nvSpPr>
        <p:spPr>
          <a:xfrm>
            <a:off x="5408218" y="3907407"/>
            <a:ext cx="1940018" cy="461665"/>
          </a:xfrm>
          <a:prstGeom prst="rect">
            <a:avLst/>
          </a:prstGeom>
          <a:noFill/>
        </p:spPr>
        <p:txBody>
          <a:bodyPr wrap="none" rtlCol="0">
            <a:spAutoFit/>
          </a:bodyPr>
          <a:lstStyle/>
          <a:p>
            <a:r>
              <a:rPr lang="en-US" sz="2400" dirty="0"/>
              <a:t>Pick a mixture</a:t>
            </a:r>
          </a:p>
        </p:txBody>
      </p:sp>
    </p:spTree>
    <p:extLst>
      <p:ext uri="{BB962C8B-B14F-4D97-AF65-F5344CB8AC3E}">
        <p14:creationId xmlns:p14="http://schemas.microsoft.com/office/powerpoint/2010/main" val="3211790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AACEA-FF43-F5AB-BF45-13E8D611DB6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0E98A5D-3B78-B39F-D512-EEFCFD960AF9}"/>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E0E98A5D-3B78-B39F-D512-EEFCFD960AF9}"/>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ABB198C1-B80D-F37C-C85B-ECEF805593CC}"/>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2C600-AE7F-B0DE-C9E5-3FFC418E01F4}"/>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371751A-9BD6-0A5B-40E2-DE86E79D45EB}"/>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D8987E0-DFE2-EF1C-552D-D1167CCA1570}"/>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312E58A-81F6-1403-45F4-5DEC5D990C21}"/>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13CAD79-82B6-DB15-EB81-74F6B4AD72A8}"/>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0FC73A9E-E207-3D46-090F-2B3A951901EB}"/>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8CF898AB-DC0D-4C8F-65FE-BDDA4D8B2898}"/>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FE1DB269-C989-0595-9DB9-3F6C55D9B935}"/>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8DF62BE-4C86-68C4-85DB-0B1F9D70422C}"/>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A78E3539-F9CC-8320-C0E0-6B4AFD80E2B0}"/>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0E84F3D1-BB2E-0294-6CB2-9CA23B7FE624}"/>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697427A9-2CFE-B55D-E08F-1DFC20956663}"/>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53CB9A77-A8E1-4798-534F-E9016667EEC1}"/>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E3D0F724-1818-9815-1F13-3179BAA1DBC1}"/>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2F44C26F-216C-81E5-F8EF-A511DAE82A5B}"/>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E8450A37-83C2-E9A3-362E-3DC490B31E3A}"/>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9128121B-3F99-B580-BEF8-D4BF637A5080}"/>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9128121B-3F99-B580-BEF8-D4BF637A5080}"/>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E77A480F-D991-F8C8-4166-700206859978}"/>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E77A480F-D991-F8C8-4166-700206859978}"/>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96DE9F8C-A14C-054C-4AF5-436E9A251648}"/>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3409598-4888-1365-4573-05F5E8A2E2BF}"/>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97ABA2F-37E9-B3BF-F3A5-05E3261B5D52}"/>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9F729EA3-38E8-6902-60C6-2B6609C7A8B0}"/>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09CAC1D-4836-C4C3-9BFC-610D4B4A35FF}"/>
              </a:ext>
            </a:extLst>
          </p:cNvPr>
          <p:cNvCxnSpPr>
            <a:cxnSpLocks/>
          </p:cNvCxnSpPr>
          <p:nvPr/>
        </p:nvCxnSpPr>
        <p:spPr>
          <a:xfrm flipH="1" flipV="1">
            <a:off x="7373917" y="1226742"/>
            <a:ext cx="1262941" cy="125612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9CB25A59-BB90-E30F-116E-C08A1476A829}"/>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9CB25A59-BB90-E30F-116E-C08A1476A829}"/>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EA21F582-80D7-430F-D355-6A823916B8BF}"/>
                  </a:ext>
                </a:extLst>
              </p:cNvPr>
              <p:cNvSpPr txBox="1"/>
              <p:nvPr/>
            </p:nvSpPr>
            <p:spPr>
              <a:xfrm>
                <a:off x="6698127" y="745632"/>
                <a:ext cx="763029" cy="5413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𝜙</m:t>
                          </m:r>
                        </m:e>
                      </m:acc>
                      <m:r>
                        <a:rPr lang="en-US" sz="2800" i="1" dirty="0">
                          <a:latin typeface="Cambria Math" panose="02040503050406030204" pitchFamily="18" charset="0"/>
                        </a:rPr>
                        <m:t>⟩</m:t>
                      </m:r>
                    </m:oMath>
                  </m:oMathPara>
                </a14:m>
                <a:endParaRPr lang="en-US" sz="2800" dirty="0"/>
              </a:p>
            </p:txBody>
          </p:sp>
        </mc:Choice>
        <mc:Fallback>
          <p:sp>
            <p:nvSpPr>
              <p:cNvPr id="68" name="TextBox 67">
                <a:extLst>
                  <a:ext uri="{FF2B5EF4-FFF2-40B4-BE49-F238E27FC236}">
                    <a16:creationId xmlns:a16="http://schemas.microsoft.com/office/drawing/2014/main" id="{EA21F582-80D7-430F-D355-6A823916B8BF}"/>
                  </a:ext>
                </a:extLst>
              </p:cNvPr>
              <p:cNvSpPr txBox="1">
                <a:spLocks noRot="1" noChangeAspect="1" noMove="1" noResize="1" noEditPoints="1" noAdjustHandles="1" noChangeArrowheads="1" noChangeShapeType="1" noTextEdit="1"/>
              </p:cNvSpPr>
              <p:nvPr/>
            </p:nvSpPr>
            <p:spPr>
              <a:xfrm>
                <a:off x="6698127" y="745632"/>
                <a:ext cx="763029" cy="541302"/>
              </a:xfrm>
              <a:prstGeom prst="rect">
                <a:avLst/>
              </a:prstGeom>
              <a:blipFill>
                <a:blip r:embed="rId6"/>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9F0D120A-A5A5-3FF3-BDFD-8EBC10947131}"/>
              </a:ext>
            </a:extLst>
          </p:cNvPr>
          <p:cNvCxnSpPr>
            <a:endCxn id="33" idx="5"/>
          </p:cNvCxnSpPr>
          <p:nvPr/>
        </p:nvCxnSpPr>
        <p:spPr>
          <a:xfrm>
            <a:off x="9486096" y="929341"/>
            <a:ext cx="416295" cy="281992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F9C8EE4-2001-632B-C73C-92BE28F47055}"/>
              </a:ext>
            </a:extLst>
          </p:cNvPr>
          <p:cNvCxnSpPr>
            <a:cxnSpLocks/>
          </p:cNvCxnSpPr>
          <p:nvPr/>
        </p:nvCxnSpPr>
        <p:spPr>
          <a:xfrm>
            <a:off x="7392262" y="1226742"/>
            <a:ext cx="2781406" cy="34235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F3B54332-0F08-7B30-4556-842CBA581C96}"/>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F3B54332-0F08-7B30-4556-842CBA581C96}"/>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EC861F76-0AE3-C079-C164-51C22AACE66C}"/>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EC861F76-0AE3-C079-C164-51C22AACE66C}"/>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1EF1B8CD-84E3-4CBA-17E8-D72211F26D17}"/>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1EF1B8CD-84E3-4CBA-17E8-D72211F26D17}"/>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9"/>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A383D50E-7792-DD75-51EF-98E503734AFD}"/>
              </a:ext>
            </a:extLst>
          </p:cNvPr>
          <p:cNvSpPr/>
          <p:nvPr/>
        </p:nvSpPr>
        <p:spPr>
          <a:xfrm>
            <a:off x="9538317" y="1467780"/>
            <a:ext cx="66918" cy="6382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0BAE9AD-4753-ED18-25EE-1493F7E76308}"/>
              </a:ext>
            </a:extLst>
          </p:cNvPr>
          <p:cNvCxnSpPr>
            <a:cxnSpLocks/>
          </p:cNvCxnSpPr>
          <p:nvPr/>
        </p:nvCxnSpPr>
        <p:spPr>
          <a:xfrm flipV="1">
            <a:off x="6385691" y="1449445"/>
            <a:ext cx="988226" cy="29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0CAC00B-055E-7E82-1C9D-C3684763853B}"/>
                  </a:ext>
                </a:extLst>
              </p:cNvPr>
              <p:cNvSpPr txBox="1"/>
              <p:nvPr/>
            </p:nvSpPr>
            <p:spPr>
              <a:xfrm>
                <a:off x="3563620" y="4434419"/>
                <a:ext cx="5322611" cy="477118"/>
              </a:xfrm>
              <a:prstGeom prst="rect">
                <a:avLst/>
              </a:prstGeom>
              <a:noFill/>
            </p:spPr>
            <p:txBody>
              <a:bodyPr wrap="none" rtlCol="0">
                <a:spAutoFit/>
              </a:bodyPr>
              <a:lstStyle/>
              <a:p>
                <a:r>
                  <a:rPr lang="en-US" sz="2400" dirty="0"/>
                  <a:t>It’s also a mixture of </a:t>
                </a:r>
                <a14:m>
                  <m:oMath xmlns:m="http://schemas.openxmlformats.org/officeDocument/2006/math">
                    <m:r>
                      <a:rPr lang="en-US" sz="2400" b="0" i="1" smtClean="0">
                        <a:latin typeface="Cambria Math" panose="02040503050406030204" pitchFamily="18" charset="0"/>
                      </a:rPr>
                      <m:t>𝜙</m:t>
                    </m:r>
                  </m:oMath>
                </a14:m>
                <a:r>
                  <a:rPr lang="en-US" sz="2400" dirty="0"/>
                  <a:t> and some other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𝜙</m:t>
                        </m:r>
                      </m:e>
                    </m:acc>
                  </m:oMath>
                </a14:m>
                <a:endParaRPr lang="en-US" sz="2400" dirty="0"/>
              </a:p>
            </p:txBody>
          </p:sp>
        </mc:Choice>
        <mc:Fallback>
          <p:sp>
            <p:nvSpPr>
              <p:cNvPr id="8" name="TextBox 7">
                <a:extLst>
                  <a:ext uri="{FF2B5EF4-FFF2-40B4-BE49-F238E27FC236}">
                    <a16:creationId xmlns:a16="http://schemas.microsoft.com/office/drawing/2014/main" id="{B0CAC00B-055E-7E82-1C9D-C3684763853B}"/>
                  </a:ext>
                </a:extLst>
              </p:cNvPr>
              <p:cNvSpPr txBox="1">
                <a:spLocks noRot="1" noChangeAspect="1" noMove="1" noResize="1" noEditPoints="1" noAdjustHandles="1" noChangeArrowheads="1" noChangeShapeType="1" noTextEdit="1"/>
              </p:cNvSpPr>
              <p:nvPr/>
            </p:nvSpPr>
            <p:spPr>
              <a:xfrm>
                <a:off x="3563620" y="4434419"/>
                <a:ext cx="5322611" cy="477118"/>
              </a:xfrm>
              <a:prstGeom prst="rect">
                <a:avLst/>
              </a:prstGeom>
              <a:blipFill>
                <a:blip r:embed="rId10"/>
                <a:stretch>
                  <a:fillRect l="-1833" t="-6329" r="-5842" b="-27848"/>
                </a:stretch>
              </a:blipFill>
            </p:spPr>
            <p:txBody>
              <a:bodyPr/>
              <a:lstStyle/>
              <a:p>
                <a:r>
                  <a:rPr lang="en-US">
                    <a:noFill/>
                  </a:rPr>
                  <a:t> </a:t>
                </a:r>
              </a:p>
            </p:txBody>
          </p:sp>
        </mc:Fallback>
      </mc:AlternateContent>
    </p:spTree>
    <p:extLst>
      <p:ext uri="{BB962C8B-B14F-4D97-AF65-F5344CB8AC3E}">
        <p14:creationId xmlns:p14="http://schemas.microsoft.com/office/powerpoint/2010/main" val="230069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D397-A8C4-76DE-3E07-584E4775B8A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A24EE6C-6B4D-D2B9-E6E2-E3EC5F3D6253}"/>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DA24EE6C-6B4D-D2B9-E6E2-E3EC5F3D6253}"/>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63BB7E03-37DF-34F6-AAFF-1656509C41F4}"/>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AAFB3BD-9610-0C45-5678-0D901DD196A4}"/>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74662C2-0B4B-A204-B1C0-DB6427703FEC}"/>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0D96860-F6A4-49D1-7C30-8B0DFFA08F6B}"/>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94D84B5-1587-DC4E-E358-498EFCE3E708}"/>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D44E834-480E-6B65-B4AB-55981CED3830}"/>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100A7BDC-40CA-94A6-C78D-499AF750D85D}"/>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A85B9BE0-7574-0A1C-6012-F186C9B9A4DC}"/>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E8168D0D-F281-6677-1F7B-7A7CE89FA0EA}"/>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BA20E0A-8A8D-22D0-8E5B-A33388829A4C}"/>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1A31E712-48E6-E974-1BB8-48057084B491}"/>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91752C10-94D9-B46E-6129-CE00D5237334}"/>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B6987DC5-A6E7-9B47-4E3F-20F6C3E3F80A}"/>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5B43027A-0283-94AE-0AD4-F3225403A8ED}"/>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21BEE35B-7992-2000-BF23-83B99BD7E226}"/>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73830DB5-27EA-F81D-FF9B-E51B456CA66B}"/>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215D1264-F7C1-0F26-34AE-72F1A4E02BB2}"/>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FDE815E6-68D5-B3BE-02B6-0D10B31DFE62}"/>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FDE815E6-68D5-B3BE-02B6-0D10B31DFE62}"/>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75F6ED48-24E7-F213-38CD-AFD9B397EBFB}"/>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75F6ED48-24E7-F213-38CD-AFD9B397EBFB}"/>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FBEF7901-9297-ADDF-9B4D-E44D307B8A46}"/>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F469111-DBC6-DC75-B386-ED5DB0FCA2F9}"/>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308E7D5-A2C2-2C79-2B29-ACE2D2A99DA4}"/>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2763850-761E-C8B5-B5F6-3B4E0CD9B07B}"/>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1853084-AB2C-31D5-F696-BBF78DD6322D}"/>
              </a:ext>
            </a:extLst>
          </p:cNvPr>
          <p:cNvCxnSpPr>
            <a:cxnSpLocks/>
          </p:cNvCxnSpPr>
          <p:nvPr/>
        </p:nvCxnSpPr>
        <p:spPr>
          <a:xfrm flipH="1" flipV="1">
            <a:off x="7373917" y="1226742"/>
            <a:ext cx="1262941" cy="125612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5BF189BD-848D-FFE8-23C9-7D47DC45BD8C}"/>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5BF189BD-848D-FFE8-23C9-7D47DC45BD8C}"/>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0B4B4AF0-0D54-FFF4-EC63-E956D787852D}"/>
                  </a:ext>
                </a:extLst>
              </p:cNvPr>
              <p:cNvSpPr txBox="1"/>
              <p:nvPr/>
            </p:nvSpPr>
            <p:spPr>
              <a:xfrm>
                <a:off x="6698127" y="745632"/>
                <a:ext cx="763029" cy="5413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𝜙</m:t>
                          </m:r>
                        </m:e>
                      </m:acc>
                      <m:r>
                        <a:rPr lang="en-US" sz="2800" i="1" dirty="0">
                          <a:latin typeface="Cambria Math" panose="02040503050406030204" pitchFamily="18" charset="0"/>
                        </a:rPr>
                        <m:t>⟩</m:t>
                      </m:r>
                    </m:oMath>
                  </m:oMathPara>
                </a14:m>
                <a:endParaRPr lang="en-US" sz="2800" dirty="0"/>
              </a:p>
            </p:txBody>
          </p:sp>
        </mc:Choice>
        <mc:Fallback>
          <p:sp>
            <p:nvSpPr>
              <p:cNvPr id="68" name="TextBox 67">
                <a:extLst>
                  <a:ext uri="{FF2B5EF4-FFF2-40B4-BE49-F238E27FC236}">
                    <a16:creationId xmlns:a16="http://schemas.microsoft.com/office/drawing/2014/main" id="{0B4B4AF0-0D54-FFF4-EC63-E956D787852D}"/>
                  </a:ext>
                </a:extLst>
              </p:cNvPr>
              <p:cNvSpPr txBox="1">
                <a:spLocks noRot="1" noChangeAspect="1" noMove="1" noResize="1" noEditPoints="1" noAdjustHandles="1" noChangeArrowheads="1" noChangeShapeType="1" noTextEdit="1"/>
              </p:cNvSpPr>
              <p:nvPr/>
            </p:nvSpPr>
            <p:spPr>
              <a:xfrm>
                <a:off x="6698127" y="745632"/>
                <a:ext cx="763029" cy="541302"/>
              </a:xfrm>
              <a:prstGeom prst="rect">
                <a:avLst/>
              </a:prstGeom>
              <a:blipFill>
                <a:blip r:embed="rId6"/>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E1D8EC8B-1F88-EB31-EA04-52DAD6254AA0}"/>
              </a:ext>
            </a:extLst>
          </p:cNvPr>
          <p:cNvCxnSpPr>
            <a:endCxn id="33" idx="5"/>
          </p:cNvCxnSpPr>
          <p:nvPr/>
        </p:nvCxnSpPr>
        <p:spPr>
          <a:xfrm>
            <a:off x="9486096" y="929341"/>
            <a:ext cx="416295" cy="281992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8493D50-9B75-2C45-9BC1-C37686720960}"/>
              </a:ext>
            </a:extLst>
          </p:cNvPr>
          <p:cNvCxnSpPr>
            <a:cxnSpLocks/>
          </p:cNvCxnSpPr>
          <p:nvPr/>
        </p:nvCxnSpPr>
        <p:spPr>
          <a:xfrm>
            <a:off x="7392262" y="1226742"/>
            <a:ext cx="2781406" cy="34235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87ADBD48-0778-3B8F-322F-5BF9A794AF67}"/>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87ADBD48-0778-3B8F-322F-5BF9A794AF67}"/>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21E395A0-BD1F-3B40-9FDA-9B657EF5F403}"/>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21E395A0-BD1F-3B40-9FDA-9B657EF5F403}"/>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4227C96B-D3A3-FD93-E901-57A2A8FF5CF1}"/>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4227C96B-D3A3-FD93-E901-57A2A8FF5CF1}"/>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9"/>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A65EC904-3B68-C7AB-7B9E-306B4B7C3589}"/>
              </a:ext>
            </a:extLst>
          </p:cNvPr>
          <p:cNvSpPr/>
          <p:nvPr/>
        </p:nvSpPr>
        <p:spPr>
          <a:xfrm>
            <a:off x="9538317" y="1467780"/>
            <a:ext cx="66918" cy="6382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23169FD-89B0-4757-E6FB-5FC42985AB6C}"/>
              </a:ext>
            </a:extLst>
          </p:cNvPr>
          <p:cNvCxnSpPr>
            <a:cxnSpLocks/>
          </p:cNvCxnSpPr>
          <p:nvPr/>
        </p:nvCxnSpPr>
        <p:spPr>
          <a:xfrm flipV="1">
            <a:off x="6385691" y="1449445"/>
            <a:ext cx="988226" cy="29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72ECF60-010F-AC41-3129-E21EBD8A2C96}"/>
                  </a:ext>
                </a:extLst>
              </p:cNvPr>
              <p:cNvSpPr txBox="1"/>
              <p:nvPr/>
            </p:nvSpPr>
            <p:spPr>
              <a:xfrm>
                <a:off x="3563620" y="4434419"/>
                <a:ext cx="5322611" cy="477118"/>
              </a:xfrm>
              <a:prstGeom prst="rect">
                <a:avLst/>
              </a:prstGeom>
              <a:noFill/>
            </p:spPr>
            <p:txBody>
              <a:bodyPr wrap="none" rtlCol="0">
                <a:spAutoFit/>
              </a:bodyPr>
              <a:lstStyle/>
              <a:p>
                <a:r>
                  <a:rPr lang="en-US" sz="2400" dirty="0"/>
                  <a:t>It’s also a mixture of </a:t>
                </a:r>
                <a14:m>
                  <m:oMath xmlns:m="http://schemas.openxmlformats.org/officeDocument/2006/math">
                    <m:r>
                      <a:rPr lang="en-US" sz="2400" b="0" i="1" smtClean="0">
                        <a:latin typeface="Cambria Math" panose="02040503050406030204" pitchFamily="18" charset="0"/>
                      </a:rPr>
                      <m:t>𝜙</m:t>
                    </m:r>
                  </m:oMath>
                </a14:m>
                <a:r>
                  <a:rPr lang="en-US" sz="2400" dirty="0"/>
                  <a:t> and some other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𝜙</m:t>
                        </m:r>
                      </m:e>
                    </m:acc>
                  </m:oMath>
                </a14:m>
                <a:endParaRPr lang="en-US" sz="2400" dirty="0"/>
              </a:p>
            </p:txBody>
          </p:sp>
        </mc:Choice>
        <mc:Fallback>
          <p:sp>
            <p:nvSpPr>
              <p:cNvPr id="8" name="TextBox 7">
                <a:extLst>
                  <a:ext uri="{FF2B5EF4-FFF2-40B4-BE49-F238E27FC236}">
                    <a16:creationId xmlns:a16="http://schemas.microsoft.com/office/drawing/2014/main" id="{572ECF60-010F-AC41-3129-E21EBD8A2C96}"/>
                  </a:ext>
                </a:extLst>
              </p:cNvPr>
              <p:cNvSpPr txBox="1">
                <a:spLocks noRot="1" noChangeAspect="1" noMove="1" noResize="1" noEditPoints="1" noAdjustHandles="1" noChangeArrowheads="1" noChangeShapeType="1" noTextEdit="1"/>
              </p:cNvSpPr>
              <p:nvPr/>
            </p:nvSpPr>
            <p:spPr>
              <a:xfrm>
                <a:off x="3563620" y="4434419"/>
                <a:ext cx="5322611" cy="477118"/>
              </a:xfrm>
              <a:prstGeom prst="rect">
                <a:avLst/>
              </a:prstGeom>
              <a:blipFill>
                <a:blip r:embed="rId10"/>
                <a:stretch>
                  <a:fillRect l="-1833" t="-6329" r="-5842" b="-2784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F9F20D49-E8FF-6741-2D5B-6F4BD7DD3681}"/>
              </a:ext>
            </a:extLst>
          </p:cNvPr>
          <p:cNvSpPr txBox="1"/>
          <p:nvPr/>
        </p:nvSpPr>
        <p:spPr>
          <a:xfrm>
            <a:off x="311073" y="5270080"/>
            <a:ext cx="9686341" cy="1077218"/>
          </a:xfrm>
          <a:prstGeom prst="rect">
            <a:avLst/>
          </a:prstGeom>
          <a:noFill/>
        </p:spPr>
        <p:txBody>
          <a:bodyPr wrap="square" rtlCol="0">
            <a:spAutoFit/>
          </a:bodyPr>
          <a:lstStyle/>
          <a:p>
            <a:r>
              <a:rPr lang="en-US" sz="3200" dirty="0">
                <a:solidFill>
                  <a:schemeClr val="accent6">
                    <a:lumMod val="75000"/>
                  </a:schemeClr>
                </a:solidFill>
              </a:rPr>
              <a:t>Multi-decomposability: the same mixture can be decomposed in multiple ways in terms of pure states</a:t>
            </a:r>
          </a:p>
        </p:txBody>
      </p:sp>
    </p:spTree>
    <p:extLst>
      <p:ext uri="{BB962C8B-B14F-4D97-AF65-F5344CB8AC3E}">
        <p14:creationId xmlns:p14="http://schemas.microsoft.com/office/powerpoint/2010/main" val="3034174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09ED-E351-7AC6-CD7F-94745EDB275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C561AD0-33D9-9235-6873-92FF5CEB0D9B}"/>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EC561AD0-33D9-9235-6873-92FF5CEB0D9B}"/>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BB30DD89-8BBC-618E-BD3F-0045257D6D69}"/>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B2B1E75-A3CB-D5C3-49D8-74605D4CCF54}"/>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740666E-3F8E-53AE-4EAC-3BC52E6E9377}"/>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394CA1C-C937-D132-ED42-638536CFE5A8}"/>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8AE33AC-D256-01F5-E03D-B2A66C215F38}"/>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88A5BCD-DED3-967B-2AEB-67CBD3A1EE8C}"/>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023A3772-9CA6-E044-FAAB-6A499C5A1668}"/>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BEC477AB-CF5E-C624-958B-63380B242B43}"/>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3D3A3561-9FC3-07A6-98CE-C241F4F582D7}"/>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84EF52F-D3E8-A33F-5A6A-3090DBBF19C2}"/>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CDC73A65-440F-ADF6-1D14-D87588BC4E55}"/>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AC88A396-CC03-9F54-76D5-5E00FC86E19B}"/>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70EFCC9D-EE74-C144-A894-78539E10F1EE}"/>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390B6CA2-4D3F-1533-6FAA-60009494B544}"/>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DCD41708-78A7-2A78-4C44-3C8ACECBF7CF}"/>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249DF660-B6FA-FF1C-AE94-7E6ADF0A8059}"/>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200BEFCD-B97E-F215-E9F7-58DD1887C6CA}"/>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93362E5F-D2CC-A9D9-D4C0-17BF5E32070D}"/>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93362E5F-D2CC-A9D9-D4C0-17BF5E32070D}"/>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81FB1D99-C6F4-1F15-6609-9BDFD5B22AFE}"/>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81FB1D99-C6F4-1F15-6609-9BDFD5B22AFE}"/>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4"/>
                <a:stretch>
                  <a:fillRect/>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DB370D61-A18F-2C44-0626-FD908F12B40C}"/>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30A8B58-50C7-49CA-9A25-F1E18E87C3C8}"/>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E861C03-8419-BFEB-751B-294AD72BF369}"/>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CAC0E38-E76F-1192-5272-7190ABE82031}"/>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4A794F4-986B-FD71-8E12-F78010427765}"/>
              </a:ext>
            </a:extLst>
          </p:cNvPr>
          <p:cNvCxnSpPr>
            <a:cxnSpLocks/>
          </p:cNvCxnSpPr>
          <p:nvPr/>
        </p:nvCxnSpPr>
        <p:spPr>
          <a:xfrm flipH="1" flipV="1">
            <a:off x="7373917" y="1226742"/>
            <a:ext cx="1262941" cy="125612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4E4259FD-3B42-7E2A-4804-F0C5E5F7E8B3}"/>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4E4259FD-3B42-7E2A-4804-F0C5E5F7E8B3}"/>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7A87057A-4CF4-EF4A-377A-5D20CCD007D2}"/>
                  </a:ext>
                </a:extLst>
              </p:cNvPr>
              <p:cNvSpPr txBox="1"/>
              <p:nvPr/>
            </p:nvSpPr>
            <p:spPr>
              <a:xfrm>
                <a:off x="6698127" y="745632"/>
                <a:ext cx="763029" cy="5413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𝜙</m:t>
                          </m:r>
                        </m:e>
                      </m:acc>
                      <m:r>
                        <a:rPr lang="en-US" sz="2800" i="1" dirty="0">
                          <a:latin typeface="Cambria Math" panose="02040503050406030204" pitchFamily="18" charset="0"/>
                        </a:rPr>
                        <m:t>⟩</m:t>
                      </m:r>
                    </m:oMath>
                  </m:oMathPara>
                </a14:m>
                <a:endParaRPr lang="en-US" sz="2800" dirty="0"/>
              </a:p>
            </p:txBody>
          </p:sp>
        </mc:Choice>
        <mc:Fallback>
          <p:sp>
            <p:nvSpPr>
              <p:cNvPr id="68" name="TextBox 67">
                <a:extLst>
                  <a:ext uri="{FF2B5EF4-FFF2-40B4-BE49-F238E27FC236}">
                    <a16:creationId xmlns:a16="http://schemas.microsoft.com/office/drawing/2014/main" id="{7A87057A-4CF4-EF4A-377A-5D20CCD007D2}"/>
                  </a:ext>
                </a:extLst>
              </p:cNvPr>
              <p:cNvSpPr txBox="1">
                <a:spLocks noRot="1" noChangeAspect="1" noMove="1" noResize="1" noEditPoints="1" noAdjustHandles="1" noChangeArrowheads="1" noChangeShapeType="1" noTextEdit="1"/>
              </p:cNvSpPr>
              <p:nvPr/>
            </p:nvSpPr>
            <p:spPr>
              <a:xfrm>
                <a:off x="6698127" y="745632"/>
                <a:ext cx="763029" cy="541302"/>
              </a:xfrm>
              <a:prstGeom prst="rect">
                <a:avLst/>
              </a:prstGeom>
              <a:blipFill>
                <a:blip r:embed="rId6"/>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93D5E85E-ADE7-8443-9772-5E720801E060}"/>
              </a:ext>
            </a:extLst>
          </p:cNvPr>
          <p:cNvCxnSpPr>
            <a:endCxn id="33" idx="5"/>
          </p:cNvCxnSpPr>
          <p:nvPr/>
        </p:nvCxnSpPr>
        <p:spPr>
          <a:xfrm>
            <a:off x="9486096" y="929341"/>
            <a:ext cx="416295" cy="281992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C072500-300F-82B5-A839-279D5509F446}"/>
              </a:ext>
            </a:extLst>
          </p:cNvPr>
          <p:cNvCxnSpPr>
            <a:cxnSpLocks/>
          </p:cNvCxnSpPr>
          <p:nvPr/>
        </p:nvCxnSpPr>
        <p:spPr>
          <a:xfrm>
            <a:off x="7392262" y="1226742"/>
            <a:ext cx="2781406" cy="34235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75281124-7923-5A31-6A78-4B76872959C3}"/>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75281124-7923-5A31-6A78-4B76872959C3}"/>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B006CE7A-E63C-9B8B-B98B-0EC71325E59D}"/>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B006CE7A-E63C-9B8B-B98B-0EC71325E59D}"/>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F5E747A6-3788-CA9E-4091-713F90211759}"/>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F5E747A6-3788-CA9E-4091-713F90211759}"/>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9"/>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6F3A29D1-D7C0-FF22-C87A-F58B0C0830CD}"/>
              </a:ext>
            </a:extLst>
          </p:cNvPr>
          <p:cNvSpPr/>
          <p:nvPr/>
        </p:nvSpPr>
        <p:spPr>
          <a:xfrm>
            <a:off x="9538317" y="1467780"/>
            <a:ext cx="66918" cy="6382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29999C0-3914-4E97-A442-098AD1842516}"/>
                  </a:ext>
                </a:extLst>
              </p:cNvPr>
              <p:cNvSpPr txBox="1"/>
              <p:nvPr/>
            </p:nvSpPr>
            <p:spPr>
              <a:xfrm>
                <a:off x="375813" y="5020420"/>
                <a:ext cx="8741304" cy="1154034"/>
              </a:xfrm>
              <a:prstGeom prst="rect">
                <a:avLst/>
              </a:prstGeom>
              <a:noFill/>
            </p:spPr>
            <p:txBody>
              <a:bodyPr wrap="none" rtlCol="0">
                <a:spAutoFit/>
              </a:bodyPr>
              <a:lstStyle/>
              <a:p>
                <a:r>
                  <a:rPr lang="en-US" sz="3200" dirty="0">
                    <a:solidFill>
                      <a:schemeClr val="accent6">
                        <a:lumMod val="75000"/>
                      </a:schemeClr>
                    </a:solidFill>
                  </a:rPr>
                  <a:t>Insight: </a:t>
                </a:r>
                <a14:m>
                  <m:oMath xmlns:m="http://schemas.openxmlformats.org/officeDocument/2006/math">
                    <m:d>
                      <m:dPr>
                        <m:begChr m:val="|"/>
                        <m:endChr m:val="⟩"/>
                        <m:ctrlPr>
                          <a:rPr lang="en-US" sz="3200" i="1" dirty="0">
                            <a:solidFill>
                              <a:schemeClr val="accent6">
                                <a:lumMod val="75000"/>
                              </a:schemeClr>
                            </a:solidFill>
                            <a:latin typeface="Cambria Math" panose="02040503050406030204" pitchFamily="18" charset="0"/>
                          </a:rPr>
                        </m:ctrlPr>
                      </m:dPr>
                      <m:e>
                        <m:r>
                          <a:rPr lang="en-US" sz="3200" i="1" dirty="0">
                            <a:solidFill>
                              <a:schemeClr val="accent6">
                                <a:lumMod val="75000"/>
                              </a:schemeClr>
                            </a:solidFill>
                            <a:latin typeface="Cambria Math" panose="02040503050406030204" pitchFamily="18" charset="0"/>
                          </a:rPr>
                          <m:t>𝜙</m:t>
                        </m:r>
                      </m:e>
                    </m:d>
                    <m:r>
                      <a:rPr lang="en-US" sz="3200" i="1" dirty="0">
                        <a:solidFill>
                          <a:schemeClr val="accent6">
                            <a:lumMod val="75000"/>
                          </a:schemeClr>
                        </a:solidFill>
                        <a:latin typeface="Cambria Math" panose="02040503050406030204" pitchFamily="18" charset="0"/>
                      </a:rPr>
                      <m:t>=</m:t>
                    </m:r>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𝑐</m:t>
                        </m:r>
                      </m:e>
                      <m:sub>
                        <m:r>
                          <a:rPr lang="en-US" sz="3200" i="1" dirty="0">
                            <a:solidFill>
                              <a:schemeClr val="accent6">
                                <a:lumMod val="75000"/>
                              </a:schemeClr>
                            </a:solidFill>
                            <a:latin typeface="Cambria Math" panose="02040503050406030204" pitchFamily="18" charset="0"/>
                          </a:rPr>
                          <m:t>1</m:t>
                        </m:r>
                      </m:sub>
                    </m:sSub>
                    <m:d>
                      <m:dPr>
                        <m:begChr m:val="|"/>
                        <m:endChr m:val="⟩"/>
                        <m:ctrlPr>
                          <a:rPr lang="en-US" sz="3200" i="1" dirty="0">
                            <a:solidFill>
                              <a:schemeClr val="accent6">
                                <a:lumMod val="75000"/>
                              </a:schemeClr>
                            </a:solidFill>
                            <a:latin typeface="Cambria Math" panose="02040503050406030204" pitchFamily="18" charset="0"/>
                          </a:rPr>
                        </m:ctrlPr>
                      </m:dPr>
                      <m:e>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𝜓</m:t>
                            </m:r>
                          </m:e>
                          <m:sub>
                            <m:r>
                              <a:rPr lang="en-US" sz="3200" i="1" dirty="0">
                                <a:solidFill>
                                  <a:schemeClr val="accent6">
                                    <a:lumMod val="75000"/>
                                  </a:schemeClr>
                                </a:solidFill>
                                <a:latin typeface="Cambria Math" panose="02040503050406030204" pitchFamily="18" charset="0"/>
                              </a:rPr>
                              <m:t>1</m:t>
                            </m:r>
                          </m:sub>
                        </m:sSub>
                      </m:e>
                    </m:d>
                    <m:r>
                      <a:rPr lang="en-US" sz="3200" i="1" dirty="0">
                        <a:solidFill>
                          <a:schemeClr val="accent6">
                            <a:lumMod val="75000"/>
                          </a:schemeClr>
                        </a:solidFill>
                        <a:latin typeface="Cambria Math" panose="02040503050406030204" pitchFamily="18" charset="0"/>
                      </a:rPr>
                      <m:t>+</m:t>
                    </m:r>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𝑐</m:t>
                        </m:r>
                      </m:e>
                      <m:sub>
                        <m:r>
                          <a:rPr lang="en-US" sz="3200" i="1" dirty="0">
                            <a:solidFill>
                              <a:schemeClr val="accent6">
                                <a:lumMod val="75000"/>
                              </a:schemeClr>
                            </a:solidFill>
                            <a:latin typeface="Cambria Math" panose="02040503050406030204" pitchFamily="18" charset="0"/>
                          </a:rPr>
                          <m:t>2</m:t>
                        </m:r>
                      </m:sub>
                    </m:sSub>
                    <m:d>
                      <m:dPr>
                        <m:begChr m:val="|"/>
                        <m:endChr m:val="⟩"/>
                        <m:ctrlPr>
                          <a:rPr lang="en-US" sz="3200" i="1" dirty="0">
                            <a:solidFill>
                              <a:schemeClr val="accent6">
                                <a:lumMod val="75000"/>
                              </a:schemeClr>
                            </a:solidFill>
                            <a:latin typeface="Cambria Math" panose="02040503050406030204" pitchFamily="18" charset="0"/>
                          </a:rPr>
                        </m:ctrlPr>
                      </m:dPr>
                      <m:e>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𝜓</m:t>
                            </m:r>
                          </m:e>
                          <m:sub>
                            <m:r>
                              <a:rPr lang="en-US" sz="3200" i="1" dirty="0">
                                <a:solidFill>
                                  <a:schemeClr val="accent6">
                                    <a:lumMod val="75000"/>
                                  </a:schemeClr>
                                </a:solidFill>
                                <a:latin typeface="Cambria Math" panose="02040503050406030204" pitchFamily="18" charset="0"/>
                              </a:rPr>
                              <m:t>2</m:t>
                            </m:r>
                          </m:sub>
                        </m:sSub>
                      </m:e>
                    </m:d>
                  </m:oMath>
                </a14:m>
                <a:r>
                  <a:rPr lang="en-US" sz="3200" dirty="0">
                    <a:solidFill>
                      <a:schemeClr val="accent6">
                        <a:lumMod val="75000"/>
                      </a:schemeClr>
                    </a:solidFill>
                  </a:rPr>
                  <a:t> </a:t>
                </a:r>
                <a14:m>
                  <m:oMath xmlns:m="http://schemas.openxmlformats.org/officeDocument/2006/math">
                    <m:r>
                      <a:rPr lang="en-US" sz="3200" b="0" i="1" dirty="0" smtClean="0">
                        <a:solidFill>
                          <a:schemeClr val="accent6">
                            <a:lumMod val="75000"/>
                          </a:schemeClr>
                        </a:solidFill>
                        <a:latin typeface="Cambria Math" panose="02040503050406030204" pitchFamily="18" charset="0"/>
                        <a:ea typeface="Cambria Math" panose="02040503050406030204" pitchFamily="18" charset="0"/>
                      </a:rPr>
                      <m:t>⟺</m:t>
                    </m:r>
                  </m:oMath>
                </a14:m>
                <a:br>
                  <a:rPr lang="en-US" sz="3200" dirty="0">
                    <a:solidFill>
                      <a:schemeClr val="accent6">
                        <a:lumMod val="75000"/>
                      </a:schemeClr>
                    </a:solidFill>
                  </a:rPr>
                </a:br>
                <a14:m>
                  <m:oMath xmlns:m="http://schemas.openxmlformats.org/officeDocument/2006/math">
                    <m:r>
                      <a:rPr lang="en-US" sz="3200" b="0" i="1" dirty="0" smtClean="0">
                        <a:solidFill>
                          <a:schemeClr val="accent6">
                            <a:lumMod val="75000"/>
                          </a:schemeClr>
                        </a:solidFill>
                        <a:latin typeface="Cambria Math" panose="02040503050406030204" pitchFamily="18" charset="0"/>
                      </a:rPr>
                      <m:t>∃ </m:t>
                    </m:r>
                    <m:r>
                      <a:rPr lang="en-US" sz="3200" b="0" i="1" dirty="0" smtClean="0">
                        <a:solidFill>
                          <a:schemeClr val="accent6">
                            <a:lumMod val="75000"/>
                          </a:schemeClr>
                        </a:solidFill>
                        <a:latin typeface="Cambria Math" panose="02040503050406030204" pitchFamily="18" charset="0"/>
                      </a:rPr>
                      <m:t>𝜌</m:t>
                    </m:r>
                  </m:oMath>
                </a14:m>
                <a:r>
                  <a:rPr lang="en-US" sz="3200" dirty="0">
                    <a:solidFill>
                      <a:schemeClr val="accent6">
                        <a:lumMod val="75000"/>
                      </a:schemeClr>
                    </a:solidFill>
                  </a:rPr>
                  <a:t> such that </a:t>
                </a:r>
                <a14:m>
                  <m:oMath xmlns:m="http://schemas.openxmlformats.org/officeDocument/2006/math">
                    <m:r>
                      <a:rPr lang="en-US" sz="3200" i="1">
                        <a:solidFill>
                          <a:schemeClr val="accent6">
                            <a:lumMod val="75000"/>
                          </a:schemeClr>
                        </a:solidFill>
                        <a:latin typeface="Cambria Math" panose="02040503050406030204" pitchFamily="18" charset="0"/>
                      </a:rPr>
                      <m:t>𝜌</m:t>
                    </m:r>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𝜙</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r>
                          <a:rPr lang="en-US" sz="3200" i="1">
                            <a:solidFill>
                              <a:schemeClr val="accent6">
                                <a:lumMod val="75000"/>
                              </a:schemeClr>
                            </a:solidFill>
                            <a:latin typeface="Cambria Math" panose="02040503050406030204" pitchFamily="18" charset="0"/>
                          </a:rPr>
                          <m:t>𝜙</m:t>
                        </m:r>
                      </m:sub>
                    </m:sSub>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acc>
                          <m:accPr>
                            <m:chr m:val="̂"/>
                            <m:ctrlPr>
                              <a:rPr lang="en-US" sz="3200" i="1">
                                <a:solidFill>
                                  <a:schemeClr val="accent6">
                                    <a:lumMod val="75000"/>
                                  </a:schemeClr>
                                </a:solidFill>
                                <a:latin typeface="Cambria Math" panose="02040503050406030204" pitchFamily="18" charset="0"/>
                              </a:rPr>
                            </m:ctrlPr>
                          </m:accPr>
                          <m:e>
                            <m:r>
                              <a:rPr lang="en-US" sz="3200" i="1">
                                <a:solidFill>
                                  <a:schemeClr val="accent6">
                                    <a:lumMod val="75000"/>
                                  </a:schemeClr>
                                </a:solidFill>
                                <a:latin typeface="Cambria Math" panose="02040503050406030204" pitchFamily="18" charset="0"/>
                              </a:rPr>
                              <m:t>𝜙</m:t>
                            </m:r>
                          </m:e>
                        </m:acc>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acc>
                          <m:accPr>
                            <m:chr m:val="̂"/>
                            <m:ctrlPr>
                              <a:rPr lang="en-US" sz="3200" i="1">
                                <a:solidFill>
                                  <a:schemeClr val="accent6">
                                    <a:lumMod val="75000"/>
                                  </a:schemeClr>
                                </a:solidFill>
                                <a:latin typeface="Cambria Math" panose="02040503050406030204" pitchFamily="18" charset="0"/>
                              </a:rPr>
                            </m:ctrlPr>
                          </m:accPr>
                          <m:e>
                            <m:r>
                              <a:rPr lang="en-US" sz="3200" i="1">
                                <a:solidFill>
                                  <a:schemeClr val="accent6">
                                    <a:lumMod val="75000"/>
                                  </a:schemeClr>
                                </a:solidFill>
                                <a:latin typeface="Cambria Math" panose="02040503050406030204" pitchFamily="18" charset="0"/>
                              </a:rPr>
                              <m:t>𝜙</m:t>
                            </m:r>
                          </m:e>
                        </m:acc>
                      </m:sub>
                    </m:sSub>
                    <m:r>
                      <a:rPr lang="en-US" sz="3200" b="0" i="1" smtClean="0">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1</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𝜓</m:t>
                            </m:r>
                          </m:e>
                          <m:sub>
                            <m:r>
                              <a:rPr lang="en-US" sz="3200" i="1">
                                <a:solidFill>
                                  <a:schemeClr val="accent6">
                                    <a:lumMod val="75000"/>
                                  </a:schemeClr>
                                </a:solidFill>
                                <a:latin typeface="Cambria Math" panose="02040503050406030204" pitchFamily="18" charset="0"/>
                              </a:rPr>
                              <m:t>1</m:t>
                            </m:r>
                          </m:sub>
                        </m:sSub>
                      </m:sub>
                    </m:sSub>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2</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𝜓</m:t>
                            </m:r>
                          </m:e>
                          <m:sub>
                            <m:r>
                              <a:rPr lang="en-US" sz="3200" i="1">
                                <a:solidFill>
                                  <a:schemeClr val="accent6">
                                    <a:lumMod val="75000"/>
                                  </a:schemeClr>
                                </a:solidFill>
                                <a:latin typeface="Cambria Math" panose="02040503050406030204" pitchFamily="18" charset="0"/>
                              </a:rPr>
                              <m:t>2</m:t>
                            </m:r>
                          </m:sub>
                        </m:sSub>
                      </m:sub>
                    </m:sSub>
                  </m:oMath>
                </a14:m>
                <a:endParaRPr lang="en-US" sz="3200" dirty="0">
                  <a:solidFill>
                    <a:schemeClr val="accent6">
                      <a:lumMod val="75000"/>
                    </a:schemeClr>
                  </a:solidFill>
                </a:endParaRPr>
              </a:p>
            </p:txBody>
          </p:sp>
        </mc:Choice>
        <mc:Fallback>
          <p:sp>
            <p:nvSpPr>
              <p:cNvPr id="9" name="TextBox 8">
                <a:extLst>
                  <a:ext uri="{FF2B5EF4-FFF2-40B4-BE49-F238E27FC236}">
                    <a16:creationId xmlns:a16="http://schemas.microsoft.com/office/drawing/2014/main" id="{429999C0-3914-4E97-A442-098AD1842516}"/>
                  </a:ext>
                </a:extLst>
              </p:cNvPr>
              <p:cNvSpPr txBox="1">
                <a:spLocks noRot="1" noChangeAspect="1" noMove="1" noResize="1" noEditPoints="1" noAdjustHandles="1" noChangeArrowheads="1" noChangeShapeType="1" noTextEdit="1"/>
              </p:cNvSpPr>
              <p:nvPr/>
            </p:nvSpPr>
            <p:spPr>
              <a:xfrm>
                <a:off x="375813" y="5020420"/>
                <a:ext cx="8741304" cy="1154034"/>
              </a:xfrm>
              <a:prstGeom prst="rect">
                <a:avLst/>
              </a:prstGeom>
              <a:blipFill>
                <a:blip r:embed="rId10"/>
                <a:stretch>
                  <a:fillRect l="-1813" t="-6349" b="-10582"/>
                </a:stretch>
              </a:blipFill>
            </p:spPr>
            <p:txBody>
              <a:bodyPr/>
              <a:lstStyle/>
              <a:p>
                <a:r>
                  <a:rPr lang="en-US">
                    <a:noFill/>
                  </a:rPr>
                  <a:t> </a:t>
                </a:r>
              </a:p>
            </p:txBody>
          </p:sp>
        </mc:Fallback>
      </mc:AlternateContent>
    </p:spTree>
    <p:extLst>
      <p:ext uri="{BB962C8B-B14F-4D97-AF65-F5344CB8AC3E}">
        <p14:creationId xmlns:p14="http://schemas.microsoft.com/office/powerpoint/2010/main" val="2871624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5C3AC2-6AE7-C597-4257-6E48BB843A45}"/>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smtClean="0">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8C5C3AC2-6AE7-C597-4257-6E48BB843A45}"/>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D67FD96D-E661-198A-1D5B-E35B1EB21F41}"/>
              </a:ext>
            </a:extLst>
          </p:cNvPr>
          <p:cNvCxnSpPr/>
          <p:nvPr/>
        </p:nvCxnSpPr>
        <p:spPr>
          <a:xfrm>
            <a:off x="1745713" y="981998"/>
            <a:ext cx="670560" cy="594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21A63DE-C402-D7B7-A5F0-7F423162C07B}"/>
              </a:ext>
            </a:extLst>
          </p:cNvPr>
          <p:cNvSpPr txBox="1"/>
          <p:nvPr/>
        </p:nvSpPr>
        <p:spPr>
          <a:xfrm>
            <a:off x="252156" y="382325"/>
            <a:ext cx="4018985" cy="523220"/>
          </a:xfrm>
          <a:prstGeom prst="rect">
            <a:avLst/>
          </a:prstGeom>
          <a:noFill/>
        </p:spPr>
        <p:txBody>
          <a:bodyPr wrap="none" rtlCol="0">
            <a:spAutoFit/>
          </a:bodyPr>
          <a:lstStyle/>
          <a:p>
            <a:r>
              <a:rPr lang="en-US" sz="2800" dirty="0"/>
              <a:t>Mathematical relationship</a:t>
            </a:r>
          </a:p>
        </p:txBody>
      </p:sp>
      <p:sp>
        <p:nvSpPr>
          <p:cNvPr id="7" name="TextBox 6">
            <a:extLst>
              <a:ext uri="{FF2B5EF4-FFF2-40B4-BE49-F238E27FC236}">
                <a16:creationId xmlns:a16="http://schemas.microsoft.com/office/drawing/2014/main" id="{B063A1AE-9BBD-FDBE-650E-A313059398E9}"/>
              </a:ext>
            </a:extLst>
          </p:cNvPr>
          <p:cNvSpPr txBox="1"/>
          <p:nvPr/>
        </p:nvSpPr>
        <p:spPr>
          <a:xfrm>
            <a:off x="426720" y="4709160"/>
            <a:ext cx="3148426" cy="523220"/>
          </a:xfrm>
          <a:prstGeom prst="rect">
            <a:avLst/>
          </a:prstGeom>
          <a:noFill/>
        </p:spPr>
        <p:txBody>
          <a:bodyPr wrap="none" rtlCol="0">
            <a:spAutoFit/>
          </a:bodyPr>
          <a:lstStyle/>
          <a:p>
            <a:r>
              <a:rPr lang="en-US" sz="2800" dirty="0"/>
              <a:t>Physical relationship</a:t>
            </a:r>
          </a:p>
        </p:txBody>
      </p:sp>
      <p:sp>
        <p:nvSpPr>
          <p:cNvPr id="8" name="TextBox 7">
            <a:extLst>
              <a:ext uri="{FF2B5EF4-FFF2-40B4-BE49-F238E27FC236}">
                <a16:creationId xmlns:a16="http://schemas.microsoft.com/office/drawing/2014/main" id="{A5176CCB-BEAC-14D9-7F17-9F85A8899E0E}"/>
              </a:ext>
            </a:extLst>
          </p:cNvPr>
          <p:cNvSpPr txBox="1"/>
          <p:nvPr/>
        </p:nvSpPr>
        <p:spPr>
          <a:xfrm>
            <a:off x="3497580" y="944262"/>
            <a:ext cx="4339201" cy="369332"/>
          </a:xfrm>
          <a:prstGeom prst="rect">
            <a:avLst/>
          </a:prstGeom>
          <a:noFill/>
        </p:spPr>
        <p:txBody>
          <a:bodyPr wrap="none" rtlCol="0">
            <a:spAutoFit/>
          </a:bodyPr>
          <a:lstStyle/>
          <a:p>
            <a:r>
              <a:rPr lang="en-US" dirty="0"/>
              <a:t>Property of the </a:t>
            </a:r>
            <a:r>
              <a:rPr lang="en-US" b="1" dirty="0"/>
              <a:t>vector space representation</a:t>
            </a:r>
          </a:p>
        </p:txBody>
      </p:sp>
      <p:cxnSp>
        <p:nvCxnSpPr>
          <p:cNvPr id="9" name="Straight Arrow Connector 8">
            <a:extLst>
              <a:ext uri="{FF2B5EF4-FFF2-40B4-BE49-F238E27FC236}">
                <a16:creationId xmlns:a16="http://schemas.microsoft.com/office/drawing/2014/main" id="{36BDA044-FB27-23D0-45AD-3318BFDB1493}"/>
              </a:ext>
            </a:extLst>
          </p:cNvPr>
          <p:cNvCxnSpPr>
            <a:cxnSpLocks/>
          </p:cNvCxnSpPr>
          <p:nvPr/>
        </p:nvCxnSpPr>
        <p:spPr>
          <a:xfrm flipV="1">
            <a:off x="1745713" y="4183380"/>
            <a:ext cx="784127" cy="586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E69E5B6-D037-BE35-129A-AD39DE6279B6}"/>
              </a:ext>
            </a:extLst>
          </p:cNvPr>
          <p:cNvSpPr txBox="1"/>
          <p:nvPr/>
        </p:nvSpPr>
        <p:spPr>
          <a:xfrm>
            <a:off x="3848833" y="4438018"/>
            <a:ext cx="4371581" cy="369332"/>
          </a:xfrm>
          <a:prstGeom prst="rect">
            <a:avLst/>
          </a:prstGeom>
          <a:noFill/>
        </p:spPr>
        <p:txBody>
          <a:bodyPr wrap="none" rtlCol="0">
            <a:spAutoFit/>
          </a:bodyPr>
          <a:lstStyle/>
          <a:p>
            <a:r>
              <a:rPr lang="en-US" dirty="0"/>
              <a:t>Property of distinguishability of preparations</a:t>
            </a:r>
          </a:p>
        </p:txBody>
      </p:sp>
    </p:spTree>
    <p:extLst>
      <p:ext uri="{BB962C8B-B14F-4D97-AF65-F5344CB8AC3E}">
        <p14:creationId xmlns:p14="http://schemas.microsoft.com/office/powerpoint/2010/main" val="1238100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56414C-8755-AB60-3773-42D0E2529CB9}"/>
              </a:ext>
            </a:extLst>
          </p:cNvPr>
          <p:cNvSpPr txBox="1"/>
          <p:nvPr/>
        </p:nvSpPr>
        <p:spPr>
          <a:xfrm>
            <a:off x="3452263" y="1699260"/>
            <a:ext cx="5287473" cy="1200329"/>
          </a:xfrm>
          <a:prstGeom prst="rect">
            <a:avLst/>
          </a:prstGeom>
          <a:noFill/>
        </p:spPr>
        <p:txBody>
          <a:bodyPr wrap="none" rtlCol="0">
            <a:spAutoFit/>
          </a:bodyPr>
          <a:lstStyle/>
          <a:p>
            <a:r>
              <a:rPr lang="en-US" sz="7200" dirty="0"/>
              <a:t>Let’s prove it!</a:t>
            </a:r>
          </a:p>
        </p:txBody>
      </p:sp>
      <p:sp>
        <p:nvSpPr>
          <p:cNvPr id="3" name="TextBox 2">
            <a:extLst>
              <a:ext uri="{FF2B5EF4-FFF2-40B4-BE49-F238E27FC236}">
                <a16:creationId xmlns:a16="http://schemas.microsoft.com/office/drawing/2014/main" id="{6F5BB676-E436-5F05-4AE1-915F5CB03DED}"/>
              </a:ext>
            </a:extLst>
          </p:cNvPr>
          <p:cNvSpPr txBox="1"/>
          <p:nvPr/>
        </p:nvSpPr>
        <p:spPr>
          <a:xfrm>
            <a:off x="998220" y="3307080"/>
            <a:ext cx="10402528" cy="369332"/>
          </a:xfrm>
          <a:prstGeom prst="rect">
            <a:avLst/>
          </a:prstGeom>
          <a:noFill/>
        </p:spPr>
        <p:txBody>
          <a:bodyPr wrap="none" rtlCol="0">
            <a:spAutoFit/>
          </a:bodyPr>
          <a:lstStyle/>
          <a:p>
            <a:r>
              <a:rPr lang="en-US" dirty="0"/>
              <a:t>Details also at: https://assumptionsofphysics.org/autogen/briefs/002-SuperpositionAndMultipleMixtures.pdf </a:t>
            </a:r>
          </a:p>
        </p:txBody>
      </p:sp>
    </p:spTree>
    <p:extLst>
      <p:ext uri="{BB962C8B-B14F-4D97-AF65-F5344CB8AC3E}">
        <p14:creationId xmlns:p14="http://schemas.microsoft.com/office/powerpoint/2010/main" val="3590072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3578B-9C2F-2120-D8A6-18BEF6A0791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EAF8AAA-F395-4FF4-6F82-47E9A5A2CD08}"/>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smtClean="0">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BEAF8AAA-F395-4FF4-6F82-47E9A5A2CD08}"/>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spTree>
    <p:extLst>
      <p:ext uri="{BB962C8B-B14F-4D97-AF65-F5344CB8AC3E}">
        <p14:creationId xmlns:p14="http://schemas.microsoft.com/office/powerpoint/2010/main" val="2496384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FD21-AE77-8120-150B-BDA7ACB9103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4F90451-B18D-8C21-6DF9-3DF59B651B6F}"/>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A4F90451-B18D-8C21-6DF9-3DF59B651B6F}"/>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DEDE31E-7598-8FF6-399B-4EE35BE194EF}"/>
                  </a:ext>
                </a:extLst>
              </p:cNvPr>
              <p:cNvSpPr txBox="1"/>
              <p:nvPr/>
            </p:nvSpPr>
            <p:spPr>
              <a:xfrm>
                <a:off x="1434433" y="4945511"/>
                <a:ext cx="6056466" cy="9260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acc>
                            <m:accPr>
                              <m:chr m:val="̂"/>
                              <m:ctrlPr>
                                <a:rPr lang="en-US" sz="4800" b="0" i="1" dirty="0" smtClean="0">
                                  <a:latin typeface="Cambria Math" panose="02040503050406030204" pitchFamily="18" charset="0"/>
                                </a:rPr>
                              </m:ctrlPr>
                            </m:accPr>
                            <m:e>
                              <m:r>
                                <a:rPr lang="en-US" sz="4800" b="0" i="1" dirty="0" smtClean="0">
                                  <a:latin typeface="Cambria Math" panose="02040503050406030204" pitchFamily="18" charset="0"/>
                                </a:rPr>
                                <m:t>𝜙</m:t>
                              </m:r>
                            </m:e>
                          </m:acc>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3" name="TextBox 2">
                <a:extLst>
                  <a:ext uri="{FF2B5EF4-FFF2-40B4-BE49-F238E27FC236}">
                    <a16:creationId xmlns:a16="http://schemas.microsoft.com/office/drawing/2014/main" id="{4DEDE31E-7598-8FF6-399B-4EE35BE194EF}"/>
                  </a:ext>
                </a:extLst>
              </p:cNvPr>
              <p:cNvSpPr txBox="1">
                <a:spLocks noRot="1" noChangeAspect="1" noMove="1" noResize="1" noEditPoints="1" noAdjustHandles="1" noChangeArrowheads="1" noChangeShapeType="1" noTextEdit="1"/>
              </p:cNvSpPr>
              <p:nvPr/>
            </p:nvSpPr>
            <p:spPr>
              <a:xfrm>
                <a:off x="1434433" y="4945511"/>
                <a:ext cx="6056466" cy="926087"/>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9AA660EF-D1F8-E31D-712F-5F1788F5AEBC}"/>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8F8C4D-B747-2D51-245B-CA75D04D477D}"/>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0DB24D1-5BC8-01D7-4FBD-09CC37A1344E}"/>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74399F5-B687-CF66-3CC6-0C1B3E4FA6FC}"/>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A859B7-E090-0A67-0F85-9336E5EB6A7A}"/>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6B292C0-254A-D6CE-7433-F926BDFAE246}"/>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1B305873-42E8-501E-BA63-8E20406A6E34}"/>
              </a:ext>
            </a:extLst>
          </p:cNvPr>
          <p:cNvGrpSpPr/>
          <p:nvPr/>
        </p:nvGrpSpPr>
        <p:grpSpPr>
          <a:xfrm>
            <a:off x="6848627" y="695500"/>
            <a:ext cx="3578015" cy="3577707"/>
            <a:chOff x="2521889" y="2808131"/>
            <a:chExt cx="1916430" cy="1916266"/>
          </a:xfrm>
        </p:grpSpPr>
        <p:sp>
          <p:nvSpPr>
            <p:cNvPr id="31" name="Oval 30">
              <a:extLst>
                <a:ext uri="{FF2B5EF4-FFF2-40B4-BE49-F238E27FC236}">
                  <a16:creationId xmlns:a16="http://schemas.microsoft.com/office/drawing/2014/main" id="{53764D35-4370-5849-E618-98131FE39AA4}"/>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7E07F95F-9112-4D70-C9F2-848199101F19}"/>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1621914-451E-1817-26C6-3CFDA6EEAB6C}"/>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34" name="Group 33">
              <a:extLst>
                <a:ext uri="{FF2B5EF4-FFF2-40B4-BE49-F238E27FC236}">
                  <a16:creationId xmlns:a16="http://schemas.microsoft.com/office/drawing/2014/main" id="{DF6C7A94-1E15-9F55-0CB6-8585A6D12606}"/>
                </a:ext>
              </a:extLst>
            </p:cNvPr>
            <p:cNvGrpSpPr/>
            <p:nvPr/>
          </p:nvGrpSpPr>
          <p:grpSpPr>
            <a:xfrm>
              <a:off x="2923755" y="2808131"/>
              <a:ext cx="1112528" cy="1916266"/>
              <a:chOff x="2734489" y="2655731"/>
              <a:chExt cx="1186260" cy="1916266"/>
            </a:xfrm>
          </p:grpSpPr>
          <p:sp>
            <p:nvSpPr>
              <p:cNvPr id="38" name="Oval 37">
                <a:extLst>
                  <a:ext uri="{FF2B5EF4-FFF2-40B4-BE49-F238E27FC236}">
                    <a16:creationId xmlns:a16="http://schemas.microsoft.com/office/drawing/2014/main" id="{49CFDBD5-F039-FBDF-6D93-DB47E5578175}"/>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9" name="Oval 9">
                <a:extLst>
                  <a:ext uri="{FF2B5EF4-FFF2-40B4-BE49-F238E27FC236}">
                    <a16:creationId xmlns:a16="http://schemas.microsoft.com/office/drawing/2014/main" id="{AD54F23A-179C-4C53-EA7B-B9CD6451B1BE}"/>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35" name="Group 34">
              <a:extLst>
                <a:ext uri="{FF2B5EF4-FFF2-40B4-BE49-F238E27FC236}">
                  <a16:creationId xmlns:a16="http://schemas.microsoft.com/office/drawing/2014/main" id="{1134755E-3681-2EB4-6D44-6BE3D5AE9F3C}"/>
                </a:ext>
              </a:extLst>
            </p:cNvPr>
            <p:cNvGrpSpPr/>
            <p:nvPr/>
          </p:nvGrpSpPr>
          <p:grpSpPr>
            <a:xfrm rot="16200000">
              <a:off x="2923922" y="2810085"/>
              <a:ext cx="1112528" cy="1916266"/>
              <a:chOff x="2734489" y="2655731"/>
              <a:chExt cx="1186260" cy="1916266"/>
            </a:xfrm>
          </p:grpSpPr>
          <p:sp>
            <p:nvSpPr>
              <p:cNvPr id="36" name="Oval 35">
                <a:extLst>
                  <a:ext uri="{FF2B5EF4-FFF2-40B4-BE49-F238E27FC236}">
                    <a16:creationId xmlns:a16="http://schemas.microsoft.com/office/drawing/2014/main" id="{860EC7E0-3959-BD2E-5512-5D05EEB636B9}"/>
                  </a:ext>
                </a:extLst>
              </p:cNvPr>
              <p:cNvSpPr/>
              <p:nvPr/>
            </p:nvSpPr>
            <p:spPr>
              <a:xfrm>
                <a:off x="2734490" y="2655731"/>
                <a:ext cx="1186259" cy="1916264"/>
              </a:xfrm>
              <a:prstGeom prst="ellipse">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37" name="Oval 9">
                <a:extLst>
                  <a:ext uri="{FF2B5EF4-FFF2-40B4-BE49-F238E27FC236}">
                    <a16:creationId xmlns:a16="http://schemas.microsoft.com/office/drawing/2014/main" id="{9E6DEE32-BD1B-8E3A-5E27-E3F9A085E838}"/>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rgbClr val="7030A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0" name="Straight Arrow Connector 39">
            <a:extLst>
              <a:ext uri="{FF2B5EF4-FFF2-40B4-BE49-F238E27FC236}">
                <a16:creationId xmlns:a16="http://schemas.microsoft.com/office/drawing/2014/main" id="{12581A50-4DF1-CBB3-5DE8-0B3CF5221750}"/>
              </a:ext>
            </a:extLst>
          </p:cNvPr>
          <p:cNvCxnSpPr>
            <a:cxnSpLocks/>
            <a:endCxn id="33" idx="5"/>
          </p:cNvCxnSpPr>
          <p:nvPr/>
        </p:nvCxnSpPr>
        <p:spPr>
          <a:xfrm>
            <a:off x="8637476" y="2484351"/>
            <a:ext cx="1264915" cy="12649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91D768E3-3C63-DA13-2268-653D573298FF}"/>
                  </a:ext>
                </a:extLst>
              </p:cNvPr>
              <p:cNvSpPr txBox="1"/>
              <p:nvPr/>
            </p:nvSpPr>
            <p:spPr>
              <a:xfrm>
                <a:off x="9997414" y="3460835"/>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41" name="TextBox 40">
                <a:extLst>
                  <a:ext uri="{FF2B5EF4-FFF2-40B4-BE49-F238E27FC236}">
                    <a16:creationId xmlns:a16="http://schemas.microsoft.com/office/drawing/2014/main" id="{91D768E3-3C63-DA13-2268-653D573298FF}"/>
                  </a:ext>
                </a:extLst>
              </p:cNvPr>
              <p:cNvSpPr txBox="1">
                <a:spLocks noRot="1" noChangeAspect="1" noMove="1" noResize="1" noEditPoints="1" noAdjustHandles="1" noChangeArrowheads="1" noChangeShapeType="1" noTextEdit="1"/>
              </p:cNvSpPr>
              <p:nvPr/>
            </p:nvSpPr>
            <p:spPr>
              <a:xfrm>
                <a:off x="9997414" y="3460835"/>
                <a:ext cx="930511"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909DE727-C125-20CD-AD6B-F40FE01685F6}"/>
                  </a:ext>
                </a:extLst>
              </p:cNvPr>
              <p:cNvSpPr txBox="1"/>
              <p:nvPr/>
            </p:nvSpPr>
            <p:spPr>
              <a:xfrm>
                <a:off x="9316359" y="255010"/>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42" name="TextBox 41">
                <a:extLst>
                  <a:ext uri="{FF2B5EF4-FFF2-40B4-BE49-F238E27FC236}">
                    <a16:creationId xmlns:a16="http://schemas.microsoft.com/office/drawing/2014/main" id="{909DE727-C125-20CD-AD6B-F40FE01685F6}"/>
                  </a:ext>
                </a:extLst>
              </p:cNvPr>
              <p:cNvSpPr txBox="1">
                <a:spLocks noRot="1" noChangeAspect="1" noMove="1" noResize="1" noEditPoints="1" noAdjustHandles="1" noChangeArrowheads="1" noChangeShapeType="1" noTextEdit="1"/>
              </p:cNvSpPr>
              <p:nvPr/>
            </p:nvSpPr>
            <p:spPr>
              <a:xfrm>
                <a:off x="9316359" y="255010"/>
                <a:ext cx="922240" cy="523220"/>
              </a:xfrm>
              <a:prstGeom prst="rect">
                <a:avLst/>
              </a:prstGeom>
              <a:blipFill>
                <a:blip r:embed="rId5"/>
                <a:stretch>
                  <a:fillRect/>
                </a:stretch>
              </a:blipFill>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26BCD523-16A6-EDDF-1C7D-6FEC8EBA2A04}"/>
              </a:ext>
            </a:extLst>
          </p:cNvPr>
          <p:cNvGrpSpPr/>
          <p:nvPr/>
        </p:nvGrpSpPr>
        <p:grpSpPr>
          <a:xfrm rot="20845933">
            <a:off x="6810924" y="1569436"/>
            <a:ext cx="3557720" cy="1535656"/>
            <a:chOff x="5011224" y="2798876"/>
            <a:chExt cx="3577709" cy="2077112"/>
          </a:xfrm>
        </p:grpSpPr>
        <p:sp>
          <p:nvSpPr>
            <p:cNvPr id="44" name="Oval 43">
              <a:extLst>
                <a:ext uri="{FF2B5EF4-FFF2-40B4-BE49-F238E27FC236}">
                  <a16:creationId xmlns:a16="http://schemas.microsoft.com/office/drawing/2014/main" id="{7725A1AB-9815-BC8A-E8B1-CBEF89A0659C}"/>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5" name="Oval 9">
              <a:extLst>
                <a:ext uri="{FF2B5EF4-FFF2-40B4-BE49-F238E27FC236}">
                  <a16:creationId xmlns:a16="http://schemas.microsoft.com/office/drawing/2014/main" id="{AF138A97-0F66-4B9F-6983-22FA01D7B00F}"/>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46" name="Straight Arrow Connector 45">
            <a:extLst>
              <a:ext uri="{FF2B5EF4-FFF2-40B4-BE49-F238E27FC236}">
                <a16:creationId xmlns:a16="http://schemas.microsoft.com/office/drawing/2014/main" id="{F8C70D90-F46F-E632-8EB7-A6F8FFBDD15F}"/>
              </a:ext>
            </a:extLst>
          </p:cNvPr>
          <p:cNvCxnSpPr>
            <a:cxnSpLocks/>
          </p:cNvCxnSpPr>
          <p:nvPr/>
        </p:nvCxnSpPr>
        <p:spPr>
          <a:xfrm flipV="1">
            <a:off x="8637476" y="929341"/>
            <a:ext cx="848620" cy="155501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D8EB1AF2-52F5-37F2-B636-3FAA71D73111}"/>
              </a:ext>
            </a:extLst>
          </p:cNvPr>
          <p:cNvGrpSpPr/>
          <p:nvPr/>
        </p:nvGrpSpPr>
        <p:grpSpPr>
          <a:xfrm rot="450444">
            <a:off x="7299993" y="1000196"/>
            <a:ext cx="2932249" cy="1076971"/>
            <a:chOff x="5011224" y="2798876"/>
            <a:chExt cx="3577709" cy="2077112"/>
          </a:xfrm>
        </p:grpSpPr>
        <p:sp>
          <p:nvSpPr>
            <p:cNvPr id="48" name="Oval 47">
              <a:extLst>
                <a:ext uri="{FF2B5EF4-FFF2-40B4-BE49-F238E27FC236}">
                  <a16:creationId xmlns:a16="http://schemas.microsoft.com/office/drawing/2014/main" id="{020F8037-3DE0-04FB-8051-C12AC6B6C18A}"/>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9" name="Oval 9">
              <a:extLst>
                <a:ext uri="{FF2B5EF4-FFF2-40B4-BE49-F238E27FC236}">
                  <a16:creationId xmlns:a16="http://schemas.microsoft.com/office/drawing/2014/main" id="{78A3A454-A5DD-5DE8-9353-5BF3FDCC07D3}"/>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0" name="Group 49">
            <a:extLst>
              <a:ext uri="{FF2B5EF4-FFF2-40B4-BE49-F238E27FC236}">
                <a16:creationId xmlns:a16="http://schemas.microsoft.com/office/drawing/2014/main" id="{EB8807B7-BA0C-CAA2-78C6-86846FEAB6AE}"/>
              </a:ext>
            </a:extLst>
          </p:cNvPr>
          <p:cNvGrpSpPr/>
          <p:nvPr/>
        </p:nvGrpSpPr>
        <p:grpSpPr>
          <a:xfrm rot="20203583">
            <a:off x="7562771" y="2834613"/>
            <a:ext cx="2932249" cy="1076971"/>
            <a:chOff x="5011224" y="2798876"/>
            <a:chExt cx="3577709" cy="2077112"/>
          </a:xfrm>
        </p:grpSpPr>
        <p:sp>
          <p:nvSpPr>
            <p:cNvPr id="51" name="Oval 50">
              <a:extLst>
                <a:ext uri="{FF2B5EF4-FFF2-40B4-BE49-F238E27FC236}">
                  <a16:creationId xmlns:a16="http://schemas.microsoft.com/office/drawing/2014/main" id="{1C0B0323-FD40-EAFE-7C8C-4677BE24C6BC}"/>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2" name="Oval 9">
              <a:extLst>
                <a:ext uri="{FF2B5EF4-FFF2-40B4-BE49-F238E27FC236}">
                  <a16:creationId xmlns:a16="http://schemas.microsoft.com/office/drawing/2014/main" id="{A3D02AEC-7F3B-DC32-8276-4944F74B3F6C}"/>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54" name="Straight Connector 53">
            <a:extLst>
              <a:ext uri="{FF2B5EF4-FFF2-40B4-BE49-F238E27FC236}">
                <a16:creationId xmlns:a16="http://schemas.microsoft.com/office/drawing/2014/main" id="{9810451C-FD9E-6597-E00F-9D2123831BAB}"/>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A1F9A26-98BC-C2A2-4771-3EB505DE6E14}"/>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51B42CA-A2F3-744B-5473-4BA60877B8F2}"/>
              </a:ext>
            </a:extLst>
          </p:cNvPr>
          <p:cNvCxnSpPr>
            <a:cxnSpLocks/>
          </p:cNvCxnSpPr>
          <p:nvPr/>
        </p:nvCxnSpPr>
        <p:spPr>
          <a:xfrm flipH="1">
            <a:off x="2447925" y="3352242"/>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E981360-26E0-7905-058E-3C019DCB1FA7}"/>
              </a:ext>
            </a:extLst>
          </p:cNvPr>
          <p:cNvCxnSpPr>
            <a:cxnSpLocks/>
          </p:cNvCxnSpPr>
          <p:nvPr/>
        </p:nvCxnSpPr>
        <p:spPr>
          <a:xfrm flipH="1">
            <a:off x="1377009" y="3763822"/>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464B82F4-8111-30EE-0624-CFDD1066D7B1}"/>
              </a:ext>
            </a:extLst>
          </p:cNvPr>
          <p:cNvGrpSpPr/>
          <p:nvPr/>
        </p:nvGrpSpPr>
        <p:grpSpPr>
          <a:xfrm flipV="1">
            <a:off x="679658" y="3342639"/>
            <a:ext cx="3168442" cy="755272"/>
            <a:chOff x="679657" y="2067198"/>
            <a:chExt cx="3597723" cy="1895202"/>
          </a:xfrm>
        </p:grpSpPr>
        <p:cxnSp>
          <p:nvCxnSpPr>
            <p:cNvPr id="9" name="Straight Connector 8">
              <a:extLst>
                <a:ext uri="{FF2B5EF4-FFF2-40B4-BE49-F238E27FC236}">
                  <a16:creationId xmlns:a16="http://schemas.microsoft.com/office/drawing/2014/main" id="{68F3B270-CAD1-8250-2AC8-B3F431848275}"/>
                </a:ext>
              </a:extLst>
            </p:cNvPr>
            <p:cNvCxnSpPr>
              <a:cxnSpLocks/>
            </p:cNvCxnSpPr>
            <p:nvPr/>
          </p:nvCxnSpPr>
          <p:spPr>
            <a:xfrm flipV="1">
              <a:off x="679657" y="2067198"/>
              <a:ext cx="3597723" cy="18952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B05E838-9CDB-5863-F708-51DB7374E682}"/>
                </a:ext>
              </a:extLst>
            </p:cNvPr>
            <p:cNvCxnSpPr>
              <a:cxnSpLocks/>
            </p:cNvCxnSpPr>
            <p:nvPr/>
          </p:nvCxnSpPr>
          <p:spPr>
            <a:xfrm flipV="1">
              <a:off x="1612439" y="2916407"/>
              <a:ext cx="1081231" cy="5807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1" name="Straight Arrow Connector 60">
            <a:extLst>
              <a:ext uri="{FF2B5EF4-FFF2-40B4-BE49-F238E27FC236}">
                <a16:creationId xmlns:a16="http://schemas.microsoft.com/office/drawing/2014/main" id="{F16D98F0-96CF-949C-93DD-CF654E98031A}"/>
              </a:ext>
            </a:extLst>
          </p:cNvPr>
          <p:cNvCxnSpPr>
            <a:cxnSpLocks/>
          </p:cNvCxnSpPr>
          <p:nvPr/>
        </p:nvCxnSpPr>
        <p:spPr>
          <a:xfrm flipV="1">
            <a:off x="8637167" y="1590732"/>
            <a:ext cx="1550830" cy="8936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E41DDD5-FCE3-E819-6CE6-186F57174513}"/>
              </a:ext>
            </a:extLst>
          </p:cNvPr>
          <p:cNvCxnSpPr>
            <a:cxnSpLocks/>
          </p:cNvCxnSpPr>
          <p:nvPr/>
        </p:nvCxnSpPr>
        <p:spPr>
          <a:xfrm flipH="1" flipV="1">
            <a:off x="7373917" y="1226742"/>
            <a:ext cx="1262941" cy="125612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631118AF-4A12-07AA-D03E-75BF1C08AE38}"/>
                  </a:ext>
                </a:extLst>
              </p:cNvPr>
              <p:cNvSpPr txBox="1"/>
              <p:nvPr/>
            </p:nvSpPr>
            <p:spPr>
              <a:xfrm>
                <a:off x="10133705" y="1134647"/>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67" name="TextBox 66">
                <a:extLst>
                  <a:ext uri="{FF2B5EF4-FFF2-40B4-BE49-F238E27FC236}">
                    <a16:creationId xmlns:a16="http://schemas.microsoft.com/office/drawing/2014/main" id="{631118AF-4A12-07AA-D03E-75BF1C08AE38}"/>
                  </a:ext>
                </a:extLst>
              </p:cNvPr>
              <p:cNvSpPr txBox="1">
                <a:spLocks noRot="1" noChangeAspect="1" noMove="1" noResize="1" noEditPoints="1" noAdjustHandles="1" noChangeArrowheads="1" noChangeShapeType="1" noTextEdit="1"/>
              </p:cNvSpPr>
              <p:nvPr/>
            </p:nvSpPr>
            <p:spPr>
              <a:xfrm>
                <a:off x="10133705" y="1134647"/>
                <a:ext cx="76302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DF369FFB-BF8C-F954-6488-DB1DBBF10C38}"/>
                  </a:ext>
                </a:extLst>
              </p:cNvPr>
              <p:cNvSpPr txBox="1"/>
              <p:nvPr/>
            </p:nvSpPr>
            <p:spPr>
              <a:xfrm>
                <a:off x="6698127" y="745632"/>
                <a:ext cx="763029" cy="5413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𝜙</m:t>
                          </m:r>
                        </m:e>
                      </m:acc>
                      <m:r>
                        <a:rPr lang="en-US" sz="2800" i="1" dirty="0">
                          <a:latin typeface="Cambria Math" panose="02040503050406030204" pitchFamily="18" charset="0"/>
                        </a:rPr>
                        <m:t>⟩</m:t>
                      </m:r>
                    </m:oMath>
                  </m:oMathPara>
                </a14:m>
                <a:endParaRPr lang="en-US" sz="2800" dirty="0"/>
              </a:p>
            </p:txBody>
          </p:sp>
        </mc:Choice>
        <mc:Fallback>
          <p:sp>
            <p:nvSpPr>
              <p:cNvPr id="68" name="TextBox 67">
                <a:extLst>
                  <a:ext uri="{FF2B5EF4-FFF2-40B4-BE49-F238E27FC236}">
                    <a16:creationId xmlns:a16="http://schemas.microsoft.com/office/drawing/2014/main" id="{DF369FFB-BF8C-F954-6488-DB1DBBF10C38}"/>
                  </a:ext>
                </a:extLst>
              </p:cNvPr>
              <p:cNvSpPr txBox="1">
                <a:spLocks noRot="1" noChangeAspect="1" noMove="1" noResize="1" noEditPoints="1" noAdjustHandles="1" noChangeArrowheads="1" noChangeShapeType="1" noTextEdit="1"/>
              </p:cNvSpPr>
              <p:nvPr/>
            </p:nvSpPr>
            <p:spPr>
              <a:xfrm>
                <a:off x="6698127" y="745632"/>
                <a:ext cx="763029" cy="541302"/>
              </a:xfrm>
              <a:prstGeom prst="rect">
                <a:avLst/>
              </a:prstGeom>
              <a:blipFill>
                <a:blip r:embed="rId7"/>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B8674490-A47E-137E-88EC-256DFB84D6A1}"/>
              </a:ext>
            </a:extLst>
          </p:cNvPr>
          <p:cNvCxnSpPr>
            <a:endCxn id="33" idx="5"/>
          </p:cNvCxnSpPr>
          <p:nvPr/>
        </p:nvCxnSpPr>
        <p:spPr>
          <a:xfrm>
            <a:off x="9486096" y="929341"/>
            <a:ext cx="416295" cy="281992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487B7C4-B2C4-96D8-5467-D04379532E28}"/>
              </a:ext>
            </a:extLst>
          </p:cNvPr>
          <p:cNvCxnSpPr>
            <a:cxnSpLocks/>
          </p:cNvCxnSpPr>
          <p:nvPr/>
        </p:nvCxnSpPr>
        <p:spPr>
          <a:xfrm>
            <a:off x="7392262" y="1226742"/>
            <a:ext cx="2781406" cy="34235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ABDBDDAE-C93C-0275-958C-E8F1989D1C57}"/>
              </a:ext>
            </a:extLst>
          </p:cNvPr>
          <p:cNvSpPr/>
          <p:nvPr/>
        </p:nvSpPr>
        <p:spPr>
          <a:xfrm>
            <a:off x="9538317" y="1467780"/>
            <a:ext cx="66918" cy="6382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B51DF2B0-8685-2350-8357-EA85A8059158}"/>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B51DF2B0-8685-2350-8357-EA85A8059158}"/>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005696B8-3C19-DA4A-8310-222939C2D114}"/>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005696B8-3C19-DA4A-8310-222939C2D114}"/>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89A3F908-75CC-C8BE-89CC-A37144A35160}"/>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89A3F908-75CC-C8BE-89CC-A37144A35160}"/>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3538CBD1-8AAE-803F-71A9-59D22AA82E09}"/>
                  </a:ext>
                </a:extLst>
              </p:cNvPr>
              <p:cNvSpPr txBox="1"/>
              <p:nvPr/>
            </p:nvSpPr>
            <p:spPr>
              <a:xfrm>
                <a:off x="3848100" y="3863737"/>
                <a:ext cx="763029" cy="5413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𝜙</m:t>
                          </m:r>
                        </m:e>
                      </m:acc>
                      <m:r>
                        <a:rPr lang="en-US" sz="2800" i="1" dirty="0">
                          <a:latin typeface="Cambria Math" panose="02040503050406030204" pitchFamily="18" charset="0"/>
                        </a:rPr>
                        <m:t>⟩</m:t>
                      </m:r>
                    </m:oMath>
                  </m:oMathPara>
                </a14:m>
                <a:endParaRPr lang="en-US" sz="2800" dirty="0"/>
              </a:p>
            </p:txBody>
          </p:sp>
        </mc:Choice>
        <mc:Fallback>
          <p:sp>
            <p:nvSpPr>
              <p:cNvPr id="78" name="TextBox 77">
                <a:extLst>
                  <a:ext uri="{FF2B5EF4-FFF2-40B4-BE49-F238E27FC236}">
                    <a16:creationId xmlns:a16="http://schemas.microsoft.com/office/drawing/2014/main" id="{3538CBD1-8AAE-803F-71A9-59D22AA82E09}"/>
                  </a:ext>
                </a:extLst>
              </p:cNvPr>
              <p:cNvSpPr txBox="1">
                <a:spLocks noRot="1" noChangeAspect="1" noMove="1" noResize="1" noEditPoints="1" noAdjustHandles="1" noChangeArrowheads="1" noChangeShapeType="1" noTextEdit="1"/>
              </p:cNvSpPr>
              <p:nvPr/>
            </p:nvSpPr>
            <p:spPr>
              <a:xfrm>
                <a:off x="3848100" y="3863737"/>
                <a:ext cx="763029" cy="54130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61320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4AEAE-1E21-7396-C658-7ACDF6D3054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FB567A9-9860-01DC-9FC7-955FB664A758}"/>
                  </a:ext>
                </a:extLst>
              </p:cNvPr>
              <p:cNvSpPr txBox="1"/>
              <p:nvPr/>
            </p:nvSpPr>
            <p:spPr>
              <a:xfrm>
                <a:off x="304799" y="112169"/>
                <a:ext cx="6056466"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r>
                            <a:rPr lang="en-US" sz="4800" b="0" i="1" dirty="0" smtClean="0">
                              <a:latin typeface="Cambria Math" panose="02040503050406030204" pitchFamily="18" charset="0"/>
                            </a:rPr>
                            <m:t>𝜙</m:t>
                          </m:r>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2" name="TextBox 1">
                <a:extLst>
                  <a:ext uri="{FF2B5EF4-FFF2-40B4-BE49-F238E27FC236}">
                    <a16:creationId xmlns:a16="http://schemas.microsoft.com/office/drawing/2014/main" id="{7FB567A9-9860-01DC-9FC7-955FB664A758}"/>
                  </a:ext>
                </a:extLst>
              </p:cNvPr>
              <p:cNvSpPr txBox="1">
                <a:spLocks noRot="1" noChangeAspect="1" noMove="1" noResize="1" noEditPoints="1" noAdjustHandles="1" noChangeArrowheads="1" noChangeShapeType="1" noTextEdit="1"/>
              </p:cNvSpPr>
              <p:nvPr/>
            </p:nvSpPr>
            <p:spPr>
              <a:xfrm>
                <a:off x="304799" y="112169"/>
                <a:ext cx="6056466" cy="8309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282E233-F344-319D-EF97-7C6E3215FA7F}"/>
                  </a:ext>
                </a:extLst>
              </p:cNvPr>
              <p:cNvSpPr txBox="1"/>
              <p:nvPr/>
            </p:nvSpPr>
            <p:spPr>
              <a:xfrm>
                <a:off x="1434433" y="4945511"/>
                <a:ext cx="6056466" cy="9260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800" i="1" dirty="0" smtClean="0">
                              <a:latin typeface="Cambria Math" panose="02040503050406030204" pitchFamily="18" charset="0"/>
                            </a:rPr>
                          </m:ctrlPr>
                        </m:dPr>
                        <m:e>
                          <m:acc>
                            <m:accPr>
                              <m:chr m:val="̂"/>
                              <m:ctrlPr>
                                <a:rPr lang="en-US" sz="4800" b="0" i="1" dirty="0" smtClean="0">
                                  <a:latin typeface="Cambria Math" panose="02040503050406030204" pitchFamily="18" charset="0"/>
                                </a:rPr>
                              </m:ctrlPr>
                            </m:accPr>
                            <m:e>
                              <m:r>
                                <a:rPr lang="en-US" sz="4800" b="0" i="1" dirty="0" smtClean="0">
                                  <a:latin typeface="Cambria Math" panose="02040503050406030204" pitchFamily="18" charset="0"/>
                                </a:rPr>
                                <m:t>𝜙</m:t>
                              </m:r>
                            </m:e>
                          </m:acc>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1</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1</m:t>
                              </m:r>
                            </m:sub>
                          </m:sSub>
                        </m:e>
                      </m:d>
                      <m:r>
                        <a:rPr lang="en-US" sz="4800" b="0" i="1" dirty="0" smtClean="0">
                          <a:latin typeface="Cambria Math" panose="02040503050406030204" pitchFamily="18" charset="0"/>
                        </a:rPr>
                        <m:t>−</m:t>
                      </m:r>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𝑐</m:t>
                          </m:r>
                        </m:e>
                        <m:sub>
                          <m:r>
                            <a:rPr lang="en-US" sz="4800" b="0" i="1" dirty="0" smtClean="0">
                              <a:latin typeface="Cambria Math" panose="02040503050406030204" pitchFamily="18" charset="0"/>
                            </a:rPr>
                            <m:t>2</m:t>
                          </m:r>
                        </m:sub>
                      </m:sSub>
                      <m:d>
                        <m:dPr>
                          <m:begChr m:val="|"/>
                          <m:endChr m:val="⟩"/>
                          <m:ctrlPr>
                            <a:rPr lang="en-US" sz="4800" i="1" dirty="0">
                              <a:latin typeface="Cambria Math" panose="02040503050406030204" pitchFamily="18" charset="0"/>
                            </a:rPr>
                          </m:ctrlPr>
                        </m:dPr>
                        <m:e>
                          <m:sSub>
                            <m:sSubPr>
                              <m:ctrlPr>
                                <a:rPr lang="en-US" sz="4800" b="0" i="1" dirty="0" smtClean="0">
                                  <a:latin typeface="Cambria Math" panose="02040503050406030204" pitchFamily="18" charset="0"/>
                                </a:rPr>
                              </m:ctrlPr>
                            </m:sSubPr>
                            <m:e>
                              <m:r>
                                <a:rPr lang="en-US" sz="4800" b="0" i="1" dirty="0" smtClean="0">
                                  <a:latin typeface="Cambria Math" panose="02040503050406030204" pitchFamily="18" charset="0"/>
                                </a:rPr>
                                <m:t>𝜓</m:t>
                              </m:r>
                            </m:e>
                            <m:sub>
                              <m:r>
                                <a:rPr lang="en-US" sz="4800" b="0" i="1" dirty="0" smtClean="0">
                                  <a:latin typeface="Cambria Math" panose="02040503050406030204" pitchFamily="18" charset="0"/>
                                </a:rPr>
                                <m:t>2</m:t>
                              </m:r>
                            </m:sub>
                          </m:sSub>
                        </m:e>
                      </m:d>
                    </m:oMath>
                  </m:oMathPara>
                </a14:m>
                <a:endParaRPr lang="en-US" sz="4800" dirty="0"/>
              </a:p>
            </p:txBody>
          </p:sp>
        </mc:Choice>
        <mc:Fallback>
          <p:sp>
            <p:nvSpPr>
              <p:cNvPr id="3" name="TextBox 2">
                <a:extLst>
                  <a:ext uri="{FF2B5EF4-FFF2-40B4-BE49-F238E27FC236}">
                    <a16:creationId xmlns:a16="http://schemas.microsoft.com/office/drawing/2014/main" id="{4282E233-F344-319D-EF97-7C6E3215FA7F}"/>
                  </a:ext>
                </a:extLst>
              </p:cNvPr>
              <p:cNvSpPr txBox="1">
                <a:spLocks noRot="1" noChangeAspect="1" noMove="1" noResize="1" noEditPoints="1" noAdjustHandles="1" noChangeArrowheads="1" noChangeShapeType="1" noTextEdit="1"/>
              </p:cNvSpPr>
              <p:nvPr/>
            </p:nvSpPr>
            <p:spPr>
              <a:xfrm>
                <a:off x="1434433" y="4945511"/>
                <a:ext cx="6056466" cy="926087"/>
              </a:xfrm>
              <a:prstGeom prst="rect">
                <a:avLst/>
              </a:prstGeom>
              <a:blipFill>
                <a:blip r:embed="rId3"/>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F771D511-8CD1-AC0E-EF26-57403A238A57}"/>
              </a:ext>
            </a:extLst>
          </p:cNvPr>
          <p:cNvCxnSpPr/>
          <p:nvPr/>
        </p:nvCxnSpPr>
        <p:spPr>
          <a:xfrm flipH="1">
            <a:off x="1158240" y="1515445"/>
            <a:ext cx="924560" cy="32004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A5ABA3-1C42-3165-29E4-350AD91BC236}"/>
              </a:ext>
            </a:extLst>
          </p:cNvPr>
          <p:cNvCxnSpPr/>
          <p:nvPr/>
        </p:nvCxnSpPr>
        <p:spPr>
          <a:xfrm flipV="1">
            <a:off x="609600" y="2987040"/>
            <a:ext cx="3853066" cy="7112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C808097-981C-8E3A-4CB0-2089E5746DE3}"/>
              </a:ext>
            </a:extLst>
          </p:cNvPr>
          <p:cNvCxnSpPr>
            <a:cxnSpLocks/>
          </p:cNvCxnSpPr>
          <p:nvPr/>
        </p:nvCxnSpPr>
        <p:spPr>
          <a:xfrm flipV="1">
            <a:off x="1501140" y="3185160"/>
            <a:ext cx="189357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39D73ED-FF49-21EA-2EFA-AD27D3D1D2E3}"/>
              </a:ext>
            </a:extLst>
          </p:cNvPr>
          <p:cNvCxnSpPr>
            <a:cxnSpLocks/>
          </p:cNvCxnSpPr>
          <p:nvPr/>
        </p:nvCxnSpPr>
        <p:spPr>
          <a:xfrm flipV="1">
            <a:off x="1501140" y="2526030"/>
            <a:ext cx="293370" cy="1011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DA81F32-2653-85C6-3B34-5A9C689CEEB7}"/>
              </a:ext>
            </a:extLst>
          </p:cNvPr>
          <p:cNvCxnSpPr>
            <a:cxnSpLocks/>
          </p:cNvCxnSpPr>
          <p:nvPr/>
        </p:nvCxnSpPr>
        <p:spPr>
          <a:xfrm flipH="1">
            <a:off x="2570162" y="2916407"/>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F41E8AD-3885-F779-E2D9-B33EA411321F}"/>
              </a:ext>
            </a:extLst>
          </p:cNvPr>
          <p:cNvCxnSpPr>
            <a:cxnSpLocks/>
          </p:cNvCxnSpPr>
          <p:nvPr/>
        </p:nvCxnSpPr>
        <p:spPr>
          <a:xfrm flipH="1">
            <a:off x="1608932" y="2921458"/>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F583DED-705D-083B-5DE9-CB398804A928}"/>
              </a:ext>
            </a:extLst>
          </p:cNvPr>
          <p:cNvCxnSpPr/>
          <p:nvPr/>
        </p:nvCxnSpPr>
        <p:spPr>
          <a:xfrm flipV="1">
            <a:off x="679657" y="2214880"/>
            <a:ext cx="3356403" cy="17475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3C8C6E5-7015-592E-CF18-5EAE78EB879E}"/>
              </a:ext>
            </a:extLst>
          </p:cNvPr>
          <p:cNvCxnSpPr>
            <a:cxnSpLocks/>
          </p:cNvCxnSpPr>
          <p:nvPr/>
        </p:nvCxnSpPr>
        <p:spPr>
          <a:xfrm flipV="1">
            <a:off x="1501140" y="2916407"/>
            <a:ext cx="1192530" cy="620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A305520-1749-0F07-12BE-E83843363984}"/>
              </a:ext>
            </a:extLst>
          </p:cNvPr>
          <p:cNvCxnSpPr>
            <a:cxnSpLocks/>
          </p:cNvCxnSpPr>
          <p:nvPr/>
        </p:nvCxnSpPr>
        <p:spPr>
          <a:xfrm flipH="1">
            <a:off x="2447925" y="3352242"/>
            <a:ext cx="122555" cy="426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2B9D379-DB70-F946-2475-4D00EF796076}"/>
              </a:ext>
            </a:extLst>
          </p:cNvPr>
          <p:cNvCxnSpPr>
            <a:cxnSpLocks/>
          </p:cNvCxnSpPr>
          <p:nvPr/>
        </p:nvCxnSpPr>
        <p:spPr>
          <a:xfrm flipH="1">
            <a:off x="1377009" y="3763822"/>
            <a:ext cx="1072197" cy="1870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1D12C5C3-FCD0-6AF3-2D1B-88B7EBB1CEE0}"/>
              </a:ext>
            </a:extLst>
          </p:cNvPr>
          <p:cNvGrpSpPr/>
          <p:nvPr/>
        </p:nvGrpSpPr>
        <p:grpSpPr>
          <a:xfrm flipV="1">
            <a:off x="679658" y="3342639"/>
            <a:ext cx="3168442" cy="755272"/>
            <a:chOff x="679657" y="2067198"/>
            <a:chExt cx="3597723" cy="1895202"/>
          </a:xfrm>
        </p:grpSpPr>
        <p:cxnSp>
          <p:nvCxnSpPr>
            <p:cNvPr id="9" name="Straight Connector 8">
              <a:extLst>
                <a:ext uri="{FF2B5EF4-FFF2-40B4-BE49-F238E27FC236}">
                  <a16:creationId xmlns:a16="http://schemas.microsoft.com/office/drawing/2014/main" id="{C82513C1-66D0-A35B-776A-CAC1AFFB7EFD}"/>
                </a:ext>
              </a:extLst>
            </p:cNvPr>
            <p:cNvCxnSpPr>
              <a:cxnSpLocks/>
            </p:cNvCxnSpPr>
            <p:nvPr/>
          </p:nvCxnSpPr>
          <p:spPr>
            <a:xfrm flipV="1">
              <a:off x="679657" y="2067198"/>
              <a:ext cx="3597723" cy="18952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C5AB7D4-BB13-28A1-ED28-3F86F790C43C}"/>
                </a:ext>
              </a:extLst>
            </p:cNvPr>
            <p:cNvCxnSpPr>
              <a:cxnSpLocks/>
            </p:cNvCxnSpPr>
            <p:nvPr/>
          </p:nvCxnSpPr>
          <p:spPr>
            <a:xfrm flipV="1">
              <a:off x="1612439" y="2916407"/>
              <a:ext cx="1081231" cy="5807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4048D05F-D167-D866-0C55-76B595D57C31}"/>
                  </a:ext>
                </a:extLst>
              </p:cNvPr>
              <p:cNvSpPr txBox="1"/>
              <p:nvPr/>
            </p:nvSpPr>
            <p:spPr>
              <a:xfrm>
                <a:off x="4049240" y="3014047"/>
                <a:ext cx="9222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1</m:t>
                          </m:r>
                        </m:sub>
                      </m:sSub>
                      <m:r>
                        <a:rPr lang="en-US" sz="2800" i="1" dirty="0">
                          <a:latin typeface="Cambria Math" panose="02040503050406030204" pitchFamily="18" charset="0"/>
                        </a:rPr>
                        <m:t>⟩</m:t>
                      </m:r>
                    </m:oMath>
                  </m:oMathPara>
                </a14:m>
                <a:endParaRPr lang="en-US" sz="2800" dirty="0"/>
              </a:p>
            </p:txBody>
          </p:sp>
        </mc:Choice>
        <mc:Fallback>
          <p:sp>
            <p:nvSpPr>
              <p:cNvPr id="75" name="TextBox 74">
                <a:extLst>
                  <a:ext uri="{FF2B5EF4-FFF2-40B4-BE49-F238E27FC236}">
                    <a16:creationId xmlns:a16="http://schemas.microsoft.com/office/drawing/2014/main" id="{4048D05F-D167-D866-0C55-76B595D57C31}"/>
                  </a:ext>
                </a:extLst>
              </p:cNvPr>
              <p:cNvSpPr txBox="1">
                <a:spLocks noRot="1" noChangeAspect="1" noMove="1" noResize="1" noEditPoints="1" noAdjustHandles="1" noChangeArrowheads="1" noChangeShapeType="1" noTextEdit="1"/>
              </p:cNvSpPr>
              <p:nvPr/>
            </p:nvSpPr>
            <p:spPr>
              <a:xfrm>
                <a:off x="4049240" y="3014047"/>
                <a:ext cx="922240"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6FC918B3-791C-D58E-89D5-78268AD324CA}"/>
                  </a:ext>
                </a:extLst>
              </p:cNvPr>
              <p:cNvSpPr txBox="1"/>
              <p:nvPr/>
            </p:nvSpPr>
            <p:spPr>
              <a:xfrm>
                <a:off x="1070547" y="1209190"/>
                <a:ext cx="9305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𝜓</m:t>
                          </m:r>
                        </m:e>
                        <m:sub>
                          <m:r>
                            <a:rPr lang="en-US" sz="2800" b="0" i="1" dirty="0" smtClean="0">
                              <a:latin typeface="Cambria Math" panose="02040503050406030204" pitchFamily="18" charset="0"/>
                            </a:rPr>
                            <m:t>2</m:t>
                          </m:r>
                        </m:sub>
                      </m:sSub>
                      <m:r>
                        <a:rPr lang="en-US" sz="2800" i="1" dirty="0">
                          <a:latin typeface="Cambria Math" panose="02040503050406030204" pitchFamily="18" charset="0"/>
                        </a:rPr>
                        <m:t>⟩</m:t>
                      </m:r>
                    </m:oMath>
                  </m:oMathPara>
                </a14:m>
                <a:endParaRPr lang="en-US" sz="2800" dirty="0"/>
              </a:p>
            </p:txBody>
          </p:sp>
        </mc:Choice>
        <mc:Fallback>
          <p:sp>
            <p:nvSpPr>
              <p:cNvPr id="76" name="TextBox 75">
                <a:extLst>
                  <a:ext uri="{FF2B5EF4-FFF2-40B4-BE49-F238E27FC236}">
                    <a16:creationId xmlns:a16="http://schemas.microsoft.com/office/drawing/2014/main" id="{6FC918B3-791C-D58E-89D5-78268AD324CA}"/>
                  </a:ext>
                </a:extLst>
              </p:cNvPr>
              <p:cNvSpPr txBox="1">
                <a:spLocks noRot="1" noChangeAspect="1" noMove="1" noResize="1" noEditPoints="1" noAdjustHandles="1" noChangeArrowheads="1" noChangeShapeType="1" noTextEdit="1"/>
              </p:cNvSpPr>
              <p:nvPr/>
            </p:nvSpPr>
            <p:spPr>
              <a:xfrm>
                <a:off x="1070547" y="1209190"/>
                <a:ext cx="930511"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3D695957-CAD6-3E5E-71FD-4510BCD85AC5}"/>
                  </a:ext>
                </a:extLst>
              </p:cNvPr>
              <p:cNvSpPr txBox="1"/>
              <p:nvPr/>
            </p:nvSpPr>
            <p:spPr>
              <a:xfrm>
                <a:off x="3983436" y="1852493"/>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p:sp>
            <p:nvSpPr>
              <p:cNvPr id="77" name="TextBox 76">
                <a:extLst>
                  <a:ext uri="{FF2B5EF4-FFF2-40B4-BE49-F238E27FC236}">
                    <a16:creationId xmlns:a16="http://schemas.microsoft.com/office/drawing/2014/main" id="{3D695957-CAD6-3E5E-71FD-4510BCD85AC5}"/>
                  </a:ext>
                </a:extLst>
              </p:cNvPr>
              <p:cNvSpPr txBox="1">
                <a:spLocks noRot="1" noChangeAspect="1" noMove="1" noResize="1" noEditPoints="1" noAdjustHandles="1" noChangeArrowheads="1" noChangeShapeType="1" noTextEdit="1"/>
              </p:cNvSpPr>
              <p:nvPr/>
            </p:nvSpPr>
            <p:spPr>
              <a:xfrm>
                <a:off x="3983436" y="1852493"/>
                <a:ext cx="76302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34C4A344-52F7-DD03-E29F-1447FF3E2018}"/>
                  </a:ext>
                </a:extLst>
              </p:cNvPr>
              <p:cNvSpPr txBox="1"/>
              <p:nvPr/>
            </p:nvSpPr>
            <p:spPr>
              <a:xfrm>
                <a:off x="3848100" y="3863737"/>
                <a:ext cx="763029" cy="5413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𝜙</m:t>
                          </m:r>
                        </m:e>
                      </m:acc>
                      <m:r>
                        <a:rPr lang="en-US" sz="2800" i="1" dirty="0">
                          <a:latin typeface="Cambria Math" panose="02040503050406030204" pitchFamily="18" charset="0"/>
                        </a:rPr>
                        <m:t>⟩</m:t>
                      </m:r>
                    </m:oMath>
                  </m:oMathPara>
                </a14:m>
                <a:endParaRPr lang="en-US" sz="2800" dirty="0"/>
              </a:p>
            </p:txBody>
          </p:sp>
        </mc:Choice>
        <mc:Fallback>
          <p:sp>
            <p:nvSpPr>
              <p:cNvPr id="78" name="TextBox 77">
                <a:extLst>
                  <a:ext uri="{FF2B5EF4-FFF2-40B4-BE49-F238E27FC236}">
                    <a16:creationId xmlns:a16="http://schemas.microsoft.com/office/drawing/2014/main" id="{34C4A344-52F7-DD03-E29F-1447FF3E2018}"/>
                  </a:ext>
                </a:extLst>
              </p:cNvPr>
              <p:cNvSpPr txBox="1">
                <a:spLocks noRot="1" noChangeAspect="1" noMove="1" noResize="1" noEditPoints="1" noAdjustHandles="1" noChangeArrowheads="1" noChangeShapeType="1" noTextEdit="1"/>
              </p:cNvSpPr>
              <p:nvPr/>
            </p:nvSpPr>
            <p:spPr>
              <a:xfrm>
                <a:off x="3848100" y="3863737"/>
                <a:ext cx="763029" cy="541302"/>
              </a:xfrm>
              <a:prstGeom prst="rect">
                <a:avLst/>
              </a:prstGeom>
              <a:blipFill>
                <a:blip r:embed="rId7"/>
                <a:stretch>
                  <a:fillRect/>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D3FD07F8-C03C-C498-7B3E-6CDDC72CCD78}"/>
              </a:ext>
            </a:extLst>
          </p:cNvPr>
          <p:cNvCxnSpPr>
            <a:cxnSpLocks/>
          </p:cNvCxnSpPr>
          <p:nvPr/>
        </p:nvCxnSpPr>
        <p:spPr>
          <a:xfrm>
            <a:off x="9428346" y="755038"/>
            <a:ext cx="0" cy="3195828"/>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44632DB-CDE8-AA3D-F0D8-570AB9F3ED2D}"/>
                  </a:ext>
                </a:extLst>
              </p:cNvPr>
              <p:cNvSpPr txBox="1"/>
              <p:nvPr/>
            </p:nvSpPr>
            <p:spPr>
              <a:xfrm>
                <a:off x="9139590" y="262236"/>
                <a:ext cx="81387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1</m:t>
                          </m:r>
                        </m:sub>
                      </m:sSub>
                      <m:r>
                        <a:rPr lang="en-US" sz="2400" i="1" dirty="0">
                          <a:latin typeface="Cambria Math" panose="02040503050406030204" pitchFamily="18" charset="0"/>
                        </a:rPr>
                        <m:t>⟩</m:t>
                      </m:r>
                    </m:oMath>
                  </m:oMathPara>
                </a14:m>
                <a:endParaRPr lang="en-US" sz="2400" dirty="0"/>
              </a:p>
            </p:txBody>
          </p:sp>
        </mc:Choice>
        <mc:Fallback>
          <p:sp>
            <p:nvSpPr>
              <p:cNvPr id="6" name="TextBox 5">
                <a:extLst>
                  <a:ext uri="{FF2B5EF4-FFF2-40B4-BE49-F238E27FC236}">
                    <a16:creationId xmlns:a16="http://schemas.microsoft.com/office/drawing/2014/main" id="{E44632DB-CDE8-AA3D-F0D8-570AB9F3ED2D}"/>
                  </a:ext>
                </a:extLst>
              </p:cNvPr>
              <p:cNvSpPr txBox="1">
                <a:spLocks noRot="1" noChangeAspect="1" noMove="1" noResize="1" noEditPoints="1" noAdjustHandles="1" noChangeArrowheads="1" noChangeShapeType="1" noTextEdit="1"/>
              </p:cNvSpPr>
              <p:nvPr/>
            </p:nvSpPr>
            <p:spPr>
              <a:xfrm>
                <a:off x="9139590" y="262236"/>
                <a:ext cx="813877" cy="461665"/>
              </a:xfrm>
              <a:prstGeom prst="rect">
                <a:avLst/>
              </a:prstGeom>
              <a:blipFill>
                <a:blip r:embed="rId8"/>
                <a:stretch>
                  <a:fillRect l="-1493" r="-1493" b="-171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6926C76-F5B1-7210-EAFA-AB1060AEE8FD}"/>
                  </a:ext>
                </a:extLst>
              </p:cNvPr>
              <p:cNvSpPr txBox="1"/>
              <p:nvPr/>
            </p:nvSpPr>
            <p:spPr>
              <a:xfrm>
                <a:off x="9248918" y="4007952"/>
                <a:ext cx="8209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2</m:t>
                          </m:r>
                        </m:sub>
                      </m:sSub>
                      <m:r>
                        <a:rPr lang="en-US" sz="2400" i="1" dirty="0">
                          <a:latin typeface="Cambria Math" panose="02040503050406030204" pitchFamily="18" charset="0"/>
                        </a:rPr>
                        <m:t>⟩</m:t>
                      </m:r>
                    </m:oMath>
                  </m:oMathPara>
                </a14:m>
                <a:endParaRPr lang="en-US" sz="2400" dirty="0"/>
              </a:p>
            </p:txBody>
          </p:sp>
        </mc:Choice>
        <mc:Fallback>
          <p:sp>
            <p:nvSpPr>
              <p:cNvPr id="8" name="TextBox 7">
                <a:extLst>
                  <a:ext uri="{FF2B5EF4-FFF2-40B4-BE49-F238E27FC236}">
                    <a16:creationId xmlns:a16="http://schemas.microsoft.com/office/drawing/2014/main" id="{D6926C76-F5B1-7210-EAFA-AB1060AEE8FD}"/>
                  </a:ext>
                </a:extLst>
              </p:cNvPr>
              <p:cNvSpPr txBox="1">
                <a:spLocks noRot="1" noChangeAspect="1" noMove="1" noResize="1" noEditPoints="1" noAdjustHandles="1" noChangeArrowheads="1" noChangeShapeType="1" noTextEdit="1"/>
              </p:cNvSpPr>
              <p:nvPr/>
            </p:nvSpPr>
            <p:spPr>
              <a:xfrm>
                <a:off x="9248918" y="4007952"/>
                <a:ext cx="820994" cy="461665"/>
              </a:xfrm>
              <a:prstGeom prst="rect">
                <a:avLst/>
              </a:prstGeom>
              <a:blipFill>
                <a:blip r:embed="rId9"/>
                <a:stretch>
                  <a:fillRect l="-1481" r="-1481" b="-171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055DE8A-333F-3F47-5236-6E12963296C5}"/>
                  </a:ext>
                </a:extLst>
              </p:cNvPr>
              <p:cNvSpPr txBox="1"/>
              <p:nvPr/>
            </p:nvSpPr>
            <p:spPr>
              <a:xfrm>
                <a:off x="9132430" y="1508470"/>
                <a:ext cx="370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p:sp>
            <p:nvSpPr>
              <p:cNvPr id="10" name="TextBox 9">
                <a:extLst>
                  <a:ext uri="{FF2B5EF4-FFF2-40B4-BE49-F238E27FC236}">
                    <a16:creationId xmlns:a16="http://schemas.microsoft.com/office/drawing/2014/main" id="{C055DE8A-333F-3F47-5236-6E12963296C5}"/>
                  </a:ext>
                </a:extLst>
              </p:cNvPr>
              <p:cNvSpPr txBox="1">
                <a:spLocks noRot="1" noChangeAspect="1" noMove="1" noResize="1" noEditPoints="1" noAdjustHandles="1" noChangeArrowheads="1" noChangeShapeType="1" noTextEdit="1"/>
              </p:cNvSpPr>
              <p:nvPr/>
            </p:nvSpPr>
            <p:spPr>
              <a:xfrm>
                <a:off x="9132430" y="1508470"/>
                <a:ext cx="370230" cy="369332"/>
              </a:xfrm>
              <a:prstGeom prst="rect">
                <a:avLst/>
              </a:prstGeom>
              <a:blipFill>
                <a:blip r:embed="rId10"/>
                <a:stretch>
                  <a:fillRect b="-65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9C7AF0E-E55C-71BB-C3A4-97FCBB867213}"/>
                  </a:ext>
                </a:extLst>
              </p:cNvPr>
              <p:cNvSpPr txBox="1"/>
              <p:nvPr/>
            </p:nvSpPr>
            <p:spPr>
              <a:xfrm>
                <a:off x="10337398" y="1521898"/>
                <a:ext cx="67858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r>
                        <a:rPr lang="en-US" sz="2400" b="0" i="1" dirty="0" smtClean="0">
                          <a:latin typeface="Cambria Math" panose="02040503050406030204" pitchFamily="18" charset="0"/>
                        </a:rPr>
                        <m:t>𝜙</m:t>
                      </m:r>
                      <m:r>
                        <a:rPr lang="en-US" sz="2400" i="1" dirty="0">
                          <a:latin typeface="Cambria Math" panose="02040503050406030204" pitchFamily="18" charset="0"/>
                        </a:rPr>
                        <m:t>⟩</m:t>
                      </m:r>
                    </m:oMath>
                  </m:oMathPara>
                </a14:m>
                <a:endParaRPr lang="en-US" sz="2400" dirty="0"/>
              </a:p>
            </p:txBody>
          </p:sp>
        </mc:Choice>
        <mc:Fallback>
          <p:sp>
            <p:nvSpPr>
              <p:cNvPr id="12" name="TextBox 11">
                <a:extLst>
                  <a:ext uri="{FF2B5EF4-FFF2-40B4-BE49-F238E27FC236}">
                    <a16:creationId xmlns:a16="http://schemas.microsoft.com/office/drawing/2014/main" id="{B9C7AF0E-E55C-71BB-C3A4-97FCBB867213}"/>
                  </a:ext>
                </a:extLst>
              </p:cNvPr>
              <p:cNvSpPr txBox="1">
                <a:spLocks noRot="1" noChangeAspect="1" noMove="1" noResize="1" noEditPoints="1" noAdjustHandles="1" noChangeArrowheads="1" noChangeShapeType="1" noTextEdit="1"/>
              </p:cNvSpPr>
              <p:nvPr/>
            </p:nvSpPr>
            <p:spPr>
              <a:xfrm>
                <a:off x="10337398" y="1521898"/>
                <a:ext cx="678584" cy="461665"/>
              </a:xfrm>
              <a:prstGeom prst="rect">
                <a:avLst/>
              </a:prstGeom>
              <a:blipFill>
                <a:blip r:embed="rId11"/>
                <a:stretch>
                  <a:fillRect l="-2703" r="-1802" b="-18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6FCF19D-AA13-5FFE-D9D7-0DC50B8B94A2}"/>
                  </a:ext>
                </a:extLst>
              </p:cNvPr>
              <p:cNvSpPr txBox="1"/>
              <p:nvPr/>
            </p:nvSpPr>
            <p:spPr>
              <a:xfrm>
                <a:off x="6704165" y="714754"/>
                <a:ext cx="678583" cy="4771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𝜙</m:t>
                          </m:r>
                        </m:e>
                      </m:acc>
                      <m:r>
                        <a:rPr lang="en-US" sz="2400" i="1" dirty="0">
                          <a:latin typeface="Cambria Math" panose="02040503050406030204" pitchFamily="18" charset="0"/>
                        </a:rPr>
                        <m:t>⟩</m:t>
                      </m:r>
                    </m:oMath>
                  </m:oMathPara>
                </a14:m>
                <a:endParaRPr lang="en-US" sz="2400" dirty="0"/>
              </a:p>
            </p:txBody>
          </p:sp>
        </mc:Choice>
        <mc:Fallback>
          <p:sp>
            <p:nvSpPr>
              <p:cNvPr id="14" name="TextBox 13">
                <a:extLst>
                  <a:ext uri="{FF2B5EF4-FFF2-40B4-BE49-F238E27FC236}">
                    <a16:creationId xmlns:a16="http://schemas.microsoft.com/office/drawing/2014/main" id="{66FCF19D-AA13-5FFE-D9D7-0DC50B8B94A2}"/>
                  </a:ext>
                </a:extLst>
              </p:cNvPr>
              <p:cNvSpPr txBox="1">
                <a:spLocks noRot="1" noChangeAspect="1" noMove="1" noResize="1" noEditPoints="1" noAdjustHandles="1" noChangeArrowheads="1" noChangeShapeType="1" noTextEdit="1"/>
              </p:cNvSpPr>
              <p:nvPr/>
            </p:nvSpPr>
            <p:spPr>
              <a:xfrm>
                <a:off x="6704165" y="714754"/>
                <a:ext cx="678583" cy="477118"/>
              </a:xfrm>
              <a:prstGeom prst="rect">
                <a:avLst/>
              </a:prstGeom>
              <a:blipFill>
                <a:blip r:embed="rId12"/>
                <a:stretch>
                  <a:fillRect l="-2703" t="-3797" r="-29730" b="-16456"/>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C080074E-C39C-B7CD-AD4E-62311C50A770}"/>
              </a:ext>
            </a:extLst>
          </p:cNvPr>
          <p:cNvGrpSpPr/>
          <p:nvPr/>
        </p:nvGrpSpPr>
        <p:grpSpPr>
          <a:xfrm>
            <a:off x="6827612" y="568690"/>
            <a:ext cx="3577708" cy="3577703"/>
            <a:chOff x="1153584" y="740244"/>
            <a:chExt cx="3577708" cy="3577703"/>
          </a:xfrm>
        </p:grpSpPr>
        <p:cxnSp>
          <p:nvCxnSpPr>
            <p:cNvPr id="16" name="Straight Connector 15">
              <a:extLst>
                <a:ext uri="{FF2B5EF4-FFF2-40B4-BE49-F238E27FC236}">
                  <a16:creationId xmlns:a16="http://schemas.microsoft.com/office/drawing/2014/main" id="{3F38F594-4B26-6E26-F2D8-D660B9D1A0F8}"/>
                </a:ext>
              </a:extLst>
            </p:cNvPr>
            <p:cNvCxnSpPr>
              <a:cxnSpLocks/>
              <a:stCxn id="22" idx="2"/>
            </p:cNvCxnSpPr>
            <p:nvPr/>
          </p:nvCxnSpPr>
          <p:spPr>
            <a:xfrm>
              <a:off x="1153584" y="2529096"/>
              <a:ext cx="3577706" cy="762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8F17A71B-AEC9-909A-7FDA-FCC873002ED2}"/>
                </a:ext>
              </a:extLst>
            </p:cNvPr>
            <p:cNvGrpSpPr/>
            <p:nvPr/>
          </p:nvGrpSpPr>
          <p:grpSpPr>
            <a:xfrm>
              <a:off x="1153584" y="740244"/>
              <a:ext cx="3577708" cy="3577703"/>
              <a:chOff x="2521889" y="2808131"/>
              <a:chExt cx="1916265" cy="1916264"/>
            </a:xfrm>
          </p:grpSpPr>
          <p:sp>
            <p:nvSpPr>
              <p:cNvPr id="20" name="Oval 19">
                <a:extLst>
                  <a:ext uri="{FF2B5EF4-FFF2-40B4-BE49-F238E27FC236}">
                    <a16:creationId xmlns:a16="http://schemas.microsoft.com/office/drawing/2014/main" id="{1EE27670-94FE-A08B-8199-32F22260E305}"/>
                  </a:ext>
                </a:extLst>
              </p:cNvPr>
              <p:cNvSpPr/>
              <p:nvPr/>
            </p:nvSpPr>
            <p:spPr>
              <a:xfrm>
                <a:off x="2521889" y="2808131"/>
                <a:ext cx="1916264" cy="1916264"/>
              </a:xfrm>
              <a:prstGeom prst="ellipse">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Oval 31">
                <a:extLst>
                  <a:ext uri="{FF2B5EF4-FFF2-40B4-BE49-F238E27FC236}">
                    <a16:creationId xmlns:a16="http://schemas.microsoft.com/office/drawing/2014/main" id="{66500805-7E82-9F0C-2678-20629E9A7ADB}"/>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7CF5477-DEF2-6AE9-552E-BCFF8075CBEF}"/>
                  </a:ext>
                </a:extLst>
              </p:cNvPr>
              <p:cNvSpPr/>
              <p:nvPr/>
            </p:nvSpPr>
            <p:spPr>
              <a:xfrm>
                <a:off x="2521889" y="2808131"/>
                <a:ext cx="1916265" cy="1916264"/>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9" name="Straight Connector 18">
              <a:extLst>
                <a:ext uri="{FF2B5EF4-FFF2-40B4-BE49-F238E27FC236}">
                  <a16:creationId xmlns:a16="http://schemas.microsoft.com/office/drawing/2014/main" id="{444C86FC-9E7B-74EA-6A3E-F85AA5B0A360}"/>
                </a:ext>
              </a:extLst>
            </p:cNvPr>
            <p:cNvCxnSpPr>
              <a:cxnSpLocks/>
              <a:stCxn id="22" idx="0"/>
              <a:endCxn id="22" idx="4"/>
            </p:cNvCxnSpPr>
            <p:nvPr/>
          </p:nvCxnSpPr>
          <p:spPr>
            <a:xfrm>
              <a:off x="2942438" y="740244"/>
              <a:ext cx="0" cy="357770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21647909-D5CC-E9E7-63C1-1AFABC0C534B}"/>
              </a:ext>
            </a:extLst>
          </p:cNvPr>
          <p:cNvCxnSpPr>
            <a:cxnSpLocks/>
            <a:stCxn id="22" idx="1"/>
          </p:cNvCxnSpPr>
          <p:nvPr/>
        </p:nvCxnSpPr>
        <p:spPr>
          <a:xfrm>
            <a:off x="7351555" y="1092632"/>
            <a:ext cx="2985843" cy="718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C6D6C5F5-EF35-BBF4-01B7-908C6615F94A}"/>
              </a:ext>
            </a:extLst>
          </p:cNvPr>
          <p:cNvSpPr/>
          <p:nvPr/>
        </p:nvSpPr>
        <p:spPr>
          <a:xfrm>
            <a:off x="9396380" y="1562926"/>
            <a:ext cx="66918" cy="6382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6994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C542C7E-8714-0D20-A549-19AB0C3A4B0F}"/>
              </a:ext>
            </a:extLst>
          </p:cNvPr>
          <p:cNvGrpSpPr/>
          <p:nvPr/>
        </p:nvGrpSpPr>
        <p:grpSpPr>
          <a:xfrm>
            <a:off x="506220" y="283147"/>
            <a:ext cx="11179560" cy="787139"/>
            <a:chOff x="466735" y="252667"/>
            <a:chExt cx="11179560" cy="787139"/>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A0D199D-C720-C169-AFC7-3C9EBE163A40}"/>
                    </a:ext>
                  </a:extLst>
                </p:cNvPr>
                <p:cNvSpPr txBox="1"/>
                <p:nvPr/>
              </p:nvSpPr>
              <p:spPr>
                <a:xfrm>
                  <a:off x="466735" y="292294"/>
                  <a:ext cx="507594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dirty="0" smtClean="0">
                                <a:latin typeface="Cambria Math" panose="02040503050406030204" pitchFamily="18" charset="0"/>
                              </a:rPr>
                            </m:ctrlPr>
                          </m:dPr>
                          <m:e>
                            <m:r>
                              <a:rPr lang="en-US" sz="4000" b="0" i="1" dirty="0" smtClean="0">
                                <a:latin typeface="Cambria Math" panose="02040503050406030204" pitchFamily="18" charset="0"/>
                              </a:rPr>
                              <m:t>𝜙</m:t>
                            </m:r>
                          </m:e>
                        </m:d>
                        <m:r>
                          <a:rPr lang="en-US" sz="4000" b="0" i="1" dirty="0" smtClean="0">
                            <a:latin typeface="Cambria Math" panose="02040503050406030204" pitchFamily="18" charset="0"/>
                          </a:rPr>
                          <m:t>=</m:t>
                        </m:r>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𝑐</m:t>
                            </m:r>
                          </m:e>
                          <m:sub>
                            <m:r>
                              <a:rPr lang="en-US" sz="4000" b="0" i="1" dirty="0" smtClean="0">
                                <a:latin typeface="Cambria Math" panose="02040503050406030204" pitchFamily="18" charset="0"/>
                              </a:rPr>
                              <m:t>1</m:t>
                            </m:r>
                          </m:sub>
                        </m:sSub>
                        <m:d>
                          <m:dPr>
                            <m:begChr m:val="|"/>
                            <m:endChr m:val="⟩"/>
                            <m:ctrlPr>
                              <a:rPr lang="en-US" sz="4000" i="1" dirty="0">
                                <a:latin typeface="Cambria Math" panose="02040503050406030204" pitchFamily="18" charset="0"/>
                              </a:rPr>
                            </m:ctrlPr>
                          </m:dPr>
                          <m:e>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𝜓</m:t>
                                </m:r>
                              </m:e>
                              <m:sub>
                                <m:r>
                                  <a:rPr lang="en-US" sz="4000" b="0" i="1" dirty="0" smtClean="0">
                                    <a:latin typeface="Cambria Math" panose="02040503050406030204" pitchFamily="18" charset="0"/>
                                  </a:rPr>
                                  <m:t>1</m:t>
                                </m:r>
                              </m:sub>
                            </m:sSub>
                          </m:e>
                        </m:d>
                        <m:r>
                          <a:rPr lang="en-US" sz="4000" b="0" i="1" dirty="0" smtClean="0">
                            <a:latin typeface="Cambria Math" panose="02040503050406030204" pitchFamily="18" charset="0"/>
                          </a:rPr>
                          <m:t>+</m:t>
                        </m:r>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𝑐</m:t>
                            </m:r>
                          </m:e>
                          <m:sub>
                            <m:r>
                              <a:rPr lang="en-US" sz="4000" b="0" i="1" dirty="0" smtClean="0">
                                <a:latin typeface="Cambria Math" panose="02040503050406030204" pitchFamily="18" charset="0"/>
                              </a:rPr>
                              <m:t>2</m:t>
                            </m:r>
                          </m:sub>
                        </m:sSub>
                        <m:d>
                          <m:dPr>
                            <m:begChr m:val="|"/>
                            <m:endChr m:val="⟩"/>
                            <m:ctrlPr>
                              <a:rPr lang="en-US" sz="4000" i="1" dirty="0">
                                <a:latin typeface="Cambria Math" panose="02040503050406030204" pitchFamily="18" charset="0"/>
                              </a:rPr>
                            </m:ctrlPr>
                          </m:dPr>
                          <m:e>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𝜓</m:t>
                                </m:r>
                              </m:e>
                              <m:sub>
                                <m:r>
                                  <a:rPr lang="en-US" sz="4000" b="0" i="1" dirty="0" smtClean="0">
                                    <a:latin typeface="Cambria Math" panose="02040503050406030204" pitchFamily="18" charset="0"/>
                                  </a:rPr>
                                  <m:t>2</m:t>
                                </m:r>
                              </m:sub>
                            </m:sSub>
                          </m:e>
                        </m:d>
                      </m:oMath>
                    </m:oMathPara>
                  </a14:m>
                  <a:endParaRPr lang="en-US" sz="4000" dirty="0"/>
                </a:p>
              </p:txBody>
            </p:sp>
          </mc:Choice>
          <mc:Fallback>
            <p:sp>
              <p:nvSpPr>
                <p:cNvPr id="2" name="TextBox 1">
                  <a:extLst>
                    <a:ext uri="{FF2B5EF4-FFF2-40B4-BE49-F238E27FC236}">
                      <a16:creationId xmlns:a16="http://schemas.microsoft.com/office/drawing/2014/main" id="{7A0D199D-C720-C169-AFC7-3C9EBE163A40}"/>
                    </a:ext>
                  </a:extLst>
                </p:cNvPr>
                <p:cNvSpPr txBox="1">
                  <a:spLocks noRot="1" noChangeAspect="1" noMove="1" noResize="1" noEditPoints="1" noAdjustHandles="1" noChangeArrowheads="1" noChangeShapeType="1" noTextEdit="1"/>
                </p:cNvSpPr>
                <p:nvPr/>
              </p:nvSpPr>
              <p:spPr>
                <a:xfrm>
                  <a:off x="466735" y="292294"/>
                  <a:ext cx="5075940" cy="7078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2D17827-B9B5-6C8A-080F-11C5459F4F6B}"/>
                    </a:ext>
                  </a:extLst>
                </p:cNvPr>
                <p:cNvSpPr txBox="1"/>
                <p:nvPr/>
              </p:nvSpPr>
              <p:spPr>
                <a:xfrm>
                  <a:off x="6570355" y="252667"/>
                  <a:ext cx="5075940" cy="7871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dirty="0" smtClean="0">
                                <a:latin typeface="Cambria Math" panose="02040503050406030204" pitchFamily="18" charset="0"/>
                              </a:rPr>
                            </m:ctrlPr>
                          </m:dPr>
                          <m:e>
                            <m:acc>
                              <m:accPr>
                                <m:chr m:val="̂"/>
                                <m:ctrlPr>
                                  <a:rPr lang="en-US" sz="4000" b="0" i="1" dirty="0" smtClean="0">
                                    <a:latin typeface="Cambria Math" panose="02040503050406030204" pitchFamily="18" charset="0"/>
                                  </a:rPr>
                                </m:ctrlPr>
                              </m:accPr>
                              <m:e>
                                <m:r>
                                  <a:rPr lang="en-US" sz="4000" b="0" i="1" dirty="0" smtClean="0">
                                    <a:latin typeface="Cambria Math" panose="02040503050406030204" pitchFamily="18" charset="0"/>
                                  </a:rPr>
                                  <m:t>𝜙</m:t>
                                </m:r>
                              </m:e>
                            </m:acc>
                          </m:e>
                        </m:d>
                        <m:r>
                          <a:rPr lang="en-US" sz="4000" b="0" i="1" dirty="0" smtClean="0">
                            <a:latin typeface="Cambria Math" panose="02040503050406030204" pitchFamily="18" charset="0"/>
                          </a:rPr>
                          <m:t>=</m:t>
                        </m:r>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𝑐</m:t>
                            </m:r>
                          </m:e>
                          <m:sub>
                            <m:r>
                              <a:rPr lang="en-US" sz="4000" b="0" i="1" dirty="0" smtClean="0">
                                <a:latin typeface="Cambria Math" panose="02040503050406030204" pitchFamily="18" charset="0"/>
                              </a:rPr>
                              <m:t>1</m:t>
                            </m:r>
                          </m:sub>
                        </m:sSub>
                        <m:d>
                          <m:dPr>
                            <m:begChr m:val="|"/>
                            <m:endChr m:val="⟩"/>
                            <m:ctrlPr>
                              <a:rPr lang="en-US" sz="4000" i="1" dirty="0">
                                <a:latin typeface="Cambria Math" panose="02040503050406030204" pitchFamily="18" charset="0"/>
                              </a:rPr>
                            </m:ctrlPr>
                          </m:dPr>
                          <m:e>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𝜓</m:t>
                                </m:r>
                              </m:e>
                              <m:sub>
                                <m:r>
                                  <a:rPr lang="en-US" sz="4000" b="0" i="1" dirty="0" smtClean="0">
                                    <a:latin typeface="Cambria Math" panose="02040503050406030204" pitchFamily="18" charset="0"/>
                                  </a:rPr>
                                  <m:t>1</m:t>
                                </m:r>
                              </m:sub>
                            </m:sSub>
                          </m:e>
                        </m:d>
                        <m:r>
                          <a:rPr lang="en-US" sz="4000" b="0" i="1" dirty="0" smtClean="0">
                            <a:latin typeface="Cambria Math" panose="02040503050406030204" pitchFamily="18" charset="0"/>
                          </a:rPr>
                          <m:t>−</m:t>
                        </m:r>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𝑐</m:t>
                            </m:r>
                          </m:e>
                          <m:sub>
                            <m:r>
                              <a:rPr lang="en-US" sz="4000" b="0" i="1" dirty="0" smtClean="0">
                                <a:latin typeface="Cambria Math" panose="02040503050406030204" pitchFamily="18" charset="0"/>
                              </a:rPr>
                              <m:t>2</m:t>
                            </m:r>
                          </m:sub>
                        </m:sSub>
                        <m:d>
                          <m:dPr>
                            <m:begChr m:val="|"/>
                            <m:endChr m:val="⟩"/>
                            <m:ctrlPr>
                              <a:rPr lang="en-US" sz="4000" i="1" dirty="0">
                                <a:latin typeface="Cambria Math" panose="02040503050406030204" pitchFamily="18" charset="0"/>
                              </a:rPr>
                            </m:ctrlPr>
                          </m:dPr>
                          <m:e>
                            <m:sSub>
                              <m:sSubPr>
                                <m:ctrlPr>
                                  <a:rPr lang="en-US" sz="4000" b="0" i="1" dirty="0" smtClean="0">
                                    <a:latin typeface="Cambria Math" panose="02040503050406030204" pitchFamily="18" charset="0"/>
                                  </a:rPr>
                                </m:ctrlPr>
                              </m:sSubPr>
                              <m:e>
                                <m:r>
                                  <a:rPr lang="en-US" sz="4000" b="0" i="1" dirty="0" smtClean="0">
                                    <a:latin typeface="Cambria Math" panose="02040503050406030204" pitchFamily="18" charset="0"/>
                                  </a:rPr>
                                  <m:t>𝜓</m:t>
                                </m:r>
                              </m:e>
                              <m:sub>
                                <m:r>
                                  <a:rPr lang="en-US" sz="4000" b="0" i="1" dirty="0" smtClean="0">
                                    <a:latin typeface="Cambria Math" panose="02040503050406030204" pitchFamily="18" charset="0"/>
                                  </a:rPr>
                                  <m:t>2</m:t>
                                </m:r>
                              </m:sub>
                            </m:sSub>
                          </m:e>
                        </m:d>
                      </m:oMath>
                    </m:oMathPara>
                  </a14:m>
                  <a:endParaRPr lang="en-US" sz="4000" dirty="0"/>
                </a:p>
              </p:txBody>
            </p:sp>
          </mc:Choice>
          <mc:Fallback>
            <p:sp>
              <p:nvSpPr>
                <p:cNvPr id="4" name="TextBox 3">
                  <a:extLst>
                    <a:ext uri="{FF2B5EF4-FFF2-40B4-BE49-F238E27FC236}">
                      <a16:creationId xmlns:a16="http://schemas.microsoft.com/office/drawing/2014/main" id="{62D17827-B9B5-6C8A-080F-11C5459F4F6B}"/>
                    </a:ext>
                  </a:extLst>
                </p:cNvPr>
                <p:cNvSpPr txBox="1">
                  <a:spLocks noRot="1" noChangeAspect="1" noMove="1" noResize="1" noEditPoints="1" noAdjustHandles="1" noChangeArrowheads="1" noChangeShapeType="1" noTextEdit="1"/>
                </p:cNvSpPr>
                <p:nvPr/>
              </p:nvSpPr>
              <p:spPr>
                <a:xfrm>
                  <a:off x="6570355" y="252667"/>
                  <a:ext cx="5075940" cy="787139"/>
                </a:xfrm>
                <a:prstGeom prst="rect">
                  <a:avLst/>
                </a:prstGeom>
                <a:blipFill>
                  <a:blip r:embed="rId3"/>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9C98778-6308-4961-7538-23F2F49746B9}"/>
                  </a:ext>
                </a:extLst>
              </p:cNvPr>
              <p:cNvSpPr txBox="1"/>
              <p:nvPr/>
            </p:nvSpPr>
            <p:spPr>
              <a:xfrm>
                <a:off x="320752" y="1737133"/>
                <a:ext cx="1085277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dirty="0" smtClean="0">
                              <a:latin typeface="Cambria Math" panose="02040503050406030204" pitchFamily="18" charset="0"/>
                            </a:rPr>
                          </m:ctrlPr>
                        </m:dPr>
                        <m:e>
                          <m:r>
                            <a:rPr lang="en-US" sz="2800" b="0" i="1" dirty="0" smtClean="0">
                              <a:latin typeface="Cambria Math" panose="02040503050406030204" pitchFamily="18" charset="0"/>
                            </a:rPr>
                            <m:t>𝜙</m:t>
                          </m:r>
                        </m:e>
                      </m:d>
                      <m:d>
                        <m:dPr>
                          <m:begChr m:val="⟨"/>
                          <m:endChr m:val="|"/>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𝜙</m:t>
                          </m:r>
                        </m:e>
                      </m:d>
                      <m:r>
                        <a:rPr lang="en-US" sz="2800" b="0" i="1" dirty="0" smtClean="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i="1" dirty="0">
                              <a:latin typeface="Cambria Math" panose="02040503050406030204" pitchFamily="18" charset="0"/>
                            </a:rPr>
                            <m:t>1</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i="1" dirty="0">
                              <a:latin typeface="Cambria Math" panose="02040503050406030204" pitchFamily="18" charset="0"/>
                            </a:rPr>
                            <m:t>1</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r>
                        <a:rPr lang="en-US" sz="2800" i="1" dirty="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i="1" dirty="0">
                              <a:latin typeface="Cambria Math" panose="02040503050406030204" pitchFamily="18" charset="0"/>
                            </a:rPr>
                            <m:t>1</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r>
                        <a:rPr lang="en-US" sz="2800" i="1" dirty="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i="1" dirty="0">
                              <a:latin typeface="Cambria Math" panose="02040503050406030204" pitchFamily="18" charset="0"/>
                            </a:rPr>
                            <m:t>1</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r>
                        <a:rPr lang="en-US" sz="2800" i="1" dirty="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oMath>
                  </m:oMathPara>
                </a14:m>
                <a:endParaRPr lang="en-US" sz="2800" dirty="0"/>
              </a:p>
            </p:txBody>
          </p:sp>
        </mc:Choice>
        <mc:Fallback>
          <p:sp>
            <p:nvSpPr>
              <p:cNvPr id="5" name="TextBox 4">
                <a:extLst>
                  <a:ext uri="{FF2B5EF4-FFF2-40B4-BE49-F238E27FC236}">
                    <a16:creationId xmlns:a16="http://schemas.microsoft.com/office/drawing/2014/main" id="{19C98778-6308-4961-7538-23F2F49746B9}"/>
                  </a:ext>
                </a:extLst>
              </p:cNvPr>
              <p:cNvSpPr txBox="1">
                <a:spLocks noRot="1" noChangeAspect="1" noMove="1" noResize="1" noEditPoints="1" noAdjustHandles="1" noChangeArrowheads="1" noChangeShapeType="1" noTextEdit="1"/>
              </p:cNvSpPr>
              <p:nvPr/>
            </p:nvSpPr>
            <p:spPr>
              <a:xfrm>
                <a:off x="320752" y="1737133"/>
                <a:ext cx="10852779"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FBD6D8F-589D-3C6A-E083-C206E28EC470}"/>
                  </a:ext>
                </a:extLst>
              </p:cNvPr>
              <p:cNvSpPr txBox="1"/>
              <p:nvPr/>
            </p:nvSpPr>
            <p:spPr>
              <a:xfrm>
                <a:off x="320753" y="2388141"/>
                <a:ext cx="10852778" cy="5786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dirty="0" smtClean="0">
                              <a:latin typeface="Cambria Math" panose="02040503050406030204" pitchFamily="18" charset="0"/>
                            </a:rPr>
                          </m:ctrlPr>
                        </m:d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𝜙</m:t>
                              </m:r>
                            </m:e>
                          </m:acc>
                        </m:e>
                      </m:d>
                      <m:d>
                        <m:dPr>
                          <m:begChr m:val="⟨"/>
                          <m:endChr m:val="|"/>
                          <m:ctrlPr>
                            <a:rPr lang="en-US" sz="2800" b="0" i="1" dirty="0" smtClean="0">
                              <a:latin typeface="Cambria Math" panose="02040503050406030204" pitchFamily="18" charset="0"/>
                            </a:rPr>
                          </m:ctrlPr>
                        </m:d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𝜙</m:t>
                              </m:r>
                            </m:e>
                          </m:acc>
                        </m:e>
                      </m:d>
                      <m:r>
                        <a:rPr lang="en-US" sz="2800" b="0" i="1" dirty="0" smtClean="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i="1" dirty="0">
                              <a:latin typeface="Cambria Math" panose="02040503050406030204" pitchFamily="18" charset="0"/>
                            </a:rPr>
                            <m:t>1</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i="1" dirty="0">
                              <a:latin typeface="Cambria Math" panose="02040503050406030204" pitchFamily="18" charset="0"/>
                            </a:rPr>
                            <m:t>1</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r>
                        <a:rPr lang="en-US" sz="2800" b="0" i="1" dirty="0" smtClean="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i="1" dirty="0">
                              <a:latin typeface="Cambria Math" panose="02040503050406030204" pitchFamily="18" charset="0"/>
                            </a:rPr>
                            <m:t>1</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r>
                        <a:rPr lang="en-US" sz="2800" b="0" i="1" dirty="0" smtClean="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i="1" dirty="0">
                              <a:latin typeface="Cambria Math" panose="02040503050406030204" pitchFamily="18" charset="0"/>
                            </a:rPr>
                            <m:t>1</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i="1" dirty="0">
                                  <a:latin typeface="Cambria Math" panose="02040503050406030204" pitchFamily="18" charset="0"/>
                                </a:rPr>
                                <m:t>1</m:t>
                              </m:r>
                            </m:sub>
                          </m:sSub>
                        </m:e>
                      </m:d>
                      <m:r>
                        <a:rPr lang="en-US" sz="2800" i="1" dirty="0">
                          <a:latin typeface="Cambria Math" panose="02040503050406030204" pitchFamily="18" charset="0"/>
                        </a:rPr>
                        <m:t>+</m:t>
                      </m:r>
                      <m:sSubSup>
                        <m:sSubSupPr>
                          <m:ctrlPr>
                            <a:rPr lang="en-US" sz="2800" i="1" dirty="0">
                              <a:latin typeface="Cambria Math" panose="02040503050406030204" pitchFamily="18" charset="0"/>
                            </a:rPr>
                          </m:ctrlPr>
                        </m:sSubSup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up>
                          <m:r>
                            <a:rPr lang="en-US" sz="2800" i="1" dirty="0">
                              <a:latin typeface="Cambria Math" panose="02040503050406030204" pitchFamily="18" charset="0"/>
                            </a:rPr>
                            <m:t>∗</m:t>
                          </m:r>
                        </m:sup>
                      </m:sSubSup>
                      <m:sSub>
                        <m:sSubPr>
                          <m:ctrlPr>
                            <a:rPr lang="en-US" sz="2800" i="1" dirty="0">
                              <a:latin typeface="Cambria Math" panose="02040503050406030204" pitchFamily="18" charset="0"/>
                            </a:rPr>
                          </m:ctrlPr>
                        </m:sSubPr>
                        <m:e>
                          <m:r>
                            <a:rPr lang="en-US" sz="2800" i="1" dirty="0">
                              <a:latin typeface="Cambria Math" panose="02040503050406030204" pitchFamily="18" charset="0"/>
                            </a:rPr>
                            <m:t>𝑐</m:t>
                          </m:r>
                        </m:e>
                        <m:sub>
                          <m:r>
                            <a:rPr lang="en-US" sz="2800" b="0" i="1" dirty="0" smtClean="0">
                              <a:latin typeface="Cambria Math" panose="02040503050406030204" pitchFamily="18" charset="0"/>
                            </a:rPr>
                            <m:t>2</m:t>
                          </m:r>
                        </m:sub>
                      </m:sSub>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d>
                        <m:dPr>
                          <m:begChr m:val="⟨"/>
                          <m:endChr m:val="|"/>
                          <m:ctrlPr>
                            <a:rPr lang="en-US" sz="2800" i="1" dirty="0">
                              <a:latin typeface="Cambria Math" panose="02040503050406030204" pitchFamily="18" charset="0"/>
                            </a:rPr>
                          </m:ctrlPr>
                        </m:dPr>
                        <m:e>
                          <m:sSub>
                            <m:sSubPr>
                              <m:ctrlPr>
                                <a:rPr lang="en-US" sz="2800" i="1" dirty="0">
                                  <a:latin typeface="Cambria Math" panose="02040503050406030204" pitchFamily="18" charset="0"/>
                                </a:rPr>
                              </m:ctrlPr>
                            </m:sSubPr>
                            <m:e>
                              <m:r>
                                <a:rPr lang="en-US" sz="2800" i="1" dirty="0">
                                  <a:latin typeface="Cambria Math" panose="02040503050406030204" pitchFamily="18" charset="0"/>
                                </a:rPr>
                                <m:t>𝜓</m:t>
                              </m:r>
                            </m:e>
                            <m:sub>
                              <m:r>
                                <a:rPr lang="en-US" sz="2800" b="0" i="1" dirty="0" smtClean="0">
                                  <a:latin typeface="Cambria Math" panose="02040503050406030204" pitchFamily="18" charset="0"/>
                                </a:rPr>
                                <m:t>2</m:t>
                              </m:r>
                            </m:sub>
                          </m:sSub>
                        </m:e>
                      </m:d>
                    </m:oMath>
                  </m:oMathPara>
                </a14:m>
                <a:endParaRPr lang="en-US" sz="2800" dirty="0"/>
              </a:p>
            </p:txBody>
          </p:sp>
        </mc:Choice>
        <mc:Fallback>
          <p:sp>
            <p:nvSpPr>
              <p:cNvPr id="6" name="TextBox 5">
                <a:extLst>
                  <a:ext uri="{FF2B5EF4-FFF2-40B4-BE49-F238E27FC236}">
                    <a16:creationId xmlns:a16="http://schemas.microsoft.com/office/drawing/2014/main" id="{0FBD6D8F-589D-3C6A-E083-C206E28EC470}"/>
                  </a:ext>
                </a:extLst>
              </p:cNvPr>
              <p:cNvSpPr txBox="1">
                <a:spLocks noRot="1" noChangeAspect="1" noMove="1" noResize="1" noEditPoints="1" noAdjustHandles="1" noChangeArrowheads="1" noChangeShapeType="1" noTextEdit="1"/>
              </p:cNvSpPr>
              <p:nvPr/>
            </p:nvSpPr>
            <p:spPr>
              <a:xfrm>
                <a:off x="320753" y="2388141"/>
                <a:ext cx="10852778" cy="57868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2DBA7F3-9A2F-F310-AC23-95843EB0EDC9}"/>
                  </a:ext>
                </a:extLst>
              </p:cNvPr>
              <p:cNvSpPr txBox="1"/>
              <p:nvPr/>
            </p:nvSpPr>
            <p:spPr>
              <a:xfrm>
                <a:off x="360435" y="3286008"/>
                <a:ext cx="9308638" cy="6481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dirty="0" smtClean="0">
                              <a:latin typeface="Cambria Math" panose="02040503050406030204" pitchFamily="18" charset="0"/>
                            </a:rPr>
                          </m:ctrlPr>
                        </m:dPr>
                        <m:e>
                          <m:r>
                            <a:rPr lang="en-US" sz="3200" i="1" dirty="0">
                              <a:latin typeface="Cambria Math" panose="02040503050406030204" pitchFamily="18" charset="0"/>
                            </a:rPr>
                            <m:t>𝜙</m:t>
                          </m:r>
                        </m:e>
                      </m:d>
                      <m:d>
                        <m:dPr>
                          <m:begChr m:val="⟨"/>
                          <m:endChr m:val="|"/>
                          <m:ctrlPr>
                            <a:rPr lang="en-US" sz="3200" i="1" dirty="0">
                              <a:latin typeface="Cambria Math" panose="02040503050406030204" pitchFamily="18" charset="0"/>
                            </a:rPr>
                          </m:ctrlPr>
                        </m:dPr>
                        <m:e>
                          <m:r>
                            <a:rPr lang="en-US" sz="3200" i="1" dirty="0">
                              <a:latin typeface="Cambria Math" panose="02040503050406030204" pitchFamily="18" charset="0"/>
                            </a:rPr>
                            <m:t>𝜙</m:t>
                          </m:r>
                        </m:e>
                      </m:d>
                      <m:r>
                        <a:rPr lang="en-US" sz="3200" b="0" i="1" dirty="0" smtClean="0">
                          <a:latin typeface="Cambria Math" panose="02040503050406030204" pitchFamily="18" charset="0"/>
                        </a:rPr>
                        <m:t>+</m:t>
                      </m:r>
                      <m:d>
                        <m:dPr>
                          <m:begChr m:val="|"/>
                          <m:endChr m:val="⟩"/>
                          <m:ctrlPr>
                            <a:rPr lang="en-US" sz="3200" i="1" dirty="0" smtClean="0">
                              <a:latin typeface="Cambria Math" panose="02040503050406030204" pitchFamily="18" charset="0"/>
                            </a:rPr>
                          </m:ctrlPr>
                        </m:dPr>
                        <m:e>
                          <m:acc>
                            <m:accPr>
                              <m:chr m:val="̂"/>
                              <m:ctrlPr>
                                <a:rPr lang="en-US" sz="3200" i="1" dirty="0">
                                  <a:latin typeface="Cambria Math" panose="02040503050406030204" pitchFamily="18" charset="0"/>
                                </a:rPr>
                              </m:ctrlPr>
                            </m:accPr>
                            <m:e>
                              <m:r>
                                <a:rPr lang="en-US" sz="3200" i="1" dirty="0">
                                  <a:latin typeface="Cambria Math" panose="02040503050406030204" pitchFamily="18" charset="0"/>
                                </a:rPr>
                                <m:t>𝜙</m:t>
                              </m:r>
                            </m:e>
                          </m:acc>
                        </m:e>
                      </m:d>
                      <m:d>
                        <m:dPr>
                          <m:begChr m:val="⟨"/>
                          <m:endChr m:val="|"/>
                          <m:ctrlPr>
                            <a:rPr lang="en-US" sz="3200" b="0" i="1" dirty="0" smtClean="0">
                              <a:latin typeface="Cambria Math" panose="02040503050406030204" pitchFamily="18" charset="0"/>
                            </a:rPr>
                          </m:ctrlPr>
                        </m:dPr>
                        <m:e>
                          <m:acc>
                            <m:accPr>
                              <m:chr m:val="̂"/>
                              <m:ctrlPr>
                                <a:rPr lang="en-US" sz="3200" i="1" dirty="0">
                                  <a:latin typeface="Cambria Math" panose="02040503050406030204" pitchFamily="18" charset="0"/>
                                </a:rPr>
                              </m:ctrlPr>
                            </m:accPr>
                            <m:e>
                              <m:r>
                                <a:rPr lang="en-US" sz="3200" i="1" dirty="0">
                                  <a:latin typeface="Cambria Math" panose="02040503050406030204" pitchFamily="18" charset="0"/>
                                </a:rPr>
                                <m:t>𝜙</m:t>
                              </m:r>
                            </m:e>
                          </m:acc>
                        </m:e>
                      </m:d>
                      <m:r>
                        <a:rPr lang="en-US" sz="3200" b="0" i="1" dirty="0" smtClean="0">
                          <a:latin typeface="Cambria Math" panose="02040503050406030204" pitchFamily="18" charset="0"/>
                        </a:rPr>
                        <m:t>=2</m:t>
                      </m:r>
                      <m:sSup>
                        <m:sSupPr>
                          <m:ctrlPr>
                            <a:rPr lang="en-US" sz="3200" b="0" i="1" dirty="0" smtClean="0">
                              <a:latin typeface="Cambria Math" panose="02040503050406030204" pitchFamily="18" charset="0"/>
                            </a:rPr>
                          </m:ctrlPr>
                        </m:sSupPr>
                        <m:e>
                          <m:d>
                            <m:dPr>
                              <m:begChr m:val="|"/>
                              <m:endChr m:val="|"/>
                              <m:ctrlPr>
                                <a:rPr lang="en-US" sz="3200" b="0" i="1" dirty="0" smtClean="0">
                                  <a:latin typeface="Cambria Math" panose="02040503050406030204" pitchFamily="18" charset="0"/>
                                </a:rPr>
                              </m:ctrlPr>
                            </m:dPr>
                            <m:e>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𝑐</m:t>
                                  </m:r>
                                </m:e>
                                <m:sub>
                                  <m:r>
                                    <a:rPr lang="en-US" sz="3200" b="0" i="1" dirty="0" smtClean="0">
                                      <a:latin typeface="Cambria Math" panose="02040503050406030204" pitchFamily="18" charset="0"/>
                                    </a:rPr>
                                    <m:t>1</m:t>
                                  </m:r>
                                </m:sub>
                              </m:sSub>
                            </m:e>
                          </m:d>
                        </m:e>
                        <m:sup>
                          <m:r>
                            <a:rPr lang="en-US" sz="3200" b="0" i="1" dirty="0" smtClean="0">
                              <a:latin typeface="Cambria Math" panose="02040503050406030204" pitchFamily="18" charset="0"/>
                            </a:rPr>
                            <m:t>2</m:t>
                          </m:r>
                        </m:sup>
                      </m:sSup>
                      <m:d>
                        <m:dPr>
                          <m:begChr m:val="|"/>
                          <m:endChr m:val="⟩"/>
                          <m:ctrlPr>
                            <a:rPr lang="en-US" sz="3200" i="1" dirty="0">
                              <a:latin typeface="Cambria Math" panose="02040503050406030204" pitchFamily="18" charset="0"/>
                            </a:rPr>
                          </m:ctrlPr>
                        </m:dPr>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𝜓</m:t>
                              </m:r>
                            </m:e>
                            <m:sub>
                              <m:r>
                                <a:rPr lang="en-US" sz="3200" i="1" dirty="0">
                                  <a:latin typeface="Cambria Math" panose="02040503050406030204" pitchFamily="18" charset="0"/>
                                </a:rPr>
                                <m:t>1</m:t>
                              </m:r>
                            </m:sub>
                          </m:sSub>
                        </m:e>
                      </m:d>
                      <m:d>
                        <m:dPr>
                          <m:begChr m:val="⟨"/>
                          <m:endChr m:val="|"/>
                          <m:ctrlPr>
                            <a:rPr lang="en-US" sz="3200" i="1" dirty="0">
                              <a:latin typeface="Cambria Math" panose="02040503050406030204" pitchFamily="18" charset="0"/>
                            </a:rPr>
                          </m:ctrlPr>
                        </m:dPr>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𝜓</m:t>
                              </m:r>
                            </m:e>
                            <m:sub>
                              <m:r>
                                <a:rPr lang="en-US" sz="3200" i="1" dirty="0">
                                  <a:latin typeface="Cambria Math" panose="02040503050406030204" pitchFamily="18" charset="0"/>
                                </a:rPr>
                                <m:t>1</m:t>
                              </m:r>
                            </m:sub>
                          </m:sSub>
                        </m:e>
                      </m:d>
                      <m:r>
                        <a:rPr lang="en-US" sz="3200" i="1" dirty="0">
                          <a:latin typeface="Cambria Math" panose="02040503050406030204" pitchFamily="18" charset="0"/>
                        </a:rPr>
                        <m:t>+2</m:t>
                      </m:r>
                      <m:sSup>
                        <m:sSupPr>
                          <m:ctrlPr>
                            <a:rPr lang="en-US" sz="3200" i="1" dirty="0">
                              <a:latin typeface="Cambria Math" panose="02040503050406030204" pitchFamily="18" charset="0"/>
                            </a:rPr>
                          </m:ctrlPr>
                        </m:sSupPr>
                        <m:e>
                          <m:d>
                            <m:dPr>
                              <m:begChr m:val="|"/>
                              <m:endChr m:val="|"/>
                              <m:ctrlPr>
                                <a:rPr lang="en-US" sz="3200" i="1" dirty="0">
                                  <a:latin typeface="Cambria Math" panose="02040503050406030204" pitchFamily="18" charset="0"/>
                                </a:rPr>
                              </m:ctrlPr>
                            </m:dPr>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𝑐</m:t>
                                  </m:r>
                                </m:e>
                                <m:sub>
                                  <m:r>
                                    <a:rPr lang="en-US" sz="3200" b="0" i="1" dirty="0" smtClean="0">
                                      <a:latin typeface="Cambria Math" panose="02040503050406030204" pitchFamily="18" charset="0"/>
                                    </a:rPr>
                                    <m:t>2</m:t>
                                  </m:r>
                                </m:sub>
                              </m:sSub>
                            </m:e>
                          </m:d>
                        </m:e>
                        <m:sup>
                          <m:r>
                            <a:rPr lang="en-US" sz="3200" i="1" dirty="0">
                              <a:latin typeface="Cambria Math" panose="02040503050406030204" pitchFamily="18" charset="0"/>
                            </a:rPr>
                            <m:t>2</m:t>
                          </m:r>
                        </m:sup>
                      </m:sSup>
                      <m:d>
                        <m:dPr>
                          <m:begChr m:val="|"/>
                          <m:endChr m:val="⟩"/>
                          <m:ctrlPr>
                            <a:rPr lang="en-US" sz="3200" i="1" dirty="0">
                              <a:latin typeface="Cambria Math" panose="02040503050406030204" pitchFamily="18" charset="0"/>
                            </a:rPr>
                          </m:ctrlPr>
                        </m:dPr>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𝜓</m:t>
                              </m:r>
                            </m:e>
                            <m:sub>
                              <m:r>
                                <a:rPr lang="en-US" sz="3200" b="0" i="1" dirty="0" smtClean="0">
                                  <a:latin typeface="Cambria Math" panose="02040503050406030204" pitchFamily="18" charset="0"/>
                                </a:rPr>
                                <m:t>2</m:t>
                              </m:r>
                            </m:sub>
                          </m:sSub>
                        </m:e>
                      </m:d>
                      <m:d>
                        <m:dPr>
                          <m:begChr m:val="⟨"/>
                          <m:endChr m:val="|"/>
                          <m:ctrlPr>
                            <a:rPr lang="en-US" sz="3200" i="1" dirty="0">
                              <a:latin typeface="Cambria Math" panose="02040503050406030204" pitchFamily="18" charset="0"/>
                            </a:rPr>
                          </m:ctrlPr>
                        </m:dPr>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𝜓</m:t>
                              </m:r>
                            </m:e>
                            <m:sub>
                              <m:r>
                                <a:rPr lang="en-US" sz="3200" b="0" i="1" dirty="0" smtClean="0">
                                  <a:latin typeface="Cambria Math" panose="02040503050406030204" pitchFamily="18" charset="0"/>
                                </a:rPr>
                                <m:t>2</m:t>
                              </m:r>
                            </m:sub>
                          </m:sSub>
                        </m:e>
                      </m:d>
                    </m:oMath>
                  </m:oMathPara>
                </a14:m>
                <a:endParaRPr lang="en-US" sz="3200" dirty="0"/>
              </a:p>
            </p:txBody>
          </p:sp>
        </mc:Choice>
        <mc:Fallback>
          <p:sp>
            <p:nvSpPr>
              <p:cNvPr id="7" name="TextBox 6">
                <a:extLst>
                  <a:ext uri="{FF2B5EF4-FFF2-40B4-BE49-F238E27FC236}">
                    <a16:creationId xmlns:a16="http://schemas.microsoft.com/office/drawing/2014/main" id="{E2DBA7F3-9A2F-F310-AC23-95843EB0EDC9}"/>
                  </a:ext>
                </a:extLst>
              </p:cNvPr>
              <p:cNvSpPr txBox="1">
                <a:spLocks noRot="1" noChangeAspect="1" noMove="1" noResize="1" noEditPoints="1" noAdjustHandles="1" noChangeArrowheads="1" noChangeShapeType="1" noTextEdit="1"/>
              </p:cNvSpPr>
              <p:nvPr/>
            </p:nvSpPr>
            <p:spPr>
              <a:xfrm>
                <a:off x="360435" y="3286008"/>
                <a:ext cx="9308638" cy="648191"/>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69229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45E44-8DCD-2455-27D0-8B08991424BF}"/>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D129EDB-819D-89C0-EC83-1754C5AD2A61}"/>
              </a:ext>
            </a:extLst>
          </p:cNvPr>
          <p:cNvGrpSpPr/>
          <p:nvPr/>
        </p:nvGrpSpPr>
        <p:grpSpPr>
          <a:xfrm>
            <a:off x="8705854" y="315154"/>
            <a:ext cx="3116558" cy="1064097"/>
            <a:chOff x="466735" y="292294"/>
            <a:chExt cx="3116558" cy="1064097"/>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F0E8516-655B-D12B-4BFE-1FAF03411FB4}"/>
                    </a:ext>
                  </a:extLst>
                </p:cNvPr>
                <p:cNvSpPr txBox="1"/>
                <p:nvPr/>
              </p:nvSpPr>
              <p:spPr>
                <a:xfrm>
                  <a:off x="466735" y="292294"/>
                  <a:ext cx="311655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r>
                              <a:rPr lang="en-US" sz="2400" b="0" i="1" dirty="0" smtClean="0">
                                <a:latin typeface="Cambria Math" panose="02040503050406030204" pitchFamily="18" charset="0"/>
                              </a:rPr>
                              <m:t>𝜙</m:t>
                            </m:r>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1</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1</m:t>
                                </m:r>
                              </m:sub>
                            </m:sSub>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2</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2</m:t>
                                </m:r>
                              </m:sub>
                            </m:sSub>
                          </m:e>
                        </m:d>
                      </m:oMath>
                    </m:oMathPara>
                  </a14:m>
                  <a:endParaRPr lang="en-US" sz="2400" dirty="0"/>
                </a:p>
              </p:txBody>
            </p:sp>
          </mc:Choice>
          <mc:Fallback>
            <p:sp>
              <p:nvSpPr>
                <p:cNvPr id="2" name="TextBox 1">
                  <a:extLst>
                    <a:ext uri="{FF2B5EF4-FFF2-40B4-BE49-F238E27FC236}">
                      <a16:creationId xmlns:a16="http://schemas.microsoft.com/office/drawing/2014/main" id="{AF0E8516-655B-D12B-4BFE-1FAF03411FB4}"/>
                    </a:ext>
                  </a:extLst>
                </p:cNvPr>
                <p:cNvSpPr txBox="1">
                  <a:spLocks noRot="1" noChangeAspect="1" noMove="1" noResize="1" noEditPoints="1" noAdjustHandles="1" noChangeArrowheads="1" noChangeShapeType="1" noTextEdit="1"/>
                </p:cNvSpPr>
                <p:nvPr/>
              </p:nvSpPr>
              <p:spPr>
                <a:xfrm>
                  <a:off x="466735" y="292294"/>
                  <a:ext cx="3116558" cy="461665"/>
                </a:xfrm>
                <a:prstGeom prst="rect">
                  <a:avLst/>
                </a:prstGeom>
                <a:blipFill>
                  <a:blip r:embed="rId2"/>
                  <a:stretch>
                    <a:fillRect b="-17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6C04F13-33D6-66C9-7EFF-222A2BD21C8F}"/>
                    </a:ext>
                  </a:extLst>
                </p:cNvPr>
                <p:cNvSpPr txBox="1"/>
                <p:nvPr/>
              </p:nvSpPr>
              <p:spPr>
                <a:xfrm>
                  <a:off x="466735" y="847213"/>
                  <a:ext cx="3116558"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𝜙</m:t>
                                </m:r>
                              </m:e>
                            </m:acc>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1</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1</m:t>
                                </m:r>
                              </m:sub>
                            </m:sSub>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2</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2</m:t>
                                </m:r>
                              </m:sub>
                            </m:sSub>
                          </m:e>
                        </m:d>
                      </m:oMath>
                    </m:oMathPara>
                  </a14:m>
                  <a:endParaRPr lang="en-US" sz="2400" dirty="0"/>
                </a:p>
              </p:txBody>
            </p:sp>
          </mc:Choice>
          <mc:Fallback>
            <p:sp>
              <p:nvSpPr>
                <p:cNvPr id="4" name="TextBox 3">
                  <a:extLst>
                    <a:ext uri="{FF2B5EF4-FFF2-40B4-BE49-F238E27FC236}">
                      <a16:creationId xmlns:a16="http://schemas.microsoft.com/office/drawing/2014/main" id="{E6C04F13-33D6-66C9-7EFF-222A2BD21C8F}"/>
                    </a:ext>
                  </a:extLst>
                </p:cNvPr>
                <p:cNvSpPr txBox="1">
                  <a:spLocks noRot="1" noChangeAspect="1" noMove="1" noResize="1" noEditPoints="1" noAdjustHandles="1" noChangeArrowheads="1" noChangeShapeType="1" noTextEdit="1"/>
                </p:cNvSpPr>
                <p:nvPr/>
              </p:nvSpPr>
              <p:spPr>
                <a:xfrm>
                  <a:off x="466735" y="847213"/>
                  <a:ext cx="3116558" cy="509178"/>
                </a:xfrm>
                <a:prstGeom prst="rect">
                  <a:avLst/>
                </a:prstGeom>
                <a:blipFill>
                  <a:blip r:embed="rId3"/>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566C465-5B08-2925-E6E4-0B3D6FEAA4CF}"/>
                  </a:ext>
                </a:extLst>
              </p:cNvPr>
              <p:cNvSpPr txBox="1"/>
              <p:nvPr/>
            </p:nvSpPr>
            <p:spPr>
              <a:xfrm>
                <a:off x="273777" y="468890"/>
                <a:ext cx="6897979"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r>
                            <a:rPr lang="en-US" sz="2400" i="1" dirty="0">
                              <a:latin typeface="Cambria Math" panose="02040503050406030204" pitchFamily="18" charset="0"/>
                            </a:rPr>
                            <m:t>𝜙</m:t>
                          </m:r>
                        </m:e>
                      </m:d>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𝜙</m:t>
                          </m:r>
                        </m:e>
                      </m:d>
                      <m:r>
                        <a:rPr lang="en-US" sz="2400" b="0" i="1" dirty="0" smtClean="0">
                          <a:latin typeface="Cambria Math" panose="02040503050406030204" pitchFamily="18" charset="0"/>
                        </a:rPr>
                        <m:t>+</m:t>
                      </m:r>
                      <m:d>
                        <m:dPr>
                          <m:begChr m:val="|"/>
                          <m:endChr m:val="⟩"/>
                          <m:ctrlPr>
                            <a:rPr lang="en-US" sz="2400" i="1" dirty="0" smtClean="0">
                              <a:latin typeface="Cambria Math" panose="02040503050406030204" pitchFamily="18" charset="0"/>
                            </a:rPr>
                          </m:ctrlPr>
                        </m:d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𝜙</m:t>
                              </m:r>
                            </m:e>
                          </m:acc>
                        </m:e>
                      </m:d>
                      <m:d>
                        <m:dPr>
                          <m:begChr m:val="⟨"/>
                          <m:endChr m:val="|"/>
                          <m:ctrlPr>
                            <a:rPr lang="en-US" sz="2400" b="0" i="1" dirty="0" smtClean="0">
                              <a:latin typeface="Cambria Math" panose="02040503050406030204" pitchFamily="18" charset="0"/>
                            </a:rPr>
                          </m:ctrlPr>
                        </m:d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𝜙</m:t>
                              </m:r>
                            </m:e>
                          </m:acc>
                        </m:e>
                      </m:d>
                      <m:r>
                        <a:rPr lang="en-US" sz="2400" b="0" i="1" dirty="0" smtClean="0">
                          <a:latin typeface="Cambria Math" panose="02040503050406030204" pitchFamily="18" charset="0"/>
                        </a:rPr>
                        <m:t>=2</m:t>
                      </m:r>
                      <m:sSup>
                        <m:sSupPr>
                          <m:ctrlPr>
                            <a:rPr lang="en-US" sz="2400" b="0" i="1" dirty="0" smtClean="0">
                              <a:latin typeface="Cambria Math" panose="02040503050406030204" pitchFamily="18" charset="0"/>
                            </a:rPr>
                          </m:ctrlPr>
                        </m:sSupPr>
                        <m:e>
                          <m:d>
                            <m:dPr>
                              <m:begChr m:val="|"/>
                              <m:endChr m:val="|"/>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1</m:t>
                                  </m:r>
                                </m:sub>
                              </m:sSub>
                            </m:e>
                          </m:d>
                        </m:e>
                        <m:sup>
                          <m:r>
                            <a:rPr lang="en-US" sz="2400" b="0" i="1" dirty="0" smtClean="0">
                              <a:latin typeface="Cambria Math" panose="02040503050406030204" pitchFamily="18" charset="0"/>
                            </a:rPr>
                            <m:t>2</m:t>
                          </m:r>
                        </m:sup>
                      </m:sSup>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1" dirty="0">
                                  <a:latin typeface="Cambria Math" panose="02040503050406030204" pitchFamily="18" charset="0"/>
                                </a:rPr>
                                <m:t>1</m:t>
                              </m:r>
                            </m:sub>
                          </m:sSub>
                        </m:e>
                      </m:d>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1" dirty="0">
                                  <a:latin typeface="Cambria Math" panose="02040503050406030204" pitchFamily="18" charset="0"/>
                                </a:rPr>
                                <m:t>1</m:t>
                              </m:r>
                            </m:sub>
                          </m:sSub>
                        </m:e>
                      </m:d>
                      <m:r>
                        <a:rPr lang="en-US" sz="2400" i="1" dirty="0">
                          <a:latin typeface="Cambria Math" panose="02040503050406030204" pitchFamily="18" charset="0"/>
                        </a:rPr>
                        <m:t>+2</m:t>
                      </m:r>
                      <m:sSup>
                        <m:sSupPr>
                          <m:ctrlPr>
                            <a:rPr lang="en-US" sz="2400" i="1" dirty="0">
                              <a:latin typeface="Cambria Math" panose="02040503050406030204" pitchFamily="18" charset="0"/>
                            </a:rPr>
                          </m:ctrlPr>
                        </m:sSupPr>
                        <m:e>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𝑐</m:t>
                                  </m:r>
                                </m:e>
                                <m:sub>
                                  <m:r>
                                    <a:rPr lang="en-US" sz="2400" b="0" i="1" dirty="0" smtClean="0">
                                      <a:latin typeface="Cambria Math" panose="02040503050406030204" pitchFamily="18" charset="0"/>
                                    </a:rPr>
                                    <m:t>2</m:t>
                                  </m:r>
                                </m:sub>
                              </m:sSub>
                            </m:e>
                          </m:d>
                        </m:e>
                        <m:sup>
                          <m:r>
                            <a:rPr lang="en-US" sz="2400" i="1" dirty="0">
                              <a:latin typeface="Cambria Math" panose="02040503050406030204" pitchFamily="18" charset="0"/>
                            </a:rPr>
                            <m:t>2</m:t>
                          </m:r>
                        </m:sup>
                      </m:sSup>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b="0" i="1" dirty="0" smtClean="0">
                                  <a:latin typeface="Cambria Math" panose="02040503050406030204" pitchFamily="18" charset="0"/>
                                </a:rPr>
                                <m:t>2</m:t>
                              </m:r>
                            </m:sub>
                          </m:sSub>
                        </m:e>
                      </m:d>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b="0" i="1" dirty="0" smtClean="0">
                                  <a:latin typeface="Cambria Math" panose="02040503050406030204" pitchFamily="18" charset="0"/>
                                </a:rPr>
                                <m:t>2</m:t>
                              </m:r>
                            </m:sub>
                          </m:sSub>
                        </m:e>
                      </m:d>
                    </m:oMath>
                  </m:oMathPara>
                </a14:m>
                <a:endParaRPr lang="en-US" sz="2400" dirty="0"/>
              </a:p>
            </p:txBody>
          </p:sp>
        </mc:Choice>
        <mc:Fallback>
          <p:sp>
            <p:nvSpPr>
              <p:cNvPr id="7" name="TextBox 6">
                <a:extLst>
                  <a:ext uri="{FF2B5EF4-FFF2-40B4-BE49-F238E27FC236}">
                    <a16:creationId xmlns:a16="http://schemas.microsoft.com/office/drawing/2014/main" id="{F566C465-5B08-2925-E6E4-0B3D6FEAA4CF}"/>
                  </a:ext>
                </a:extLst>
              </p:cNvPr>
              <p:cNvSpPr txBox="1">
                <a:spLocks noRot="1" noChangeAspect="1" noMove="1" noResize="1" noEditPoints="1" noAdjustHandles="1" noChangeArrowheads="1" noChangeShapeType="1" noTextEdit="1"/>
              </p:cNvSpPr>
              <p:nvPr/>
            </p:nvSpPr>
            <p:spPr>
              <a:xfrm>
                <a:off x="273777" y="468890"/>
                <a:ext cx="6897979" cy="50917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D2E24C4-2532-2E55-2E31-89F38C17F7D5}"/>
                  </a:ext>
                </a:extLst>
              </p:cNvPr>
              <p:cNvSpPr txBox="1"/>
              <p:nvPr/>
            </p:nvSpPr>
            <p:spPr>
              <a:xfrm>
                <a:off x="430020" y="1514277"/>
                <a:ext cx="3776354" cy="12116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𝑝</m:t>
                          </m:r>
                        </m:e>
                        <m:sub>
                          <m:r>
                            <a:rPr lang="en-US" sz="3200" b="0" i="1" dirty="0" smtClean="0">
                              <a:latin typeface="Cambria Math" panose="02040503050406030204" pitchFamily="18" charset="0"/>
                            </a:rPr>
                            <m:t>𝜙</m:t>
                          </m:r>
                        </m:sub>
                      </m:sSub>
                      <m:r>
                        <a:rPr lang="en-US" sz="3200" b="0" i="1" dirty="0" smtClean="0">
                          <a:latin typeface="Cambria Math" panose="02040503050406030204" pitchFamily="18" charset="0"/>
                        </a:rPr>
                        <m:t>=</m:t>
                      </m:r>
                      <m:f>
                        <m:fPr>
                          <m:ctrlPr>
                            <a:rPr lang="en-US" sz="3200" b="0" i="1" dirty="0" smtClean="0">
                              <a:latin typeface="Cambria Math" panose="02040503050406030204" pitchFamily="18" charset="0"/>
                            </a:rPr>
                          </m:ctrlPr>
                        </m:fPr>
                        <m:num>
                          <m:d>
                            <m:dPr>
                              <m:begChr m:val="⟨"/>
                              <m:endChr m:val="⟩"/>
                              <m:ctrlPr>
                                <a:rPr lang="en-US" sz="3200" b="0" i="1" dirty="0" smtClean="0">
                                  <a:latin typeface="Cambria Math" panose="02040503050406030204" pitchFamily="18" charset="0"/>
                                </a:rPr>
                              </m:ctrlPr>
                            </m:dPr>
                            <m:e>
                              <m:r>
                                <a:rPr lang="en-US" sz="3200" b="0" i="1" dirty="0" smtClean="0">
                                  <a:latin typeface="Cambria Math" panose="02040503050406030204" pitchFamily="18" charset="0"/>
                                </a:rPr>
                                <m:t>𝜙</m:t>
                              </m:r>
                            </m:e>
                            <m:e>
                              <m:r>
                                <a:rPr lang="en-US" sz="3200" b="0" i="1" dirty="0" smtClean="0">
                                  <a:latin typeface="Cambria Math" panose="02040503050406030204" pitchFamily="18" charset="0"/>
                                </a:rPr>
                                <m:t>𝜙</m:t>
                              </m:r>
                            </m:e>
                          </m:d>
                        </m:num>
                        <m:den>
                          <m:d>
                            <m:dPr>
                              <m:begChr m:val="⟨"/>
                              <m:endChr m:val="⟩"/>
                              <m:ctrlPr>
                                <a:rPr lang="en-US" sz="3200" i="1" dirty="0">
                                  <a:latin typeface="Cambria Math" panose="02040503050406030204" pitchFamily="18" charset="0"/>
                                </a:rPr>
                              </m:ctrlPr>
                            </m:dPr>
                            <m:e>
                              <m:r>
                                <a:rPr lang="en-US" sz="3200" i="1" dirty="0">
                                  <a:latin typeface="Cambria Math" panose="02040503050406030204" pitchFamily="18" charset="0"/>
                                </a:rPr>
                                <m:t>𝜙</m:t>
                              </m:r>
                            </m:e>
                            <m:e>
                              <m:r>
                                <a:rPr lang="en-US" sz="3200" i="1" dirty="0">
                                  <a:latin typeface="Cambria Math" panose="02040503050406030204" pitchFamily="18" charset="0"/>
                                </a:rPr>
                                <m:t>𝜙</m:t>
                              </m:r>
                            </m:e>
                          </m:d>
                          <m:r>
                            <a:rPr lang="en-US" sz="3200" b="0" i="1" dirty="0" smtClean="0">
                              <a:latin typeface="Cambria Math" panose="02040503050406030204" pitchFamily="18" charset="0"/>
                            </a:rPr>
                            <m:t>+</m:t>
                          </m:r>
                          <m:d>
                            <m:dPr>
                              <m:begChr m:val="⟨"/>
                              <m:endChr m:val="⟩"/>
                              <m:ctrlPr>
                                <a:rPr lang="en-US" sz="3200" i="1" dirty="0">
                                  <a:latin typeface="Cambria Math" panose="02040503050406030204" pitchFamily="18" charset="0"/>
                                </a:rPr>
                              </m:ctrlPr>
                            </m:dPr>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d>
                        </m:den>
                      </m:f>
                    </m:oMath>
                  </m:oMathPara>
                </a14:m>
                <a:endParaRPr lang="en-US" sz="3200" dirty="0"/>
              </a:p>
            </p:txBody>
          </p:sp>
        </mc:Choice>
        <mc:Fallback>
          <p:sp>
            <p:nvSpPr>
              <p:cNvPr id="8" name="TextBox 7">
                <a:extLst>
                  <a:ext uri="{FF2B5EF4-FFF2-40B4-BE49-F238E27FC236}">
                    <a16:creationId xmlns:a16="http://schemas.microsoft.com/office/drawing/2014/main" id="{7D2E24C4-2532-2E55-2E31-89F38C17F7D5}"/>
                  </a:ext>
                </a:extLst>
              </p:cNvPr>
              <p:cNvSpPr txBox="1">
                <a:spLocks noRot="1" noChangeAspect="1" noMove="1" noResize="1" noEditPoints="1" noAdjustHandles="1" noChangeArrowheads="1" noChangeShapeType="1" noTextEdit="1"/>
              </p:cNvSpPr>
              <p:nvPr/>
            </p:nvSpPr>
            <p:spPr>
              <a:xfrm>
                <a:off x="430020" y="1514277"/>
                <a:ext cx="3776354" cy="121167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D684E1A-F615-AFE8-7BDE-6039322F5BF0}"/>
                  </a:ext>
                </a:extLst>
              </p:cNvPr>
              <p:cNvSpPr txBox="1"/>
              <p:nvPr/>
            </p:nvSpPr>
            <p:spPr>
              <a:xfrm>
                <a:off x="4588823" y="1417071"/>
                <a:ext cx="3789371" cy="13088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𝑝</m:t>
                          </m:r>
                        </m:e>
                        <m:sub>
                          <m:acc>
                            <m:accPr>
                              <m:chr m:val="̂"/>
                              <m:ctrlPr>
                                <a:rPr lang="en-US" sz="3200" b="0" i="1" dirty="0" smtClean="0">
                                  <a:latin typeface="Cambria Math" panose="02040503050406030204" pitchFamily="18" charset="0"/>
                                </a:rPr>
                              </m:ctrlPr>
                            </m:accPr>
                            <m:e>
                              <m:r>
                                <a:rPr lang="en-US" sz="3200" b="0" i="1" dirty="0" smtClean="0">
                                  <a:latin typeface="Cambria Math" panose="02040503050406030204" pitchFamily="18" charset="0"/>
                                </a:rPr>
                                <m:t>𝜙</m:t>
                              </m:r>
                            </m:e>
                          </m:acc>
                        </m:sub>
                      </m:sSub>
                      <m:r>
                        <a:rPr lang="en-US" sz="3200" b="0" i="1" dirty="0" smtClean="0">
                          <a:latin typeface="Cambria Math" panose="02040503050406030204" pitchFamily="18" charset="0"/>
                        </a:rPr>
                        <m:t>=</m:t>
                      </m:r>
                      <m:f>
                        <m:fPr>
                          <m:ctrlPr>
                            <a:rPr lang="en-US" sz="3200" b="0" i="1" dirty="0" smtClean="0">
                              <a:latin typeface="Cambria Math" panose="02040503050406030204" pitchFamily="18" charset="0"/>
                            </a:rPr>
                          </m:ctrlPr>
                        </m:fPr>
                        <m:num>
                          <m:d>
                            <m:dPr>
                              <m:begChr m:val="⟨"/>
                              <m:endChr m:val="⟩"/>
                              <m:ctrlPr>
                                <a:rPr lang="en-US" sz="3200" b="0" i="1" dirty="0" smtClean="0">
                                  <a:latin typeface="Cambria Math" panose="02040503050406030204" pitchFamily="18" charset="0"/>
                                </a:rPr>
                              </m:ctrlPr>
                            </m:dPr>
                            <m:e>
                              <m:acc>
                                <m:accPr>
                                  <m:chr m:val="̂"/>
                                  <m:ctrlPr>
                                    <a:rPr lang="en-US" sz="3200" b="0" i="1" dirty="0" smtClean="0">
                                      <a:latin typeface="Cambria Math" panose="02040503050406030204" pitchFamily="18" charset="0"/>
                                    </a:rPr>
                                  </m:ctrlPr>
                                </m:accPr>
                                <m:e>
                                  <m:r>
                                    <a:rPr lang="en-US" sz="3200" b="0" i="1" dirty="0" smtClean="0">
                                      <a:latin typeface="Cambria Math" panose="02040503050406030204" pitchFamily="18" charset="0"/>
                                    </a:rPr>
                                    <m:t>𝜙</m:t>
                                  </m:r>
                                </m:e>
                              </m:acc>
                            </m:e>
                            <m:e>
                              <m:acc>
                                <m:accPr>
                                  <m:chr m:val="̂"/>
                                  <m:ctrlPr>
                                    <a:rPr lang="en-US" sz="3200" b="0" i="1" dirty="0" smtClean="0">
                                      <a:latin typeface="Cambria Math" panose="02040503050406030204" pitchFamily="18" charset="0"/>
                                    </a:rPr>
                                  </m:ctrlPr>
                                </m:accPr>
                                <m:e>
                                  <m:r>
                                    <a:rPr lang="en-US" sz="3200" b="0" i="1" dirty="0" smtClean="0">
                                      <a:latin typeface="Cambria Math" panose="02040503050406030204" pitchFamily="18" charset="0"/>
                                    </a:rPr>
                                    <m:t>𝜙</m:t>
                                  </m:r>
                                </m:e>
                              </m:acc>
                            </m:e>
                          </m:d>
                        </m:num>
                        <m:den>
                          <m:d>
                            <m:dPr>
                              <m:begChr m:val="⟨"/>
                              <m:endChr m:val="⟩"/>
                              <m:ctrlPr>
                                <a:rPr lang="en-US" sz="3200" i="1" dirty="0">
                                  <a:latin typeface="Cambria Math" panose="02040503050406030204" pitchFamily="18" charset="0"/>
                                </a:rPr>
                              </m:ctrlPr>
                            </m:dPr>
                            <m:e>
                              <m:r>
                                <a:rPr lang="en-US" sz="3200" i="1" dirty="0">
                                  <a:latin typeface="Cambria Math" panose="02040503050406030204" pitchFamily="18" charset="0"/>
                                </a:rPr>
                                <m:t>𝜙</m:t>
                              </m:r>
                            </m:e>
                            <m:e>
                              <m:r>
                                <a:rPr lang="en-US" sz="3200" i="1" dirty="0">
                                  <a:latin typeface="Cambria Math" panose="02040503050406030204" pitchFamily="18" charset="0"/>
                                </a:rPr>
                                <m:t>𝜙</m:t>
                              </m:r>
                            </m:e>
                          </m:d>
                          <m:r>
                            <a:rPr lang="en-US" sz="3200" b="0" i="1" dirty="0" smtClean="0">
                              <a:latin typeface="Cambria Math" panose="02040503050406030204" pitchFamily="18" charset="0"/>
                            </a:rPr>
                            <m:t>+</m:t>
                          </m:r>
                          <m:d>
                            <m:dPr>
                              <m:begChr m:val="⟨"/>
                              <m:endChr m:val="⟩"/>
                              <m:ctrlPr>
                                <a:rPr lang="en-US" sz="3200" i="1" dirty="0">
                                  <a:latin typeface="Cambria Math" panose="02040503050406030204" pitchFamily="18" charset="0"/>
                                </a:rPr>
                              </m:ctrlPr>
                            </m:dPr>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d>
                        </m:den>
                      </m:f>
                    </m:oMath>
                  </m:oMathPara>
                </a14:m>
                <a:endParaRPr lang="en-US" sz="3200" dirty="0"/>
              </a:p>
            </p:txBody>
          </p:sp>
        </mc:Choice>
        <mc:Fallback>
          <p:sp>
            <p:nvSpPr>
              <p:cNvPr id="9" name="TextBox 8">
                <a:extLst>
                  <a:ext uri="{FF2B5EF4-FFF2-40B4-BE49-F238E27FC236}">
                    <a16:creationId xmlns:a16="http://schemas.microsoft.com/office/drawing/2014/main" id="{BD684E1A-F615-AFE8-7BDE-6039322F5BF0}"/>
                  </a:ext>
                </a:extLst>
              </p:cNvPr>
              <p:cNvSpPr txBox="1">
                <a:spLocks noRot="1" noChangeAspect="1" noMove="1" noResize="1" noEditPoints="1" noAdjustHandles="1" noChangeArrowheads="1" noChangeShapeType="1" noTextEdit="1"/>
              </p:cNvSpPr>
              <p:nvPr/>
            </p:nvSpPr>
            <p:spPr>
              <a:xfrm>
                <a:off x="4588823" y="1417071"/>
                <a:ext cx="3789371" cy="130888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0EBE9BA-EC3D-B228-AE76-11BE45167054}"/>
                  </a:ext>
                </a:extLst>
              </p:cNvPr>
              <p:cNvSpPr txBox="1"/>
              <p:nvPr/>
            </p:nvSpPr>
            <p:spPr>
              <a:xfrm>
                <a:off x="502027" y="3024053"/>
                <a:ext cx="3704347" cy="12467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𝑝</m:t>
                          </m:r>
                        </m:e>
                        <m:sub>
                          <m:r>
                            <a:rPr lang="en-US" sz="3200" b="0" i="1" dirty="0" smtClean="0">
                              <a:latin typeface="Cambria Math" panose="02040503050406030204" pitchFamily="18" charset="0"/>
                            </a:rPr>
                            <m:t>1</m:t>
                          </m:r>
                        </m:sub>
                      </m:sSub>
                      <m:r>
                        <a:rPr lang="en-US" sz="3200" b="0" i="1" dirty="0" smtClean="0">
                          <a:latin typeface="Cambria Math" panose="02040503050406030204" pitchFamily="18" charset="0"/>
                        </a:rPr>
                        <m:t>=</m:t>
                      </m:r>
                      <m:f>
                        <m:fPr>
                          <m:ctrlPr>
                            <a:rPr lang="en-US" sz="3200" b="0" i="1" dirty="0" smtClean="0">
                              <a:latin typeface="Cambria Math" panose="02040503050406030204" pitchFamily="18" charset="0"/>
                            </a:rPr>
                          </m:ctrlPr>
                        </m:fPr>
                        <m:num>
                          <m:r>
                            <a:rPr lang="en-US" sz="3200" b="0" i="1" dirty="0" smtClean="0">
                              <a:latin typeface="Cambria Math" panose="02040503050406030204" pitchFamily="18" charset="0"/>
                            </a:rPr>
                            <m:t>2</m:t>
                          </m:r>
                          <m:sSup>
                            <m:sSupPr>
                              <m:ctrlPr>
                                <a:rPr lang="en-US" sz="3200" b="0" i="1" dirty="0" smtClean="0">
                                  <a:latin typeface="Cambria Math" panose="02040503050406030204" pitchFamily="18" charset="0"/>
                                </a:rPr>
                              </m:ctrlPr>
                            </m:sSupPr>
                            <m:e>
                              <m:d>
                                <m:dPr>
                                  <m:begChr m:val="|"/>
                                  <m:endChr m:val="|"/>
                                  <m:ctrlPr>
                                    <a:rPr lang="en-US" sz="3200" b="0" i="1" dirty="0" smtClean="0">
                                      <a:latin typeface="Cambria Math" panose="02040503050406030204" pitchFamily="18" charset="0"/>
                                    </a:rPr>
                                  </m:ctrlPr>
                                </m:dPr>
                                <m:e>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𝑐</m:t>
                                      </m:r>
                                    </m:e>
                                    <m:sub>
                                      <m:r>
                                        <a:rPr lang="en-US" sz="3200" b="0" i="1" dirty="0" smtClean="0">
                                          <a:latin typeface="Cambria Math" panose="02040503050406030204" pitchFamily="18" charset="0"/>
                                        </a:rPr>
                                        <m:t>1</m:t>
                                      </m:r>
                                    </m:sub>
                                  </m:sSub>
                                </m:e>
                              </m:d>
                            </m:e>
                            <m:sup>
                              <m:r>
                                <a:rPr lang="en-US" sz="3200" b="0" i="1" dirty="0" smtClean="0">
                                  <a:latin typeface="Cambria Math" panose="02040503050406030204" pitchFamily="18" charset="0"/>
                                </a:rPr>
                                <m:t>2</m:t>
                              </m:r>
                            </m:sup>
                          </m:sSup>
                          <m:d>
                            <m:dPr>
                              <m:begChr m:val="⟨"/>
                              <m:endChr m:val="⟩"/>
                              <m:ctrlPr>
                                <a:rPr lang="en-US" sz="3200" b="0" i="1" dirty="0" smtClean="0">
                                  <a:latin typeface="Cambria Math" panose="02040503050406030204" pitchFamily="18" charset="0"/>
                                </a:rPr>
                              </m:ctrlPr>
                            </m:dPr>
                            <m:e>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𝜓</m:t>
                                  </m:r>
                                </m:e>
                                <m:sub>
                                  <m:r>
                                    <a:rPr lang="en-US" sz="3200" b="0" i="1" dirty="0" smtClean="0">
                                      <a:latin typeface="Cambria Math" panose="02040503050406030204" pitchFamily="18" charset="0"/>
                                    </a:rPr>
                                    <m:t>1</m:t>
                                  </m:r>
                                </m:sub>
                              </m:sSub>
                            </m:e>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𝜓</m:t>
                                  </m:r>
                                </m:e>
                                <m:sub>
                                  <m:r>
                                    <a:rPr lang="en-US" sz="3200" i="1" dirty="0">
                                      <a:latin typeface="Cambria Math" panose="02040503050406030204" pitchFamily="18" charset="0"/>
                                    </a:rPr>
                                    <m:t>1</m:t>
                                  </m:r>
                                </m:sub>
                              </m:sSub>
                            </m:e>
                          </m:d>
                        </m:num>
                        <m:den>
                          <m:d>
                            <m:dPr>
                              <m:begChr m:val="⟨"/>
                              <m:endChr m:val="⟩"/>
                              <m:ctrlPr>
                                <a:rPr lang="en-US" sz="3200" i="1" dirty="0">
                                  <a:latin typeface="Cambria Math" panose="02040503050406030204" pitchFamily="18" charset="0"/>
                                </a:rPr>
                              </m:ctrlPr>
                            </m:dPr>
                            <m:e>
                              <m:r>
                                <a:rPr lang="en-US" sz="3200" i="1" dirty="0">
                                  <a:latin typeface="Cambria Math" panose="02040503050406030204" pitchFamily="18" charset="0"/>
                                </a:rPr>
                                <m:t>𝜙</m:t>
                              </m:r>
                            </m:e>
                            <m:e>
                              <m:r>
                                <a:rPr lang="en-US" sz="3200" i="1" dirty="0">
                                  <a:latin typeface="Cambria Math" panose="02040503050406030204" pitchFamily="18" charset="0"/>
                                </a:rPr>
                                <m:t>𝜙</m:t>
                              </m:r>
                            </m:e>
                          </m:d>
                          <m:r>
                            <a:rPr lang="en-US" sz="3200" b="0" i="1" dirty="0" smtClean="0">
                              <a:latin typeface="Cambria Math" panose="02040503050406030204" pitchFamily="18" charset="0"/>
                            </a:rPr>
                            <m:t>+</m:t>
                          </m:r>
                          <m:d>
                            <m:dPr>
                              <m:begChr m:val="⟨"/>
                              <m:endChr m:val="⟩"/>
                              <m:ctrlPr>
                                <a:rPr lang="en-US" sz="3200" i="1" dirty="0">
                                  <a:latin typeface="Cambria Math" panose="02040503050406030204" pitchFamily="18" charset="0"/>
                                </a:rPr>
                              </m:ctrlPr>
                            </m:dPr>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d>
                        </m:den>
                      </m:f>
                    </m:oMath>
                  </m:oMathPara>
                </a14:m>
                <a:endParaRPr lang="en-US" sz="3200" dirty="0"/>
              </a:p>
            </p:txBody>
          </p:sp>
        </mc:Choice>
        <mc:Fallback>
          <p:sp>
            <p:nvSpPr>
              <p:cNvPr id="3" name="TextBox 2">
                <a:extLst>
                  <a:ext uri="{FF2B5EF4-FFF2-40B4-BE49-F238E27FC236}">
                    <a16:creationId xmlns:a16="http://schemas.microsoft.com/office/drawing/2014/main" id="{80EBE9BA-EC3D-B228-AE76-11BE45167054}"/>
                  </a:ext>
                </a:extLst>
              </p:cNvPr>
              <p:cNvSpPr txBox="1">
                <a:spLocks noRot="1" noChangeAspect="1" noMove="1" noResize="1" noEditPoints="1" noAdjustHandles="1" noChangeArrowheads="1" noChangeShapeType="1" noTextEdit="1"/>
              </p:cNvSpPr>
              <p:nvPr/>
            </p:nvSpPr>
            <p:spPr>
              <a:xfrm>
                <a:off x="502027" y="3024053"/>
                <a:ext cx="3704347" cy="12467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C0D2B78-F8E3-662E-F351-BAE3B0DA1F1F}"/>
                  </a:ext>
                </a:extLst>
              </p:cNvPr>
              <p:cNvSpPr txBox="1"/>
              <p:nvPr/>
            </p:nvSpPr>
            <p:spPr>
              <a:xfrm>
                <a:off x="4535392" y="3024053"/>
                <a:ext cx="3801425" cy="12467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𝑝</m:t>
                          </m:r>
                        </m:e>
                        <m:sub>
                          <m:r>
                            <a:rPr lang="en-US" sz="3200" b="0" i="1" dirty="0" smtClean="0">
                              <a:latin typeface="Cambria Math" panose="02040503050406030204" pitchFamily="18" charset="0"/>
                            </a:rPr>
                            <m:t>2</m:t>
                          </m:r>
                        </m:sub>
                      </m:sSub>
                      <m:r>
                        <a:rPr lang="en-US" sz="3200" b="0" i="1" dirty="0" smtClean="0">
                          <a:latin typeface="Cambria Math" panose="02040503050406030204" pitchFamily="18" charset="0"/>
                        </a:rPr>
                        <m:t>=</m:t>
                      </m:r>
                      <m:f>
                        <m:fPr>
                          <m:ctrlPr>
                            <a:rPr lang="en-US" sz="3200" b="0" i="1" dirty="0" smtClean="0">
                              <a:latin typeface="Cambria Math" panose="02040503050406030204" pitchFamily="18" charset="0"/>
                            </a:rPr>
                          </m:ctrlPr>
                        </m:fPr>
                        <m:num>
                          <m:r>
                            <a:rPr lang="en-US" sz="3200" b="0" i="1" dirty="0" smtClean="0">
                              <a:latin typeface="Cambria Math" panose="02040503050406030204" pitchFamily="18" charset="0"/>
                            </a:rPr>
                            <m:t>2</m:t>
                          </m:r>
                          <m:sSup>
                            <m:sSupPr>
                              <m:ctrlPr>
                                <a:rPr lang="en-US" sz="3200" b="0" i="1" dirty="0" smtClean="0">
                                  <a:latin typeface="Cambria Math" panose="02040503050406030204" pitchFamily="18" charset="0"/>
                                </a:rPr>
                              </m:ctrlPr>
                            </m:sSupPr>
                            <m:e>
                              <m:d>
                                <m:dPr>
                                  <m:begChr m:val="|"/>
                                  <m:endChr m:val="|"/>
                                  <m:ctrlPr>
                                    <a:rPr lang="en-US" sz="3200" b="0" i="1" dirty="0" smtClean="0">
                                      <a:latin typeface="Cambria Math" panose="02040503050406030204" pitchFamily="18" charset="0"/>
                                    </a:rPr>
                                  </m:ctrlPr>
                                </m:dPr>
                                <m:e>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𝑐</m:t>
                                      </m:r>
                                    </m:e>
                                    <m:sub>
                                      <m:r>
                                        <a:rPr lang="en-US" sz="3200" b="0" i="1" dirty="0" smtClean="0">
                                          <a:latin typeface="Cambria Math" panose="02040503050406030204" pitchFamily="18" charset="0"/>
                                        </a:rPr>
                                        <m:t>2</m:t>
                                      </m:r>
                                    </m:sub>
                                  </m:sSub>
                                </m:e>
                              </m:d>
                            </m:e>
                            <m:sup>
                              <m:r>
                                <a:rPr lang="en-US" sz="3200" b="0" i="1" dirty="0" smtClean="0">
                                  <a:latin typeface="Cambria Math" panose="02040503050406030204" pitchFamily="18" charset="0"/>
                                </a:rPr>
                                <m:t>2</m:t>
                              </m:r>
                            </m:sup>
                          </m:sSup>
                          <m:d>
                            <m:dPr>
                              <m:begChr m:val="⟨"/>
                              <m:endChr m:val="⟩"/>
                              <m:ctrlPr>
                                <a:rPr lang="en-US" sz="3200" b="0" i="1" dirty="0" smtClean="0">
                                  <a:latin typeface="Cambria Math" panose="02040503050406030204" pitchFamily="18" charset="0"/>
                                </a:rPr>
                              </m:ctrlPr>
                            </m:dPr>
                            <m:e>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𝜓</m:t>
                                  </m:r>
                                </m:e>
                                <m:sub>
                                  <m:r>
                                    <a:rPr lang="en-US" sz="3200" b="0" i="1" dirty="0" smtClean="0">
                                      <a:latin typeface="Cambria Math" panose="02040503050406030204" pitchFamily="18" charset="0"/>
                                    </a:rPr>
                                    <m:t>2</m:t>
                                  </m:r>
                                </m:sub>
                              </m:sSub>
                            </m:e>
                            <m:e>
                              <m:sSub>
                                <m:sSubPr>
                                  <m:ctrlPr>
                                    <a:rPr lang="en-US" sz="3200" i="1" dirty="0">
                                      <a:latin typeface="Cambria Math" panose="02040503050406030204" pitchFamily="18" charset="0"/>
                                    </a:rPr>
                                  </m:ctrlPr>
                                </m:sSubPr>
                                <m:e>
                                  <m:r>
                                    <a:rPr lang="en-US" sz="3200" i="1" dirty="0">
                                      <a:latin typeface="Cambria Math" panose="02040503050406030204" pitchFamily="18" charset="0"/>
                                    </a:rPr>
                                    <m:t>𝜓</m:t>
                                  </m:r>
                                </m:e>
                                <m:sub>
                                  <m:r>
                                    <a:rPr lang="en-US" sz="3200" b="0" i="1" dirty="0" smtClean="0">
                                      <a:latin typeface="Cambria Math" panose="02040503050406030204" pitchFamily="18" charset="0"/>
                                    </a:rPr>
                                    <m:t>2</m:t>
                                  </m:r>
                                </m:sub>
                              </m:sSub>
                            </m:e>
                          </m:d>
                        </m:num>
                        <m:den>
                          <m:d>
                            <m:dPr>
                              <m:begChr m:val="⟨"/>
                              <m:endChr m:val="⟩"/>
                              <m:ctrlPr>
                                <a:rPr lang="en-US" sz="3200" i="1" dirty="0">
                                  <a:latin typeface="Cambria Math" panose="02040503050406030204" pitchFamily="18" charset="0"/>
                                </a:rPr>
                              </m:ctrlPr>
                            </m:dPr>
                            <m:e>
                              <m:r>
                                <a:rPr lang="en-US" sz="3200" i="1" dirty="0">
                                  <a:latin typeface="Cambria Math" panose="02040503050406030204" pitchFamily="18" charset="0"/>
                                </a:rPr>
                                <m:t>𝜙</m:t>
                              </m:r>
                            </m:e>
                            <m:e>
                              <m:r>
                                <a:rPr lang="en-US" sz="3200" i="1" dirty="0">
                                  <a:latin typeface="Cambria Math" panose="02040503050406030204" pitchFamily="18" charset="0"/>
                                </a:rPr>
                                <m:t>𝜙</m:t>
                              </m:r>
                            </m:e>
                          </m:d>
                          <m:r>
                            <a:rPr lang="en-US" sz="3200" b="0" i="1" dirty="0" smtClean="0">
                              <a:latin typeface="Cambria Math" panose="02040503050406030204" pitchFamily="18" charset="0"/>
                            </a:rPr>
                            <m:t>+</m:t>
                          </m:r>
                          <m:d>
                            <m:dPr>
                              <m:begChr m:val="⟨"/>
                              <m:endChr m:val="⟩"/>
                              <m:ctrlPr>
                                <a:rPr lang="en-US" sz="3200" i="1" dirty="0">
                                  <a:latin typeface="Cambria Math" panose="02040503050406030204" pitchFamily="18" charset="0"/>
                                </a:rPr>
                              </m:ctrlPr>
                            </m:dPr>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e>
                              <m:acc>
                                <m:accPr>
                                  <m:chr m:val="̂"/>
                                  <m:ctrlPr>
                                    <a:rPr lang="en-US" sz="3200" b="0" i="1" dirty="0" smtClean="0">
                                      <a:latin typeface="Cambria Math" panose="02040503050406030204" pitchFamily="18" charset="0"/>
                                    </a:rPr>
                                  </m:ctrlPr>
                                </m:accPr>
                                <m:e>
                                  <m:r>
                                    <a:rPr lang="en-US" sz="3200" i="1" dirty="0">
                                      <a:latin typeface="Cambria Math" panose="02040503050406030204" pitchFamily="18" charset="0"/>
                                    </a:rPr>
                                    <m:t>𝜙</m:t>
                                  </m:r>
                                </m:e>
                              </m:acc>
                            </m:e>
                          </m:d>
                        </m:den>
                      </m:f>
                    </m:oMath>
                  </m:oMathPara>
                </a14:m>
                <a:endParaRPr lang="en-US" sz="3200" dirty="0"/>
              </a:p>
            </p:txBody>
          </p:sp>
        </mc:Choice>
        <mc:Fallback>
          <p:sp>
            <p:nvSpPr>
              <p:cNvPr id="11" name="TextBox 10">
                <a:extLst>
                  <a:ext uri="{FF2B5EF4-FFF2-40B4-BE49-F238E27FC236}">
                    <a16:creationId xmlns:a16="http://schemas.microsoft.com/office/drawing/2014/main" id="{9C0D2B78-F8E3-662E-F351-BAE3B0DA1F1F}"/>
                  </a:ext>
                </a:extLst>
              </p:cNvPr>
              <p:cNvSpPr txBox="1">
                <a:spLocks noRot="1" noChangeAspect="1" noMove="1" noResize="1" noEditPoints="1" noAdjustHandles="1" noChangeArrowheads="1" noChangeShapeType="1" noTextEdit="1"/>
              </p:cNvSpPr>
              <p:nvPr/>
            </p:nvSpPr>
            <p:spPr>
              <a:xfrm>
                <a:off x="4535392" y="3024053"/>
                <a:ext cx="3801425" cy="124675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12412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EDC72-23EA-5721-0938-65D7E3213893}"/>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D5DEBC95-84C3-0B30-7803-6E37E69BBB9A}"/>
              </a:ext>
            </a:extLst>
          </p:cNvPr>
          <p:cNvGrpSpPr/>
          <p:nvPr/>
        </p:nvGrpSpPr>
        <p:grpSpPr>
          <a:xfrm>
            <a:off x="8705854" y="315154"/>
            <a:ext cx="3116558" cy="1064097"/>
            <a:chOff x="466735" y="292294"/>
            <a:chExt cx="3116558" cy="1064097"/>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9AED4CF-F3F1-339A-A21C-0A9ED429B668}"/>
                    </a:ext>
                  </a:extLst>
                </p:cNvPr>
                <p:cNvSpPr txBox="1"/>
                <p:nvPr/>
              </p:nvSpPr>
              <p:spPr>
                <a:xfrm>
                  <a:off x="466735" y="292294"/>
                  <a:ext cx="311655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r>
                              <a:rPr lang="en-US" sz="2400" b="0" i="1" dirty="0" smtClean="0">
                                <a:latin typeface="Cambria Math" panose="02040503050406030204" pitchFamily="18" charset="0"/>
                              </a:rPr>
                              <m:t>𝜙</m:t>
                            </m:r>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1</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1</m:t>
                                </m:r>
                              </m:sub>
                            </m:sSub>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2</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2</m:t>
                                </m:r>
                              </m:sub>
                            </m:sSub>
                          </m:e>
                        </m:d>
                      </m:oMath>
                    </m:oMathPara>
                  </a14:m>
                  <a:endParaRPr lang="en-US" sz="2400" dirty="0"/>
                </a:p>
              </p:txBody>
            </p:sp>
          </mc:Choice>
          <mc:Fallback>
            <p:sp>
              <p:nvSpPr>
                <p:cNvPr id="2" name="TextBox 1">
                  <a:extLst>
                    <a:ext uri="{FF2B5EF4-FFF2-40B4-BE49-F238E27FC236}">
                      <a16:creationId xmlns:a16="http://schemas.microsoft.com/office/drawing/2014/main" id="{F9AED4CF-F3F1-339A-A21C-0A9ED429B668}"/>
                    </a:ext>
                  </a:extLst>
                </p:cNvPr>
                <p:cNvSpPr txBox="1">
                  <a:spLocks noRot="1" noChangeAspect="1" noMove="1" noResize="1" noEditPoints="1" noAdjustHandles="1" noChangeArrowheads="1" noChangeShapeType="1" noTextEdit="1"/>
                </p:cNvSpPr>
                <p:nvPr/>
              </p:nvSpPr>
              <p:spPr>
                <a:xfrm>
                  <a:off x="466735" y="292294"/>
                  <a:ext cx="3116558" cy="461665"/>
                </a:xfrm>
                <a:prstGeom prst="rect">
                  <a:avLst/>
                </a:prstGeom>
                <a:blipFill>
                  <a:blip r:embed="rId2"/>
                  <a:stretch>
                    <a:fillRect b="-17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06199F9-CC98-70E8-1034-0D912B4C2949}"/>
                    </a:ext>
                  </a:extLst>
                </p:cNvPr>
                <p:cNvSpPr txBox="1"/>
                <p:nvPr/>
              </p:nvSpPr>
              <p:spPr>
                <a:xfrm>
                  <a:off x="466735" y="847213"/>
                  <a:ext cx="3116558"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𝜙</m:t>
                                </m:r>
                              </m:e>
                            </m:acc>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1</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1</m:t>
                                </m:r>
                              </m:sub>
                            </m:sSub>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2</m:t>
                            </m:r>
                          </m:sub>
                        </m:sSub>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𝜓</m:t>
                                </m:r>
                              </m:e>
                              <m:sub>
                                <m:r>
                                  <a:rPr lang="en-US" sz="2400" b="0" i="1" dirty="0" smtClean="0">
                                    <a:latin typeface="Cambria Math" panose="02040503050406030204" pitchFamily="18" charset="0"/>
                                  </a:rPr>
                                  <m:t>2</m:t>
                                </m:r>
                              </m:sub>
                            </m:sSub>
                          </m:e>
                        </m:d>
                      </m:oMath>
                    </m:oMathPara>
                  </a14:m>
                  <a:endParaRPr lang="en-US" sz="2400" dirty="0"/>
                </a:p>
              </p:txBody>
            </p:sp>
          </mc:Choice>
          <mc:Fallback>
            <p:sp>
              <p:nvSpPr>
                <p:cNvPr id="4" name="TextBox 3">
                  <a:extLst>
                    <a:ext uri="{FF2B5EF4-FFF2-40B4-BE49-F238E27FC236}">
                      <a16:creationId xmlns:a16="http://schemas.microsoft.com/office/drawing/2014/main" id="{306199F9-CC98-70E8-1034-0D912B4C2949}"/>
                    </a:ext>
                  </a:extLst>
                </p:cNvPr>
                <p:cNvSpPr txBox="1">
                  <a:spLocks noRot="1" noChangeAspect="1" noMove="1" noResize="1" noEditPoints="1" noAdjustHandles="1" noChangeArrowheads="1" noChangeShapeType="1" noTextEdit="1"/>
                </p:cNvSpPr>
                <p:nvPr/>
              </p:nvSpPr>
              <p:spPr>
                <a:xfrm>
                  <a:off x="466735" y="847213"/>
                  <a:ext cx="3116558" cy="509178"/>
                </a:xfrm>
                <a:prstGeom prst="rect">
                  <a:avLst/>
                </a:prstGeom>
                <a:blipFill>
                  <a:blip r:embed="rId3"/>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D46BC9A-922E-DA85-D1C2-DCF298FCFA42}"/>
                  </a:ext>
                </a:extLst>
              </p:cNvPr>
              <p:cNvSpPr txBox="1"/>
              <p:nvPr/>
            </p:nvSpPr>
            <p:spPr>
              <a:xfrm>
                <a:off x="273777" y="468890"/>
                <a:ext cx="6897979"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r>
                            <a:rPr lang="en-US" sz="2400" i="1" dirty="0">
                              <a:latin typeface="Cambria Math" panose="02040503050406030204" pitchFamily="18" charset="0"/>
                            </a:rPr>
                            <m:t>𝜙</m:t>
                          </m:r>
                        </m:e>
                      </m:d>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𝜙</m:t>
                          </m:r>
                        </m:e>
                      </m:d>
                      <m:r>
                        <a:rPr lang="en-US" sz="2400" b="0" i="1" dirty="0" smtClean="0">
                          <a:latin typeface="Cambria Math" panose="02040503050406030204" pitchFamily="18" charset="0"/>
                        </a:rPr>
                        <m:t>+</m:t>
                      </m:r>
                      <m:d>
                        <m:dPr>
                          <m:begChr m:val="|"/>
                          <m:endChr m:val="⟩"/>
                          <m:ctrlPr>
                            <a:rPr lang="en-US" sz="2400" i="1" dirty="0" smtClean="0">
                              <a:latin typeface="Cambria Math" panose="02040503050406030204" pitchFamily="18" charset="0"/>
                            </a:rPr>
                          </m:ctrlPr>
                        </m:d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𝜙</m:t>
                              </m:r>
                            </m:e>
                          </m:acc>
                        </m:e>
                      </m:d>
                      <m:d>
                        <m:dPr>
                          <m:begChr m:val="⟨"/>
                          <m:endChr m:val="|"/>
                          <m:ctrlPr>
                            <a:rPr lang="en-US" sz="2400" b="0" i="1" dirty="0" smtClean="0">
                              <a:latin typeface="Cambria Math" panose="02040503050406030204" pitchFamily="18" charset="0"/>
                            </a:rPr>
                          </m:ctrlPr>
                        </m:d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𝜙</m:t>
                              </m:r>
                            </m:e>
                          </m:acc>
                        </m:e>
                      </m:d>
                      <m:r>
                        <a:rPr lang="en-US" sz="2400" b="0" i="1" dirty="0" smtClean="0">
                          <a:latin typeface="Cambria Math" panose="02040503050406030204" pitchFamily="18" charset="0"/>
                        </a:rPr>
                        <m:t>=2</m:t>
                      </m:r>
                      <m:sSup>
                        <m:sSupPr>
                          <m:ctrlPr>
                            <a:rPr lang="en-US" sz="2400" b="0" i="1" dirty="0" smtClean="0">
                              <a:latin typeface="Cambria Math" panose="02040503050406030204" pitchFamily="18" charset="0"/>
                            </a:rPr>
                          </m:ctrlPr>
                        </m:sSupPr>
                        <m:e>
                          <m:d>
                            <m:dPr>
                              <m:begChr m:val="|"/>
                              <m:endChr m:val="|"/>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1</m:t>
                                  </m:r>
                                </m:sub>
                              </m:sSub>
                            </m:e>
                          </m:d>
                        </m:e>
                        <m:sup>
                          <m:r>
                            <a:rPr lang="en-US" sz="2400" b="0" i="1" dirty="0" smtClean="0">
                              <a:latin typeface="Cambria Math" panose="02040503050406030204" pitchFamily="18" charset="0"/>
                            </a:rPr>
                            <m:t>2</m:t>
                          </m:r>
                        </m:sup>
                      </m:sSup>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1" dirty="0">
                                  <a:latin typeface="Cambria Math" panose="02040503050406030204" pitchFamily="18" charset="0"/>
                                </a:rPr>
                                <m:t>1</m:t>
                              </m:r>
                            </m:sub>
                          </m:sSub>
                        </m:e>
                      </m:d>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1" dirty="0">
                                  <a:latin typeface="Cambria Math" panose="02040503050406030204" pitchFamily="18" charset="0"/>
                                </a:rPr>
                                <m:t>1</m:t>
                              </m:r>
                            </m:sub>
                          </m:sSub>
                        </m:e>
                      </m:d>
                      <m:r>
                        <a:rPr lang="en-US" sz="2400" i="1" dirty="0">
                          <a:latin typeface="Cambria Math" panose="02040503050406030204" pitchFamily="18" charset="0"/>
                        </a:rPr>
                        <m:t>+2</m:t>
                      </m:r>
                      <m:sSup>
                        <m:sSupPr>
                          <m:ctrlPr>
                            <a:rPr lang="en-US" sz="2400" i="1" dirty="0">
                              <a:latin typeface="Cambria Math" panose="02040503050406030204" pitchFamily="18" charset="0"/>
                            </a:rPr>
                          </m:ctrlPr>
                        </m:sSupPr>
                        <m:e>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𝑐</m:t>
                                  </m:r>
                                </m:e>
                                <m:sub>
                                  <m:r>
                                    <a:rPr lang="en-US" sz="2400" b="0" i="1" dirty="0" smtClean="0">
                                      <a:latin typeface="Cambria Math" panose="02040503050406030204" pitchFamily="18" charset="0"/>
                                    </a:rPr>
                                    <m:t>2</m:t>
                                  </m:r>
                                </m:sub>
                              </m:sSub>
                            </m:e>
                          </m:d>
                        </m:e>
                        <m:sup>
                          <m:r>
                            <a:rPr lang="en-US" sz="2400" i="1" dirty="0">
                              <a:latin typeface="Cambria Math" panose="02040503050406030204" pitchFamily="18" charset="0"/>
                            </a:rPr>
                            <m:t>2</m:t>
                          </m:r>
                        </m:sup>
                      </m:sSup>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b="0" i="1" dirty="0" smtClean="0">
                                  <a:latin typeface="Cambria Math" panose="02040503050406030204" pitchFamily="18" charset="0"/>
                                </a:rPr>
                                <m:t>2</m:t>
                              </m:r>
                            </m:sub>
                          </m:sSub>
                        </m:e>
                      </m:d>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b="0" i="1" dirty="0" smtClean="0">
                                  <a:latin typeface="Cambria Math" panose="02040503050406030204" pitchFamily="18" charset="0"/>
                                </a:rPr>
                                <m:t>2</m:t>
                              </m:r>
                            </m:sub>
                          </m:sSub>
                        </m:e>
                      </m:d>
                    </m:oMath>
                  </m:oMathPara>
                </a14:m>
                <a:endParaRPr lang="en-US" sz="2400" dirty="0"/>
              </a:p>
            </p:txBody>
          </p:sp>
        </mc:Choice>
        <mc:Fallback>
          <p:sp>
            <p:nvSpPr>
              <p:cNvPr id="7" name="TextBox 6">
                <a:extLst>
                  <a:ext uri="{FF2B5EF4-FFF2-40B4-BE49-F238E27FC236}">
                    <a16:creationId xmlns:a16="http://schemas.microsoft.com/office/drawing/2014/main" id="{9D46BC9A-922E-DA85-D1C2-DCF298FCFA42}"/>
                  </a:ext>
                </a:extLst>
              </p:cNvPr>
              <p:cNvSpPr txBox="1">
                <a:spLocks noRot="1" noChangeAspect="1" noMove="1" noResize="1" noEditPoints="1" noAdjustHandles="1" noChangeArrowheads="1" noChangeShapeType="1" noTextEdit="1"/>
              </p:cNvSpPr>
              <p:nvPr/>
            </p:nvSpPr>
            <p:spPr>
              <a:xfrm>
                <a:off x="273777" y="468890"/>
                <a:ext cx="6897979" cy="50917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84E7A6B-D55B-20F2-EC94-AFCDC05F8B62}"/>
                  </a:ext>
                </a:extLst>
              </p:cNvPr>
              <p:cNvSpPr txBox="1"/>
              <p:nvPr/>
            </p:nvSpPr>
            <p:spPr>
              <a:xfrm>
                <a:off x="7463085" y="1998711"/>
                <a:ext cx="2203039" cy="7219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𝜙</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𝜙</m:t>
                              </m:r>
                            </m:e>
                            <m:e>
                              <m:r>
                                <a:rPr lang="en-US" b="0" i="1" dirty="0" smtClean="0">
                                  <a:latin typeface="Cambria Math" panose="02040503050406030204" pitchFamily="18" charset="0"/>
                                </a:rPr>
                                <m:t>𝜙</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8" name="TextBox 7">
                <a:extLst>
                  <a:ext uri="{FF2B5EF4-FFF2-40B4-BE49-F238E27FC236}">
                    <a16:creationId xmlns:a16="http://schemas.microsoft.com/office/drawing/2014/main" id="{284E7A6B-D55B-20F2-EC94-AFCDC05F8B62}"/>
                  </a:ext>
                </a:extLst>
              </p:cNvPr>
              <p:cNvSpPr txBox="1">
                <a:spLocks noRot="1" noChangeAspect="1" noMove="1" noResize="1" noEditPoints="1" noAdjustHandles="1" noChangeArrowheads="1" noChangeShapeType="1" noTextEdit="1"/>
              </p:cNvSpPr>
              <p:nvPr/>
            </p:nvSpPr>
            <p:spPr>
              <a:xfrm>
                <a:off x="7463085" y="1998711"/>
                <a:ext cx="2203039" cy="72192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D53E253-13C1-F2E6-3168-B7AE6B24838B}"/>
                  </a:ext>
                </a:extLst>
              </p:cNvPr>
              <p:cNvSpPr txBox="1"/>
              <p:nvPr/>
            </p:nvSpPr>
            <p:spPr>
              <a:xfrm>
                <a:off x="9612063" y="1980951"/>
                <a:ext cx="2210349" cy="7574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𝜙</m:t>
                              </m:r>
                            </m:e>
                          </m:acc>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𝜙</m:t>
                                  </m:r>
                                </m:e>
                              </m:acc>
                            </m:e>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𝜙</m:t>
                                  </m:r>
                                </m:e>
                              </m:acc>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9" name="TextBox 8">
                <a:extLst>
                  <a:ext uri="{FF2B5EF4-FFF2-40B4-BE49-F238E27FC236}">
                    <a16:creationId xmlns:a16="http://schemas.microsoft.com/office/drawing/2014/main" id="{5D53E253-13C1-F2E6-3168-B7AE6B24838B}"/>
                  </a:ext>
                </a:extLst>
              </p:cNvPr>
              <p:cNvSpPr txBox="1">
                <a:spLocks noRot="1" noChangeAspect="1" noMove="1" noResize="1" noEditPoints="1" noAdjustHandles="1" noChangeArrowheads="1" noChangeShapeType="1" noTextEdit="1"/>
              </p:cNvSpPr>
              <p:nvPr/>
            </p:nvSpPr>
            <p:spPr>
              <a:xfrm>
                <a:off x="9612063" y="1980951"/>
                <a:ext cx="2210349" cy="75745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13AFBA3-F2CE-1EDA-CDC4-7CF6FA843DCA}"/>
                  </a:ext>
                </a:extLst>
              </p:cNvPr>
              <p:cNvSpPr txBox="1"/>
              <p:nvPr/>
            </p:nvSpPr>
            <p:spPr>
              <a:xfrm>
                <a:off x="7489751" y="2806702"/>
                <a:ext cx="2163669" cy="7416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2</m:t>
                          </m:r>
                          <m:sSup>
                            <m:sSupPr>
                              <m:ctrlPr>
                                <a:rPr lang="en-US" b="0" i="1" dirty="0" smtClean="0">
                                  <a:latin typeface="Cambria Math" panose="02040503050406030204" pitchFamily="18" charset="0"/>
                                </a:rPr>
                              </m:ctrlPr>
                            </m:sSupPr>
                            <m:e>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𝑐</m:t>
                                      </m:r>
                                    </m:e>
                                    <m:sub>
                                      <m:r>
                                        <a:rPr lang="en-US" b="0" i="1" dirty="0" smtClean="0">
                                          <a:latin typeface="Cambria Math" panose="02040503050406030204" pitchFamily="18" charset="0"/>
                                        </a:rPr>
                                        <m:t>1</m:t>
                                      </m:r>
                                    </m:sub>
                                  </m:sSub>
                                </m:e>
                              </m:d>
                            </m:e>
                            <m:sup>
                              <m:r>
                                <a:rPr lang="en-US" b="0" i="1" dirty="0" smtClean="0">
                                  <a:latin typeface="Cambria Math" panose="02040503050406030204" pitchFamily="18" charset="0"/>
                                </a:rPr>
                                <m:t>2</m:t>
                              </m:r>
                            </m:sup>
                          </m:sSup>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𝜓</m:t>
                                  </m:r>
                                </m:e>
                                <m:sub>
                                  <m:r>
                                    <a:rPr lang="en-US" b="0" i="1" dirty="0" smtClean="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3" name="TextBox 2">
                <a:extLst>
                  <a:ext uri="{FF2B5EF4-FFF2-40B4-BE49-F238E27FC236}">
                    <a16:creationId xmlns:a16="http://schemas.microsoft.com/office/drawing/2014/main" id="{413AFBA3-F2CE-1EDA-CDC4-7CF6FA843DCA}"/>
                  </a:ext>
                </a:extLst>
              </p:cNvPr>
              <p:cNvSpPr txBox="1">
                <a:spLocks noRot="1" noChangeAspect="1" noMove="1" noResize="1" noEditPoints="1" noAdjustHandles="1" noChangeArrowheads="1" noChangeShapeType="1" noTextEdit="1"/>
              </p:cNvSpPr>
              <p:nvPr/>
            </p:nvSpPr>
            <p:spPr>
              <a:xfrm>
                <a:off x="7489751" y="2806702"/>
                <a:ext cx="2163669" cy="74167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576019D-BAA9-74A6-E8AE-742E0E862BBE}"/>
                  </a:ext>
                </a:extLst>
              </p:cNvPr>
              <p:cNvSpPr txBox="1"/>
              <p:nvPr/>
            </p:nvSpPr>
            <p:spPr>
              <a:xfrm>
                <a:off x="9653420" y="2806702"/>
                <a:ext cx="2168992" cy="7416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2</m:t>
                          </m:r>
                          <m:sSup>
                            <m:sSupPr>
                              <m:ctrlPr>
                                <a:rPr lang="en-US" b="0" i="1" dirty="0" smtClean="0">
                                  <a:latin typeface="Cambria Math" panose="02040503050406030204" pitchFamily="18" charset="0"/>
                                </a:rPr>
                              </m:ctrlPr>
                            </m:sSupPr>
                            <m:e>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𝑐</m:t>
                                      </m:r>
                                    </m:e>
                                    <m:sub>
                                      <m:r>
                                        <a:rPr lang="en-US" b="0" i="1" dirty="0" smtClean="0">
                                          <a:latin typeface="Cambria Math" panose="02040503050406030204" pitchFamily="18" charset="0"/>
                                        </a:rPr>
                                        <m:t>2</m:t>
                                      </m:r>
                                    </m:sub>
                                  </m:sSub>
                                </m:e>
                              </m:d>
                            </m:e>
                            <m:sup>
                              <m:r>
                                <a:rPr lang="en-US" b="0" i="1" dirty="0" smtClean="0">
                                  <a:latin typeface="Cambria Math" panose="02040503050406030204" pitchFamily="18" charset="0"/>
                                </a:rPr>
                                <m:t>2</m:t>
                              </m:r>
                            </m:sup>
                          </m:sSup>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𝜓</m:t>
                                  </m:r>
                                </m:e>
                                <m:sub>
                                  <m:r>
                                    <a:rPr lang="en-US" b="0" i="1" dirty="0" smtClean="0">
                                      <a:latin typeface="Cambria Math" panose="02040503050406030204" pitchFamily="18" charset="0"/>
                                    </a:rPr>
                                    <m:t>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b="0" i="1" dirty="0" smtClean="0">
                                      <a:latin typeface="Cambria Math" panose="02040503050406030204" pitchFamily="18" charset="0"/>
                                    </a:rPr>
                                    <m:t>2</m:t>
                                  </m:r>
                                </m:sub>
                              </m:sSub>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b="0" i="1" dirty="0" smtClean="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11" name="TextBox 10">
                <a:extLst>
                  <a:ext uri="{FF2B5EF4-FFF2-40B4-BE49-F238E27FC236}">
                    <a16:creationId xmlns:a16="http://schemas.microsoft.com/office/drawing/2014/main" id="{8576019D-BAA9-74A6-E8AE-742E0E862BBE}"/>
                  </a:ext>
                </a:extLst>
              </p:cNvPr>
              <p:cNvSpPr txBox="1">
                <a:spLocks noRot="1" noChangeAspect="1" noMove="1" noResize="1" noEditPoints="1" noAdjustHandles="1" noChangeArrowheads="1" noChangeShapeType="1" noTextEdit="1"/>
              </p:cNvSpPr>
              <p:nvPr/>
            </p:nvSpPr>
            <p:spPr>
              <a:xfrm>
                <a:off x="9653420" y="2806702"/>
                <a:ext cx="2168992" cy="74167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3123B08-202F-1138-C292-C421D9FD89E4}"/>
                  </a:ext>
                </a:extLst>
              </p:cNvPr>
              <p:cNvSpPr txBox="1"/>
              <p:nvPr/>
            </p:nvSpPr>
            <p:spPr>
              <a:xfrm>
                <a:off x="485385" y="1273601"/>
                <a:ext cx="3445880" cy="66159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𝜌</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𝜙</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𝜙</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𝜙</m:t>
                              </m:r>
                            </m:e>
                          </m:acc>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𝜙</m:t>
                              </m:r>
                            </m:e>
                          </m:acc>
                        </m:sub>
                      </m:sSub>
                    </m:oMath>
                  </m:oMathPara>
                </a14:m>
                <a:endParaRPr lang="en-US" sz="3200" dirty="0"/>
              </a:p>
            </p:txBody>
          </p:sp>
        </mc:Choice>
        <mc:Fallback>
          <p:sp>
            <p:nvSpPr>
              <p:cNvPr id="5" name="TextBox 4">
                <a:extLst>
                  <a:ext uri="{FF2B5EF4-FFF2-40B4-BE49-F238E27FC236}">
                    <a16:creationId xmlns:a16="http://schemas.microsoft.com/office/drawing/2014/main" id="{03123B08-202F-1138-C292-C421D9FD89E4}"/>
                  </a:ext>
                </a:extLst>
              </p:cNvPr>
              <p:cNvSpPr txBox="1">
                <a:spLocks noRot="1" noChangeAspect="1" noMove="1" noResize="1" noEditPoints="1" noAdjustHandles="1" noChangeArrowheads="1" noChangeShapeType="1" noTextEdit="1"/>
              </p:cNvSpPr>
              <p:nvPr/>
            </p:nvSpPr>
            <p:spPr>
              <a:xfrm>
                <a:off x="485385" y="1273601"/>
                <a:ext cx="3445880" cy="66159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0E09FB2-5B5D-ADC9-45CA-EB276B4F1DD7}"/>
                  </a:ext>
                </a:extLst>
              </p:cNvPr>
              <p:cNvSpPr txBox="1"/>
              <p:nvPr/>
            </p:nvSpPr>
            <p:spPr>
              <a:xfrm>
                <a:off x="713985" y="3212454"/>
                <a:ext cx="3670300" cy="70628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r>
                            <a:rPr lang="en-US" b="0" i="1" dirty="0" smtClean="0">
                              <a:latin typeface="Cambria Math" panose="02040503050406030204" pitchFamily="18" charset="0"/>
                            </a:rPr>
                            <m:t>1</m:t>
                          </m:r>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d>
                        <m:dPr>
                          <m:ctrlPr>
                            <a:rPr lang="en-US" b="0" i="1" dirty="0"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e>
                      </m:d>
                    </m:oMath>
                  </m:oMathPara>
                </a14:m>
                <a:endParaRPr lang="en-US" dirty="0"/>
              </a:p>
            </p:txBody>
          </p:sp>
        </mc:Choice>
        <mc:Fallback>
          <p:sp>
            <p:nvSpPr>
              <p:cNvPr id="6" name="TextBox 5">
                <a:extLst>
                  <a:ext uri="{FF2B5EF4-FFF2-40B4-BE49-F238E27FC236}">
                    <a16:creationId xmlns:a16="http://schemas.microsoft.com/office/drawing/2014/main" id="{E0E09FB2-5B5D-ADC9-45CA-EB276B4F1DD7}"/>
                  </a:ext>
                </a:extLst>
              </p:cNvPr>
              <p:cNvSpPr txBox="1">
                <a:spLocks noRot="1" noChangeAspect="1" noMove="1" noResize="1" noEditPoints="1" noAdjustHandles="1" noChangeArrowheads="1" noChangeShapeType="1" noTextEdit="1"/>
              </p:cNvSpPr>
              <p:nvPr/>
            </p:nvSpPr>
            <p:spPr>
              <a:xfrm>
                <a:off x="713985" y="3212454"/>
                <a:ext cx="3670300" cy="70628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5E9D4EC-C8FE-0C71-C80C-030BBD732330}"/>
                  </a:ext>
                </a:extLst>
              </p:cNvPr>
              <p:cNvSpPr txBox="1"/>
              <p:nvPr/>
            </p:nvSpPr>
            <p:spPr>
              <a:xfrm>
                <a:off x="713985" y="4197947"/>
                <a:ext cx="5298566" cy="70628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r>
                            <a:rPr lang="en-US" b="0" i="1" dirty="0" smtClean="0">
                              <a:latin typeface="Cambria Math" panose="02040503050406030204" pitchFamily="18" charset="0"/>
                            </a:rPr>
                            <m:t>1</m:t>
                          </m:r>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d>
                        <m:dPr>
                          <m:ctrlPr>
                            <a:rPr lang="en-US" b="0" i="1" dirty="0" smtClean="0">
                              <a:latin typeface="Cambria Math" panose="02040503050406030204" pitchFamily="18" charset="0"/>
                            </a:rPr>
                          </m:ctrlPr>
                        </m:dPr>
                        <m:e>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1</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2</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r>
                            <m:rPr>
                              <m:nor/>
                            </m:rPr>
                            <a:rPr lang="en-US" dirty="0"/>
                            <m:t> </m:t>
                          </m:r>
                        </m:e>
                      </m:d>
                    </m:oMath>
                  </m:oMathPara>
                </a14:m>
                <a:endParaRPr lang="en-US" dirty="0"/>
              </a:p>
            </p:txBody>
          </p:sp>
        </mc:Choice>
        <mc:Fallback>
          <p:sp>
            <p:nvSpPr>
              <p:cNvPr id="12" name="TextBox 11">
                <a:extLst>
                  <a:ext uri="{FF2B5EF4-FFF2-40B4-BE49-F238E27FC236}">
                    <a16:creationId xmlns:a16="http://schemas.microsoft.com/office/drawing/2014/main" id="{65E9D4EC-C8FE-0C71-C80C-030BBD732330}"/>
                  </a:ext>
                </a:extLst>
              </p:cNvPr>
              <p:cNvSpPr txBox="1">
                <a:spLocks noRot="1" noChangeAspect="1" noMove="1" noResize="1" noEditPoints="1" noAdjustHandles="1" noChangeArrowheads="1" noChangeShapeType="1" noTextEdit="1"/>
              </p:cNvSpPr>
              <p:nvPr/>
            </p:nvSpPr>
            <p:spPr>
              <a:xfrm>
                <a:off x="713985" y="4197947"/>
                <a:ext cx="5298566" cy="70628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6A0F0EA-71A1-D518-019F-199AF5394AC5}"/>
                  </a:ext>
                </a:extLst>
              </p:cNvPr>
              <p:cNvSpPr txBox="1"/>
              <p:nvPr/>
            </p:nvSpPr>
            <p:spPr>
              <a:xfrm>
                <a:off x="713985" y="5183441"/>
                <a:ext cx="5378652" cy="74167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1</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num>
                        <m:den>
                          <m:d>
                            <m:dPr>
                              <m:begChr m:val="⟨"/>
                              <m:endChr m:val="⟩"/>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𝜓</m:t>
                                  </m:r>
                                </m:e>
                                <m:sub>
                                  <m:r>
                                    <a:rPr lang="en-US" b="0" i="1" dirty="0" smtClean="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den>
                      </m:f>
                      <m:r>
                        <a:rPr lang="en-US" b="0" i="1" dirty="0"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b="0" i="1" dirty="0" smtClean="0">
                                          <a:latin typeface="Cambria Math" panose="02040503050406030204" pitchFamily="18" charset="0"/>
                                        </a:rPr>
                                        <m:t>2</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b="0" i="1" dirty="0" smtClean="0">
                                      <a:latin typeface="Cambria Math" panose="02040503050406030204" pitchFamily="18" charset="0"/>
                                    </a:rPr>
                                    <m:t>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b="0" i="1" dirty="0" smtClean="0">
                                      <a:latin typeface="Cambria Math" panose="02040503050406030204" pitchFamily="18" charset="0"/>
                                    </a:rPr>
                                    <m:t>2</m:t>
                                  </m:r>
                                </m:sub>
                              </m:sSub>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num>
                        <m:den>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13" name="TextBox 12">
                <a:extLst>
                  <a:ext uri="{FF2B5EF4-FFF2-40B4-BE49-F238E27FC236}">
                    <a16:creationId xmlns:a16="http://schemas.microsoft.com/office/drawing/2014/main" id="{76A0F0EA-71A1-D518-019F-199AF5394AC5}"/>
                  </a:ext>
                </a:extLst>
              </p:cNvPr>
              <p:cNvSpPr txBox="1">
                <a:spLocks noRot="1" noChangeAspect="1" noMove="1" noResize="1" noEditPoints="1" noAdjustHandles="1" noChangeArrowheads="1" noChangeShapeType="1" noTextEdit="1"/>
              </p:cNvSpPr>
              <p:nvPr/>
            </p:nvSpPr>
            <p:spPr>
              <a:xfrm>
                <a:off x="713985" y="5183441"/>
                <a:ext cx="5378652" cy="74167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4F88302-6A6A-0F3C-E26D-A4743D2094F8}"/>
                  </a:ext>
                </a:extLst>
              </p:cNvPr>
              <p:cNvSpPr txBox="1"/>
              <p:nvPr/>
            </p:nvSpPr>
            <p:spPr>
              <a:xfrm>
                <a:off x="6080760" y="5239995"/>
                <a:ext cx="3253711" cy="6285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sSub>
                        <m:sSubPr>
                          <m:ctrlPr>
                            <a:rPr lang="en-US" sz="3200" i="1">
                              <a:latin typeface="Cambria Math" panose="02040503050406030204" pitchFamily="18" charset="0"/>
                            </a:rPr>
                          </m:ctrlPr>
                        </m:sSubPr>
                        <m:e>
                          <m:r>
                            <a:rPr lang="en-US" sz="3200" i="1">
                              <a:latin typeface="Cambria Math" panose="02040503050406030204" pitchFamily="18" charset="0"/>
                            </a:rPr>
                            <m:t>𝜌</m:t>
                          </m:r>
                        </m:e>
                        <m:sub>
                          <m:sSub>
                            <m:sSubPr>
                              <m:ctrlPr>
                                <a:rPr lang="en-US" sz="3200" i="1">
                                  <a:latin typeface="Cambria Math" panose="02040503050406030204" pitchFamily="18" charset="0"/>
                                </a:rPr>
                              </m:ctrlPr>
                            </m:sSubPr>
                            <m:e>
                              <m:r>
                                <a:rPr lang="en-US" sz="3200" i="1">
                                  <a:latin typeface="Cambria Math" panose="02040503050406030204" pitchFamily="18" charset="0"/>
                                </a:rPr>
                                <m:t>𝜓</m:t>
                              </m:r>
                            </m:e>
                            <m:sub>
                              <m:r>
                                <a:rPr lang="en-US" sz="3200" i="1">
                                  <a:latin typeface="Cambria Math" panose="02040503050406030204" pitchFamily="18" charset="0"/>
                                </a:rPr>
                                <m:t>1</m:t>
                              </m:r>
                            </m:sub>
                          </m:sSub>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sSub>
                        <m:sSubPr>
                          <m:ctrlPr>
                            <a:rPr lang="en-US" sz="3200" i="1">
                              <a:latin typeface="Cambria Math" panose="02040503050406030204" pitchFamily="18" charset="0"/>
                            </a:rPr>
                          </m:ctrlPr>
                        </m:sSubPr>
                        <m:e>
                          <m:r>
                            <a:rPr lang="en-US" sz="3200" i="1">
                              <a:latin typeface="Cambria Math" panose="02040503050406030204" pitchFamily="18" charset="0"/>
                            </a:rPr>
                            <m:t>𝜌</m:t>
                          </m:r>
                        </m:e>
                        <m:sub>
                          <m:sSub>
                            <m:sSubPr>
                              <m:ctrlPr>
                                <a:rPr lang="en-US" sz="3200" i="1">
                                  <a:latin typeface="Cambria Math" panose="02040503050406030204" pitchFamily="18" charset="0"/>
                                </a:rPr>
                              </m:ctrlPr>
                            </m:sSubPr>
                            <m:e>
                              <m:r>
                                <a:rPr lang="en-US" sz="3200" i="1">
                                  <a:latin typeface="Cambria Math" panose="02040503050406030204" pitchFamily="18" charset="0"/>
                                </a:rPr>
                                <m:t>𝜓</m:t>
                              </m:r>
                            </m:e>
                            <m:sub>
                              <m:r>
                                <a:rPr lang="en-US" sz="3200" i="1">
                                  <a:latin typeface="Cambria Math" panose="02040503050406030204" pitchFamily="18" charset="0"/>
                                </a:rPr>
                                <m:t>2</m:t>
                              </m:r>
                            </m:sub>
                          </m:sSub>
                        </m:sub>
                      </m:sSub>
                    </m:oMath>
                  </m:oMathPara>
                </a14:m>
                <a:endParaRPr lang="en-US" sz="3200" dirty="0"/>
              </a:p>
            </p:txBody>
          </p:sp>
        </mc:Choice>
        <mc:Fallback>
          <p:sp>
            <p:nvSpPr>
              <p:cNvPr id="14" name="TextBox 13">
                <a:extLst>
                  <a:ext uri="{FF2B5EF4-FFF2-40B4-BE49-F238E27FC236}">
                    <a16:creationId xmlns:a16="http://schemas.microsoft.com/office/drawing/2014/main" id="{44F88302-6A6A-0F3C-E26D-A4743D2094F8}"/>
                  </a:ext>
                </a:extLst>
              </p:cNvPr>
              <p:cNvSpPr txBox="1">
                <a:spLocks noRot="1" noChangeAspect="1" noMove="1" noResize="1" noEditPoints="1" noAdjustHandles="1" noChangeArrowheads="1" noChangeShapeType="1" noTextEdit="1"/>
              </p:cNvSpPr>
              <p:nvPr/>
            </p:nvSpPr>
            <p:spPr>
              <a:xfrm>
                <a:off x="6080760" y="5239995"/>
                <a:ext cx="3253711" cy="62857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C62FB559-1202-416E-A228-9AE6FB5E513F}"/>
                  </a:ext>
                </a:extLst>
              </p:cNvPr>
              <p:cNvSpPr txBox="1"/>
              <p:nvPr/>
            </p:nvSpPr>
            <p:spPr>
              <a:xfrm>
                <a:off x="713985" y="2175794"/>
                <a:ext cx="4903202" cy="75745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den>
                      </m:f>
                      <m:r>
                        <a:rPr lang="en-US" b="0" i="1" dirty="0" smtClean="0">
                          <a:latin typeface="Cambria Math" panose="02040503050406030204" pitchFamily="18" charset="0"/>
                        </a:rPr>
                        <m:t>+</m:t>
                      </m:r>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num>
                        <m:den>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15" name="TextBox 14">
                <a:extLst>
                  <a:ext uri="{FF2B5EF4-FFF2-40B4-BE49-F238E27FC236}">
                    <a16:creationId xmlns:a16="http://schemas.microsoft.com/office/drawing/2014/main" id="{C62FB559-1202-416E-A228-9AE6FB5E513F}"/>
                  </a:ext>
                </a:extLst>
              </p:cNvPr>
              <p:cNvSpPr txBox="1">
                <a:spLocks noRot="1" noChangeAspect="1" noMove="1" noResize="1" noEditPoints="1" noAdjustHandles="1" noChangeArrowheads="1" noChangeShapeType="1" noTextEdit="1"/>
              </p:cNvSpPr>
              <p:nvPr/>
            </p:nvSpPr>
            <p:spPr>
              <a:xfrm>
                <a:off x="713985" y="2175794"/>
                <a:ext cx="4903202" cy="757451"/>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3237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B7207-6F5E-8AB5-AE8D-FF64749E6E1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0BACF8-EE9E-AB91-EB54-3D0748735546}"/>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smtClean="0">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8C0BACF8-EE9E-AB91-EB54-3D0748735546}"/>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F8EFB0F-44EE-5542-0574-5E1C70968EBD}"/>
              </a:ext>
            </a:extLst>
          </p:cNvPr>
          <p:cNvSpPr txBox="1"/>
          <p:nvPr/>
        </p:nvSpPr>
        <p:spPr>
          <a:xfrm>
            <a:off x="9998931" y="2228671"/>
            <a:ext cx="875561" cy="1200329"/>
          </a:xfrm>
          <a:prstGeom prst="rect">
            <a:avLst/>
          </a:prstGeom>
          <a:noFill/>
        </p:spPr>
        <p:txBody>
          <a:bodyPr wrap="none" rtlCol="0">
            <a:spAutoFit/>
          </a:bodyPr>
          <a:lstStyle/>
          <a:p>
            <a:r>
              <a:rPr lang="en-US" sz="7200" dirty="0">
                <a:solidFill>
                  <a:schemeClr val="accent6">
                    <a:lumMod val="75000"/>
                  </a:schemeClr>
                </a:solidFill>
              </a:rPr>
              <a:t>✓</a:t>
            </a:r>
          </a:p>
        </p:txBody>
      </p:sp>
    </p:spTree>
    <p:extLst>
      <p:ext uri="{BB962C8B-B14F-4D97-AF65-F5344CB8AC3E}">
        <p14:creationId xmlns:p14="http://schemas.microsoft.com/office/powerpoint/2010/main" val="3178377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2456-7D4A-E8BD-9609-C0A4DDF9AEA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9C8DA9B-2540-EC4F-F4D6-0F206CA66E8C}"/>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smtClean="0">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29C8DA9B-2540-EC4F-F4D6-0F206CA66E8C}"/>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spTree>
    <p:extLst>
      <p:ext uri="{BB962C8B-B14F-4D97-AF65-F5344CB8AC3E}">
        <p14:creationId xmlns:p14="http://schemas.microsoft.com/office/powerpoint/2010/main" val="3002639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E0E64-B0FB-7366-94BD-F16C0F661D3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0B4BFEB9-E96B-1373-6ACF-C160D6BBD1C1}"/>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smtClean="0">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0B4BFEB9-E96B-1373-6ACF-C160D6BBD1C1}"/>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C8617E6-2F16-608A-0D0E-25D1676D69E7}"/>
              </a:ext>
            </a:extLst>
          </p:cNvPr>
          <p:cNvSpPr txBox="1"/>
          <p:nvPr/>
        </p:nvSpPr>
        <p:spPr>
          <a:xfrm rot="1200250">
            <a:off x="693420" y="4648199"/>
            <a:ext cx="5101461" cy="830997"/>
          </a:xfrm>
          <a:prstGeom prst="rect">
            <a:avLst/>
          </a:prstGeom>
          <a:noFill/>
        </p:spPr>
        <p:txBody>
          <a:bodyPr wrap="none" rtlCol="0">
            <a:spAutoFit/>
          </a:bodyPr>
          <a:lstStyle/>
          <a:p>
            <a:r>
              <a:rPr lang="en-US" sz="4800" dirty="0"/>
              <a:t>Without calculation</a:t>
            </a:r>
          </a:p>
        </p:txBody>
      </p:sp>
    </p:spTree>
    <p:extLst>
      <p:ext uri="{BB962C8B-B14F-4D97-AF65-F5344CB8AC3E}">
        <p14:creationId xmlns:p14="http://schemas.microsoft.com/office/powerpoint/2010/main" val="2456922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04280-C17A-8B73-3807-4D9F0DBF311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B5261A0B-3744-0FDE-6460-FA12AE19FB61}"/>
                  </a:ext>
                </a:extLst>
              </p:cNvPr>
              <p:cNvSpPr txBox="1"/>
              <p:nvPr/>
            </p:nvSpPr>
            <p:spPr>
              <a:xfrm>
                <a:off x="402057" y="342900"/>
                <a:ext cx="9889502" cy="803874"/>
              </a:xfrm>
              <a:prstGeom prst="rect">
                <a:avLst/>
              </a:prstGeom>
              <a:noFill/>
            </p:spPr>
            <p:txBody>
              <a:bodyPr wrap="none" rtlCol="0">
                <a:spAutoFit/>
              </a:bodyPr>
              <a:lstStyle/>
              <a:p>
                <a:r>
                  <a:rPr lang="en-US" sz="4000" dirty="0"/>
                  <a:t>Suppose </a:t>
                </a:r>
                <a14:m>
                  <m:oMath xmlns:m="http://schemas.openxmlformats.org/officeDocument/2006/math">
                    <m:r>
                      <a:rPr lang="en-US" sz="4000" i="1">
                        <a:latin typeface="Cambria Math" panose="02040503050406030204" pitchFamily="18" charset="0"/>
                      </a:rPr>
                      <m:t>𝜌</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i="1">
                            <a:latin typeface="Cambria Math" panose="02040503050406030204" pitchFamily="18" charset="0"/>
                          </a:rPr>
                          <m:t>𝜙</m:t>
                        </m:r>
                      </m:sub>
                    </m:sSub>
                    <m:sSub>
                      <m:sSubPr>
                        <m:ctrlPr>
                          <a:rPr lang="en-US" sz="4000" i="1">
                            <a:latin typeface="Cambria Math" panose="02040503050406030204" pitchFamily="18" charset="0"/>
                          </a:rPr>
                        </m:ctrlPr>
                      </m:sSubPr>
                      <m:e>
                        <m:r>
                          <a:rPr lang="en-US" sz="4000" i="1">
                            <a:latin typeface="Cambria Math" panose="02040503050406030204" pitchFamily="18" charset="0"/>
                          </a:rPr>
                          <m:t>𝜌</m:t>
                        </m:r>
                      </m:e>
                      <m:sub>
                        <m:r>
                          <a:rPr lang="en-US" sz="4000" i="1">
                            <a:latin typeface="Cambria Math" panose="02040503050406030204" pitchFamily="18" charset="0"/>
                          </a:rPr>
                          <m:t>𝜙</m:t>
                        </m:r>
                      </m:sub>
                    </m:sSub>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acc>
                          <m:accPr>
                            <m:chr m:val="̂"/>
                            <m:ctrlPr>
                              <a:rPr lang="en-US" sz="4000" i="1">
                                <a:latin typeface="Cambria Math" panose="02040503050406030204" pitchFamily="18" charset="0"/>
                              </a:rPr>
                            </m:ctrlPr>
                          </m:accPr>
                          <m:e>
                            <m:r>
                              <a:rPr lang="en-US" sz="4000" i="1">
                                <a:latin typeface="Cambria Math" panose="02040503050406030204" pitchFamily="18" charset="0"/>
                              </a:rPr>
                              <m:t>𝜙</m:t>
                            </m:r>
                          </m:e>
                        </m:acc>
                      </m:sub>
                    </m:sSub>
                    <m:sSub>
                      <m:sSubPr>
                        <m:ctrlPr>
                          <a:rPr lang="en-US" sz="4000" i="1">
                            <a:latin typeface="Cambria Math" panose="02040503050406030204" pitchFamily="18" charset="0"/>
                          </a:rPr>
                        </m:ctrlPr>
                      </m:sSubPr>
                      <m:e>
                        <m:r>
                          <a:rPr lang="en-US" sz="4000" i="1">
                            <a:latin typeface="Cambria Math" panose="02040503050406030204" pitchFamily="18" charset="0"/>
                          </a:rPr>
                          <m:t>𝜌</m:t>
                        </m:r>
                      </m:e>
                      <m:sub>
                        <m:acc>
                          <m:accPr>
                            <m:chr m:val="̂"/>
                            <m:ctrlPr>
                              <a:rPr lang="en-US" sz="4000" i="1">
                                <a:latin typeface="Cambria Math" panose="02040503050406030204" pitchFamily="18" charset="0"/>
                              </a:rPr>
                            </m:ctrlPr>
                          </m:accPr>
                          <m:e>
                            <m:r>
                              <a:rPr lang="en-US" sz="4000" i="1">
                                <a:latin typeface="Cambria Math" panose="02040503050406030204" pitchFamily="18" charset="0"/>
                              </a:rPr>
                              <m:t>𝜙</m:t>
                            </m:r>
                          </m:e>
                        </m:acc>
                      </m:sub>
                    </m:sSub>
                    <m:r>
                      <a:rPr lang="en-US" sz="4000" b="0" i="1" smtClean="0">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i="1">
                            <a:latin typeface="Cambria Math" panose="02040503050406030204" pitchFamily="18" charset="0"/>
                          </a:rPr>
                          <m:t>1</m:t>
                        </m:r>
                      </m:sub>
                    </m:sSub>
                    <m:sSub>
                      <m:sSubPr>
                        <m:ctrlPr>
                          <a:rPr lang="en-US" sz="4000" i="1">
                            <a:latin typeface="Cambria Math" panose="02040503050406030204" pitchFamily="18" charset="0"/>
                          </a:rPr>
                        </m:ctrlPr>
                      </m:sSubPr>
                      <m:e>
                        <m:r>
                          <a:rPr lang="en-US" sz="4000" i="1">
                            <a:latin typeface="Cambria Math" panose="02040503050406030204" pitchFamily="18" charset="0"/>
                          </a:rPr>
                          <m:t>𝜌</m:t>
                        </m:r>
                      </m:e>
                      <m:sub>
                        <m:sSub>
                          <m:sSubPr>
                            <m:ctrlPr>
                              <a:rPr lang="en-US" sz="4000" i="1">
                                <a:latin typeface="Cambria Math" panose="02040503050406030204" pitchFamily="18" charset="0"/>
                              </a:rPr>
                            </m:ctrlPr>
                          </m:sSubPr>
                          <m:e>
                            <m:r>
                              <a:rPr lang="en-US" sz="4000" i="1">
                                <a:latin typeface="Cambria Math" panose="02040503050406030204" pitchFamily="18" charset="0"/>
                              </a:rPr>
                              <m:t>𝜓</m:t>
                            </m:r>
                          </m:e>
                          <m:sub>
                            <m:r>
                              <a:rPr lang="en-US" sz="4000" i="1">
                                <a:latin typeface="Cambria Math" panose="02040503050406030204" pitchFamily="18" charset="0"/>
                              </a:rPr>
                              <m:t>1</m:t>
                            </m:r>
                          </m:sub>
                        </m:sSub>
                      </m:sub>
                    </m:sSub>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i="1">
                            <a:latin typeface="Cambria Math" panose="02040503050406030204" pitchFamily="18" charset="0"/>
                          </a:rPr>
                          <m:t>2</m:t>
                        </m:r>
                      </m:sub>
                    </m:sSub>
                    <m:sSub>
                      <m:sSubPr>
                        <m:ctrlPr>
                          <a:rPr lang="en-US" sz="4000" i="1">
                            <a:latin typeface="Cambria Math" panose="02040503050406030204" pitchFamily="18" charset="0"/>
                          </a:rPr>
                        </m:ctrlPr>
                      </m:sSubPr>
                      <m:e>
                        <m:r>
                          <a:rPr lang="en-US" sz="4000" i="1">
                            <a:latin typeface="Cambria Math" panose="02040503050406030204" pitchFamily="18" charset="0"/>
                          </a:rPr>
                          <m:t>𝜌</m:t>
                        </m:r>
                      </m:e>
                      <m:sub>
                        <m:sSub>
                          <m:sSubPr>
                            <m:ctrlPr>
                              <a:rPr lang="en-US" sz="4000" i="1">
                                <a:latin typeface="Cambria Math" panose="02040503050406030204" pitchFamily="18" charset="0"/>
                              </a:rPr>
                            </m:ctrlPr>
                          </m:sSubPr>
                          <m:e>
                            <m:r>
                              <a:rPr lang="en-US" sz="4000" i="1">
                                <a:latin typeface="Cambria Math" panose="02040503050406030204" pitchFamily="18" charset="0"/>
                              </a:rPr>
                              <m:t>𝜓</m:t>
                            </m:r>
                          </m:e>
                          <m:sub>
                            <m:r>
                              <a:rPr lang="en-US" sz="4000" i="1">
                                <a:latin typeface="Cambria Math" panose="02040503050406030204" pitchFamily="18" charset="0"/>
                              </a:rPr>
                              <m:t>2</m:t>
                            </m:r>
                          </m:sub>
                        </m:sSub>
                      </m:sub>
                    </m:sSub>
                  </m:oMath>
                </a14:m>
                <a:endParaRPr lang="en-US" sz="4000" dirty="0"/>
              </a:p>
            </p:txBody>
          </p:sp>
        </mc:Choice>
        <mc:Fallback>
          <p:sp>
            <p:nvSpPr>
              <p:cNvPr id="17" name="TextBox 16">
                <a:extLst>
                  <a:ext uri="{FF2B5EF4-FFF2-40B4-BE49-F238E27FC236}">
                    <a16:creationId xmlns:a16="http://schemas.microsoft.com/office/drawing/2014/main" id="{B5261A0B-3744-0FDE-6460-FA12AE19FB61}"/>
                  </a:ext>
                </a:extLst>
              </p:cNvPr>
              <p:cNvSpPr txBox="1">
                <a:spLocks noRot="1" noChangeAspect="1" noMove="1" noResize="1" noEditPoints="1" noAdjustHandles="1" noChangeArrowheads="1" noChangeShapeType="1" noTextEdit="1"/>
              </p:cNvSpPr>
              <p:nvPr/>
            </p:nvSpPr>
            <p:spPr>
              <a:xfrm>
                <a:off x="402057" y="342900"/>
                <a:ext cx="9889502" cy="803874"/>
              </a:xfrm>
              <a:prstGeom prst="rect">
                <a:avLst/>
              </a:prstGeom>
              <a:blipFill>
                <a:blip r:embed="rId2"/>
                <a:stretch>
                  <a:fillRect l="-2219" t="-12879" b="-20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CA07D25A-7435-004F-BFAD-42624AC36866}"/>
                  </a:ext>
                </a:extLst>
              </p:cNvPr>
              <p:cNvSpPr txBox="1"/>
              <p:nvPr/>
            </p:nvSpPr>
            <p:spPr>
              <a:xfrm>
                <a:off x="402057" y="1485900"/>
                <a:ext cx="10192021" cy="461665"/>
              </a:xfrm>
              <a:prstGeom prst="rect">
                <a:avLst/>
              </a:prstGeom>
              <a:noFill/>
            </p:spPr>
            <p:txBody>
              <a:bodyPr wrap="none" rtlCol="0">
                <a:spAutoFit/>
              </a:bodyPr>
              <a:lstStyle/>
              <a:p>
                <a:r>
                  <a:rPr lang="en-US" sz="2400" dirty="0"/>
                  <a:t>Since </a:t>
                </a:r>
                <a14:m>
                  <m:oMath xmlns:m="http://schemas.openxmlformats.org/officeDocument/2006/math">
                    <m:r>
                      <a:rPr lang="en-US" sz="2400" b="0" i="1" smtClean="0">
                        <a:latin typeface="Cambria Math" panose="02040503050406030204" pitchFamily="18" charset="0"/>
                      </a:rPr>
                      <m:t>𝜌</m:t>
                    </m:r>
                  </m:oMath>
                </a14:m>
                <a:r>
                  <a:rPr lang="en-US" sz="2400" dirty="0"/>
                  <a:t> is a mixture of two pure states, it is supported by two-dimensional space</a:t>
                </a:r>
              </a:p>
            </p:txBody>
          </p:sp>
        </mc:Choice>
        <mc:Fallback>
          <p:sp>
            <p:nvSpPr>
              <p:cNvPr id="18" name="TextBox 17">
                <a:extLst>
                  <a:ext uri="{FF2B5EF4-FFF2-40B4-BE49-F238E27FC236}">
                    <a16:creationId xmlns:a16="http://schemas.microsoft.com/office/drawing/2014/main" id="{CA07D25A-7435-004F-BFAD-42624AC36866}"/>
                  </a:ext>
                </a:extLst>
              </p:cNvPr>
              <p:cNvSpPr txBox="1">
                <a:spLocks noRot="1" noChangeAspect="1" noMove="1" noResize="1" noEditPoints="1" noAdjustHandles="1" noChangeArrowheads="1" noChangeShapeType="1" noTextEdit="1"/>
              </p:cNvSpPr>
              <p:nvPr/>
            </p:nvSpPr>
            <p:spPr>
              <a:xfrm>
                <a:off x="402057" y="1485900"/>
                <a:ext cx="10192021" cy="461665"/>
              </a:xfrm>
              <a:prstGeom prst="rect">
                <a:avLst/>
              </a:prstGeom>
              <a:blipFill>
                <a:blip r:embed="rId3"/>
                <a:stretch>
                  <a:fillRect l="-957" t="-10667" b="-30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993E474-FF8B-6989-82DB-E09425492F39}"/>
                  </a:ext>
                </a:extLst>
              </p:cNvPr>
              <p:cNvSpPr txBox="1"/>
              <p:nvPr/>
            </p:nvSpPr>
            <p:spPr>
              <a:xfrm>
                <a:off x="402056" y="2179320"/>
                <a:ext cx="9141157" cy="494559"/>
              </a:xfrm>
              <a:prstGeom prst="rect">
                <a:avLst/>
              </a:prstGeom>
              <a:noFill/>
            </p:spPr>
            <p:txBody>
              <a:bodyPr wrap="none" rtlCol="0">
                <a:spAutoFit/>
              </a:bodyPr>
              <a:lstStyle/>
              <a:p>
                <a:r>
                  <a:rPr lang="en-US" sz="2400" dirty="0"/>
                  <a:t>Since </a:t>
                </a:r>
                <a14:m>
                  <m:oMath xmlns:m="http://schemas.openxmlformats.org/officeDocument/2006/math">
                    <m:r>
                      <a:rPr lang="en-US" sz="2400" b="0" i="1" smtClean="0">
                        <a:latin typeface="Cambria Math" panose="02040503050406030204" pitchFamily="18" charset="0"/>
                      </a:rPr>
                      <m:t>𝜌</m:t>
                    </m:r>
                  </m:oMath>
                </a14:m>
                <a:r>
                  <a:rPr lang="en-US" sz="2400" dirty="0"/>
                  <a:t> is a mixture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1</m:t>
                            </m:r>
                          </m:sub>
                        </m:sSub>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b="0" i="1" smtClean="0">
                                <a:latin typeface="Cambria Math" panose="02040503050406030204" pitchFamily="18" charset="0"/>
                              </a:rPr>
                              <m:t>2</m:t>
                            </m:r>
                          </m:sub>
                        </m:sSub>
                      </m:sub>
                    </m:sSub>
                  </m:oMath>
                </a14:m>
                <a:r>
                  <a:rPr lang="en-US" sz="2400" dirty="0"/>
                  <a:t>, the subspace is the span of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2</m:t>
                        </m:r>
                      </m:sub>
                    </m:sSub>
                  </m:oMath>
                </a14:m>
                <a:endParaRPr lang="en-US" sz="2400" dirty="0"/>
              </a:p>
            </p:txBody>
          </p:sp>
        </mc:Choice>
        <mc:Fallback>
          <p:sp>
            <p:nvSpPr>
              <p:cNvPr id="19" name="TextBox 18">
                <a:extLst>
                  <a:ext uri="{FF2B5EF4-FFF2-40B4-BE49-F238E27FC236}">
                    <a16:creationId xmlns:a16="http://schemas.microsoft.com/office/drawing/2014/main" id="{0993E474-FF8B-6989-82DB-E09425492F39}"/>
                  </a:ext>
                </a:extLst>
              </p:cNvPr>
              <p:cNvSpPr txBox="1">
                <a:spLocks noRot="1" noChangeAspect="1" noMove="1" noResize="1" noEditPoints="1" noAdjustHandles="1" noChangeArrowheads="1" noChangeShapeType="1" noTextEdit="1"/>
              </p:cNvSpPr>
              <p:nvPr/>
            </p:nvSpPr>
            <p:spPr>
              <a:xfrm>
                <a:off x="402056" y="2179320"/>
                <a:ext cx="9141157" cy="494559"/>
              </a:xfrm>
              <a:prstGeom prst="rect">
                <a:avLst/>
              </a:prstGeom>
              <a:blipFill>
                <a:blip r:embed="rId4"/>
                <a:stretch>
                  <a:fillRect l="-1067" t="-8642" b="-209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BD4A7272-E9CD-D435-5183-A7DC4EFE779B}"/>
                  </a:ext>
                </a:extLst>
              </p:cNvPr>
              <p:cNvSpPr txBox="1"/>
              <p:nvPr/>
            </p:nvSpPr>
            <p:spPr>
              <a:xfrm>
                <a:off x="402055" y="2872740"/>
                <a:ext cx="8610947" cy="494559"/>
              </a:xfrm>
              <a:prstGeom prst="rect">
                <a:avLst/>
              </a:prstGeom>
              <a:noFill/>
            </p:spPr>
            <p:txBody>
              <a:bodyPr wrap="none" rtlCol="0">
                <a:spAutoFit/>
              </a:bodyPr>
              <a:lstStyle/>
              <a:p>
                <a:r>
                  <a:rPr lang="en-US" sz="2400" dirty="0"/>
                  <a:t>Since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𝜙</m:t>
                        </m:r>
                      </m:sub>
                    </m:sSub>
                  </m:oMath>
                </a14:m>
                <a:r>
                  <a:rPr lang="en-US" sz="2400" dirty="0"/>
                  <a:t> is in the same subspace, </a:t>
                </a:r>
                <a14:m>
                  <m:oMath xmlns:m="http://schemas.openxmlformats.org/officeDocument/2006/math">
                    <m:r>
                      <a:rPr lang="en-US" sz="2400" b="0" i="1" smtClean="0">
                        <a:latin typeface="Cambria Math" panose="02040503050406030204" pitchFamily="18" charset="0"/>
                      </a:rPr>
                      <m:t>𝜙</m:t>
                    </m:r>
                  </m:oMath>
                </a14:m>
                <a:r>
                  <a:rPr lang="en-US" sz="2400" dirty="0"/>
                  <a:t> is a superposition of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1</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2</m:t>
                        </m:r>
                      </m:sub>
                    </m:sSub>
                  </m:oMath>
                </a14:m>
                <a:endParaRPr lang="en-US" sz="2400" dirty="0"/>
              </a:p>
            </p:txBody>
          </p:sp>
        </mc:Choice>
        <mc:Fallback>
          <p:sp>
            <p:nvSpPr>
              <p:cNvPr id="20" name="TextBox 19">
                <a:extLst>
                  <a:ext uri="{FF2B5EF4-FFF2-40B4-BE49-F238E27FC236}">
                    <a16:creationId xmlns:a16="http://schemas.microsoft.com/office/drawing/2014/main" id="{BD4A7272-E9CD-D435-5183-A7DC4EFE779B}"/>
                  </a:ext>
                </a:extLst>
              </p:cNvPr>
              <p:cNvSpPr txBox="1">
                <a:spLocks noRot="1" noChangeAspect="1" noMove="1" noResize="1" noEditPoints="1" noAdjustHandles="1" noChangeArrowheads="1" noChangeShapeType="1" noTextEdit="1"/>
              </p:cNvSpPr>
              <p:nvPr/>
            </p:nvSpPr>
            <p:spPr>
              <a:xfrm>
                <a:off x="402055" y="2872740"/>
                <a:ext cx="8610947" cy="494559"/>
              </a:xfrm>
              <a:prstGeom prst="rect">
                <a:avLst/>
              </a:prstGeom>
              <a:blipFill>
                <a:blip r:embed="rId5"/>
                <a:stretch>
                  <a:fillRect l="-1132" t="-8642" b="-22222"/>
                </a:stretch>
              </a:blipFill>
            </p:spPr>
            <p:txBody>
              <a:bodyPr/>
              <a:lstStyle/>
              <a:p>
                <a:r>
                  <a:rPr lang="en-US">
                    <a:noFill/>
                  </a:rPr>
                  <a:t> </a:t>
                </a:r>
              </a:p>
            </p:txBody>
          </p:sp>
        </mc:Fallback>
      </mc:AlternateContent>
    </p:spTree>
    <p:extLst>
      <p:ext uri="{BB962C8B-B14F-4D97-AF65-F5344CB8AC3E}">
        <p14:creationId xmlns:p14="http://schemas.microsoft.com/office/powerpoint/2010/main" val="2576751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C86CA-A824-E9DD-AA08-CB82B2A6B97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E234F8B-C436-5A1C-3532-8775A145C34F}"/>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smtClean="0">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CE234F8B-C436-5A1C-3532-8775A145C34F}"/>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C4CFDEB-4188-AA34-F95F-E18CC88041AC}"/>
              </a:ext>
            </a:extLst>
          </p:cNvPr>
          <p:cNvSpPr txBox="1"/>
          <p:nvPr/>
        </p:nvSpPr>
        <p:spPr>
          <a:xfrm>
            <a:off x="9998931" y="2228671"/>
            <a:ext cx="875561" cy="1200329"/>
          </a:xfrm>
          <a:prstGeom prst="rect">
            <a:avLst/>
          </a:prstGeom>
          <a:noFill/>
        </p:spPr>
        <p:txBody>
          <a:bodyPr wrap="none" rtlCol="0">
            <a:spAutoFit/>
          </a:bodyPr>
          <a:lstStyle/>
          <a:p>
            <a:r>
              <a:rPr lang="en-US" sz="7200" dirty="0">
                <a:solidFill>
                  <a:schemeClr val="accent6">
                    <a:lumMod val="75000"/>
                  </a:schemeClr>
                </a:solidFill>
              </a:rPr>
              <a:t>✓</a:t>
            </a:r>
          </a:p>
        </p:txBody>
      </p:sp>
    </p:spTree>
    <p:extLst>
      <p:ext uri="{BB962C8B-B14F-4D97-AF65-F5344CB8AC3E}">
        <p14:creationId xmlns:p14="http://schemas.microsoft.com/office/powerpoint/2010/main" val="3190135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A930-CED5-A816-A557-1781EBB6301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B6CBC43-7C8B-19F9-A906-8BF0765E7714}"/>
                  </a:ext>
                </a:extLst>
              </p:cNvPr>
              <p:cNvSpPr txBox="1"/>
              <p:nvPr/>
            </p:nvSpPr>
            <p:spPr>
              <a:xfrm>
                <a:off x="2261649" y="1352312"/>
                <a:ext cx="7668702" cy="3046988"/>
              </a:xfrm>
              <a:prstGeom prst="rect">
                <a:avLst/>
              </a:prstGeom>
              <a:noFill/>
            </p:spPr>
            <p:txBody>
              <a:bodyPr wrap="none" rtlCol="0">
                <a:spAutoFit/>
              </a:bodyPr>
              <a:lstStyle/>
              <a:p>
                <a:pPr algn="ctr"/>
                <a:r>
                  <a:rPr lang="en-US" sz="6000" dirty="0"/>
                  <a:t>Quantum superposition</a:t>
                </a:r>
                <a:br>
                  <a:rPr lang="en-US" sz="6000" dirty="0"/>
                </a:br>
                <a14:m>
                  <m:oMathPara xmlns:m="http://schemas.openxmlformats.org/officeDocument/2006/math">
                    <m:oMathParaPr>
                      <m:jc m:val="centerGroup"/>
                    </m:oMathParaPr>
                    <m:oMath xmlns:m="http://schemas.openxmlformats.org/officeDocument/2006/math">
                      <m:r>
                        <a:rPr lang="en-US" sz="7200" i="1">
                          <a:latin typeface="Cambria Math" panose="02040503050406030204" pitchFamily="18" charset="0"/>
                          <a:ea typeface="Cambria Math" panose="02040503050406030204" pitchFamily="18" charset="0"/>
                        </a:rPr>
                        <m:t>⇕</m:t>
                      </m:r>
                    </m:oMath>
                  </m:oMathPara>
                </a14:m>
                <a:br>
                  <a:rPr lang="en-US" sz="6000" dirty="0">
                    <a:ea typeface="Cambria Math" panose="02040503050406030204" pitchFamily="18" charset="0"/>
                  </a:rPr>
                </a:br>
                <a:r>
                  <a:rPr lang="en-US" sz="6000" dirty="0"/>
                  <a:t>Multi-decomposability</a:t>
                </a:r>
              </a:p>
            </p:txBody>
          </p:sp>
        </mc:Choice>
        <mc:Fallback>
          <p:sp>
            <p:nvSpPr>
              <p:cNvPr id="2" name="TextBox 1">
                <a:extLst>
                  <a:ext uri="{FF2B5EF4-FFF2-40B4-BE49-F238E27FC236}">
                    <a16:creationId xmlns:a16="http://schemas.microsoft.com/office/drawing/2014/main" id="{8B6CBC43-7C8B-19F9-A906-8BF0765E7714}"/>
                  </a:ext>
                </a:extLst>
              </p:cNvPr>
              <p:cNvSpPr txBox="1">
                <a:spLocks noRot="1" noChangeAspect="1" noMove="1" noResize="1" noEditPoints="1" noAdjustHandles="1" noChangeArrowheads="1" noChangeShapeType="1" noTextEdit="1"/>
              </p:cNvSpPr>
              <p:nvPr/>
            </p:nvSpPr>
            <p:spPr>
              <a:xfrm>
                <a:off x="2261649" y="1352312"/>
                <a:ext cx="7668702" cy="3046988"/>
              </a:xfrm>
              <a:prstGeom prst="rect">
                <a:avLst/>
              </a:prstGeom>
              <a:blipFill>
                <a:blip r:embed="rId2"/>
                <a:stretch>
                  <a:fillRect l="-3657" t="-6200" r="-4531" b="-1260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513C74B-3DEA-85B9-1136-280A7D6E92B1}"/>
              </a:ext>
            </a:extLst>
          </p:cNvPr>
          <p:cNvSpPr txBox="1"/>
          <p:nvPr/>
        </p:nvSpPr>
        <p:spPr>
          <a:xfrm>
            <a:off x="9998931" y="2228671"/>
            <a:ext cx="875561" cy="1200329"/>
          </a:xfrm>
          <a:prstGeom prst="rect">
            <a:avLst/>
          </a:prstGeom>
          <a:noFill/>
        </p:spPr>
        <p:txBody>
          <a:bodyPr wrap="none" rtlCol="0">
            <a:spAutoFit/>
          </a:bodyPr>
          <a:lstStyle/>
          <a:p>
            <a:r>
              <a:rPr lang="en-US" sz="7200" dirty="0">
                <a:solidFill>
                  <a:schemeClr val="accent6">
                    <a:lumMod val="75000"/>
                  </a:schemeClr>
                </a:solidFill>
              </a:rPr>
              <a:t>✓</a:t>
            </a:r>
          </a:p>
        </p:txBody>
      </p:sp>
    </p:spTree>
    <p:extLst>
      <p:ext uri="{BB962C8B-B14F-4D97-AF65-F5344CB8AC3E}">
        <p14:creationId xmlns:p14="http://schemas.microsoft.com/office/powerpoint/2010/main" val="947832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DFC4A54-ED2A-06DC-0925-6FDAE0F986DF}"/>
                  </a:ext>
                </a:extLst>
              </p:cNvPr>
              <p:cNvSpPr txBox="1"/>
              <p:nvPr/>
            </p:nvSpPr>
            <p:spPr>
              <a:xfrm>
                <a:off x="1035351" y="1440180"/>
                <a:ext cx="10121297" cy="172944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𝜙</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sSub>
                            <m:sSubPr>
                              <m:ctrlPr>
                                <a:rPr lang="en-US" sz="2800" b="0" i="1" smtClean="0">
                                  <a:latin typeface="Cambria Math" panose="02040503050406030204" pitchFamily="18" charset="0"/>
                                </a:rPr>
                              </m:ctrlPr>
                            </m:sSubPr>
                            <m:e>
                              <m:r>
                                <a:rPr lang="en-US" sz="2800" i="1">
                                  <a:latin typeface="Cambria Math" panose="02040503050406030204" pitchFamily="18" charset="0"/>
                                </a:rPr>
                                <m:t>𝑊</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b="0" i="1" smtClean="0">
                                          <a:latin typeface="Cambria Math" panose="02040503050406030204" pitchFamily="18" charset="0"/>
                                        </a:rPr>
                                        <m:t>2</m:t>
                                      </m:r>
                                    </m:sub>
                                  </m:sSub>
                                </m:e>
                              </m:d>
                            </m:e>
                            <m:sup>
                              <m:r>
                                <a:rPr lang="en-US" sz="2800" i="1">
                                  <a:latin typeface="Cambria Math" panose="02040503050406030204" pitchFamily="18" charset="0"/>
                                </a:rPr>
                                <m:t>2</m:t>
                              </m:r>
                            </m:sup>
                          </m:sSup>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r>
                                        <a:rPr lang="en-US" sz="2800" b="0" i="1" smtClean="0">
                                          <a:latin typeface="Cambria Math" panose="02040503050406030204" pitchFamily="18" charset="0"/>
                                        </a:rPr>
                                        <m:t>𝜋</m:t>
                                      </m:r>
                                      <m:r>
                                        <a:rPr lang="en-US" sz="2800" b="0" i="1" smtClean="0">
                                          <a:latin typeface="Cambria Math" panose="02040503050406030204" pitchFamily="18" charset="0"/>
                                        </a:rPr>
                                        <m:t>ℏ</m:t>
                                      </m:r>
                                    </m:e>
                                  </m:d>
                                </m:e>
                                <m:sup>
                                  <m:r>
                                    <a:rPr lang="en-US" sz="2800" b="0" i="1" smtClean="0">
                                      <a:latin typeface="Cambria Math" panose="02040503050406030204" pitchFamily="18" charset="0"/>
                                    </a:rPr>
                                    <m:t>𝑛</m:t>
                                  </m:r>
                                </m:sup>
                              </m:sSup>
                            </m:num>
                            <m:den>
                              <m:rad>
                                <m:radPr>
                                  <m:degHide m:val="on"/>
                                  <m:ctrlPr>
                                    <a:rPr lang="en-US" sz="2800" b="0" i="1" smtClean="0">
                                      <a:latin typeface="Cambria Math" panose="02040503050406030204" pitchFamily="18" charset="0"/>
                                    </a:rPr>
                                  </m:ctrlPr>
                                </m:radPr>
                                <m:deg/>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r>
                                        <a:rPr lang="en-US" sz="2800" b="0" i="1" smtClean="0">
                                          <a:latin typeface="Cambria Math" panose="02040503050406030204" pitchFamily="18" charset="0"/>
                                        </a:rPr>
                                        <m:t>𝜋</m:t>
                                      </m:r>
                                      <m:r>
                                        <a:rPr lang="en-US" sz="2800" b="0" i="1" smtClean="0">
                                          <a:latin typeface="Cambria Math" panose="02040503050406030204" pitchFamily="18" charset="0"/>
                                        </a:rPr>
                                        <m:t>ℏ</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1</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𝑑𝑧</m:t>
                                  </m:r>
                                </m:e>
                              </m:rad>
                            </m:den>
                          </m:f>
                          <m:r>
                            <m:rPr>
                              <m:sty m:val="p"/>
                            </m:rPr>
                            <a:rPr lang="en-US" sz="2800" b="0" i="1" smtClean="0">
                              <a:latin typeface="Cambria Math" panose="02040503050406030204" pitchFamily="18" charset="0"/>
                            </a:rPr>
                            <m:t>Re</m:t>
                          </m:r>
                          <m:d>
                            <m:dPr>
                              <m:begChr m:val="["/>
                              <m:endChr m:val="]"/>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1</m:t>
                                  </m:r>
                                </m:sub>
                              </m:sSub>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𝑐</m:t>
                                  </m:r>
                                </m:e>
                                <m:sub>
                                  <m:r>
                                    <a:rPr lang="en-US" sz="2800" b="0" i="1" smtClean="0">
                                      <a:latin typeface="Cambria Math" panose="02040503050406030204" pitchFamily="18" charset="0"/>
                                    </a:rPr>
                                    <m:t>2</m:t>
                                  </m:r>
                                </m:sub>
                                <m:sup>
                                  <m:r>
                                    <a:rPr lang="en-US" sz="2800" b="0" i="1" smtClean="0">
                                      <a:latin typeface="Cambria Math" panose="02040503050406030204" pitchFamily="18" charset="0"/>
                                    </a:rPr>
                                    <m:t>∗</m:t>
                                  </m:r>
                                </m:sup>
                              </m:sSubSup>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2</m:t>
                                      </m:r>
                                    </m:sub>
                                  </m:sSub>
                                </m:e>
                              </m:d>
                            </m:e>
                          </m:d>
                        </m:num>
                        <m:den>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2</m:t>
                                      </m:r>
                                    </m:sub>
                                  </m:sSub>
                                </m:e>
                              </m:d>
                            </m:e>
                            <m:sup>
                              <m:r>
                                <a:rPr lang="en-US" sz="2800" i="1">
                                  <a:latin typeface="Cambria Math" panose="02040503050406030204" pitchFamily="18" charset="0"/>
                                </a:rPr>
                                <m:t>2</m:t>
                              </m:r>
                            </m:sup>
                          </m:sSup>
                          <m:r>
                            <a:rPr lang="en-US" sz="2800" b="0" i="1" smtClean="0">
                              <a:latin typeface="Cambria Math" panose="02040503050406030204" pitchFamily="18" charset="0"/>
                            </a:rPr>
                            <m:t>+2</m:t>
                          </m:r>
                          <m:r>
                            <m:rPr>
                              <m:sty m:val="p"/>
                            </m:rPr>
                            <a:rPr lang="en-US" sz="2800" b="0" i="1" smtClean="0">
                              <a:latin typeface="Cambria Math" panose="02040503050406030204" pitchFamily="18" charset="0"/>
                            </a:rPr>
                            <m:t>Re</m:t>
                          </m:r>
                          <m:d>
                            <m:dPr>
                              <m:begChr m:val="["/>
                              <m:endChr m:val="]"/>
                              <m:ctrlPr>
                                <a:rPr lang="en-US" sz="2800" b="0" i="1" smtClean="0">
                                  <a:latin typeface="Cambria Math" panose="02040503050406030204" pitchFamily="18" charset="0"/>
                                </a:rPr>
                              </m:ctrlPr>
                            </m:dPr>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𝑐</m:t>
                                  </m:r>
                                </m:e>
                                <m:sub>
                                  <m:r>
                                    <a:rPr lang="en-US" sz="2800" b="0" i="1" smtClean="0">
                                      <a:latin typeface="Cambria Math" panose="02040503050406030204" pitchFamily="18" charset="0"/>
                                    </a:rPr>
                                    <m:t>1</m:t>
                                  </m:r>
                                </m:sub>
                                <m:sup>
                                  <m:r>
                                    <a:rPr lang="en-US" sz="2800" b="0" i="1" smtClean="0">
                                      <a:latin typeface="Cambria Math" panose="02040503050406030204" pitchFamily="18" charset="0"/>
                                    </a:rPr>
                                    <m:t>∗</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2</m:t>
                                  </m:r>
                                </m:sub>
                              </m:sSub>
                              <m:rad>
                                <m:radPr>
                                  <m:degHide m:val="on"/>
                                  <m:ctrlPr>
                                    <a:rPr lang="en-US" sz="2800" b="0" i="1" smtClean="0">
                                      <a:latin typeface="Cambria Math" panose="02040503050406030204" pitchFamily="18" charset="0"/>
                                    </a:rPr>
                                  </m:ctrlPr>
                                </m:radPr>
                                <m:deg/>
                                <m:e>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2</m:t>
                                          </m:r>
                                          <m:r>
                                            <a:rPr lang="en-US" sz="2800" i="1">
                                              <a:latin typeface="Cambria Math" panose="02040503050406030204" pitchFamily="18" charset="0"/>
                                            </a:rPr>
                                            <m:t>𝜋</m:t>
                                          </m:r>
                                          <m:r>
                                            <a:rPr lang="en-US" sz="2800" i="1">
                                              <a:latin typeface="Cambria Math" panose="02040503050406030204" pitchFamily="18" charset="0"/>
                                            </a:rPr>
                                            <m:t>ℏ</m:t>
                                          </m:r>
                                        </m:e>
                                      </m:d>
                                    </m:e>
                                    <m:sup>
                                      <m:r>
                                        <a:rPr lang="en-US" sz="2800" i="1">
                                          <a:latin typeface="Cambria Math" panose="02040503050406030204" pitchFamily="18" charset="0"/>
                                        </a:rPr>
                                        <m:t>𝑛</m:t>
                                      </m:r>
                                    </m:sup>
                                  </m:sSup>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2</m:t>
                                      </m:r>
                                    </m:sub>
                                  </m:sSub>
                                  <m:r>
                                    <a:rPr lang="en-US" sz="2800" i="1">
                                      <a:latin typeface="Cambria Math" panose="02040503050406030204" pitchFamily="18" charset="0"/>
                                    </a:rPr>
                                    <m:t>𝑑𝑧</m:t>
                                  </m:r>
                                </m:e>
                              </m:rad>
                            </m:e>
                          </m:d>
                        </m:den>
                      </m:f>
                    </m:oMath>
                  </m:oMathPara>
                </a14:m>
                <a:endParaRPr lang="en-US" sz="2800" dirty="0"/>
              </a:p>
            </p:txBody>
          </p:sp>
        </mc:Choice>
        <mc:Fallback>
          <p:sp>
            <p:nvSpPr>
              <p:cNvPr id="2" name="TextBox 1">
                <a:extLst>
                  <a:ext uri="{FF2B5EF4-FFF2-40B4-BE49-F238E27FC236}">
                    <a16:creationId xmlns:a16="http://schemas.microsoft.com/office/drawing/2014/main" id="{7DFC4A54-ED2A-06DC-0925-6FDAE0F986DF}"/>
                  </a:ext>
                </a:extLst>
              </p:cNvPr>
              <p:cNvSpPr txBox="1">
                <a:spLocks noRot="1" noChangeAspect="1" noMove="1" noResize="1" noEditPoints="1" noAdjustHandles="1" noChangeArrowheads="1" noChangeShapeType="1" noTextEdit="1"/>
              </p:cNvSpPr>
              <p:nvPr/>
            </p:nvSpPr>
            <p:spPr>
              <a:xfrm>
                <a:off x="1035351" y="1440180"/>
                <a:ext cx="10121297" cy="172944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73A333F-6411-3986-BD48-5D853D2F3A63}"/>
                  </a:ext>
                </a:extLst>
              </p:cNvPr>
              <p:cNvSpPr txBox="1"/>
              <p:nvPr/>
            </p:nvSpPr>
            <p:spPr>
              <a:xfrm>
                <a:off x="556260" y="632460"/>
                <a:ext cx="3254161" cy="461665"/>
              </a:xfrm>
              <a:prstGeom prst="rect">
                <a:avLst/>
              </a:prstGeom>
              <a:noFill/>
            </p:spPr>
            <p:txBody>
              <a:bodyPr wrap="none" rtlCol="0">
                <a:spAutoFit/>
              </a:bodyPr>
              <a:lstStyle/>
              <a:p>
                <a:r>
                  <a:rPr lang="en-US" sz="2400" dirty="0"/>
                  <a:t>Assuming </a:t>
                </a:r>
                <a14:m>
                  <m:oMath xmlns:m="http://schemas.openxmlformats.org/officeDocument/2006/math">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1</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2</m:t>
                            </m:r>
                          </m:sub>
                        </m:sSub>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ℝ</m:t>
                        </m:r>
                      </m:e>
                      <m:sup>
                        <m:r>
                          <a:rPr lang="en-US" sz="2400" b="0" i="1" smtClean="0">
                            <a:latin typeface="Cambria Math" panose="02040503050406030204" pitchFamily="18" charset="0"/>
                          </a:rPr>
                          <m:t>+</m:t>
                        </m:r>
                      </m:sup>
                    </m:sSup>
                  </m:oMath>
                </a14:m>
                <a:endParaRPr lang="en-US" sz="2400" dirty="0"/>
              </a:p>
            </p:txBody>
          </p:sp>
        </mc:Choice>
        <mc:Fallback>
          <p:sp>
            <p:nvSpPr>
              <p:cNvPr id="3" name="TextBox 2">
                <a:extLst>
                  <a:ext uri="{FF2B5EF4-FFF2-40B4-BE49-F238E27FC236}">
                    <a16:creationId xmlns:a16="http://schemas.microsoft.com/office/drawing/2014/main" id="{773A333F-6411-3986-BD48-5D853D2F3A63}"/>
                  </a:ext>
                </a:extLst>
              </p:cNvPr>
              <p:cNvSpPr txBox="1">
                <a:spLocks noRot="1" noChangeAspect="1" noMove="1" noResize="1" noEditPoints="1" noAdjustHandles="1" noChangeArrowheads="1" noChangeShapeType="1" noTextEdit="1"/>
              </p:cNvSpPr>
              <p:nvPr/>
            </p:nvSpPr>
            <p:spPr>
              <a:xfrm>
                <a:off x="556260" y="632460"/>
                <a:ext cx="3254161" cy="461665"/>
              </a:xfrm>
              <a:prstGeom prst="rect">
                <a:avLst/>
              </a:prstGeom>
              <a:blipFill>
                <a:blip r:embed="rId3"/>
                <a:stretch>
                  <a:fillRect l="-2809" t="-10667" b="-30667"/>
                </a:stretch>
              </a:blipFill>
            </p:spPr>
            <p:txBody>
              <a:bodyPr/>
              <a:lstStyle/>
              <a:p>
                <a:r>
                  <a:rPr lang="en-US">
                    <a:noFill/>
                  </a:rPr>
                  <a:t> </a:t>
                </a:r>
              </a:p>
            </p:txBody>
          </p:sp>
        </mc:Fallback>
      </mc:AlternateContent>
    </p:spTree>
    <p:extLst>
      <p:ext uri="{BB962C8B-B14F-4D97-AF65-F5344CB8AC3E}">
        <p14:creationId xmlns:p14="http://schemas.microsoft.com/office/powerpoint/2010/main" val="3792972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559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6D3F-5789-F324-C98E-CB02638D96D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42D47BE-7BB0-AB6A-1E80-113A20A7C04A}"/>
                  </a:ext>
                </a:extLst>
              </p:cNvPr>
              <p:cNvSpPr txBox="1"/>
              <p:nvPr/>
            </p:nvSpPr>
            <p:spPr>
              <a:xfrm>
                <a:off x="767817" y="2135927"/>
                <a:ext cx="6744154" cy="75745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𝜙</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𝜙</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𝜙</m:t>
                              </m:r>
                            </m:e>
                          </m:acc>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𝜙</m:t>
                              </m:r>
                            </m:e>
                          </m:acc>
                        </m:sub>
                      </m:sSub>
                      <m:r>
                        <a:rPr lang="en-US" b="0" i="1" smtClean="0">
                          <a:latin typeface="Cambria Math" panose="02040503050406030204" pitchFamily="18" charset="0"/>
                        </a:rPr>
                        <m:t>=</m:t>
                      </m:r>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den>
                      </m:f>
                      <m:r>
                        <a:rPr lang="en-US" b="0" i="1" dirty="0" smtClean="0">
                          <a:latin typeface="Cambria Math" panose="02040503050406030204" pitchFamily="18" charset="0"/>
                        </a:rPr>
                        <m:t>+</m:t>
                      </m:r>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num>
                        <m:den>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5" name="TextBox 4">
                <a:extLst>
                  <a:ext uri="{FF2B5EF4-FFF2-40B4-BE49-F238E27FC236}">
                    <a16:creationId xmlns:a16="http://schemas.microsoft.com/office/drawing/2014/main" id="{B42D47BE-7BB0-AB6A-1E80-113A20A7C04A}"/>
                  </a:ext>
                </a:extLst>
              </p:cNvPr>
              <p:cNvSpPr txBox="1">
                <a:spLocks noRot="1" noChangeAspect="1" noMove="1" noResize="1" noEditPoints="1" noAdjustHandles="1" noChangeArrowheads="1" noChangeShapeType="1" noTextEdit="1"/>
              </p:cNvSpPr>
              <p:nvPr/>
            </p:nvSpPr>
            <p:spPr>
              <a:xfrm>
                <a:off x="767817" y="2135927"/>
                <a:ext cx="6744154" cy="7574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732A54D-1FE7-257A-842A-188307CAE4EC}"/>
                  </a:ext>
                </a:extLst>
              </p:cNvPr>
              <p:cNvSpPr txBox="1"/>
              <p:nvPr/>
            </p:nvSpPr>
            <p:spPr>
              <a:xfrm>
                <a:off x="1319250" y="3172295"/>
                <a:ext cx="3670300" cy="70628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r>
                            <a:rPr lang="en-US" b="0" i="1" dirty="0" smtClean="0">
                              <a:latin typeface="Cambria Math" panose="02040503050406030204" pitchFamily="18" charset="0"/>
                            </a:rPr>
                            <m:t>1</m:t>
                          </m:r>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d>
                        <m:dPr>
                          <m:ctrlPr>
                            <a:rPr lang="en-US" b="0" i="1" dirty="0"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e>
                      </m:d>
                    </m:oMath>
                  </m:oMathPara>
                </a14:m>
                <a:endParaRPr lang="en-US" dirty="0"/>
              </a:p>
            </p:txBody>
          </p:sp>
        </mc:Choice>
        <mc:Fallback>
          <p:sp>
            <p:nvSpPr>
              <p:cNvPr id="6" name="TextBox 5">
                <a:extLst>
                  <a:ext uri="{FF2B5EF4-FFF2-40B4-BE49-F238E27FC236}">
                    <a16:creationId xmlns:a16="http://schemas.microsoft.com/office/drawing/2014/main" id="{0732A54D-1FE7-257A-842A-188307CAE4EC}"/>
                  </a:ext>
                </a:extLst>
              </p:cNvPr>
              <p:cNvSpPr txBox="1">
                <a:spLocks noRot="1" noChangeAspect="1" noMove="1" noResize="1" noEditPoints="1" noAdjustHandles="1" noChangeArrowheads="1" noChangeShapeType="1" noTextEdit="1"/>
              </p:cNvSpPr>
              <p:nvPr/>
            </p:nvSpPr>
            <p:spPr>
              <a:xfrm>
                <a:off x="1319250" y="3172295"/>
                <a:ext cx="3670300" cy="70628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EFD4947-6D9D-6821-7D49-CF57FC57F50C}"/>
                  </a:ext>
                </a:extLst>
              </p:cNvPr>
              <p:cNvSpPr txBox="1"/>
              <p:nvPr/>
            </p:nvSpPr>
            <p:spPr>
              <a:xfrm>
                <a:off x="1423953" y="4076040"/>
                <a:ext cx="5298566" cy="70628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r>
                            <a:rPr lang="en-US" b="0" i="1" dirty="0" smtClean="0">
                              <a:latin typeface="Cambria Math" panose="02040503050406030204" pitchFamily="18" charset="0"/>
                            </a:rPr>
                            <m:t>1</m:t>
                          </m:r>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d>
                        <m:dPr>
                          <m:ctrlPr>
                            <a:rPr lang="en-US" b="0" i="1" dirty="0" smtClean="0">
                              <a:latin typeface="Cambria Math" panose="02040503050406030204" pitchFamily="18" charset="0"/>
                            </a:rPr>
                          </m:ctrlPr>
                        </m:dPr>
                        <m:e>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1</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2</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r>
                            <m:rPr>
                              <m:nor/>
                            </m:rPr>
                            <a:rPr lang="en-US" dirty="0"/>
                            <m:t> </m:t>
                          </m:r>
                        </m:e>
                      </m:d>
                    </m:oMath>
                  </m:oMathPara>
                </a14:m>
                <a:endParaRPr lang="en-US" dirty="0"/>
              </a:p>
            </p:txBody>
          </p:sp>
        </mc:Choice>
        <mc:Fallback>
          <p:sp>
            <p:nvSpPr>
              <p:cNvPr id="7" name="TextBox 6">
                <a:extLst>
                  <a:ext uri="{FF2B5EF4-FFF2-40B4-BE49-F238E27FC236}">
                    <a16:creationId xmlns:a16="http://schemas.microsoft.com/office/drawing/2014/main" id="{2EFD4947-6D9D-6821-7D49-CF57FC57F50C}"/>
                  </a:ext>
                </a:extLst>
              </p:cNvPr>
              <p:cNvSpPr txBox="1">
                <a:spLocks noRot="1" noChangeAspect="1" noMove="1" noResize="1" noEditPoints="1" noAdjustHandles="1" noChangeArrowheads="1" noChangeShapeType="1" noTextEdit="1"/>
              </p:cNvSpPr>
              <p:nvPr/>
            </p:nvSpPr>
            <p:spPr>
              <a:xfrm>
                <a:off x="1423953" y="4076040"/>
                <a:ext cx="5298566" cy="7062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ABD0CDD-A5B3-4283-47F0-CB8FD19A60D7}"/>
                  </a:ext>
                </a:extLst>
              </p:cNvPr>
              <p:cNvSpPr txBox="1"/>
              <p:nvPr/>
            </p:nvSpPr>
            <p:spPr>
              <a:xfrm>
                <a:off x="899277" y="5207535"/>
                <a:ext cx="5378652" cy="74167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i="1" dirty="0">
                                          <a:latin typeface="Cambria Math" panose="02040503050406030204" pitchFamily="18" charset="0"/>
                                        </a:rPr>
                                        <m:t>1</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num>
                        <m:den>
                          <m:d>
                            <m:dPr>
                              <m:begChr m:val="⟨"/>
                              <m:endChr m:val="⟩"/>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𝜓</m:t>
                                  </m:r>
                                </m:e>
                                <m:sub>
                                  <m:r>
                                    <a:rPr lang="en-US" b="0" i="1" dirty="0" smtClean="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1</m:t>
                                  </m:r>
                                </m:sub>
                              </m:sSub>
                            </m:e>
                          </m:d>
                        </m:den>
                      </m:f>
                      <m:r>
                        <a:rPr lang="en-US" b="0" i="1" dirty="0"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2</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𝑐</m:t>
                                      </m:r>
                                    </m:e>
                                    <m:sub>
                                      <m:r>
                                        <a:rPr lang="en-US" b="0" i="1" dirty="0" smtClean="0">
                                          <a:latin typeface="Cambria Math" panose="02040503050406030204" pitchFamily="18" charset="0"/>
                                        </a:rPr>
                                        <m:t>2</m:t>
                                      </m:r>
                                    </m:sub>
                                  </m:sSub>
                                </m:e>
                              </m:d>
                            </m:e>
                            <m:sup>
                              <m:r>
                                <a:rPr lang="en-US" i="1" dirty="0">
                                  <a:latin typeface="Cambria Math" panose="02040503050406030204" pitchFamily="18" charset="0"/>
                                </a:rPr>
                                <m:t>2</m:t>
                              </m:r>
                            </m:sup>
                          </m:sSup>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b="0" i="1" dirty="0" smtClean="0">
                                      <a:latin typeface="Cambria Math" panose="02040503050406030204" pitchFamily="18" charset="0"/>
                                    </a:rPr>
                                    <m:t>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b="0" i="1" dirty="0" smtClean="0">
                                      <a:latin typeface="Cambria Math" panose="02040503050406030204" pitchFamily="18" charset="0"/>
                                    </a:rPr>
                                    <m:t>2</m:t>
                                  </m:r>
                                </m:sub>
                              </m:sSub>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𝜙</m:t>
                              </m:r>
                            </m:e>
                            <m:e>
                              <m:r>
                                <a:rPr lang="en-US" i="1" dirty="0">
                                  <a:latin typeface="Cambria Math" panose="02040503050406030204" pitchFamily="18" charset="0"/>
                                </a:rPr>
                                <m:t>𝜙</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𝜓</m:t>
                                  </m:r>
                                </m:e>
                                <m:sub>
                                  <m:r>
                                    <a:rPr lang="en-US" i="1" dirty="0">
                                      <a:latin typeface="Cambria Math" panose="02040503050406030204" pitchFamily="18" charset="0"/>
                                    </a:rPr>
                                    <m:t>2</m:t>
                                  </m:r>
                                </m:sub>
                              </m:sSub>
                            </m:e>
                          </m:d>
                        </m:num>
                        <m:den>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e>
                              <m:acc>
                                <m:accPr>
                                  <m:chr m:val="̂"/>
                                  <m:ctrlPr>
                                    <a:rPr lang="en-US" i="1" dirty="0">
                                      <a:latin typeface="Cambria Math" panose="02040503050406030204" pitchFamily="18" charset="0"/>
                                    </a:rPr>
                                  </m:ctrlPr>
                                </m:accPr>
                                <m:e>
                                  <m:r>
                                    <a:rPr lang="en-US" i="1" dirty="0">
                                      <a:latin typeface="Cambria Math" panose="02040503050406030204" pitchFamily="18" charset="0"/>
                                    </a:rPr>
                                    <m:t>𝜙</m:t>
                                  </m:r>
                                </m:e>
                              </m:acc>
                            </m:e>
                          </m:d>
                        </m:den>
                      </m:f>
                    </m:oMath>
                  </m:oMathPara>
                </a14:m>
                <a:endParaRPr lang="en-US" dirty="0"/>
              </a:p>
            </p:txBody>
          </p:sp>
        </mc:Choice>
        <mc:Fallback>
          <p:sp>
            <p:nvSpPr>
              <p:cNvPr id="8" name="TextBox 7">
                <a:extLst>
                  <a:ext uri="{FF2B5EF4-FFF2-40B4-BE49-F238E27FC236}">
                    <a16:creationId xmlns:a16="http://schemas.microsoft.com/office/drawing/2014/main" id="{0ABD0CDD-A5B3-4283-47F0-CB8FD19A60D7}"/>
                  </a:ext>
                </a:extLst>
              </p:cNvPr>
              <p:cNvSpPr txBox="1">
                <a:spLocks noRot="1" noChangeAspect="1" noMove="1" noResize="1" noEditPoints="1" noAdjustHandles="1" noChangeArrowheads="1" noChangeShapeType="1" noTextEdit="1"/>
              </p:cNvSpPr>
              <p:nvPr/>
            </p:nvSpPr>
            <p:spPr>
              <a:xfrm>
                <a:off x="899277" y="5207535"/>
                <a:ext cx="5378652" cy="74167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7CC27C7-AAE2-9E62-2380-4647EF221D23}"/>
                  </a:ext>
                </a:extLst>
              </p:cNvPr>
              <p:cNvSpPr txBox="1"/>
              <p:nvPr/>
            </p:nvSpPr>
            <p:spPr>
              <a:xfrm>
                <a:off x="6571971" y="5305397"/>
                <a:ext cx="1909497" cy="39408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𝜌</m:t>
                          </m:r>
                        </m:e>
                        <m:sub>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1</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𝜌</m:t>
                          </m:r>
                        </m:e>
                        <m:sub>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2</m:t>
                              </m:r>
                            </m:sub>
                          </m:sSub>
                        </m:sub>
                      </m:sSub>
                    </m:oMath>
                  </m:oMathPara>
                </a14:m>
                <a:endParaRPr lang="en-US" dirty="0"/>
              </a:p>
            </p:txBody>
          </p:sp>
        </mc:Choice>
        <mc:Fallback>
          <p:sp>
            <p:nvSpPr>
              <p:cNvPr id="9" name="TextBox 8">
                <a:extLst>
                  <a:ext uri="{FF2B5EF4-FFF2-40B4-BE49-F238E27FC236}">
                    <a16:creationId xmlns:a16="http://schemas.microsoft.com/office/drawing/2014/main" id="{67CC27C7-AAE2-9E62-2380-4647EF221D23}"/>
                  </a:ext>
                </a:extLst>
              </p:cNvPr>
              <p:cNvSpPr txBox="1">
                <a:spLocks noRot="1" noChangeAspect="1" noMove="1" noResize="1" noEditPoints="1" noAdjustHandles="1" noChangeArrowheads="1" noChangeShapeType="1" noTextEdit="1"/>
              </p:cNvSpPr>
              <p:nvPr/>
            </p:nvSpPr>
            <p:spPr>
              <a:xfrm>
                <a:off x="6571971" y="5305397"/>
                <a:ext cx="1909497" cy="394082"/>
              </a:xfrm>
              <a:prstGeom prst="rect">
                <a:avLst/>
              </a:prstGeom>
              <a:blipFill>
                <a:blip r:embed="rId6"/>
                <a:stretch>
                  <a:fillRect b="-9231"/>
                </a:stretch>
              </a:blipFill>
            </p:spPr>
            <p:txBody>
              <a:bodyPr/>
              <a:lstStyle/>
              <a:p>
                <a:r>
                  <a:rPr lang="en-US">
                    <a:noFill/>
                  </a:rPr>
                  <a:t> </a:t>
                </a:r>
              </a:p>
            </p:txBody>
          </p:sp>
        </mc:Fallback>
      </mc:AlternateContent>
    </p:spTree>
    <p:extLst>
      <p:ext uri="{BB962C8B-B14F-4D97-AF65-F5344CB8AC3E}">
        <p14:creationId xmlns:p14="http://schemas.microsoft.com/office/powerpoint/2010/main" val="268251194"/>
      </p:ext>
    </p:extLst>
  </p:cSld>
  <p:clrMapOvr>
    <a:masterClrMapping/>
  </p:clrMapOvr>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72374</TotalTime>
  <Words>1027</Words>
  <Application>Microsoft Office PowerPoint</Application>
  <PresentationFormat>Widescreen</PresentationFormat>
  <Paragraphs>154</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Gabriele Carcassi</cp:lastModifiedBy>
  <cp:revision>252</cp:revision>
  <dcterms:created xsi:type="dcterms:W3CDTF">2021-04-07T15:17:47Z</dcterms:created>
  <dcterms:modified xsi:type="dcterms:W3CDTF">2026-05-22T21:20:42Z</dcterms:modified>
</cp:coreProperties>
</file>